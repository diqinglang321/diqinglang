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16x9"/>
  <p:notesSz cx="6858000" cy="9144000"/>
  <p:defaultTextStyle>
    <a:defPPr>
      <a:defRPr lang="en-GB"/>
    </a:defPPr>
    <a:lvl1pPr marL="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  <Relationship Id="rId18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GB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First, the trial has a fair starting point: eighty adults were randomized, stratified by sex and BMI, with third-party allocation using opaque envelopes.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Both groups received workshops, the app and dietitian support. Six-month weight change was the primary outcome, measured using a calibrated scale.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However, energy intake also changed. At six months, reported intake fell by seven hundred and four calories in HKD and four hundred and twenty-three in ERD. The adjusted difference in change was two hundred and forty-four calories per day.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So the trial compares whole programmes; it cannot isolate diet composition from lower energy intake. Eating less may be a mediator, rather than failed randomisation. Isocaloric controlled feeding would help isolate composition.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Second, the carbohydrate target was fifty grams or less, assessed through self-reported food diaries. But assignment to a ketogenic diet does not prove sustained ketosis: objective ketone verification was not reported.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Repeated blood or urine ketone measurements would strengthen this link. Researchers should also report how many participants meet carbohydrate and ketosis targets, and how adherence changes over time.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Third, consider follow-up. All eighty participants began the randomized comparison.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Only fifty-nine completed six-month measurements, and fifty-one completed one year. If missing participants had different outcomes, the comparison could be biased; the direction is uncertain.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Even after stopping the diet, participants should still be followed. Exit reasons should be documented more fully. ITT was claimed, but missing-outcome handling was unclear; my teammate covers the statistical details.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Finally, this was one Singapore hospital’s healthcare staff, about eighty-six percent women, with smartphone and English requirements. Diverse multicentre recruitment would test broader applicability.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Overall, the design can evaluate a supported dietary programme, but leaves questions about mechanism, missing outcomes and who else may benefit.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weight_loss_design_critiqu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GB" smtClean="0"/>
              <a:t>1/27/13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weight_loss_design_critiqu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-GB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GB" smtClean="0"/>
              <a:t>1/27/13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-GB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-GB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350" kern="1200" lang="en-GB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50" kern="1200" lang="en-GB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100" kern="1200" lang="en-GB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950" kern="1200" lang="en-GB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50" kern="1200" lang="en-GB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700" kern="1200" lang="en-GB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550" kern="1200" lang="en-GB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 lang="en-GB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en-GB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en-GB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457200" rtl="0" eaLnBrk="1" latinLnBrk="0" hangingPunct="1">
        <a:defRPr sz="2250" kern="1200" lang="en-GB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100" kern="1200" lang="en-GB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950" kern="1200" lang="en-GB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50" kern="1200" lang="en-GB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700" kern="1200" lang="en-GB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550" kern="1200" lang="en-GB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400" kern="1200" lang="en-GB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50" kern="1200" lang="en-GB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100" kern="1200" lang="en-GB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18594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DESIGN STRENGTH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11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3226880" cy="847725"/>
            <a:chOff x="495300" y="609600"/>
            <a:chExt cx="3226880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3226880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 fair start.</a:t>
              </a:r>
            </a:p>
          </p:txBody>
        </p:sp>
      </p:grpSp>
      <p:grpSp>
        <p:nvGrpSpPr>
          <p:cNvPr id="17" name="starting-cohort"/>
          <p:cNvGrpSpPr/>
          <p:nvPr/>
        </p:nvGrpSpPr>
        <p:grpSpPr>
          <a:xfrm>
            <a:off x="647700" y="2082800"/>
            <a:ext cx="1581150" cy="2322512"/>
            <a:chOff x="647700" y="2082800"/>
            <a:chExt cx="1581150" cy="2322512"/>
          </a:xfrm>
        </p:grpSpPr>
        <p:sp>
          <p:nvSpPr>
            <p:cNvPr id="7" name="TextBox 7"/>
            <p:cNvSpPr txBox="1"/>
            <p:nvPr/>
          </p:nvSpPr>
          <p:spPr>
            <a:xfrm>
              <a:off x="647700" y="2082800"/>
              <a:ext cx="1173884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7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80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2084" y="3108325"/>
              <a:ext cx="99739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adults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57238" y="3890962"/>
              <a:ext cx="171450" cy="171450"/>
            </a:xfrm>
            <a:prstGeom prst="ellipse">
              <a:avLst/>
            </a:prstGeom>
            <a:solidFill>
              <a:schemeClr val="accent3"/>
            </a:solidFill>
            <a:ln w="15240">
              <a:solidFill>
                <a:schemeClr val="accent3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742950" y="4119562"/>
              <a:ext cx="200025" cy="285750"/>
            </a:xfrm>
            <a:prstGeom prst="roundRect">
              <a:avLst>
                <a:gd name="adj" fmla="val 35714"/>
              </a:avLst>
            </a:prstGeom>
            <a:solidFill>
              <a:schemeClr val="accent3"/>
            </a:solidFill>
            <a:ln w="15240">
              <a:solidFill>
                <a:schemeClr val="accent3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185862" y="3890962"/>
              <a:ext cx="171450" cy="171450"/>
            </a:xfrm>
            <a:prstGeom prst="ellipse">
              <a:avLst/>
            </a:prstGeom>
            <a:solidFill>
              <a:schemeClr val="accent3"/>
            </a:solidFill>
            <a:ln w="15240">
              <a:solidFill>
                <a:schemeClr val="accent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171575" y="4119562"/>
              <a:ext cx="200025" cy="285750"/>
            </a:xfrm>
            <a:prstGeom prst="roundRect">
              <a:avLst>
                <a:gd name="adj" fmla="val 35714"/>
              </a:avLst>
            </a:prstGeom>
            <a:solidFill>
              <a:schemeClr val="accent3"/>
            </a:solidFill>
            <a:ln w="15240">
              <a:solidFill>
                <a:schemeClr val="accent3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614488" y="3890962"/>
              <a:ext cx="171450" cy="171450"/>
            </a:xfrm>
            <a:prstGeom prst="ellipse">
              <a:avLst/>
            </a:prstGeom>
            <a:solidFill>
              <a:schemeClr val="accent3"/>
            </a:solidFill>
            <a:ln w="15240">
              <a:solidFill>
                <a:schemeClr val="accent3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600200" y="4119562"/>
              <a:ext cx="200025" cy="285750"/>
            </a:xfrm>
            <a:prstGeom prst="roundRect">
              <a:avLst>
                <a:gd name="adj" fmla="val 35714"/>
              </a:avLst>
            </a:prstGeom>
            <a:solidFill>
              <a:schemeClr val="accent3"/>
            </a:solidFill>
            <a:ln w="15240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2043112" y="3890962"/>
              <a:ext cx="171450" cy="171450"/>
            </a:xfrm>
            <a:prstGeom prst="ellipse">
              <a:avLst/>
            </a:prstGeom>
            <a:solidFill>
              <a:schemeClr val="accent3"/>
            </a:solidFill>
            <a:ln w="15240">
              <a:solidFill>
                <a:schemeClr val="accent3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028825" y="4119562"/>
              <a:ext cx="200025" cy="285750"/>
            </a:xfrm>
            <a:prstGeom prst="roundRect">
              <a:avLst>
                <a:gd name="adj" fmla="val 35714"/>
              </a:avLst>
            </a:prstGeom>
            <a:solidFill>
              <a:schemeClr val="accent3"/>
            </a:solidFill>
            <a:ln w="15240">
              <a:solidFill>
                <a:schemeClr val="accent3"/>
              </a:solidFill>
            </a:ln>
          </p:spPr>
        </p:sp>
      </p:grpSp>
      <p:grpSp>
        <p:nvGrpSpPr>
          <p:cNvPr id="23" name="hkd-arm"/>
          <p:cNvGrpSpPr/>
          <p:nvPr/>
        </p:nvGrpSpPr>
        <p:grpSpPr>
          <a:xfrm>
            <a:off x="3619500" y="2085975"/>
            <a:ext cx="7839075" cy="1444625"/>
            <a:chOff x="3619500" y="2085975"/>
            <a:chExt cx="7839075" cy="1444625"/>
          </a:xfrm>
        </p:grpSpPr>
        <p:sp>
          <p:nvSpPr>
            <p:cNvPr id="18" name="Line 18"/>
            <p:cNvSpPr/>
            <p:nvPr/>
          </p:nvSpPr>
          <p:spPr>
            <a:xfrm>
              <a:off x="3619500" y="2714625"/>
              <a:ext cx="1190625" cy="1"/>
            </a:xfrm>
            <a:prstGeom prst="line">
              <a:avLst/>
            </a:prstGeom>
            <a:noFill/>
            <a:ln w="4762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095875" y="2085975"/>
              <a:ext cx="6362700" cy="1333500"/>
            </a:xfrm>
            <a:prstGeom prst="roundRect">
              <a:avLst>
                <a:gd name="adj" fmla="val 157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367909" y="2241550"/>
              <a:ext cx="85951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HKD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779866" y="2139950"/>
              <a:ext cx="1173884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7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41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70195" y="2749550"/>
              <a:ext cx="30117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Healthy ketogenic diet</a:t>
              </a:r>
            </a:p>
          </p:txBody>
        </p:sp>
      </p:grpSp>
      <p:grpSp>
        <p:nvGrpSpPr>
          <p:cNvPr id="29" name="erd-arm"/>
          <p:cNvGrpSpPr/>
          <p:nvPr/>
        </p:nvGrpSpPr>
        <p:grpSpPr>
          <a:xfrm>
            <a:off x="3619500" y="3876675"/>
            <a:ext cx="7839075" cy="1444625"/>
            <a:chOff x="3619500" y="3876675"/>
            <a:chExt cx="7839075" cy="1444625"/>
          </a:xfrm>
        </p:grpSpPr>
        <p:sp>
          <p:nvSpPr>
            <p:cNvPr id="24" name="Line 24"/>
            <p:cNvSpPr/>
            <p:nvPr/>
          </p:nvSpPr>
          <p:spPr>
            <a:xfrm>
              <a:off x="3619500" y="4486275"/>
              <a:ext cx="1190625" cy="1"/>
            </a:xfrm>
            <a:prstGeom prst="line">
              <a:avLst/>
            </a:prstGeom>
            <a:noFill/>
            <a:ln w="4762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095875" y="3876675"/>
              <a:ext cx="6362700" cy="1333500"/>
            </a:xfrm>
            <a:prstGeom prst="roundRect">
              <a:avLst>
                <a:gd name="adj" fmla="val 1571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367909" y="4032250"/>
              <a:ext cx="83831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ERD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79866" y="3930650"/>
              <a:ext cx="1173884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7200" b="1" dirty="0">
                  <a:solidFill>
                    <a:srgbClr val="F7F6F0"/>
                  </a:solidFill>
                  <a:latin typeface="+mj-lt"/>
                  <a:ea typeface="+mj-ea"/>
                  <a:cs typeface="+mj-cs"/>
                </a:rPr>
                <a:t>39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70195" y="4540250"/>
              <a:ext cx="2909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Energy-restricted diet</a:t>
              </a:r>
            </a:p>
          </p:txBody>
        </p:sp>
      </p:grpSp>
      <p:grpSp>
        <p:nvGrpSpPr>
          <p:cNvPr id="36" name="allocation-method"/>
          <p:cNvGrpSpPr/>
          <p:nvPr/>
        </p:nvGrpSpPr>
        <p:grpSpPr>
          <a:xfrm>
            <a:off x="657606" y="5505450"/>
            <a:ext cx="10180967" cy="685419"/>
            <a:chOff x="657606" y="5505450"/>
            <a:chExt cx="10180967" cy="685419"/>
          </a:xfrm>
        </p:grpSpPr>
        <p:sp>
          <p:nvSpPr>
            <p:cNvPr id="30" name="TextBox 30"/>
            <p:cNvSpPr txBox="1"/>
            <p:nvPr/>
          </p:nvSpPr>
          <p:spPr>
            <a:xfrm>
              <a:off x="657606" y="5572125"/>
              <a:ext cx="26431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Stratified by sex + BMI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334125" y="5505450"/>
              <a:ext cx="895350" cy="590550"/>
            </a:xfrm>
            <a:prstGeom prst="roundRect">
              <a:avLst>
                <a:gd name="adj" fmla="val 12903"/>
              </a:avLst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6362700" y="5543550"/>
              <a:ext cx="419100" cy="285750"/>
            </a:xfrm>
            <a:custGeom>
              <a:avLst/>
              <a:gdLst/>
              <a:ahLst/>
              <a:cxnLst/>
              <a:rect l="l" t="t" r="r" b="b"/>
              <a:pathLst>
                <a:path w="419100" h="285750">
                  <a:moveTo>
                    <a:pt x="0" y="0"/>
                  </a:moveTo>
                  <a:lnTo>
                    <a:pt x="419100" y="28575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6781800" y="5543550"/>
              <a:ext cx="419100" cy="285750"/>
            </a:xfrm>
            <a:custGeom>
              <a:avLst/>
              <a:gdLst/>
              <a:ahLst/>
              <a:cxnLst/>
              <a:rect l="l" t="t" r="r" b="b"/>
              <a:pathLst>
                <a:path w="419100" h="285750">
                  <a:moveTo>
                    <a:pt x="0" y="28575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58456" y="5553075"/>
              <a:ext cx="24492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Concealed allocation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58456" y="5838825"/>
              <a:ext cx="33801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Third party · opaque envelopes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508254" y="6467475"/>
            <a:ext cx="54336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al., Nutrients 2024;16:4380 · Methods 2.4 · doi:10.3390/nu16244380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18594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DESIGN STRENGTH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11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9826055" cy="847725"/>
            <a:chOff x="495300" y="609600"/>
            <a:chExt cx="9826055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9826055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Same support. Measured outcomes.</a:t>
              </a:r>
            </a:p>
          </p:txBody>
        </p:sp>
      </p:grpSp>
      <p:grpSp>
        <p:nvGrpSpPr>
          <p:cNvPr id="17" name="hkd-support"/>
          <p:cNvGrpSpPr/>
          <p:nvPr/>
        </p:nvGrpSpPr>
        <p:grpSpPr>
          <a:xfrm>
            <a:off x="514350" y="2047875"/>
            <a:ext cx="4667250" cy="2533650"/>
            <a:chOff x="514350" y="2047875"/>
            <a:chExt cx="4667250" cy="2533650"/>
          </a:xfrm>
        </p:grpSpPr>
        <p:sp>
          <p:nvSpPr>
            <p:cNvPr id="7" name="Rectangle 7"/>
            <p:cNvSpPr/>
            <p:nvPr/>
          </p:nvSpPr>
          <p:spPr>
            <a:xfrm>
              <a:off x="514350" y="2047875"/>
              <a:ext cx="4667250" cy="2533650"/>
            </a:xfrm>
            <a:prstGeom prst="roundRect">
              <a:avLst>
                <a:gd name="adj" fmla="val 82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7334" y="2174875"/>
              <a:ext cx="85951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HKD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885825" y="2838450"/>
              <a:ext cx="342900" cy="34290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828675" y="327660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085850" y="327660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74470" y="2882900"/>
              <a:ext cx="154734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Workshops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00100" y="3629025"/>
              <a:ext cx="306705" cy="480060"/>
            </a:xfrm>
            <a:prstGeom prst="roundRect">
              <a:avLst>
                <a:gd name="adj" fmla="val 17391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880110" y="4022408"/>
              <a:ext cx="146685" cy="9525"/>
            </a:xfrm>
            <a:custGeom>
              <a:avLst/>
              <a:gdLst/>
              <a:ahLst/>
              <a:cxnLst/>
              <a:rect l="l" t="t" r="r" b="b"/>
              <a:pathLst>
                <a:path w="146685" h="9525">
                  <a:moveTo>
                    <a:pt x="0" y="0"/>
                  </a:moveTo>
                  <a:lnTo>
                    <a:pt x="146685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900112" y="3749040"/>
              <a:ext cx="106680" cy="10668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474470" y="3625850"/>
              <a:ext cx="196018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 + dietitian</a:t>
              </a:r>
            </a:p>
          </p:txBody>
        </p:sp>
      </p:grpSp>
      <p:grpSp>
        <p:nvGrpSpPr>
          <p:cNvPr id="28" name="erd-support"/>
          <p:cNvGrpSpPr/>
          <p:nvPr/>
        </p:nvGrpSpPr>
        <p:grpSpPr>
          <a:xfrm>
            <a:off x="6819900" y="2047875"/>
            <a:ext cx="4667250" cy="2533650"/>
            <a:chOff x="6819900" y="2047875"/>
            <a:chExt cx="4667250" cy="2533650"/>
          </a:xfrm>
        </p:grpSpPr>
        <p:sp>
          <p:nvSpPr>
            <p:cNvPr id="18" name="Rectangle 18"/>
            <p:cNvSpPr/>
            <p:nvPr/>
          </p:nvSpPr>
          <p:spPr>
            <a:xfrm>
              <a:off x="6819900" y="2047875"/>
              <a:ext cx="4667250" cy="2533650"/>
            </a:xfrm>
            <a:prstGeom prst="roundRect">
              <a:avLst>
                <a:gd name="adj" fmla="val 8271"/>
              </a:avLst>
            </a:prstGeom>
            <a:solidFill>
              <a:srgbClr val="E9ECE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72884" y="2174875"/>
              <a:ext cx="83831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ERD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191375" y="2838450"/>
              <a:ext cx="342900" cy="3429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7134225" y="32766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7391400" y="32766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80020" y="2882900"/>
              <a:ext cx="154734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Workshops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105650" y="3629025"/>
              <a:ext cx="306705" cy="480060"/>
            </a:xfrm>
            <a:prstGeom prst="roundRect">
              <a:avLst>
                <a:gd name="adj" fmla="val 17391"/>
              </a:avLst>
            </a:pr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185660" y="4022408"/>
              <a:ext cx="146685" cy="9525"/>
            </a:xfrm>
            <a:custGeom>
              <a:avLst/>
              <a:gdLst/>
              <a:ahLst/>
              <a:cxnLst/>
              <a:rect l="l" t="t" r="r" b="b"/>
              <a:pathLst>
                <a:path w="146685" h="9525">
                  <a:moveTo>
                    <a:pt x="0" y="0"/>
                  </a:moveTo>
                  <a:lnTo>
                    <a:pt x="146685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7205662" y="3749040"/>
              <a:ext cx="106680" cy="1066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780020" y="3625850"/>
              <a:ext cx="196018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 + dietitian</a:t>
              </a:r>
            </a:p>
          </p:txBody>
        </p:sp>
      </p:grpSp>
      <p:grpSp>
        <p:nvGrpSpPr>
          <p:cNvPr id="30" name="matched-support"/>
          <p:cNvGrpSpPr/>
          <p:nvPr/>
        </p:nvGrpSpPr>
        <p:grpSpPr>
          <a:xfrm>
            <a:off x="5793004" y="2425700"/>
            <a:ext cx="605992" cy="1390650"/>
            <a:chOff x="5793004" y="2425700"/>
            <a:chExt cx="605992" cy="1390650"/>
          </a:xfrm>
        </p:grpSpPr>
        <p:sp>
          <p:nvSpPr>
            <p:cNvPr id="29" name="TextBox 29"/>
            <p:cNvSpPr txBox="1"/>
            <p:nvPr/>
          </p:nvSpPr>
          <p:spPr>
            <a:xfrm>
              <a:off x="5793004" y="2425700"/>
              <a:ext cx="605992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7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=</a:t>
              </a:r>
            </a:p>
          </p:txBody>
        </p:sp>
      </p:grpSp>
      <p:grpSp>
        <p:nvGrpSpPr>
          <p:cNvPr id="37" name="objective-outcome"/>
          <p:cNvGrpSpPr/>
          <p:nvPr/>
        </p:nvGrpSpPr>
        <p:grpSpPr>
          <a:xfrm>
            <a:off x="714375" y="5010150"/>
            <a:ext cx="7594865" cy="960755"/>
            <a:chOff x="714375" y="5010150"/>
            <a:chExt cx="7594865" cy="960755"/>
          </a:xfrm>
        </p:grpSpPr>
        <p:sp>
          <p:nvSpPr>
            <p:cNvPr id="31" name="Rectangle 31"/>
            <p:cNvSpPr/>
            <p:nvPr/>
          </p:nvSpPr>
          <p:spPr>
            <a:xfrm>
              <a:off x="714375" y="5010150"/>
              <a:ext cx="1143000" cy="952500"/>
            </a:xfrm>
            <a:prstGeom prst="roundRect">
              <a:avLst>
                <a:gd name="adj" fmla="val 22000"/>
              </a:avLst>
            </a:pr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028700" y="5181600"/>
              <a:ext cx="514350" cy="285750"/>
            </a:xfrm>
            <a:prstGeom prst="roundRect">
              <a:avLst>
                <a:gd name="adj" fmla="val 20000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35340" y="5181600"/>
              <a:ext cx="3010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kg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942975" y="567690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196084" y="5060950"/>
              <a:ext cx="275538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Calibrated scale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198370" y="5530850"/>
              <a:ext cx="611087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Primary outcome: weight change at 6 months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08254" y="6467475"/>
            <a:ext cx="75102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2.5–2.7 · Shared support improves the fairness of the programme comparison.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50"/>
                            </p:stCondLst>
                            <p:childTnLst>
                              <p:par>
                                <p:cTn xmlns:p="http://schemas.openxmlformats.org/presentationml/2006/main"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59984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LIMITATION 01 · MEAN CHANGE FROM BASELINE AT 6 MONTHS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03 / 11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4491430" cy="847725"/>
            <a:chOff x="495300" y="609600"/>
            <a:chExt cx="4491430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4491430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rgbClr val="F7F6F0"/>
                  </a:solidFill>
                  <a:latin typeface="+mj-lt"/>
                  <a:ea typeface="+mj-ea"/>
                  <a:cs typeface="+mj-cs"/>
                </a:rPr>
                <a:t>The calorie gap.</a:t>
              </a:r>
            </a:p>
          </p:txBody>
        </p:sp>
      </p:grpSp>
      <p:grpSp>
        <p:nvGrpSpPr>
          <p:cNvPr id="10" name="hkd-energy-change"/>
          <p:cNvGrpSpPr/>
          <p:nvPr/>
        </p:nvGrpSpPr>
        <p:grpSpPr>
          <a:xfrm>
            <a:off x="666750" y="2098675"/>
            <a:ext cx="2309667" cy="2186305"/>
            <a:chOff x="666750" y="2098675"/>
            <a:chExt cx="2309667" cy="2186305"/>
          </a:xfrm>
        </p:grpSpPr>
        <p:sp>
          <p:nvSpPr>
            <p:cNvPr id="7" name="TextBox 7"/>
            <p:cNvSpPr txBox="1"/>
            <p:nvPr/>
          </p:nvSpPr>
          <p:spPr>
            <a:xfrm>
              <a:off x="691134" y="2098675"/>
              <a:ext cx="85951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rgbClr val="7CD6CA"/>
                  </a:solidFill>
                  <a:latin typeface="+mn-lt"/>
                  <a:ea typeface="+mn-ea"/>
                  <a:cs typeface="+mn-cs"/>
                </a:rPr>
                <a:t>HKD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6750" y="2759075"/>
              <a:ext cx="2309667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7200" b="1" dirty="0">
                  <a:solidFill>
                    <a:srgbClr val="F7F6F0"/>
                  </a:solidFill>
                  <a:latin typeface="+mj-lt"/>
                  <a:ea typeface="+mj-ea"/>
                  <a:cs typeface="+mj-cs"/>
                </a:rPr>
                <a:t>−704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31520" y="3844925"/>
              <a:ext cx="11340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kcal/day</a:t>
              </a:r>
            </a:p>
          </p:txBody>
        </p:sp>
      </p:grpSp>
      <p:grpSp>
        <p:nvGrpSpPr>
          <p:cNvPr id="14" name="erd-energy-change"/>
          <p:cNvGrpSpPr/>
          <p:nvPr/>
        </p:nvGrpSpPr>
        <p:grpSpPr>
          <a:xfrm>
            <a:off x="6629400" y="2098675"/>
            <a:ext cx="2309667" cy="2186305"/>
            <a:chOff x="6629400" y="2098675"/>
            <a:chExt cx="2309667" cy="2186305"/>
          </a:xfrm>
        </p:grpSpPr>
        <p:sp>
          <p:nvSpPr>
            <p:cNvPr id="11" name="TextBox 11"/>
            <p:cNvSpPr txBox="1"/>
            <p:nvPr/>
          </p:nvSpPr>
          <p:spPr>
            <a:xfrm>
              <a:off x="6653784" y="2098675"/>
              <a:ext cx="83831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ERD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29400" y="2759075"/>
              <a:ext cx="2309667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7200" b="1" dirty="0">
                  <a:solidFill>
                    <a:srgbClr val="F7F6F0"/>
                  </a:solidFill>
                  <a:latin typeface="+mj-lt"/>
                  <a:ea typeface="+mj-ea"/>
                  <a:cs typeface="+mj-cs"/>
                </a:rPr>
                <a:t>−423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94170" y="3844925"/>
              <a:ext cx="11340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kcal/day</a:t>
              </a:r>
            </a:p>
          </p:txBody>
        </p:sp>
      </p:grpSp>
      <p:grpSp>
        <p:nvGrpSpPr>
          <p:cNvPr id="20" name="adjusted-contrast"/>
          <p:cNvGrpSpPr/>
          <p:nvPr/>
        </p:nvGrpSpPr>
        <p:grpSpPr>
          <a:xfrm>
            <a:off x="514350" y="4876800"/>
            <a:ext cx="11163300" cy="1209675"/>
            <a:chOff x="514350" y="4876800"/>
            <a:chExt cx="11163300" cy="1209675"/>
          </a:xfrm>
        </p:grpSpPr>
        <p:sp>
          <p:nvSpPr>
            <p:cNvPr id="15" name="Rectangle 15"/>
            <p:cNvSpPr/>
            <p:nvPr/>
          </p:nvSpPr>
          <p:spPr>
            <a:xfrm>
              <a:off x="514350" y="4876800"/>
              <a:ext cx="11163300" cy="1209675"/>
            </a:xfrm>
            <a:prstGeom prst="roundRect">
              <a:avLst>
                <a:gd name="adj" fmla="val 17323"/>
              </a:avLst>
            </a:prstGeom>
            <a:solidFill>
              <a:srgbClr val="24455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1045" y="5035550"/>
              <a:ext cx="531942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Reported adjusted difference in change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3331" y="5524500"/>
              <a:ext cx="54780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Both groups reduced intake; HKD reduced it more.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90920" y="4991100"/>
              <a:ext cx="1410505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4350" b="1" dirty="0">
                  <a:solidFill>
                    <a:srgbClr val="FFAB8E"/>
                  </a:solidFill>
                  <a:latin typeface="+mj-lt"/>
                  <a:ea typeface="+mj-ea"/>
                  <a:cs typeface="+mj-cs"/>
                </a:rPr>
                <a:t>−244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84271" y="5629275"/>
              <a:ext cx="9072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kcal/day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508254" y="6467475"/>
            <a:ext cx="76789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Lim et al. 2024 · Table 5 · Self-reported energy intake; −244 is the adjusted contrast, not −704 minus −423.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6061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LIMITATION 01 · PROGRAMME EFFECT ≠ ISOLATED MECHANISM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11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5695351" cy="847725"/>
            <a:chOff x="495300" y="609600"/>
            <a:chExt cx="5695351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569535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Two things changed.</a:t>
              </a:r>
            </a:p>
          </p:txBody>
        </p:sp>
      </p:grpSp>
      <p:grpSp>
        <p:nvGrpSpPr>
          <p:cNvPr id="13" name="diet-composition"/>
          <p:cNvGrpSpPr/>
          <p:nvPr/>
        </p:nvGrpSpPr>
        <p:grpSpPr>
          <a:xfrm>
            <a:off x="702945" y="2200275"/>
            <a:ext cx="2488973" cy="1827530"/>
            <a:chOff x="702945" y="2200275"/>
            <a:chExt cx="2488973" cy="1827530"/>
          </a:xfrm>
        </p:grpSpPr>
        <p:sp>
          <p:nvSpPr>
            <p:cNvPr id="7" name="Ellipse 7"/>
            <p:cNvSpPr/>
            <p:nvPr/>
          </p:nvSpPr>
          <p:spPr>
            <a:xfrm>
              <a:off x="857250" y="2200275"/>
              <a:ext cx="1181100" cy="1181100"/>
            </a:xfrm>
            <a:prstGeom prst="ellipse">
              <a:avLst/>
            </a:pr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009650" y="2352675"/>
              <a:ext cx="876300" cy="8763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123950" y="2571750"/>
              <a:ext cx="323850" cy="3238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514475" y="2800350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504950" y="2486025"/>
              <a:ext cx="171450" cy="1714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02945" y="3587750"/>
              <a:ext cx="248897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Diet composition</a:t>
              </a:r>
            </a:p>
          </p:txBody>
        </p:sp>
      </p:grpSp>
      <p:grpSp>
        <p:nvGrpSpPr>
          <p:cNvPr id="18" name="energy-pathway"/>
          <p:cNvGrpSpPr/>
          <p:nvPr/>
        </p:nvGrpSpPr>
        <p:grpSpPr>
          <a:xfrm>
            <a:off x="3695700" y="2257425"/>
            <a:ext cx="3657600" cy="1685925"/>
            <a:chOff x="3695700" y="2257425"/>
            <a:chExt cx="3657600" cy="1685925"/>
          </a:xfrm>
        </p:grpSpPr>
        <p:sp>
          <p:nvSpPr>
            <p:cNvPr id="14" name="Line 14"/>
            <p:cNvSpPr/>
            <p:nvPr/>
          </p:nvSpPr>
          <p:spPr>
            <a:xfrm>
              <a:off x="3695700" y="2895600"/>
              <a:ext cx="371475" cy="1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238625" y="2257425"/>
              <a:ext cx="3114675" cy="1685925"/>
            </a:xfrm>
            <a:prstGeom prst="roundRect">
              <a:avLst>
                <a:gd name="adj" fmla="val 124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465320" y="2451100"/>
              <a:ext cx="1880806" cy="868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Lower energy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intake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67606" y="3419475"/>
              <a:ext cx="19511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Possible mediator</a:t>
              </a:r>
            </a:p>
          </p:txBody>
        </p:sp>
      </p:grpSp>
      <p:grpSp>
        <p:nvGrpSpPr>
          <p:cNvPr id="25" name="weight-outcome"/>
          <p:cNvGrpSpPr/>
          <p:nvPr/>
        </p:nvGrpSpPr>
        <p:grpSpPr>
          <a:xfrm>
            <a:off x="7781925" y="2257425"/>
            <a:ext cx="3116684" cy="1770380"/>
            <a:chOff x="7781925" y="2257425"/>
            <a:chExt cx="3116684" cy="1770380"/>
          </a:xfrm>
        </p:grpSpPr>
        <p:sp>
          <p:nvSpPr>
            <p:cNvPr id="19" name="Line 19"/>
            <p:cNvSpPr/>
            <p:nvPr/>
          </p:nvSpPr>
          <p:spPr>
            <a:xfrm>
              <a:off x="7781925" y="2895600"/>
              <a:ext cx="504825" cy="1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810625" y="2257425"/>
              <a:ext cx="1143000" cy="952500"/>
            </a:xfrm>
            <a:prstGeom prst="roundRect">
              <a:avLst>
                <a:gd name="adj" fmla="val 22000"/>
              </a:avLst>
            </a:pr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9124950" y="2428875"/>
              <a:ext cx="514350" cy="285750"/>
            </a:xfrm>
            <a:prstGeom prst="roundRect">
              <a:avLst>
                <a:gd name="adj" fmla="val 20000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31590" y="2428875"/>
              <a:ext cx="3010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kg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9039225" y="2924175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08670" y="3587750"/>
              <a:ext cx="248993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More weight loss</a:t>
              </a:r>
            </a:p>
          </p:txBody>
        </p:sp>
      </p:grpSp>
      <p:grpSp>
        <p:nvGrpSpPr>
          <p:cNvPr id="27" name="mechanism-caveat"/>
          <p:cNvGrpSpPr/>
          <p:nvPr/>
        </p:nvGrpSpPr>
        <p:grpSpPr>
          <a:xfrm>
            <a:off x="2665393" y="4489450"/>
            <a:ext cx="6861214" cy="528066"/>
            <a:chOff x="2665393" y="4489450"/>
            <a:chExt cx="6861214" cy="528066"/>
          </a:xfrm>
        </p:grpSpPr>
        <p:sp>
          <p:nvSpPr>
            <p:cNvPr id="26" name="TextBox 26"/>
            <p:cNvSpPr txBox="1"/>
            <p:nvPr/>
          </p:nvSpPr>
          <p:spPr>
            <a:xfrm>
              <a:off x="2665393" y="4489450"/>
              <a:ext cx="686121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Which pathway explains the difference?</a:t>
              </a:r>
            </a:p>
          </p:txBody>
        </p:sp>
      </p:grpSp>
      <p:grpSp>
        <p:nvGrpSpPr>
          <p:cNvPr id="32" name="energy-matched-improvement"/>
          <p:cNvGrpSpPr/>
          <p:nvPr/>
        </p:nvGrpSpPr>
        <p:grpSpPr>
          <a:xfrm>
            <a:off x="514350" y="5238750"/>
            <a:ext cx="11163300" cy="933450"/>
            <a:chOff x="514350" y="5238750"/>
            <a:chExt cx="11163300" cy="933450"/>
          </a:xfrm>
        </p:grpSpPr>
        <p:sp>
          <p:nvSpPr>
            <p:cNvPr id="28" name="Rectangle 28"/>
            <p:cNvSpPr/>
            <p:nvPr/>
          </p:nvSpPr>
          <p:spPr>
            <a:xfrm>
              <a:off x="514350" y="5238750"/>
              <a:ext cx="11163300" cy="933450"/>
            </a:xfrm>
            <a:prstGeom prst="roundRect">
              <a:avLst>
                <a:gd name="adj" fmla="val 2244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5142" y="5426075"/>
              <a:ext cx="14432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rgbClr val="7CD6CA"/>
                  </a:solidFill>
                  <a:latin typeface="+mn-lt"/>
                  <a:ea typeface="+mn-ea"/>
                  <a:cs typeface="+mn-cs"/>
                </a:rPr>
                <a:t>IMPROVEMENT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8284" y="5641975"/>
              <a:ext cx="487646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rgbClr val="F7F6F0"/>
                  </a:solidFill>
                  <a:latin typeface="+mj-lt"/>
                  <a:ea typeface="+mj-ea"/>
                  <a:cs typeface="+mj-cs"/>
                </a:rPr>
                <a:t>Isocaloric controlled feeding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05767" y="5591175"/>
              <a:ext cx="36286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80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Match calories. Test composition.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508254" y="6467475"/>
            <a:ext cx="70347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Table 5 + Discussion · Possible pathways shown; mediation was not established.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47241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LIMITATION 02 · KETOSIS + DIETARY ADHERENCE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11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6640418" cy="847725"/>
            <a:chOff x="495300" y="609600"/>
            <a:chExt cx="6640418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664041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Assigned is not verified.</a:t>
              </a:r>
            </a:p>
          </p:txBody>
        </p:sp>
      </p:grpSp>
      <p:grpSp>
        <p:nvGrpSpPr>
          <p:cNvPr id="10" name="carbohydrate-target"/>
          <p:cNvGrpSpPr/>
          <p:nvPr/>
        </p:nvGrpSpPr>
        <p:grpSpPr>
          <a:xfrm>
            <a:off x="628650" y="2416175"/>
            <a:ext cx="2520385" cy="1755394"/>
            <a:chOff x="628650" y="2416175"/>
            <a:chExt cx="2520385" cy="1755394"/>
          </a:xfrm>
        </p:grpSpPr>
        <p:sp>
          <p:nvSpPr>
            <p:cNvPr id="7" name="TextBox 7"/>
            <p:cNvSpPr txBox="1"/>
            <p:nvPr/>
          </p:nvSpPr>
          <p:spPr>
            <a:xfrm>
              <a:off x="678942" y="2416175"/>
              <a:ext cx="18914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PRESCRIPTION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28650" y="2673350"/>
              <a:ext cx="2520385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7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≤50 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95706" y="3819525"/>
              <a:ext cx="22949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net carbohydrate/day</a:t>
              </a:r>
            </a:p>
          </p:txBody>
        </p:sp>
      </p:grpSp>
      <p:grpSp>
        <p:nvGrpSpPr>
          <p:cNvPr id="17" name="reported-intake"/>
          <p:cNvGrpSpPr/>
          <p:nvPr/>
        </p:nvGrpSpPr>
        <p:grpSpPr>
          <a:xfrm>
            <a:off x="4019550" y="2257425"/>
            <a:ext cx="2526318" cy="1951355"/>
            <a:chOff x="4019550" y="2257425"/>
            <a:chExt cx="2526318" cy="1951355"/>
          </a:xfrm>
        </p:grpSpPr>
        <p:sp>
          <p:nvSpPr>
            <p:cNvPr id="11" name="Line 11"/>
            <p:cNvSpPr/>
            <p:nvPr/>
          </p:nvSpPr>
          <p:spPr>
            <a:xfrm>
              <a:off x="4019550" y="3181350"/>
              <a:ext cx="361950" cy="1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762500" y="2257425"/>
              <a:ext cx="1114425" cy="1381125"/>
            </a:xfrm>
            <a:prstGeom prst="roundRect">
              <a:avLst>
                <a:gd name="adj" fmla="val 10256"/>
              </a:avLst>
            </a:prstGeom>
            <a:solidFill>
              <a:schemeClr val="lt2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4953000" y="2562225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953000" y="2819400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4953000" y="3076575"/>
              <a:ext cx="542925" cy="9525"/>
            </a:xfrm>
            <a:custGeom>
              <a:avLst/>
              <a:gdLst/>
              <a:ahLst/>
              <a:cxnLst/>
              <a:rect l="l" t="t" r="r" b="b"/>
              <a:pathLst>
                <a:path w="542925" h="9525">
                  <a:moveTo>
                    <a:pt x="0" y="0"/>
                  </a:moveTo>
                  <a:lnTo>
                    <a:pt x="542925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12970" y="3768725"/>
              <a:ext cx="183289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Food diaries</a:t>
              </a:r>
            </a:p>
          </p:txBody>
        </p:sp>
      </p:grpSp>
      <p:grpSp>
        <p:nvGrpSpPr>
          <p:cNvPr id="22" name="unverified-ketosis"/>
          <p:cNvGrpSpPr/>
          <p:nvPr/>
        </p:nvGrpSpPr>
        <p:grpSpPr>
          <a:xfrm>
            <a:off x="7848600" y="2152650"/>
            <a:ext cx="2609850" cy="2093341"/>
            <a:chOff x="7848600" y="2152650"/>
            <a:chExt cx="2609850" cy="2093341"/>
          </a:xfrm>
        </p:grpSpPr>
        <p:sp>
          <p:nvSpPr>
            <p:cNvPr id="18" name="Line 18"/>
            <p:cNvSpPr/>
            <p:nvPr/>
          </p:nvSpPr>
          <p:spPr>
            <a:xfrm>
              <a:off x="7848600" y="3181350"/>
              <a:ext cx="390525" cy="1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19" name="Ellipse 19"/>
            <p:cNvSpPr/>
            <p:nvPr/>
          </p:nvSpPr>
          <p:spPr>
            <a:xfrm>
              <a:off x="8972550" y="2152650"/>
              <a:ext cx="1485900" cy="1485900"/>
            </a:xfrm>
            <a:prstGeom prst="ellipse">
              <a:avLst/>
            </a:prstGeom>
            <a:noFill/>
            <a:ln w="57150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84181" y="2349500"/>
              <a:ext cx="462638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72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?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14393" y="3717925"/>
              <a:ext cx="140221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7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Ketosis?</a:t>
              </a:r>
            </a:p>
          </p:txBody>
        </p:sp>
      </p:grpSp>
      <p:grpSp>
        <p:nvGrpSpPr>
          <p:cNvPr id="26" name="ketosis-caveat"/>
          <p:cNvGrpSpPr/>
          <p:nvPr/>
        </p:nvGrpSpPr>
        <p:grpSpPr>
          <a:xfrm>
            <a:off x="514350" y="5153025"/>
            <a:ext cx="11163300" cy="981075"/>
            <a:chOff x="514350" y="5153025"/>
            <a:chExt cx="11163300" cy="981075"/>
          </a:xfrm>
        </p:grpSpPr>
        <p:sp>
          <p:nvSpPr>
            <p:cNvPr id="23" name="Rectangle 23"/>
            <p:cNvSpPr/>
            <p:nvPr/>
          </p:nvSpPr>
          <p:spPr>
            <a:xfrm>
              <a:off x="514350" y="5153025"/>
              <a:ext cx="11163300" cy="981075"/>
            </a:xfrm>
            <a:prstGeom prst="roundRect">
              <a:avLst>
                <a:gd name="adj" fmla="val 2135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8284" y="5232400"/>
              <a:ext cx="72983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No objective ketone verification reported.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2856" y="5705475"/>
              <a:ext cx="69079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Self-reported intake cannot confirm sustained nutritional ketosis.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508254" y="6467475"/>
            <a:ext cx="76205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2.3, 2.7 + Discussion · No measurement does not mean ketosis never occurred.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5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4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6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130" fill="hold">
                                          <p:stCondLst>
                                            <p:cond delay="13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130" fill="hold">
                                          <p:stCondLst>
                                            <p:cond delay="26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130" fill="hold">
                                          <p:stCondLst>
                                            <p:cond delay="39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130" fill="hold">
                                          <p:stCondLst>
                                            <p:cond delay="52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41211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PROPOSED IMPROVEMENT · LIMITATION 02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11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6997421" cy="847725"/>
            <a:chOff x="495300" y="609600"/>
            <a:chExt cx="6997421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699742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Measure the missing link.</a:t>
              </a:r>
            </a:p>
          </p:txBody>
        </p:sp>
      </p:grpSp>
      <p:grpSp>
        <p:nvGrpSpPr>
          <p:cNvPr id="14" name="measure-ketones"/>
          <p:cNvGrpSpPr/>
          <p:nvPr/>
        </p:nvGrpSpPr>
        <p:grpSpPr>
          <a:xfrm>
            <a:off x="693420" y="2228850"/>
            <a:ext cx="2490791" cy="2533269"/>
            <a:chOff x="693420" y="2228850"/>
            <a:chExt cx="2490791" cy="2533269"/>
          </a:xfrm>
        </p:grpSpPr>
        <p:sp>
          <p:nvSpPr>
            <p:cNvPr id="7" name="Rectangle 7"/>
            <p:cNvSpPr/>
            <p:nvPr/>
          </p:nvSpPr>
          <p:spPr>
            <a:xfrm>
              <a:off x="876300" y="2276475"/>
              <a:ext cx="400050" cy="1047750"/>
            </a:xfrm>
            <a:prstGeom prst="roundRect">
              <a:avLst>
                <a:gd name="adj" fmla="val 38095"/>
              </a:avLst>
            </a:pr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28675" y="2228850"/>
              <a:ext cx="495300" cy="142875"/>
            </a:xfrm>
            <a:prstGeom prst="roundRect">
              <a:avLst>
                <a:gd name="adj" fmla="val 2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42975" y="2886075"/>
              <a:ext cx="266700" cy="333375"/>
            </a:xfrm>
            <a:prstGeom prst="roundRect">
              <a:avLst>
                <a:gd name="adj" fmla="val 2857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962025" y="25908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3420" y="3597275"/>
              <a:ext cx="24907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Measure ketones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5706" y="4057650"/>
              <a:ext cx="15341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Blood or urine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5706" y="4410075"/>
              <a:ext cx="20063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Repeated checks</a:t>
              </a:r>
            </a:p>
          </p:txBody>
        </p:sp>
      </p:grpSp>
      <p:grpSp>
        <p:nvGrpSpPr>
          <p:cNvPr id="20" name="report-attainment"/>
          <p:cNvGrpSpPr/>
          <p:nvPr/>
        </p:nvGrpSpPr>
        <p:grpSpPr>
          <a:xfrm>
            <a:off x="4446270" y="2305050"/>
            <a:ext cx="2623659" cy="2457069"/>
            <a:chOff x="4446270" y="2305050"/>
            <a:chExt cx="2623659" cy="2457069"/>
          </a:xfrm>
        </p:grpSpPr>
        <p:sp>
          <p:nvSpPr>
            <p:cNvPr id="15" name="Ellipse 15"/>
            <p:cNvSpPr/>
            <p:nvPr/>
          </p:nvSpPr>
          <p:spPr>
            <a:xfrm>
              <a:off x="4543425" y="2305050"/>
              <a:ext cx="933450" cy="93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90797" y="2505075"/>
              <a:ext cx="43870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43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46270" y="3597275"/>
              <a:ext cx="262365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Report attainment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48556" y="4057650"/>
              <a:ext cx="1844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Carb target met?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48556" y="4410075"/>
              <a:ext cx="22883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Ketosis confirmed?</a:t>
              </a:r>
            </a:p>
          </p:txBody>
        </p:sp>
      </p:grpSp>
      <p:grpSp>
        <p:nvGrpSpPr>
          <p:cNvPr id="28" name="track-adherence"/>
          <p:cNvGrpSpPr/>
          <p:nvPr/>
        </p:nvGrpSpPr>
        <p:grpSpPr>
          <a:xfrm>
            <a:off x="8322945" y="2667000"/>
            <a:ext cx="3011805" cy="2095119"/>
            <a:chOff x="8322945" y="2667000"/>
            <a:chExt cx="3011805" cy="2095119"/>
          </a:xfrm>
        </p:grpSpPr>
        <p:sp>
          <p:nvSpPr>
            <p:cNvPr id="21" name="Line 21"/>
            <p:cNvSpPr/>
            <p:nvPr/>
          </p:nvSpPr>
          <p:spPr>
            <a:xfrm>
              <a:off x="8448675" y="2781300"/>
              <a:ext cx="2886075" cy="9525"/>
            </a:xfrm>
            <a:custGeom>
              <a:avLst/>
              <a:gdLst/>
              <a:ahLst/>
              <a:cxnLst/>
              <a:rect l="l" t="t" r="r" b="b"/>
              <a:pathLst>
                <a:path w="2886075" h="9525">
                  <a:moveTo>
                    <a:pt x="0" y="0"/>
                  </a:moveTo>
                  <a:lnTo>
                    <a:pt x="2886075" y="0"/>
                  </a:lnTo>
                </a:path>
              </a:pathLst>
            </a:custGeom>
            <a:noFill/>
            <a:ln w="38100">
              <a:solidFill>
                <a:schemeClr val="accent6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8458200" y="266700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9715500" y="266700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1087100" y="266700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22945" y="3597275"/>
              <a:ext cx="22718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Track over time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25231" y="4057650"/>
              <a:ext cx="21674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Sustained exposure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25231" y="4410075"/>
              <a:ext cx="20374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not one snapshot</a:t>
              </a:r>
            </a:p>
          </p:txBody>
        </p:sp>
      </p:grpSp>
      <p:grpSp>
        <p:nvGrpSpPr>
          <p:cNvPr id="31" name="verification-takeaway"/>
          <p:cNvGrpSpPr/>
          <p:nvPr/>
        </p:nvGrpSpPr>
        <p:grpSpPr>
          <a:xfrm>
            <a:off x="514350" y="5353050"/>
            <a:ext cx="11163300" cy="752475"/>
            <a:chOff x="514350" y="5353050"/>
            <a:chExt cx="11163300" cy="752475"/>
          </a:xfrm>
        </p:grpSpPr>
        <p:sp>
          <p:nvSpPr>
            <p:cNvPr id="29" name="Rectangle 29"/>
            <p:cNvSpPr/>
            <p:nvPr/>
          </p:nvSpPr>
          <p:spPr>
            <a:xfrm>
              <a:off x="514350" y="5353050"/>
              <a:ext cx="11163300" cy="752475"/>
            </a:xfrm>
            <a:prstGeom prst="roundRect">
              <a:avLst>
                <a:gd name="adj" fmla="val 2784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191355" y="5549900"/>
              <a:ext cx="780928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Verify the exposure before explaining the mechanism.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08254" y="6467475"/>
            <a:ext cx="704171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Discussion · Proposed measurements; no participant ketone values are invented.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5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100"/>
                            </p:stCondLst>
                            <p:childTnLst>
                              <p:par>
                                <p:cTn xmlns:p="http://schemas.openxmlformats.org/presentationml/2006/main"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2573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LIMITATION 03 · ATTRITION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11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6993775" cy="847725"/>
            <a:chOff x="495300" y="609600"/>
            <a:chExt cx="6993775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6993775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Who stays in the picture?</a:t>
              </a:r>
            </a:p>
          </p:txBody>
        </p:sp>
      </p:grpSp>
      <p:grpSp>
        <p:nvGrpSpPr>
          <p:cNvPr id="168" name="!!cohort-grid"/>
          <p:cNvGrpSpPr/>
          <p:nvPr/>
        </p:nvGrpSpPr>
        <p:grpSpPr>
          <a:xfrm>
            <a:off x="819150" y="2057400"/>
            <a:ext cx="5448300" cy="3476625"/>
            <a:chOff x="819150" y="2057400"/>
            <a:chExt cx="5448300" cy="3476625"/>
          </a:xfrm>
        </p:grpSpPr>
        <p:grpSp>
          <p:nvGrpSpPr>
            <p:cNvPr id="167" name="participant-followup-chartArea"/>
            <p:cNvGrpSpPr/>
            <p:nvPr/>
          </p:nvGrpSpPr>
          <p:grpSpPr>
            <a:xfrm>
              <a:off x="819150" y="2057400"/>
              <a:ext cx="5448300" cy="3476625"/>
              <a:chOff x="819150" y="2057400"/>
              <a:chExt cx="5448300" cy="3476625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8286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8191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4192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14097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20097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20002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26003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25908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31908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31813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37814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37719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43719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43624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49625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9530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55530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55435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61436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61341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8286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8191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14192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14097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20097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20002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26003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25908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31908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31813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37814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37719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43719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43624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49625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49530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55530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55435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61436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61341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8286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8191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14192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14097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20097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20002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26003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25908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31908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31813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37814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8" name="Rectangle 58"/>
              <p:cNvSpPr/>
              <p:nvPr/>
            </p:nvSpPr>
            <p:spPr>
              <a:xfrm>
                <a:off x="37719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43719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43624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49625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49530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55530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55435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61436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61341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7" name="Ellipse 67"/>
              <p:cNvSpPr/>
              <p:nvPr/>
            </p:nvSpPr>
            <p:spPr>
              <a:xfrm>
                <a:off x="8286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8191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9" name="Ellipse 69"/>
              <p:cNvSpPr/>
              <p:nvPr/>
            </p:nvSpPr>
            <p:spPr>
              <a:xfrm>
                <a:off x="14192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14097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1" name="Ellipse 71"/>
              <p:cNvSpPr/>
              <p:nvPr/>
            </p:nvSpPr>
            <p:spPr>
              <a:xfrm>
                <a:off x="20097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2" name="Rectangle 72"/>
              <p:cNvSpPr/>
              <p:nvPr/>
            </p:nvSpPr>
            <p:spPr>
              <a:xfrm>
                <a:off x="20002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26003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4" name="Rectangle 74"/>
              <p:cNvSpPr/>
              <p:nvPr/>
            </p:nvSpPr>
            <p:spPr>
              <a:xfrm>
                <a:off x="25908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5" name="Ellipse 75"/>
              <p:cNvSpPr/>
              <p:nvPr/>
            </p:nvSpPr>
            <p:spPr>
              <a:xfrm>
                <a:off x="31908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6" name="Rectangle 76"/>
              <p:cNvSpPr/>
              <p:nvPr/>
            </p:nvSpPr>
            <p:spPr>
              <a:xfrm>
                <a:off x="31813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7" name="Ellipse 77"/>
              <p:cNvSpPr/>
              <p:nvPr/>
            </p:nvSpPr>
            <p:spPr>
              <a:xfrm>
                <a:off x="37814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8" name="Rectangle 78"/>
              <p:cNvSpPr/>
              <p:nvPr/>
            </p:nvSpPr>
            <p:spPr>
              <a:xfrm>
                <a:off x="37719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9" name="Ellipse 79"/>
              <p:cNvSpPr/>
              <p:nvPr/>
            </p:nvSpPr>
            <p:spPr>
              <a:xfrm>
                <a:off x="43719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0" name="Rectangle 80"/>
              <p:cNvSpPr/>
              <p:nvPr/>
            </p:nvSpPr>
            <p:spPr>
              <a:xfrm>
                <a:off x="43624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1" name="Ellipse 81"/>
              <p:cNvSpPr/>
              <p:nvPr/>
            </p:nvSpPr>
            <p:spPr>
              <a:xfrm>
                <a:off x="49625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2" name="Rectangle 82"/>
              <p:cNvSpPr/>
              <p:nvPr/>
            </p:nvSpPr>
            <p:spPr>
              <a:xfrm>
                <a:off x="49530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3" name="Ellipse 83"/>
              <p:cNvSpPr/>
              <p:nvPr/>
            </p:nvSpPr>
            <p:spPr>
              <a:xfrm>
                <a:off x="55530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4" name="Rectangle 84"/>
              <p:cNvSpPr/>
              <p:nvPr/>
            </p:nvSpPr>
            <p:spPr>
              <a:xfrm>
                <a:off x="55435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5" name="Ellipse 85"/>
              <p:cNvSpPr/>
              <p:nvPr/>
            </p:nvSpPr>
            <p:spPr>
              <a:xfrm>
                <a:off x="61436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6" name="Rectangle 86"/>
              <p:cNvSpPr/>
              <p:nvPr/>
            </p:nvSpPr>
            <p:spPr>
              <a:xfrm>
                <a:off x="61341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7" name="Ellipse 87"/>
              <p:cNvSpPr/>
              <p:nvPr/>
            </p:nvSpPr>
            <p:spPr>
              <a:xfrm>
                <a:off x="8286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8" name="Rectangle 88"/>
              <p:cNvSpPr/>
              <p:nvPr/>
            </p:nvSpPr>
            <p:spPr>
              <a:xfrm>
                <a:off x="8191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9" name="Ellipse 89"/>
              <p:cNvSpPr/>
              <p:nvPr/>
            </p:nvSpPr>
            <p:spPr>
              <a:xfrm>
                <a:off x="14192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0" name="Rectangle 90"/>
              <p:cNvSpPr/>
              <p:nvPr/>
            </p:nvSpPr>
            <p:spPr>
              <a:xfrm>
                <a:off x="14097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1" name="Ellipse 91"/>
              <p:cNvSpPr/>
              <p:nvPr/>
            </p:nvSpPr>
            <p:spPr>
              <a:xfrm>
                <a:off x="20097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2" name="Rectangle 92"/>
              <p:cNvSpPr/>
              <p:nvPr/>
            </p:nvSpPr>
            <p:spPr>
              <a:xfrm>
                <a:off x="20002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3" name="Ellipse 93"/>
              <p:cNvSpPr/>
              <p:nvPr/>
            </p:nvSpPr>
            <p:spPr>
              <a:xfrm>
                <a:off x="26003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4" name="Rectangle 94"/>
              <p:cNvSpPr/>
              <p:nvPr/>
            </p:nvSpPr>
            <p:spPr>
              <a:xfrm>
                <a:off x="25908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5" name="Ellipse 95"/>
              <p:cNvSpPr/>
              <p:nvPr/>
            </p:nvSpPr>
            <p:spPr>
              <a:xfrm>
                <a:off x="31908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6" name="Rectangle 96"/>
              <p:cNvSpPr/>
              <p:nvPr/>
            </p:nvSpPr>
            <p:spPr>
              <a:xfrm>
                <a:off x="31813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7" name="Ellipse 97"/>
              <p:cNvSpPr/>
              <p:nvPr/>
            </p:nvSpPr>
            <p:spPr>
              <a:xfrm>
                <a:off x="37814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8" name="Rectangle 98"/>
              <p:cNvSpPr/>
              <p:nvPr/>
            </p:nvSpPr>
            <p:spPr>
              <a:xfrm>
                <a:off x="37719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9" name="Ellipse 99"/>
              <p:cNvSpPr/>
              <p:nvPr/>
            </p:nvSpPr>
            <p:spPr>
              <a:xfrm>
                <a:off x="43719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0" name="Rectangle 100"/>
              <p:cNvSpPr/>
              <p:nvPr/>
            </p:nvSpPr>
            <p:spPr>
              <a:xfrm>
                <a:off x="43624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1" name="Ellipse 101"/>
              <p:cNvSpPr/>
              <p:nvPr/>
            </p:nvSpPr>
            <p:spPr>
              <a:xfrm>
                <a:off x="49625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2" name="Rectangle 102"/>
              <p:cNvSpPr/>
              <p:nvPr/>
            </p:nvSpPr>
            <p:spPr>
              <a:xfrm>
                <a:off x="49530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3" name="Ellipse 103"/>
              <p:cNvSpPr/>
              <p:nvPr/>
            </p:nvSpPr>
            <p:spPr>
              <a:xfrm>
                <a:off x="55530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4" name="Rectangle 104"/>
              <p:cNvSpPr/>
              <p:nvPr/>
            </p:nvSpPr>
            <p:spPr>
              <a:xfrm>
                <a:off x="55435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5" name="Ellipse 105"/>
              <p:cNvSpPr/>
              <p:nvPr/>
            </p:nvSpPr>
            <p:spPr>
              <a:xfrm>
                <a:off x="61436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6" name="Rectangle 106"/>
              <p:cNvSpPr/>
              <p:nvPr/>
            </p:nvSpPr>
            <p:spPr>
              <a:xfrm>
                <a:off x="61341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7" name="Ellipse 107"/>
              <p:cNvSpPr/>
              <p:nvPr/>
            </p:nvSpPr>
            <p:spPr>
              <a:xfrm>
                <a:off x="8286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8" name="Rectangle 108"/>
              <p:cNvSpPr/>
              <p:nvPr/>
            </p:nvSpPr>
            <p:spPr>
              <a:xfrm>
                <a:off x="8191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9" name="Ellipse 109"/>
              <p:cNvSpPr/>
              <p:nvPr/>
            </p:nvSpPr>
            <p:spPr>
              <a:xfrm>
                <a:off x="141922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0" name="Rectangle 110"/>
              <p:cNvSpPr/>
              <p:nvPr/>
            </p:nvSpPr>
            <p:spPr>
              <a:xfrm>
                <a:off x="14097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1" name="Ellipse 111"/>
              <p:cNvSpPr/>
              <p:nvPr/>
            </p:nvSpPr>
            <p:spPr>
              <a:xfrm>
                <a:off x="20097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2" name="Rectangle 112"/>
              <p:cNvSpPr/>
              <p:nvPr/>
            </p:nvSpPr>
            <p:spPr>
              <a:xfrm>
                <a:off x="20002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3" name="Ellipse 113"/>
              <p:cNvSpPr/>
              <p:nvPr/>
            </p:nvSpPr>
            <p:spPr>
              <a:xfrm>
                <a:off x="260032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4" name="Rectangle 114"/>
              <p:cNvSpPr/>
              <p:nvPr/>
            </p:nvSpPr>
            <p:spPr>
              <a:xfrm>
                <a:off x="25908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5" name="Ellipse 115"/>
              <p:cNvSpPr/>
              <p:nvPr/>
            </p:nvSpPr>
            <p:spPr>
              <a:xfrm>
                <a:off x="31908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6" name="Rectangle 116"/>
              <p:cNvSpPr/>
              <p:nvPr/>
            </p:nvSpPr>
            <p:spPr>
              <a:xfrm>
                <a:off x="31813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7" name="Ellipse 117"/>
              <p:cNvSpPr/>
              <p:nvPr/>
            </p:nvSpPr>
            <p:spPr>
              <a:xfrm>
                <a:off x="378142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8" name="Rectangle 118"/>
              <p:cNvSpPr/>
              <p:nvPr/>
            </p:nvSpPr>
            <p:spPr>
              <a:xfrm>
                <a:off x="37719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9" name="Ellipse 119"/>
              <p:cNvSpPr/>
              <p:nvPr/>
            </p:nvSpPr>
            <p:spPr>
              <a:xfrm>
                <a:off x="43719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0" name="Rectangle 120"/>
              <p:cNvSpPr/>
              <p:nvPr/>
            </p:nvSpPr>
            <p:spPr>
              <a:xfrm>
                <a:off x="43624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1" name="Ellipse 121"/>
              <p:cNvSpPr/>
              <p:nvPr/>
            </p:nvSpPr>
            <p:spPr>
              <a:xfrm>
                <a:off x="496252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2" name="Rectangle 122"/>
              <p:cNvSpPr/>
              <p:nvPr/>
            </p:nvSpPr>
            <p:spPr>
              <a:xfrm>
                <a:off x="49530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3" name="Ellipse 123"/>
              <p:cNvSpPr/>
              <p:nvPr/>
            </p:nvSpPr>
            <p:spPr>
              <a:xfrm>
                <a:off x="55530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4" name="Rectangle 124"/>
              <p:cNvSpPr/>
              <p:nvPr/>
            </p:nvSpPr>
            <p:spPr>
              <a:xfrm>
                <a:off x="55435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5" name="Ellipse 125"/>
              <p:cNvSpPr/>
              <p:nvPr/>
            </p:nvSpPr>
            <p:spPr>
              <a:xfrm>
                <a:off x="614362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6" name="Rectangle 126"/>
              <p:cNvSpPr/>
              <p:nvPr/>
            </p:nvSpPr>
            <p:spPr>
              <a:xfrm>
                <a:off x="61341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7" name="Ellipse 127"/>
              <p:cNvSpPr/>
              <p:nvPr/>
            </p:nvSpPr>
            <p:spPr>
              <a:xfrm>
                <a:off x="82867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8" name="Rectangle 128"/>
              <p:cNvSpPr/>
              <p:nvPr/>
            </p:nvSpPr>
            <p:spPr>
              <a:xfrm>
                <a:off x="8191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9" name="Ellipse 129"/>
              <p:cNvSpPr/>
              <p:nvPr/>
            </p:nvSpPr>
            <p:spPr>
              <a:xfrm>
                <a:off x="141922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0" name="Rectangle 130"/>
              <p:cNvSpPr/>
              <p:nvPr/>
            </p:nvSpPr>
            <p:spPr>
              <a:xfrm>
                <a:off x="14097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1" name="Ellipse 131"/>
              <p:cNvSpPr/>
              <p:nvPr/>
            </p:nvSpPr>
            <p:spPr>
              <a:xfrm>
                <a:off x="200977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2" name="Rectangle 132"/>
              <p:cNvSpPr/>
              <p:nvPr/>
            </p:nvSpPr>
            <p:spPr>
              <a:xfrm>
                <a:off x="20002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3" name="Ellipse 133"/>
              <p:cNvSpPr/>
              <p:nvPr/>
            </p:nvSpPr>
            <p:spPr>
              <a:xfrm>
                <a:off x="260032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4" name="Rectangle 134"/>
              <p:cNvSpPr/>
              <p:nvPr/>
            </p:nvSpPr>
            <p:spPr>
              <a:xfrm>
                <a:off x="25908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5" name="Ellipse 135"/>
              <p:cNvSpPr/>
              <p:nvPr/>
            </p:nvSpPr>
            <p:spPr>
              <a:xfrm>
                <a:off x="319087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6" name="Rectangle 136"/>
              <p:cNvSpPr/>
              <p:nvPr/>
            </p:nvSpPr>
            <p:spPr>
              <a:xfrm>
                <a:off x="31813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7" name="Ellipse 137"/>
              <p:cNvSpPr/>
              <p:nvPr/>
            </p:nvSpPr>
            <p:spPr>
              <a:xfrm>
                <a:off x="378142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8" name="Rectangle 138"/>
              <p:cNvSpPr/>
              <p:nvPr/>
            </p:nvSpPr>
            <p:spPr>
              <a:xfrm>
                <a:off x="37719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9" name="Ellipse 139"/>
              <p:cNvSpPr/>
              <p:nvPr/>
            </p:nvSpPr>
            <p:spPr>
              <a:xfrm>
                <a:off x="437197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0" name="Rectangle 140"/>
              <p:cNvSpPr/>
              <p:nvPr/>
            </p:nvSpPr>
            <p:spPr>
              <a:xfrm>
                <a:off x="43624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1" name="Ellipse 141"/>
              <p:cNvSpPr/>
              <p:nvPr/>
            </p:nvSpPr>
            <p:spPr>
              <a:xfrm>
                <a:off x="496252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2" name="Rectangle 142"/>
              <p:cNvSpPr/>
              <p:nvPr/>
            </p:nvSpPr>
            <p:spPr>
              <a:xfrm>
                <a:off x="49530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3" name="Ellipse 143"/>
              <p:cNvSpPr/>
              <p:nvPr/>
            </p:nvSpPr>
            <p:spPr>
              <a:xfrm>
                <a:off x="555307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4" name="Rectangle 144"/>
              <p:cNvSpPr/>
              <p:nvPr/>
            </p:nvSpPr>
            <p:spPr>
              <a:xfrm>
                <a:off x="55435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5" name="Ellipse 145"/>
              <p:cNvSpPr/>
              <p:nvPr/>
            </p:nvSpPr>
            <p:spPr>
              <a:xfrm>
                <a:off x="614362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6" name="Rectangle 146"/>
              <p:cNvSpPr/>
              <p:nvPr/>
            </p:nvSpPr>
            <p:spPr>
              <a:xfrm>
                <a:off x="61341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7" name="Ellipse 147"/>
              <p:cNvSpPr/>
              <p:nvPr/>
            </p:nvSpPr>
            <p:spPr>
              <a:xfrm>
                <a:off x="82867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8" name="Rectangle 148"/>
              <p:cNvSpPr/>
              <p:nvPr/>
            </p:nvSpPr>
            <p:spPr>
              <a:xfrm>
                <a:off x="8191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9" name="Ellipse 149"/>
              <p:cNvSpPr/>
              <p:nvPr/>
            </p:nvSpPr>
            <p:spPr>
              <a:xfrm>
                <a:off x="141922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0" name="Rectangle 150"/>
              <p:cNvSpPr/>
              <p:nvPr/>
            </p:nvSpPr>
            <p:spPr>
              <a:xfrm>
                <a:off x="14097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1" name="Ellipse 151"/>
              <p:cNvSpPr/>
              <p:nvPr/>
            </p:nvSpPr>
            <p:spPr>
              <a:xfrm>
                <a:off x="200977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2" name="Rectangle 152"/>
              <p:cNvSpPr/>
              <p:nvPr/>
            </p:nvSpPr>
            <p:spPr>
              <a:xfrm>
                <a:off x="20002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3" name="Ellipse 153"/>
              <p:cNvSpPr/>
              <p:nvPr/>
            </p:nvSpPr>
            <p:spPr>
              <a:xfrm>
                <a:off x="260032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4" name="Rectangle 154"/>
              <p:cNvSpPr/>
              <p:nvPr/>
            </p:nvSpPr>
            <p:spPr>
              <a:xfrm>
                <a:off x="25908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5" name="Ellipse 155"/>
              <p:cNvSpPr/>
              <p:nvPr/>
            </p:nvSpPr>
            <p:spPr>
              <a:xfrm>
                <a:off x="319087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6" name="Rectangle 156"/>
              <p:cNvSpPr/>
              <p:nvPr/>
            </p:nvSpPr>
            <p:spPr>
              <a:xfrm>
                <a:off x="31813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7" name="Ellipse 157"/>
              <p:cNvSpPr/>
              <p:nvPr/>
            </p:nvSpPr>
            <p:spPr>
              <a:xfrm>
                <a:off x="378142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8" name="Rectangle 158"/>
              <p:cNvSpPr/>
              <p:nvPr/>
            </p:nvSpPr>
            <p:spPr>
              <a:xfrm>
                <a:off x="37719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9" name="Ellipse 159"/>
              <p:cNvSpPr/>
              <p:nvPr/>
            </p:nvSpPr>
            <p:spPr>
              <a:xfrm>
                <a:off x="437197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0" name="Rectangle 160"/>
              <p:cNvSpPr/>
              <p:nvPr/>
            </p:nvSpPr>
            <p:spPr>
              <a:xfrm>
                <a:off x="43624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1" name="Ellipse 161"/>
              <p:cNvSpPr/>
              <p:nvPr/>
            </p:nvSpPr>
            <p:spPr>
              <a:xfrm>
                <a:off x="496252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2" name="Rectangle 162"/>
              <p:cNvSpPr/>
              <p:nvPr/>
            </p:nvSpPr>
            <p:spPr>
              <a:xfrm>
                <a:off x="49530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3" name="Ellipse 163"/>
              <p:cNvSpPr/>
              <p:nvPr/>
            </p:nvSpPr>
            <p:spPr>
              <a:xfrm>
                <a:off x="555307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4" name="Rectangle 164"/>
              <p:cNvSpPr/>
              <p:nvPr/>
            </p:nvSpPr>
            <p:spPr>
              <a:xfrm>
                <a:off x="55435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5" name="Ellipse 165"/>
              <p:cNvSpPr/>
              <p:nvPr/>
            </p:nvSpPr>
            <p:spPr>
              <a:xfrm>
                <a:off x="614362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6" name="Rectangle 166"/>
              <p:cNvSpPr/>
              <p:nvPr/>
            </p:nvSpPr>
            <p:spPr>
              <a:xfrm>
                <a:off x="61341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</p:grpSp>
      </p:grpSp>
      <p:grpSp>
        <p:nvGrpSpPr>
          <p:cNvPr id="172" name="!!cohort-count"/>
          <p:cNvGrpSpPr/>
          <p:nvPr/>
        </p:nvGrpSpPr>
        <p:grpSpPr>
          <a:xfrm>
            <a:off x="7715250" y="2254250"/>
            <a:ext cx="3191110" cy="1955419"/>
            <a:chOff x="7715250" y="2254250"/>
            <a:chExt cx="3191110" cy="1955419"/>
          </a:xfrm>
        </p:grpSpPr>
        <p:sp>
          <p:nvSpPr>
            <p:cNvPr id="169" name="TextBox 169"/>
            <p:cNvSpPr txBox="1"/>
            <p:nvPr/>
          </p:nvSpPr>
          <p:spPr>
            <a:xfrm>
              <a:off x="7715250" y="2254250"/>
              <a:ext cx="1173884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7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80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7751445" y="3368675"/>
              <a:ext cx="3154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randomized at baseline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7753731" y="3857625"/>
              <a:ext cx="31285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100% in the starting cohort</a:t>
              </a:r>
            </a:p>
          </p:txBody>
        </p:sp>
      </p:grpSp>
      <p:grpSp>
        <p:nvGrpSpPr>
          <p:cNvPr id="176" name="followup-caveat"/>
          <p:cNvGrpSpPr/>
          <p:nvPr/>
        </p:nvGrpSpPr>
        <p:grpSpPr>
          <a:xfrm>
            <a:off x="7722870" y="4673600"/>
            <a:ext cx="3025303" cy="1250569"/>
            <a:chOff x="7722870" y="4673600"/>
            <a:chExt cx="3025303" cy="1250569"/>
          </a:xfrm>
        </p:grpSpPr>
        <p:sp>
          <p:nvSpPr>
            <p:cNvPr id="173" name="TextBox 173"/>
            <p:cNvSpPr txBox="1"/>
            <p:nvPr/>
          </p:nvSpPr>
          <p:spPr>
            <a:xfrm>
              <a:off x="7722870" y="4673600"/>
              <a:ext cx="29958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What happens next?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7725156" y="5133975"/>
              <a:ext cx="25983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Follow the same cohort.</a:t>
              </a:r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7725156" y="5572125"/>
              <a:ext cx="30230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One figure = one participant</a:t>
              </a:r>
            </a:p>
          </p:txBody>
        </p:sp>
      </p:grpSp>
      <p:grpSp>
        <p:nvGrpSpPr>
          <p:cNvPr id="180" name="cohort-legend"/>
          <p:cNvGrpSpPr/>
          <p:nvPr/>
        </p:nvGrpSpPr>
        <p:grpSpPr>
          <a:xfrm>
            <a:off x="676275" y="5915025"/>
            <a:ext cx="4636425" cy="352044"/>
            <a:chOff x="676275" y="5915025"/>
            <a:chExt cx="4636425" cy="352044"/>
          </a:xfrm>
        </p:grpSpPr>
        <p:sp>
          <p:nvSpPr>
            <p:cNvPr id="177" name="Ellipse 177"/>
            <p:cNvSpPr/>
            <p:nvPr/>
          </p:nvSpPr>
          <p:spPr>
            <a:xfrm>
              <a:off x="676275" y="59912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8" name="TextBox 178"/>
            <p:cNvSpPr txBox="1"/>
            <p:nvPr/>
          </p:nvSpPr>
          <p:spPr>
            <a:xfrm>
              <a:off x="905256" y="5915025"/>
              <a:ext cx="10763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Observed</a:t>
              </a:r>
            </a:p>
          </p:txBody>
        </p:sp>
        <p:sp>
          <p:nvSpPr>
            <p:cNvPr id="179" name="TextBox 179"/>
            <p:cNvSpPr txBox="1"/>
            <p:nvPr/>
          </p:nvSpPr>
          <p:spPr>
            <a:xfrm>
              <a:off x="2753106" y="5915025"/>
              <a:ext cx="25595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Same 80-person cohort</a:t>
              </a:r>
            </a:p>
          </p:txBody>
        </p:sp>
      </p:grpSp>
      <p:sp>
        <p:nvSpPr>
          <p:cNvPr id="181" name="TextBox 181"/>
          <p:cNvSpPr txBox="1"/>
          <p:nvPr/>
        </p:nvSpPr>
        <p:spPr>
          <a:xfrm>
            <a:off x="508254" y="6467475"/>
            <a:ext cx="56741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Figure 1 + Table 2 · 6-month counts: HKD 29/41; ERD 30/39.</a:t>
            </a:r>
          </a:p>
        </p:txBody>
      </p:sp>
    </p:spTree>
  </p:cSld>
  <p:clrMapOvr>
    <a:masterClrMapping/>
  </p:clrMapOvr>
  <p:transition p14:dur="350">
    <p:fade/>
  </p:transition>
</p:sld>
</file>

<file path=ppt/slides/slide8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2573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LIMITATION 03 · ATTRITION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11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6993775" cy="847725"/>
            <a:chOff x="495300" y="609600"/>
            <a:chExt cx="6993775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6993775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Who stays in the picture?</a:t>
              </a:r>
            </a:p>
          </p:txBody>
        </p:sp>
      </p:grpSp>
      <p:grpSp>
        <p:nvGrpSpPr>
          <p:cNvPr id="168" name="!!cohort-grid"/>
          <p:cNvGrpSpPr/>
          <p:nvPr/>
        </p:nvGrpSpPr>
        <p:grpSpPr>
          <a:xfrm>
            <a:off x="819150" y="2057400"/>
            <a:ext cx="5448300" cy="3476625"/>
            <a:chOff x="819150" y="2057400"/>
            <a:chExt cx="5448300" cy="3476625"/>
          </a:xfrm>
        </p:grpSpPr>
        <p:grpSp>
          <p:nvGrpSpPr>
            <p:cNvPr id="167" name="participant-followup-chartArea"/>
            <p:cNvGrpSpPr/>
            <p:nvPr/>
          </p:nvGrpSpPr>
          <p:grpSpPr>
            <a:xfrm>
              <a:off x="819150" y="2057400"/>
              <a:ext cx="5448300" cy="3476625"/>
              <a:chOff x="819150" y="2057400"/>
              <a:chExt cx="5448300" cy="3476625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8286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8191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4192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14097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20097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20002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26003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25908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31908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31813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37814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37719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43719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43624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49625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9530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55530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55435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61436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61341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8286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8191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14192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14097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20097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20002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26003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25908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31908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31813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37814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37719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43719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43624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49625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49530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55530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55435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61436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61341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8286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8191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14192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14097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20097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20002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26003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25908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31908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31813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37814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8" name="Rectangle 58"/>
              <p:cNvSpPr/>
              <p:nvPr/>
            </p:nvSpPr>
            <p:spPr>
              <a:xfrm>
                <a:off x="37719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43719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43624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49625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49530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55530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55435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61436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61341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7" name="Ellipse 67"/>
              <p:cNvSpPr/>
              <p:nvPr/>
            </p:nvSpPr>
            <p:spPr>
              <a:xfrm>
                <a:off x="8286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8191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9" name="Ellipse 69"/>
              <p:cNvSpPr/>
              <p:nvPr/>
            </p:nvSpPr>
            <p:spPr>
              <a:xfrm>
                <a:off x="14192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14097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1" name="Ellipse 71"/>
              <p:cNvSpPr/>
              <p:nvPr/>
            </p:nvSpPr>
            <p:spPr>
              <a:xfrm>
                <a:off x="20097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2" name="Rectangle 72"/>
              <p:cNvSpPr/>
              <p:nvPr/>
            </p:nvSpPr>
            <p:spPr>
              <a:xfrm>
                <a:off x="20002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26003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4" name="Rectangle 74"/>
              <p:cNvSpPr/>
              <p:nvPr/>
            </p:nvSpPr>
            <p:spPr>
              <a:xfrm>
                <a:off x="25908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5" name="Ellipse 75"/>
              <p:cNvSpPr/>
              <p:nvPr/>
            </p:nvSpPr>
            <p:spPr>
              <a:xfrm>
                <a:off x="31908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6" name="Rectangle 76"/>
              <p:cNvSpPr/>
              <p:nvPr/>
            </p:nvSpPr>
            <p:spPr>
              <a:xfrm>
                <a:off x="31813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7" name="Ellipse 77"/>
              <p:cNvSpPr/>
              <p:nvPr/>
            </p:nvSpPr>
            <p:spPr>
              <a:xfrm>
                <a:off x="37814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8" name="Rectangle 78"/>
              <p:cNvSpPr/>
              <p:nvPr/>
            </p:nvSpPr>
            <p:spPr>
              <a:xfrm>
                <a:off x="37719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9" name="Ellipse 79"/>
              <p:cNvSpPr/>
              <p:nvPr/>
            </p:nvSpPr>
            <p:spPr>
              <a:xfrm>
                <a:off x="43719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0" name="Rectangle 80"/>
              <p:cNvSpPr/>
              <p:nvPr/>
            </p:nvSpPr>
            <p:spPr>
              <a:xfrm>
                <a:off x="43624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1" name="Ellipse 81"/>
              <p:cNvSpPr/>
              <p:nvPr/>
            </p:nvSpPr>
            <p:spPr>
              <a:xfrm>
                <a:off x="49625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2" name="Rectangle 82"/>
              <p:cNvSpPr/>
              <p:nvPr/>
            </p:nvSpPr>
            <p:spPr>
              <a:xfrm>
                <a:off x="49530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3" name="Ellipse 83"/>
              <p:cNvSpPr/>
              <p:nvPr/>
            </p:nvSpPr>
            <p:spPr>
              <a:xfrm>
                <a:off x="55530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4" name="Rectangle 84"/>
              <p:cNvSpPr/>
              <p:nvPr/>
            </p:nvSpPr>
            <p:spPr>
              <a:xfrm>
                <a:off x="55435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5" name="Ellipse 85"/>
              <p:cNvSpPr/>
              <p:nvPr/>
            </p:nvSpPr>
            <p:spPr>
              <a:xfrm>
                <a:off x="61436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6" name="Rectangle 86"/>
              <p:cNvSpPr/>
              <p:nvPr/>
            </p:nvSpPr>
            <p:spPr>
              <a:xfrm>
                <a:off x="61341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7" name="Ellipse 87"/>
              <p:cNvSpPr/>
              <p:nvPr/>
            </p:nvSpPr>
            <p:spPr>
              <a:xfrm>
                <a:off x="8286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8" name="Rectangle 88"/>
              <p:cNvSpPr/>
              <p:nvPr/>
            </p:nvSpPr>
            <p:spPr>
              <a:xfrm>
                <a:off x="8191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9" name="Ellipse 89"/>
              <p:cNvSpPr/>
              <p:nvPr/>
            </p:nvSpPr>
            <p:spPr>
              <a:xfrm>
                <a:off x="14192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0" name="Rectangle 90"/>
              <p:cNvSpPr/>
              <p:nvPr/>
            </p:nvSpPr>
            <p:spPr>
              <a:xfrm>
                <a:off x="14097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1" name="Ellipse 91"/>
              <p:cNvSpPr/>
              <p:nvPr/>
            </p:nvSpPr>
            <p:spPr>
              <a:xfrm>
                <a:off x="20097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2" name="Rectangle 92"/>
              <p:cNvSpPr/>
              <p:nvPr/>
            </p:nvSpPr>
            <p:spPr>
              <a:xfrm>
                <a:off x="20002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3" name="Ellipse 93"/>
              <p:cNvSpPr/>
              <p:nvPr/>
            </p:nvSpPr>
            <p:spPr>
              <a:xfrm>
                <a:off x="26003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4" name="Rectangle 94"/>
              <p:cNvSpPr/>
              <p:nvPr/>
            </p:nvSpPr>
            <p:spPr>
              <a:xfrm>
                <a:off x="25908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5" name="Ellipse 95"/>
              <p:cNvSpPr/>
              <p:nvPr/>
            </p:nvSpPr>
            <p:spPr>
              <a:xfrm>
                <a:off x="31908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6" name="Rectangle 96"/>
              <p:cNvSpPr/>
              <p:nvPr/>
            </p:nvSpPr>
            <p:spPr>
              <a:xfrm>
                <a:off x="31813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7" name="Ellipse 97"/>
              <p:cNvSpPr/>
              <p:nvPr/>
            </p:nvSpPr>
            <p:spPr>
              <a:xfrm>
                <a:off x="37814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8" name="Rectangle 98"/>
              <p:cNvSpPr/>
              <p:nvPr/>
            </p:nvSpPr>
            <p:spPr>
              <a:xfrm>
                <a:off x="37719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9" name="Ellipse 99"/>
              <p:cNvSpPr/>
              <p:nvPr/>
            </p:nvSpPr>
            <p:spPr>
              <a:xfrm>
                <a:off x="43719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0" name="Rectangle 100"/>
              <p:cNvSpPr/>
              <p:nvPr/>
            </p:nvSpPr>
            <p:spPr>
              <a:xfrm>
                <a:off x="43624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1" name="Ellipse 101"/>
              <p:cNvSpPr/>
              <p:nvPr/>
            </p:nvSpPr>
            <p:spPr>
              <a:xfrm>
                <a:off x="49625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2" name="Rectangle 102"/>
              <p:cNvSpPr/>
              <p:nvPr/>
            </p:nvSpPr>
            <p:spPr>
              <a:xfrm>
                <a:off x="49530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3" name="Ellipse 103"/>
              <p:cNvSpPr/>
              <p:nvPr/>
            </p:nvSpPr>
            <p:spPr>
              <a:xfrm>
                <a:off x="55530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4" name="Rectangle 104"/>
              <p:cNvSpPr/>
              <p:nvPr/>
            </p:nvSpPr>
            <p:spPr>
              <a:xfrm>
                <a:off x="55435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5" name="Ellipse 105"/>
              <p:cNvSpPr/>
              <p:nvPr/>
            </p:nvSpPr>
            <p:spPr>
              <a:xfrm>
                <a:off x="61436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6" name="Rectangle 106"/>
              <p:cNvSpPr/>
              <p:nvPr/>
            </p:nvSpPr>
            <p:spPr>
              <a:xfrm>
                <a:off x="61341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7" name="Ellipse 107"/>
              <p:cNvSpPr/>
              <p:nvPr/>
            </p:nvSpPr>
            <p:spPr>
              <a:xfrm>
                <a:off x="8286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8" name="Rectangle 108"/>
              <p:cNvSpPr/>
              <p:nvPr/>
            </p:nvSpPr>
            <p:spPr>
              <a:xfrm>
                <a:off x="8191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9" name="Ellipse 109"/>
              <p:cNvSpPr/>
              <p:nvPr/>
            </p:nvSpPr>
            <p:spPr>
              <a:xfrm>
                <a:off x="141922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0" name="Rectangle 110"/>
              <p:cNvSpPr/>
              <p:nvPr/>
            </p:nvSpPr>
            <p:spPr>
              <a:xfrm>
                <a:off x="14097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1" name="Ellipse 111"/>
              <p:cNvSpPr/>
              <p:nvPr/>
            </p:nvSpPr>
            <p:spPr>
              <a:xfrm>
                <a:off x="20097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2" name="Rectangle 112"/>
              <p:cNvSpPr/>
              <p:nvPr/>
            </p:nvSpPr>
            <p:spPr>
              <a:xfrm>
                <a:off x="20002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3" name="Ellipse 113"/>
              <p:cNvSpPr/>
              <p:nvPr/>
            </p:nvSpPr>
            <p:spPr>
              <a:xfrm>
                <a:off x="260032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4" name="Rectangle 114"/>
              <p:cNvSpPr/>
              <p:nvPr/>
            </p:nvSpPr>
            <p:spPr>
              <a:xfrm>
                <a:off x="25908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5" name="Ellipse 115"/>
              <p:cNvSpPr/>
              <p:nvPr/>
            </p:nvSpPr>
            <p:spPr>
              <a:xfrm>
                <a:off x="31908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6" name="Rectangle 116"/>
              <p:cNvSpPr/>
              <p:nvPr/>
            </p:nvSpPr>
            <p:spPr>
              <a:xfrm>
                <a:off x="31813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7" name="Ellipse 117"/>
              <p:cNvSpPr/>
              <p:nvPr/>
            </p:nvSpPr>
            <p:spPr>
              <a:xfrm>
                <a:off x="378142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8" name="Rectangle 118"/>
              <p:cNvSpPr/>
              <p:nvPr/>
            </p:nvSpPr>
            <p:spPr>
              <a:xfrm>
                <a:off x="37719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9" name="Ellipse 119"/>
              <p:cNvSpPr/>
              <p:nvPr/>
            </p:nvSpPr>
            <p:spPr>
              <a:xfrm>
                <a:off x="43719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0" name="Rectangle 120"/>
              <p:cNvSpPr/>
              <p:nvPr/>
            </p:nvSpPr>
            <p:spPr>
              <a:xfrm>
                <a:off x="43624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1" name="Ellipse 121"/>
              <p:cNvSpPr/>
              <p:nvPr/>
            </p:nvSpPr>
            <p:spPr>
              <a:xfrm>
                <a:off x="496252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2" name="Rectangle 122"/>
              <p:cNvSpPr/>
              <p:nvPr/>
            </p:nvSpPr>
            <p:spPr>
              <a:xfrm>
                <a:off x="49530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3" name="Ellipse 123"/>
              <p:cNvSpPr/>
              <p:nvPr/>
            </p:nvSpPr>
            <p:spPr>
              <a:xfrm>
                <a:off x="55530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4" name="Rectangle 124"/>
              <p:cNvSpPr/>
              <p:nvPr/>
            </p:nvSpPr>
            <p:spPr>
              <a:xfrm>
                <a:off x="55435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5" name="Ellipse 125"/>
              <p:cNvSpPr/>
              <p:nvPr/>
            </p:nvSpPr>
            <p:spPr>
              <a:xfrm>
                <a:off x="6143625" y="429577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26" name="Rectangle 126"/>
              <p:cNvSpPr/>
              <p:nvPr/>
            </p:nvSpPr>
            <p:spPr>
              <a:xfrm>
                <a:off x="61341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27" name="Ellipse 127"/>
              <p:cNvSpPr/>
              <p:nvPr/>
            </p:nvSpPr>
            <p:spPr>
              <a:xfrm>
                <a:off x="82867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28" name="Rectangle 128"/>
              <p:cNvSpPr/>
              <p:nvPr/>
            </p:nvSpPr>
            <p:spPr>
              <a:xfrm>
                <a:off x="8191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29" name="Ellipse 129"/>
              <p:cNvSpPr/>
              <p:nvPr/>
            </p:nvSpPr>
            <p:spPr>
              <a:xfrm>
                <a:off x="141922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0" name="Rectangle 130"/>
              <p:cNvSpPr/>
              <p:nvPr/>
            </p:nvSpPr>
            <p:spPr>
              <a:xfrm>
                <a:off x="14097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1" name="Ellipse 131"/>
              <p:cNvSpPr/>
              <p:nvPr/>
            </p:nvSpPr>
            <p:spPr>
              <a:xfrm>
                <a:off x="200977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2" name="Rectangle 132"/>
              <p:cNvSpPr/>
              <p:nvPr/>
            </p:nvSpPr>
            <p:spPr>
              <a:xfrm>
                <a:off x="20002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3" name="Ellipse 133"/>
              <p:cNvSpPr/>
              <p:nvPr/>
            </p:nvSpPr>
            <p:spPr>
              <a:xfrm>
                <a:off x="260032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4" name="Rectangle 134"/>
              <p:cNvSpPr/>
              <p:nvPr/>
            </p:nvSpPr>
            <p:spPr>
              <a:xfrm>
                <a:off x="25908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5" name="Ellipse 135"/>
              <p:cNvSpPr/>
              <p:nvPr/>
            </p:nvSpPr>
            <p:spPr>
              <a:xfrm>
                <a:off x="319087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6" name="Rectangle 136"/>
              <p:cNvSpPr/>
              <p:nvPr/>
            </p:nvSpPr>
            <p:spPr>
              <a:xfrm>
                <a:off x="31813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7" name="Ellipse 137"/>
              <p:cNvSpPr/>
              <p:nvPr/>
            </p:nvSpPr>
            <p:spPr>
              <a:xfrm>
                <a:off x="378142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8" name="Rectangle 138"/>
              <p:cNvSpPr/>
              <p:nvPr/>
            </p:nvSpPr>
            <p:spPr>
              <a:xfrm>
                <a:off x="37719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9" name="Ellipse 139"/>
              <p:cNvSpPr/>
              <p:nvPr/>
            </p:nvSpPr>
            <p:spPr>
              <a:xfrm>
                <a:off x="437197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0" name="Rectangle 140"/>
              <p:cNvSpPr/>
              <p:nvPr/>
            </p:nvSpPr>
            <p:spPr>
              <a:xfrm>
                <a:off x="43624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1" name="Ellipse 141"/>
              <p:cNvSpPr/>
              <p:nvPr/>
            </p:nvSpPr>
            <p:spPr>
              <a:xfrm>
                <a:off x="496252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2" name="Rectangle 142"/>
              <p:cNvSpPr/>
              <p:nvPr/>
            </p:nvSpPr>
            <p:spPr>
              <a:xfrm>
                <a:off x="49530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3" name="Ellipse 143"/>
              <p:cNvSpPr/>
              <p:nvPr/>
            </p:nvSpPr>
            <p:spPr>
              <a:xfrm>
                <a:off x="555307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4" name="Rectangle 144"/>
              <p:cNvSpPr/>
              <p:nvPr/>
            </p:nvSpPr>
            <p:spPr>
              <a:xfrm>
                <a:off x="55435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5" name="Ellipse 145"/>
              <p:cNvSpPr/>
              <p:nvPr/>
            </p:nvSpPr>
            <p:spPr>
              <a:xfrm>
                <a:off x="614362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6" name="Rectangle 146"/>
              <p:cNvSpPr/>
              <p:nvPr/>
            </p:nvSpPr>
            <p:spPr>
              <a:xfrm>
                <a:off x="61341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7" name="Ellipse 147"/>
              <p:cNvSpPr/>
              <p:nvPr/>
            </p:nvSpPr>
            <p:spPr>
              <a:xfrm>
                <a:off x="82867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8" name="Rectangle 148"/>
              <p:cNvSpPr/>
              <p:nvPr/>
            </p:nvSpPr>
            <p:spPr>
              <a:xfrm>
                <a:off x="8191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9" name="Ellipse 149"/>
              <p:cNvSpPr/>
              <p:nvPr/>
            </p:nvSpPr>
            <p:spPr>
              <a:xfrm>
                <a:off x="141922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0" name="Rectangle 150"/>
              <p:cNvSpPr/>
              <p:nvPr/>
            </p:nvSpPr>
            <p:spPr>
              <a:xfrm>
                <a:off x="14097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1" name="Ellipse 151"/>
              <p:cNvSpPr/>
              <p:nvPr/>
            </p:nvSpPr>
            <p:spPr>
              <a:xfrm>
                <a:off x="200977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2" name="Rectangle 152"/>
              <p:cNvSpPr/>
              <p:nvPr/>
            </p:nvSpPr>
            <p:spPr>
              <a:xfrm>
                <a:off x="20002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3" name="Ellipse 153"/>
              <p:cNvSpPr/>
              <p:nvPr/>
            </p:nvSpPr>
            <p:spPr>
              <a:xfrm>
                <a:off x="260032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4" name="Rectangle 154"/>
              <p:cNvSpPr/>
              <p:nvPr/>
            </p:nvSpPr>
            <p:spPr>
              <a:xfrm>
                <a:off x="25908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5" name="Ellipse 155"/>
              <p:cNvSpPr/>
              <p:nvPr/>
            </p:nvSpPr>
            <p:spPr>
              <a:xfrm>
                <a:off x="319087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6" name="Rectangle 156"/>
              <p:cNvSpPr/>
              <p:nvPr/>
            </p:nvSpPr>
            <p:spPr>
              <a:xfrm>
                <a:off x="31813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7" name="Ellipse 157"/>
              <p:cNvSpPr/>
              <p:nvPr/>
            </p:nvSpPr>
            <p:spPr>
              <a:xfrm>
                <a:off x="378142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8" name="Rectangle 158"/>
              <p:cNvSpPr/>
              <p:nvPr/>
            </p:nvSpPr>
            <p:spPr>
              <a:xfrm>
                <a:off x="37719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9" name="Ellipse 159"/>
              <p:cNvSpPr/>
              <p:nvPr/>
            </p:nvSpPr>
            <p:spPr>
              <a:xfrm>
                <a:off x="437197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60" name="Rectangle 160"/>
              <p:cNvSpPr/>
              <p:nvPr/>
            </p:nvSpPr>
            <p:spPr>
              <a:xfrm>
                <a:off x="43624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61" name="Ellipse 161"/>
              <p:cNvSpPr/>
              <p:nvPr/>
            </p:nvSpPr>
            <p:spPr>
              <a:xfrm>
                <a:off x="496252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62" name="Rectangle 162"/>
              <p:cNvSpPr/>
              <p:nvPr/>
            </p:nvSpPr>
            <p:spPr>
              <a:xfrm>
                <a:off x="49530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63" name="Ellipse 163"/>
              <p:cNvSpPr/>
              <p:nvPr/>
            </p:nvSpPr>
            <p:spPr>
              <a:xfrm>
                <a:off x="555307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64" name="Rectangle 164"/>
              <p:cNvSpPr/>
              <p:nvPr/>
            </p:nvSpPr>
            <p:spPr>
              <a:xfrm>
                <a:off x="55435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65" name="Ellipse 165"/>
              <p:cNvSpPr/>
              <p:nvPr/>
            </p:nvSpPr>
            <p:spPr>
              <a:xfrm>
                <a:off x="614362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66" name="Rectangle 166"/>
              <p:cNvSpPr/>
              <p:nvPr/>
            </p:nvSpPr>
            <p:spPr>
              <a:xfrm>
                <a:off x="61341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</p:grpSp>
      </p:grpSp>
      <p:grpSp>
        <p:nvGrpSpPr>
          <p:cNvPr id="172" name="!!cohort-count"/>
          <p:cNvGrpSpPr/>
          <p:nvPr/>
        </p:nvGrpSpPr>
        <p:grpSpPr>
          <a:xfrm>
            <a:off x="7715250" y="2254250"/>
            <a:ext cx="3072860" cy="1955419"/>
            <a:chOff x="7715250" y="2254250"/>
            <a:chExt cx="3072860" cy="1955419"/>
          </a:xfrm>
        </p:grpSpPr>
        <p:sp>
          <p:nvSpPr>
            <p:cNvPr id="169" name="TextBox 169"/>
            <p:cNvSpPr txBox="1"/>
            <p:nvPr/>
          </p:nvSpPr>
          <p:spPr>
            <a:xfrm>
              <a:off x="7715250" y="2254250"/>
              <a:ext cx="1173884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7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59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7751445" y="3368675"/>
              <a:ext cx="303666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measured at 6 months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7753731" y="3857625"/>
              <a:ext cx="15132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74% retained</a:t>
              </a:r>
            </a:p>
          </p:txBody>
        </p:sp>
      </p:grpSp>
      <p:grpSp>
        <p:nvGrpSpPr>
          <p:cNvPr id="176" name="followup-caveat"/>
          <p:cNvGrpSpPr/>
          <p:nvPr/>
        </p:nvGrpSpPr>
        <p:grpSpPr>
          <a:xfrm>
            <a:off x="7722870" y="4673600"/>
            <a:ext cx="3287826" cy="1250569"/>
            <a:chOff x="7722870" y="4673600"/>
            <a:chExt cx="3287826" cy="1250569"/>
          </a:xfrm>
        </p:grpSpPr>
        <p:sp>
          <p:nvSpPr>
            <p:cNvPr id="173" name="TextBox 173"/>
            <p:cNvSpPr txBox="1"/>
            <p:nvPr/>
          </p:nvSpPr>
          <p:spPr>
            <a:xfrm>
              <a:off x="7722870" y="4673600"/>
              <a:ext cx="32878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21 outcomes unknown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7725156" y="5133975"/>
              <a:ext cx="28534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Bias direction is uncertain.</a:t>
              </a:r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7725156" y="5572125"/>
              <a:ext cx="30568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At 12 months: 51 / 80 (64%)</a:t>
              </a:r>
            </a:p>
          </p:txBody>
        </p:sp>
      </p:grpSp>
      <p:grpSp>
        <p:nvGrpSpPr>
          <p:cNvPr id="181" name="cohort-legend"/>
          <p:cNvGrpSpPr/>
          <p:nvPr/>
        </p:nvGrpSpPr>
        <p:grpSpPr>
          <a:xfrm>
            <a:off x="676275" y="5915025"/>
            <a:ext cx="4515293" cy="352044"/>
            <a:chOff x="676275" y="5915025"/>
            <a:chExt cx="4515293" cy="352044"/>
          </a:xfrm>
        </p:grpSpPr>
        <p:sp>
          <p:nvSpPr>
            <p:cNvPr id="177" name="Ellipse 177"/>
            <p:cNvSpPr/>
            <p:nvPr/>
          </p:nvSpPr>
          <p:spPr>
            <a:xfrm>
              <a:off x="676275" y="59912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8" name="TextBox 178"/>
            <p:cNvSpPr txBox="1"/>
            <p:nvPr/>
          </p:nvSpPr>
          <p:spPr>
            <a:xfrm>
              <a:off x="905256" y="5915025"/>
              <a:ext cx="10763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Observed</a:t>
              </a:r>
            </a:p>
          </p:txBody>
        </p:sp>
        <p:sp>
          <p:nvSpPr>
            <p:cNvPr id="179" name="Ellipse 179"/>
            <p:cNvSpPr/>
            <p:nvPr/>
          </p:nvSpPr>
          <p:spPr>
            <a:xfrm>
              <a:off x="2781300" y="5991225"/>
              <a:ext cx="133350" cy="13335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80" name="TextBox 180"/>
            <p:cNvSpPr txBox="1"/>
            <p:nvPr/>
          </p:nvSpPr>
          <p:spPr>
            <a:xfrm>
              <a:off x="3010281" y="5915025"/>
              <a:ext cx="21812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Missing at 6 months</a:t>
              </a:r>
            </a:p>
          </p:txBody>
        </p:sp>
      </p:grpSp>
      <p:sp>
        <p:nvSpPr>
          <p:cNvPr id="182" name="TextBox 182"/>
          <p:cNvSpPr txBox="1"/>
          <p:nvPr/>
        </p:nvSpPr>
        <p:spPr>
          <a:xfrm>
            <a:off x="508254" y="6467475"/>
            <a:ext cx="56741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Figure 1 + Table 2 · 6-month counts: HKD 29/41; ERD 30/39.</a:t>
            </a:r>
          </a:p>
        </p:txBody>
      </p:sp>
    </p:spTree>
  </p:cSld>
  <p:clrMapOvr>
    <a:masterClrMapping/>
  </p:clrMapOvr>
  <mc:AlternateContent>
    <mc:Choice Requires="p159">
      <p:transition p14:dur="1000"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41211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PROPOSED IMPROVEMENT · LIMITATION 03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11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10370742" cy="847725"/>
            <a:chOff x="495300" y="609600"/>
            <a:chExt cx="10370742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1037074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Keep measuring, even after stopping.</a:t>
              </a:r>
            </a:p>
          </p:txBody>
        </p:sp>
      </p:grpSp>
      <p:grpSp>
        <p:nvGrpSpPr>
          <p:cNvPr id="13" name="stop-diet"/>
          <p:cNvGrpSpPr/>
          <p:nvPr/>
        </p:nvGrpSpPr>
        <p:grpSpPr>
          <a:xfrm>
            <a:off x="800100" y="2257425"/>
            <a:ext cx="3843661" cy="1551305"/>
            <a:chOff x="800100" y="2257425"/>
            <a:chExt cx="3843661" cy="1551305"/>
          </a:xfrm>
        </p:grpSpPr>
        <p:sp>
          <p:nvSpPr>
            <p:cNvPr id="7" name="Ellipse 7"/>
            <p:cNvSpPr/>
            <p:nvPr/>
          </p:nvSpPr>
          <p:spPr>
            <a:xfrm>
              <a:off x="800100" y="2257425"/>
              <a:ext cx="990600" cy="990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1047750" y="2505075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0" y="0"/>
                  </a:moveTo>
                  <a:lnTo>
                    <a:pt x="495300" y="495300"/>
                  </a:lnTo>
                </a:path>
              </a:pathLst>
            </a:custGeom>
            <a:noFill/>
            <a:ln w="57150">
              <a:solidFill>
                <a:schemeClr val="accent2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047750" y="2505075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495300" y="0"/>
                  </a:moveTo>
                  <a:lnTo>
                    <a:pt x="0" y="495300"/>
                  </a:lnTo>
                </a:path>
              </a:pathLst>
            </a:custGeom>
            <a:noFill/>
            <a:ln w="57150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34159" y="2384425"/>
              <a:ext cx="240611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Stop the diet?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36445" y="2940050"/>
              <a:ext cx="260731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Outcome collection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36445" y="3368675"/>
              <a:ext cx="258099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can still continue.</a:t>
              </a:r>
            </a:p>
          </p:txBody>
        </p:sp>
      </p:grpSp>
      <p:grpSp>
        <p:nvGrpSpPr>
          <p:cNvPr id="21" name="continue-measuring"/>
          <p:cNvGrpSpPr/>
          <p:nvPr/>
        </p:nvGrpSpPr>
        <p:grpSpPr>
          <a:xfrm>
            <a:off x="6591300" y="2257425"/>
            <a:ext cx="4522715" cy="1541780"/>
            <a:chOff x="6591300" y="2257425"/>
            <a:chExt cx="4522715" cy="1541780"/>
          </a:xfrm>
        </p:grpSpPr>
        <p:sp>
          <p:nvSpPr>
            <p:cNvPr id="14" name="Rectangle 14"/>
            <p:cNvSpPr/>
            <p:nvPr/>
          </p:nvSpPr>
          <p:spPr>
            <a:xfrm>
              <a:off x="6591300" y="2257425"/>
              <a:ext cx="1143000" cy="952500"/>
            </a:xfrm>
            <a:prstGeom prst="roundRect">
              <a:avLst>
                <a:gd name="adj" fmla="val 22000"/>
              </a:avLst>
            </a:pr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905625" y="2428875"/>
              <a:ext cx="514350" cy="285750"/>
            </a:xfrm>
            <a:prstGeom prst="roundRect">
              <a:avLst>
                <a:gd name="adj" fmla="val 20000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012265" y="2428875"/>
              <a:ext cx="3010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kg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819900" y="2924175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82534" y="2346325"/>
              <a:ext cx="288356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Keep measuring.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84820" y="2911475"/>
              <a:ext cx="22549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Record reasons.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84820" y="3359150"/>
              <a:ext cx="302919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Check who is missing.</a:t>
              </a:r>
            </a:p>
          </p:txBody>
        </p:sp>
      </p:grpSp>
      <p:grpSp>
        <p:nvGrpSpPr>
          <p:cNvPr id="26" name="itt-reporting"/>
          <p:cNvGrpSpPr/>
          <p:nvPr/>
        </p:nvGrpSpPr>
        <p:grpSpPr>
          <a:xfrm>
            <a:off x="514350" y="4524375"/>
            <a:ext cx="11163300" cy="1628775"/>
            <a:chOff x="514350" y="4524375"/>
            <a:chExt cx="11163300" cy="1628775"/>
          </a:xfrm>
        </p:grpSpPr>
        <p:sp>
          <p:nvSpPr>
            <p:cNvPr id="22" name="Rectangle 22"/>
            <p:cNvSpPr/>
            <p:nvPr/>
          </p:nvSpPr>
          <p:spPr>
            <a:xfrm>
              <a:off x="514350" y="4524375"/>
              <a:ext cx="11163300" cy="1628775"/>
            </a:xfrm>
            <a:prstGeom prst="roundRect">
              <a:avLst>
                <a:gd name="adj" fmla="val 1286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5142" y="4778375"/>
              <a:ext cx="12296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rgbClr val="7CD6CA"/>
                  </a:solidFill>
                  <a:latin typeface="+mn-lt"/>
                  <a:ea typeface="+mn-ea"/>
                  <a:cs typeface="+mn-cs"/>
                </a:rPr>
                <a:t>ITT CLAIMED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8284" y="5060950"/>
              <a:ext cx="630221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rgbClr val="F7F6F0"/>
                  </a:solidFill>
                  <a:latin typeface="+mj-lt"/>
                  <a:ea typeface="+mj-ea"/>
                  <a:cs typeface="+mj-cs"/>
                </a:rPr>
                <a:t>Missing-outcome handling is unclear.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2856" y="5600700"/>
              <a:ext cx="65923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Retention + transparent reporting strengthen the comparison.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508254" y="6467475"/>
            <a:ext cx="79696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2.9 + Figure 1 · Some exit reasons are reported; missing outcomes remain unknown.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xmlns:p="http://schemas.openxmlformats.org/presentationml/2006/main"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34168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LIMITATION 04 · GENERALISABILITY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11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8129652" cy="847725"/>
            <a:chOff x="495300" y="609600"/>
            <a:chExt cx="8129652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812965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One hospital is not everyone.</a:t>
              </a:r>
            </a:p>
          </p:txBody>
        </p:sp>
      </p:grpSp>
      <p:grpSp>
        <p:nvGrpSpPr>
          <p:cNvPr id="21" name="selected-cohort"/>
          <p:cNvGrpSpPr/>
          <p:nvPr/>
        </p:nvGrpSpPr>
        <p:grpSpPr>
          <a:xfrm>
            <a:off x="742950" y="2212975"/>
            <a:ext cx="4305347" cy="2739644"/>
            <a:chOff x="742950" y="2212975"/>
            <a:chExt cx="4305347" cy="2739644"/>
          </a:xfrm>
        </p:grpSpPr>
        <p:sp>
          <p:nvSpPr>
            <p:cNvPr id="7" name="Rectangle 7"/>
            <p:cNvSpPr/>
            <p:nvPr/>
          </p:nvSpPr>
          <p:spPr>
            <a:xfrm>
              <a:off x="742950" y="2257425"/>
              <a:ext cx="1171575" cy="1543050"/>
            </a:xfrm>
            <a:prstGeom prst="roundRect">
              <a:avLst>
                <a:gd name="adj" fmla="val 11382"/>
              </a:avLst>
            </a:prstGeom>
            <a:solidFill>
              <a:schemeClr val="lt2"/>
            </a:solidFill>
            <a:ln w="28575">
              <a:solidFill>
                <a:schemeClr val="accent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114425" y="2486025"/>
              <a:ext cx="428625" cy="1238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266825" y="2333625"/>
              <a:ext cx="123825" cy="4286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895350" y="2952750"/>
              <a:ext cx="180975" cy="228600"/>
            </a:xfrm>
            <a:prstGeom prst="roundRect">
              <a:avLst>
                <a:gd name="adj" fmla="val 1578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895350" y="3352800"/>
              <a:ext cx="180975" cy="228600"/>
            </a:xfrm>
            <a:prstGeom prst="roundRect">
              <a:avLst>
                <a:gd name="adj" fmla="val 1578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1257300" y="2952750"/>
              <a:ext cx="180975" cy="228600"/>
            </a:xfrm>
            <a:prstGeom prst="roundRect">
              <a:avLst>
                <a:gd name="adj" fmla="val 1578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257300" y="3352800"/>
              <a:ext cx="180975" cy="228600"/>
            </a:xfrm>
            <a:prstGeom prst="roundRect">
              <a:avLst>
                <a:gd name="adj" fmla="val 1578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619250" y="2952750"/>
              <a:ext cx="180975" cy="228600"/>
            </a:xfrm>
            <a:prstGeom prst="roundRect">
              <a:avLst>
                <a:gd name="adj" fmla="val 1578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3352800"/>
              <a:ext cx="180975" cy="228600"/>
            </a:xfrm>
            <a:prstGeom prst="roundRect">
              <a:avLst>
                <a:gd name="adj" fmla="val 1578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291334" y="2212975"/>
              <a:ext cx="216970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One hospital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93620" y="2711450"/>
              <a:ext cx="21522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Healthcare staff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91334" y="3146425"/>
              <a:ext cx="203787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86% women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2856" y="4200525"/>
              <a:ext cx="40325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English literacy + smartphone access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2856" y="4600575"/>
              <a:ext cx="42954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Singapore · selected adults with obesity</a:t>
              </a:r>
            </a:p>
          </p:txBody>
        </p:sp>
      </p:grpSp>
      <p:grpSp>
        <p:nvGrpSpPr>
          <p:cNvPr id="35" name="broader-population"/>
          <p:cNvGrpSpPr/>
          <p:nvPr/>
        </p:nvGrpSpPr>
        <p:grpSpPr>
          <a:xfrm>
            <a:off x="6691884" y="2400300"/>
            <a:ext cx="3499866" cy="2428494"/>
            <a:chOff x="6691884" y="2400300"/>
            <a:chExt cx="3499866" cy="2428494"/>
          </a:xfrm>
        </p:grpSpPr>
        <p:sp>
          <p:nvSpPr>
            <p:cNvPr id="22" name="Ellipse 22"/>
            <p:cNvSpPr/>
            <p:nvPr/>
          </p:nvSpPr>
          <p:spPr>
            <a:xfrm>
              <a:off x="6896100" y="240030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5240">
              <a:solidFill>
                <a:schemeClr val="accent1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877050" y="2705100"/>
              <a:ext cx="266700" cy="381000"/>
            </a:xfrm>
            <a:prstGeom prst="roundRect">
              <a:avLst>
                <a:gd name="adj" fmla="val 35714"/>
              </a:avLst>
            </a:prstGeom>
            <a:solidFill>
              <a:schemeClr val="accent1"/>
            </a:solidFill>
            <a:ln w="15240">
              <a:solidFill>
                <a:schemeClr val="accent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658100" y="2400300"/>
              <a:ext cx="228600" cy="228600"/>
            </a:xfrm>
            <a:prstGeom prst="ellipse">
              <a:avLst/>
            </a:prstGeom>
            <a:solidFill>
              <a:schemeClr val="accent3"/>
            </a:solidFill>
            <a:ln w="15240">
              <a:solidFill>
                <a:schemeClr val="accent3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39050" y="2705100"/>
              <a:ext cx="266700" cy="381000"/>
            </a:xfrm>
            <a:prstGeom prst="roundRect">
              <a:avLst>
                <a:gd name="adj" fmla="val 35714"/>
              </a:avLst>
            </a:prstGeom>
            <a:solidFill>
              <a:schemeClr val="accent3"/>
            </a:solidFill>
            <a:ln w="15240">
              <a:solidFill>
                <a:schemeClr val="accent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420100" y="240030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5240">
              <a:solidFill>
                <a:schemeClr val="accent1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401050" y="2705100"/>
              <a:ext cx="266700" cy="381000"/>
            </a:xfrm>
            <a:prstGeom prst="roundRect">
              <a:avLst>
                <a:gd name="adj" fmla="val 35714"/>
              </a:avLst>
            </a:prstGeom>
            <a:solidFill>
              <a:schemeClr val="accent1"/>
            </a:solidFill>
            <a:ln w="15240">
              <a:solidFill>
                <a:schemeClr val="accent1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182100" y="2400300"/>
              <a:ext cx="228600" cy="228600"/>
            </a:xfrm>
            <a:prstGeom prst="ellipse">
              <a:avLst/>
            </a:prstGeom>
            <a:solidFill>
              <a:schemeClr val="accent3"/>
            </a:solidFill>
            <a:ln w="15240">
              <a:solidFill>
                <a:schemeClr val="accent3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9163050" y="2705100"/>
              <a:ext cx="266700" cy="381000"/>
            </a:xfrm>
            <a:prstGeom prst="roundRect">
              <a:avLst>
                <a:gd name="adj" fmla="val 35714"/>
              </a:avLst>
            </a:prstGeom>
            <a:solidFill>
              <a:schemeClr val="accent3"/>
            </a:solidFill>
            <a:ln w="15240">
              <a:solidFill>
                <a:schemeClr val="accent3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9944100" y="240030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5240">
              <a:solidFill>
                <a:schemeClr val="accent1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9925050" y="2705100"/>
              <a:ext cx="266700" cy="381000"/>
            </a:xfrm>
            <a:prstGeom prst="roundRect">
              <a:avLst>
                <a:gd name="adj" fmla="val 35714"/>
              </a:avLst>
            </a:prstGeom>
            <a:solidFill>
              <a:schemeClr val="accent1"/>
            </a:solidFill>
            <a:ln w="15240">
              <a:solidFill>
                <a:schemeClr val="accent1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91884" y="3451225"/>
              <a:ext cx="326091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Other populations?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96456" y="4010025"/>
              <a:ext cx="33245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Applicability needs verification.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96456" y="4476750"/>
              <a:ext cx="29086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Not evidence of no benefit.</a:t>
              </a:r>
            </a:p>
          </p:txBody>
        </p:sp>
      </p:grpSp>
      <p:grpSp>
        <p:nvGrpSpPr>
          <p:cNvPr id="38" name="multicentre-improvement"/>
          <p:cNvGrpSpPr/>
          <p:nvPr/>
        </p:nvGrpSpPr>
        <p:grpSpPr>
          <a:xfrm>
            <a:off x="514350" y="5410200"/>
            <a:ext cx="11163300" cy="762000"/>
            <a:chOff x="514350" y="5410200"/>
            <a:chExt cx="11163300" cy="762000"/>
          </a:xfrm>
        </p:grpSpPr>
        <p:sp>
          <p:nvSpPr>
            <p:cNvPr id="36" name="Rectangle 36"/>
            <p:cNvSpPr/>
            <p:nvPr/>
          </p:nvSpPr>
          <p:spPr>
            <a:xfrm>
              <a:off x="514350" y="5410200"/>
              <a:ext cx="11163300" cy="762000"/>
            </a:xfrm>
            <a:prstGeom prst="roundRect">
              <a:avLst>
                <a:gd name="adj" fmla="val 27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503468" y="5607050"/>
              <a:ext cx="718506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IMPROVEMENT: diverse, multicentre recruitment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508254" y="6467475"/>
            <a:ext cx="615660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2.2 + Table 1 · 69 of 80 participants were women (86.25%).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34489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STUDY DESIGN · FINAL JUDGEMENT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11 / 11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10221030" cy="847725"/>
            <a:chOff x="495300" y="609600"/>
            <a:chExt cx="10221030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10221030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rgbClr val="F7F6F0"/>
                  </a:solidFill>
                  <a:latin typeface="+mj-lt"/>
                  <a:ea typeface="+mj-ea"/>
                  <a:cs typeface="+mj-cs"/>
                </a:rPr>
                <a:t>A useful trial. A bounded conclusion.</a:t>
              </a:r>
            </a:p>
          </p:txBody>
        </p:sp>
      </p:grpSp>
      <p:grpSp>
        <p:nvGrpSpPr>
          <p:cNvPr id="9" name="programme-verdict"/>
          <p:cNvGrpSpPr/>
          <p:nvPr/>
        </p:nvGrpSpPr>
        <p:grpSpPr>
          <a:xfrm>
            <a:off x="685800" y="2168525"/>
            <a:ext cx="9023637" cy="1136650"/>
            <a:chOff x="685800" y="2168525"/>
            <a:chExt cx="9023637" cy="1136650"/>
          </a:xfrm>
        </p:grpSpPr>
        <p:sp>
          <p:nvSpPr>
            <p:cNvPr id="7" name="TextBox 7"/>
            <p:cNvSpPr txBox="1"/>
            <p:nvPr/>
          </p:nvSpPr>
          <p:spPr>
            <a:xfrm>
              <a:off x="697992" y="2168525"/>
              <a:ext cx="3374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rgbClr val="7CD6CA"/>
                  </a:solidFill>
                  <a:latin typeface="+mn-lt"/>
                  <a:ea typeface="+mn-ea"/>
                  <a:cs typeface="+mn-cs"/>
                </a:rPr>
                <a:t>WHAT THE DESIGN CAN EVALUATE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85800" y="2457450"/>
              <a:ext cx="902363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rgbClr val="F7F6F0"/>
                  </a:solidFill>
                  <a:latin typeface="+mj-lt"/>
                  <a:ea typeface="+mj-ea"/>
                  <a:cs typeface="+mj-cs"/>
                </a:rPr>
                <a:t>A supported dietary programme.</a:t>
              </a:r>
            </a:p>
          </p:txBody>
        </p:sp>
      </p:grpSp>
      <p:grpSp>
        <p:nvGrpSpPr>
          <p:cNvPr id="16" name="bounded-judgement"/>
          <p:cNvGrpSpPr/>
          <p:nvPr/>
        </p:nvGrpSpPr>
        <p:grpSpPr>
          <a:xfrm>
            <a:off x="712470" y="3768725"/>
            <a:ext cx="9420699" cy="1525905"/>
            <a:chOff x="712470" y="3768725"/>
            <a:chExt cx="9420699" cy="1525905"/>
          </a:xfrm>
        </p:grpSpPr>
        <p:sp>
          <p:nvSpPr>
            <p:cNvPr id="10" name="TextBox 10"/>
            <p:cNvSpPr txBox="1"/>
            <p:nvPr/>
          </p:nvSpPr>
          <p:spPr>
            <a:xfrm>
              <a:off x="712470" y="3768725"/>
              <a:ext cx="199110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FFAB8E"/>
                  </a:solidFill>
                  <a:latin typeface="+mn-lt"/>
                  <a:ea typeface="+mn-ea"/>
                  <a:cs typeface="+mn-cs"/>
                </a:rPr>
                <a:t>WHY it works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51120" y="3768725"/>
              <a:ext cx="41567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Mechanism remains uncertain.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2470" y="4311650"/>
              <a:ext cx="236118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FFAB8E"/>
                  </a:solidFill>
                  <a:latin typeface="+mn-lt"/>
                  <a:ea typeface="+mn-ea"/>
                  <a:cs typeface="+mn-cs"/>
                </a:rPr>
                <a:t>WHO is missing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51120" y="4311650"/>
              <a:ext cx="498204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Follow-up can affect the comparison.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2470" y="4854575"/>
              <a:ext cx="25605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FFAB8E"/>
                  </a:solidFill>
                  <a:latin typeface="+mn-lt"/>
                  <a:ea typeface="+mn-ea"/>
                  <a:cs typeface="+mn-cs"/>
                </a:rPr>
                <a:t>WHO it applies to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51120" y="4854575"/>
              <a:ext cx="472907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Broader applicability needs testing.</a:t>
              </a:r>
            </a:p>
          </p:txBody>
        </p:sp>
      </p:grpSp>
      <p:grpSp>
        <p:nvGrpSpPr>
          <p:cNvPr id="18" name="closing-takeaway"/>
          <p:cNvGrpSpPr/>
          <p:nvPr/>
        </p:nvGrpSpPr>
        <p:grpSpPr>
          <a:xfrm>
            <a:off x="2526796" y="5768975"/>
            <a:ext cx="7138408" cy="440055"/>
            <a:chOff x="2526796" y="5768975"/>
            <a:chExt cx="7138408" cy="440055"/>
          </a:xfrm>
        </p:grpSpPr>
        <p:sp>
          <p:nvSpPr>
            <p:cNvPr id="17" name="TextBox 17"/>
            <p:cNvSpPr txBox="1"/>
            <p:nvPr/>
          </p:nvSpPr>
          <p:spPr>
            <a:xfrm>
              <a:off x="2526796" y="5768975"/>
              <a:ext cx="713840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rgbClr val="7CD6CA"/>
                  </a:solidFill>
                  <a:latin typeface="+mn-lt"/>
                  <a:ea typeface="+mn-ea"/>
                  <a:cs typeface="+mn-cs"/>
                </a:rPr>
                <a:t>Useful evidence. Clear limits. Better next studies.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08254" y="6467475"/>
            <a:ext cx="75493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Source: Lim SL et al. (2024). Development and Pragmatic RCT of HKD Versus ERD. Nutrients 16:4380.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eight_loss_design_critique">
  <a:themeElements>
    <a:clrScheme name="weight_loss_design_critique">
      <a:dk1>
        <a:srgbClr val="142D3A"/>
      </a:dk1>
      <a:lt1>
        <a:srgbClr val="F7F6F0"/>
      </a:lt1>
      <a:dk2>
        <a:srgbClr val="1F497D"/>
      </a:dk2>
      <a:lt2>
        <a:srgbClr val="E8F1EE"/>
      </a:lt2>
      <a:accent1>
        <a:srgbClr val="142D3A"/>
      </a:accent1>
      <a:accent2>
        <a:srgbClr val="E66D4C"/>
      </a:accent2>
      <a:accent3>
        <a:srgbClr val="087F8C"/>
      </a:accent3>
      <a:accent4>
        <a:srgbClr val="142D3A"/>
      </a:accent4>
      <a:accent5>
        <a:srgbClr val="52656B"/>
      </a:accent5>
      <a:accent6>
        <a:srgbClr val="B8CCC8"/>
      </a:accent6>
      <a:hlink>
        <a:srgbClr val="E66D4C"/>
      </a:hlink>
      <a:folHlink>
        <a:srgbClr val="087F8C"/>
      </a:folHlink>
    </a:clrScheme>
    <a:fontScheme name="weight_loss_design_critique">
      <a:majorFont>
        <a:latin typeface="Trebuchet MS"/>
        <a:ea typeface="Microsoft YaHei"/>
        <a:cs typeface="Trebuchet M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ight_loss_design_critiq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weight_loss_design_critique">
  <a:themeElements>
    <a:clrScheme name="weight_loss_design_critique">
      <a:dk1>
        <a:srgbClr val="142D3A"/>
      </a:dk1>
      <a:lt1>
        <a:srgbClr val="F7F6F0"/>
      </a:lt1>
      <a:dk2>
        <a:srgbClr val="1F497D"/>
      </a:dk2>
      <a:lt2>
        <a:srgbClr val="E8F1EE"/>
      </a:lt2>
      <a:accent1>
        <a:srgbClr val="142D3A"/>
      </a:accent1>
      <a:accent2>
        <a:srgbClr val="E66D4C"/>
      </a:accent2>
      <a:accent3>
        <a:srgbClr val="087F8C"/>
      </a:accent3>
      <a:accent4>
        <a:srgbClr val="142D3A"/>
      </a:accent4>
      <a:accent5>
        <a:srgbClr val="52656B"/>
      </a:accent5>
      <a:accent6>
        <a:srgbClr val="B8CCC8"/>
      </a:accent6>
      <a:hlink>
        <a:srgbClr val="E66D4C"/>
      </a:hlink>
      <a:folHlink>
        <a:srgbClr val="087F8C"/>
      </a:folHlink>
    </a:clrScheme>
    <a:fontScheme name="weight_loss_design_critique">
      <a:majorFont>
        <a:latin typeface="Trebuchet MS"/>
        <a:ea typeface="Microsoft YaHei"/>
        <a:cs typeface="Trebuchet M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ight_loss_design_critiq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en-GB</dc:language>
  <cp:lastModifiedBy/>
  <cp:revision>1</cp:revision>
  <dcterms:created xsi:type="dcterms:W3CDTF">2026-10-26T11:11:34Z</dcterms:created>
  <dcterms:modified xsi:type="dcterms:W3CDTF">2026-10-26T11:11:34Z</dcterms:modified>
  <cp:category/>
  <cp:contentStatus/>
</cp:coreProperties>
</file>