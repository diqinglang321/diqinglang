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Randomisation within sex and BMI strata helps balance those characteristics. Concealed allocation reduces the opportunity to select participants knowing their next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support, making unequal attention a less likely explanation. Calibrated weighing makes the primary outcome less dependent on self-report.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weight-loss mechanism was not isolated.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calorie-restriction advice. Yet reported intake fell by seven hundred and four calories in HKD, versus four hundred and twenty-three in ERD.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Low-carbohydrate advice was intended to induce ketosis. But without objective ketone measurements, we cannot confirm who achieved or sustained that state.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energy intake could also explain extra weight loss. These routes can overlap: ketosis, if present, might affect appetite. Their separate contributions were not established.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Eating less can be part of the programme’s benefit. The limitation is attributing that benefit specifically to ketosis, independently of calorie intake.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eighty people entered the trial.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At six months, fifty-nine had weight measurements. Twenty-one outcomes were missing, which does not establish dietary non-adherence.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In HKD, twelve of forty-one weights were missing. These participants might still have followed the diet.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They could have lost less, the same, or more weight than those measured. Without their outcomes, their contribution to the group estimate remains unknown.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If poorer HKD responders were disproportionately missing, the observed subset would look more successful. A comparison based on that subset could overstate the benefit: potential attrition bias.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missingness patterns could shrink the contrast. The report does not clearly explain how missing outcomes were handled.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this was one hospital’s staff, about eighty-six percent women, with English and smartphone requirements. Random assignment does not make the sample representative.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Participants also received seven workshops and app-based dietitian coaching. That support formed part of the conditions under which the result was obtained.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adults, or those receiving less support, may respond differently. Similar benefit is untested, rather than proven absent.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So the design leaves three questions: why it works, how reliable the estimated benefit is, and for whom it applies.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keynote_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keynote_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6343215" cy="933450"/>
            <a:chOff x="590550" y="841375"/>
            <a:chExt cx="634321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63432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fairer comparison.</a:t>
              </a:r>
            </a:p>
          </p:txBody>
        </p:sp>
      </p:grpSp>
      <p:grpSp>
        <p:nvGrpSpPr>
          <p:cNvPr id="16" name="!!randomisation"/>
          <p:cNvGrpSpPr/>
          <p:nvPr/>
        </p:nvGrpSpPr>
        <p:grpSpPr>
          <a:xfrm>
            <a:off x="1414250" y="2162175"/>
            <a:ext cx="3515150" cy="2599944"/>
            <a:chOff x="1414250" y="2162175"/>
            <a:chExt cx="3515150" cy="2599944"/>
          </a:xfrm>
        </p:grpSpPr>
        <p:sp>
          <p:nvSpPr>
            <p:cNvPr id="7" name="Ellipse 7"/>
            <p:cNvSpPr/>
            <p:nvPr/>
          </p:nvSpPr>
          <p:spPr>
            <a:xfrm>
              <a:off x="3038475" y="2162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152775" y="240982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752725" y="265747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7527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5528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812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813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4250" y="3597275"/>
              <a:ext cx="3515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1216" y="4105275"/>
              <a:ext cx="2801219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Helps balance sex and BMI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across the two groups.</a:t>
              </a:r>
            </a:p>
          </p:txBody>
        </p:sp>
      </p:grpSp>
      <p:grpSp>
        <p:nvGrpSpPr>
          <p:cNvPr id="24" name="!!concealment"/>
          <p:cNvGrpSpPr/>
          <p:nvPr/>
        </p:nvGrpSpPr>
        <p:grpSpPr>
          <a:xfrm>
            <a:off x="7511346" y="2324100"/>
            <a:ext cx="3131957" cy="2438019"/>
            <a:chOff x="7511346" y="2324100"/>
            <a:chExt cx="3131957" cy="2438019"/>
          </a:xfrm>
        </p:grpSpPr>
        <p:sp>
          <p:nvSpPr>
            <p:cNvPr id="17" name="Rectangle 17"/>
            <p:cNvSpPr/>
            <p:nvPr/>
          </p:nvSpPr>
          <p:spPr>
            <a:xfrm>
              <a:off x="8420100" y="2324100"/>
              <a:ext cx="1143000" cy="76200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4582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0"/>
                  </a:moveTo>
                  <a:lnTo>
                    <a:pt x="533400" y="3714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9916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371475"/>
                  </a:moveTo>
                  <a:lnTo>
                    <a:pt x="5334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58300" y="2800350"/>
              <a:ext cx="361950" cy="342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324975" y="26193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190500"/>
                  </a:moveTo>
                  <a:lnTo>
                    <a:pt x="0" y="114300"/>
                  </a:lnTo>
                  <a:cubicBezTo>
                    <a:pt x="76200" y="0"/>
                    <a:pt x="155575" y="0"/>
                    <a:pt x="238125" y="114300"/>
                  </a:cubicBezTo>
                  <a:lnTo>
                    <a:pt x="238125" y="1905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6544" y="3597275"/>
              <a:ext cx="3061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1346" y="4105275"/>
              <a:ext cx="3131957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Reduces enrolment choices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based on the next assignment.</a:t>
              </a:r>
            </a:p>
          </p:txBody>
        </p:sp>
      </p:grpSp>
      <p:grpSp>
        <p:nvGrpSpPr>
          <p:cNvPr id="37" name="!!support"/>
          <p:cNvGrpSpPr/>
          <p:nvPr/>
        </p:nvGrpSpPr>
        <p:grpSpPr>
          <a:xfrm>
            <a:off x="2389994" y="5353050"/>
            <a:ext cx="1855879" cy="365633"/>
            <a:chOff x="2389994" y="5353050"/>
            <a:chExt cx="1855879" cy="365633"/>
          </a:xfrm>
        </p:grpSpPr>
        <p:sp>
          <p:nvSpPr>
            <p:cNvPr id="25" name="Rectangle 25"/>
            <p:cNvSpPr/>
            <p:nvPr/>
          </p:nvSpPr>
          <p:spPr>
            <a:xfrm>
              <a:off x="2532126" y="5353050"/>
              <a:ext cx="175565" cy="301752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595220" y="5380482"/>
              <a:ext cx="49378" cy="9525"/>
            </a:xfrm>
            <a:custGeom>
              <a:avLst/>
              <a:gdLst/>
              <a:ahLst/>
              <a:cxnLst/>
              <a:rect l="l" t="t" r="r" b="b"/>
              <a:pathLst>
                <a:path w="49378" h="9525">
                  <a:moveTo>
                    <a:pt x="0" y="0"/>
                  </a:moveTo>
                  <a:lnTo>
                    <a:pt x="49378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600706" y="5616397"/>
              <a:ext cx="38405" cy="9525"/>
            </a:xfrm>
            <a:custGeom>
              <a:avLst/>
              <a:gdLst/>
              <a:ahLst/>
              <a:cxnLst/>
              <a:rect l="l" t="t" r="r" b="b"/>
              <a:pathLst>
                <a:path w="38405" h="9525">
                  <a:moveTo>
                    <a:pt x="0" y="0"/>
                  </a:moveTo>
                  <a:lnTo>
                    <a:pt x="38405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92476" y="5451805"/>
              <a:ext cx="54864" cy="54864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576017" y="5517642"/>
              <a:ext cx="87782" cy="43891"/>
            </a:xfrm>
            <a:custGeom>
              <a:avLst/>
              <a:gdLst/>
              <a:ahLst/>
              <a:cxnLst/>
              <a:rect l="l" t="t" r="r" b="b"/>
              <a:pathLst>
                <a:path w="87782" h="43891">
                  <a:moveTo>
                    <a:pt x="0" y="43891"/>
                  </a:moveTo>
                  <a:cubicBezTo>
                    <a:pt x="29261" y="0"/>
                    <a:pt x="58522" y="0"/>
                    <a:pt x="87782" y="43891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239290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8999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77009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718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466975" y="5548503"/>
              <a:ext cx="44577" cy="9525"/>
            </a:xfrm>
            <a:custGeom>
              <a:avLst/>
              <a:gdLst/>
              <a:ahLst/>
              <a:cxnLst/>
              <a:rect l="l" t="t" r="r" b="b"/>
              <a:pathLst>
                <a:path w="44577" h="9525">
                  <a:moveTo>
                    <a:pt x="0" y="0"/>
                  </a:moveTo>
                  <a:lnTo>
                    <a:pt x="44577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724150" y="5548503"/>
              <a:ext cx="20574" cy="9525"/>
            </a:xfrm>
            <a:custGeom>
              <a:avLst/>
              <a:gdLst/>
              <a:ahLst/>
              <a:cxnLst/>
              <a:rect l="l" t="t" r="r" b="b"/>
              <a:pathLst>
                <a:path w="20574" h="9525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3992" y="5454650"/>
              <a:ext cx="126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24750" y="5353050"/>
            <a:ext cx="2217819" cy="365633"/>
            <a:chOff x="7524750" y="5353050"/>
            <a:chExt cx="2217819" cy="365633"/>
          </a:xfrm>
        </p:grpSpPr>
        <p:sp>
          <p:nvSpPr>
            <p:cNvPr id="38" name="Rectangle 38"/>
            <p:cNvSpPr/>
            <p:nvPr/>
          </p:nvSpPr>
          <p:spPr>
            <a:xfrm>
              <a:off x="7524750" y="5353050"/>
              <a:ext cx="342900" cy="3429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07046" y="5414772"/>
              <a:ext cx="178308" cy="857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613904" y="5610225"/>
              <a:ext cx="164592" cy="9525"/>
            </a:xfrm>
            <a:custGeom>
              <a:avLst/>
              <a:gdLst/>
              <a:ahLst/>
              <a:cxnLst/>
              <a:rect l="l" t="t" r="r" b="b"/>
              <a:pathLst>
                <a:path w="164592" h="9525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96200" y="5438775"/>
              <a:ext cx="37719" cy="30861"/>
            </a:xfrm>
            <a:custGeom>
              <a:avLst/>
              <a:gdLst/>
              <a:ahLst/>
              <a:cxnLst/>
              <a:rect l="l" t="t" r="r" b="b"/>
              <a:pathLst>
                <a:path w="37719" h="30861">
                  <a:moveTo>
                    <a:pt x="0" y="30861"/>
                  </a:moveTo>
                  <a:lnTo>
                    <a:pt x="37719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7492" y="5454650"/>
              <a:ext cx="1615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050770" cy="933450"/>
            <a:chOff x="590550" y="841375"/>
            <a:chExt cx="505077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0507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clearer signal.</a:t>
              </a:r>
            </a:p>
          </p:txBody>
        </p:sp>
      </p:grpSp>
      <p:grpSp>
        <p:nvGrpSpPr>
          <p:cNvPr id="15" name="!!randomisation"/>
          <p:cNvGrpSpPr/>
          <p:nvPr/>
        </p:nvGrpSpPr>
        <p:grpSpPr>
          <a:xfrm>
            <a:off x="2381250" y="5353050"/>
            <a:ext cx="2530449" cy="377190"/>
            <a:chOff x="2381250" y="5353050"/>
            <a:chExt cx="2530449" cy="377190"/>
          </a:xfrm>
        </p:grpSpPr>
        <p:sp>
          <p:nvSpPr>
            <p:cNvPr id="7" name="Ellipse 7"/>
            <p:cNvSpPr/>
            <p:nvPr/>
          </p:nvSpPr>
          <p:spPr>
            <a:xfrm>
              <a:off x="2545842" y="5353050"/>
              <a:ext cx="82296" cy="82296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586990" y="5442204"/>
              <a:ext cx="9525" cy="89154"/>
            </a:xfrm>
            <a:custGeom>
              <a:avLst/>
              <a:gdLst/>
              <a:ahLst/>
              <a:cxnLst/>
              <a:rect l="l" t="t" r="r" b="b"/>
              <a:pathLst>
                <a:path w="9525" h="89154">
                  <a:moveTo>
                    <a:pt x="0" y="0"/>
                  </a:moveTo>
                  <a:lnTo>
                    <a:pt x="0" y="89154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42972" y="5531358"/>
              <a:ext cx="288036" cy="9525"/>
            </a:xfrm>
            <a:custGeom>
              <a:avLst/>
              <a:gdLst/>
              <a:ahLst/>
              <a:cxnLst/>
              <a:rect l="l" t="t" r="r" b="b"/>
              <a:pathLst>
                <a:path w="288036" h="9525">
                  <a:moveTo>
                    <a:pt x="0" y="0"/>
                  </a:moveTo>
                  <a:lnTo>
                    <a:pt x="288036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42972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731008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81250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9286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83992" y="5454650"/>
              <a:ext cx="1927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</p:grpSp>
      <p:grpSp>
        <p:nvGrpSpPr>
          <p:cNvPr id="22" name="!!concealment"/>
          <p:cNvGrpSpPr/>
          <p:nvPr/>
        </p:nvGrpSpPr>
        <p:grpSpPr>
          <a:xfrm>
            <a:off x="7524750" y="5353050"/>
            <a:ext cx="2308877" cy="365633"/>
            <a:chOff x="7524750" y="5353050"/>
            <a:chExt cx="2308877" cy="365633"/>
          </a:xfrm>
        </p:grpSpPr>
        <p:sp>
          <p:nvSpPr>
            <p:cNvPr id="16" name="Rectangle 16"/>
            <p:cNvSpPr/>
            <p:nvPr/>
          </p:nvSpPr>
          <p:spPr>
            <a:xfrm>
              <a:off x="7524750" y="5353050"/>
              <a:ext cx="411480" cy="27432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538466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0"/>
                  </a:moveTo>
                  <a:lnTo>
                    <a:pt x="192024" y="133731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30490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133731"/>
                  </a:moveTo>
                  <a:lnTo>
                    <a:pt x="192024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26502" y="5524500"/>
              <a:ext cx="130302" cy="12344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50505" y="545934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0" y="68580"/>
                  </a:moveTo>
                  <a:lnTo>
                    <a:pt x="0" y="41148"/>
                  </a:lnTo>
                  <a:cubicBezTo>
                    <a:pt x="27432" y="0"/>
                    <a:pt x="56007" y="0"/>
                    <a:pt x="85725" y="41148"/>
                  </a:cubicBezTo>
                  <a:lnTo>
                    <a:pt x="85725" y="6858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492" y="5454650"/>
              <a:ext cx="1706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</p:grpSp>
      <p:grpSp>
        <p:nvGrpSpPr>
          <p:cNvPr id="36" name="!!support"/>
          <p:cNvGrpSpPr/>
          <p:nvPr/>
        </p:nvGrpSpPr>
        <p:grpSpPr>
          <a:xfrm>
            <a:off x="1917154" y="2162175"/>
            <a:ext cx="2509342" cy="2599944"/>
            <a:chOff x="1917154" y="2162175"/>
            <a:chExt cx="2509342" cy="2599944"/>
          </a:xfrm>
        </p:grpSpPr>
        <p:sp>
          <p:nvSpPr>
            <p:cNvPr id="23" name="Rectangle 23"/>
            <p:cNvSpPr/>
            <p:nvPr/>
          </p:nvSpPr>
          <p:spPr>
            <a:xfrm>
              <a:off x="3000375" y="2162175"/>
              <a:ext cx="487680" cy="838200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175635" y="2238375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190875" y="2893695"/>
              <a:ext cx="106680" cy="9525"/>
            </a:xfrm>
            <a:custGeom>
              <a:avLst/>
              <a:gdLst/>
              <a:ahLst/>
              <a:cxnLst/>
              <a:rect l="l" t="t" r="r" b="b"/>
              <a:pathLst>
                <a:path w="106680" h="9525">
                  <a:moveTo>
                    <a:pt x="0" y="0"/>
                  </a:moveTo>
                  <a:lnTo>
                    <a:pt x="10668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168015" y="2436495"/>
              <a:ext cx="152400" cy="152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22295" y="2619375"/>
              <a:ext cx="243840" cy="121920"/>
            </a:xfrm>
            <a:custGeom>
              <a:avLst/>
              <a:gdLst/>
              <a:ahLst/>
              <a:cxnLst/>
              <a:rect l="l" t="t" r="r" b="b"/>
              <a:pathLst>
                <a:path w="243840" h="121920">
                  <a:moveTo>
                    <a:pt x="0" y="121920"/>
                  </a:moveTo>
                  <a:cubicBezTo>
                    <a:pt x="81280" y="0"/>
                    <a:pt x="162560" y="0"/>
                    <a:pt x="243840" y="12192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261366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556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6141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5331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819400" y="2705100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533775" y="27051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6386" y="3597275"/>
              <a:ext cx="227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17154" y="4105275"/>
              <a:ext cx="2509342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unequal attention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less likely explanation.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62233" y="2162175"/>
            <a:ext cx="3030184" cy="2599944"/>
            <a:chOff x="7562233" y="2162175"/>
            <a:chExt cx="3030184" cy="2599944"/>
          </a:xfrm>
        </p:grpSpPr>
        <p:sp>
          <p:nvSpPr>
            <p:cNvPr id="37" name="Rectangle 37"/>
            <p:cNvSpPr/>
            <p:nvPr/>
          </p:nvSpPr>
          <p:spPr>
            <a:xfrm>
              <a:off x="8486775" y="2162175"/>
              <a:ext cx="952500" cy="9525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15375" y="2333625"/>
              <a:ext cx="495300" cy="2381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734425" y="2876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963025" y="2400300"/>
              <a:ext cx="104775" cy="85725"/>
            </a:xfrm>
            <a:custGeom>
              <a:avLst/>
              <a:gdLst/>
              <a:ahLst/>
              <a:cxnLst/>
              <a:rect l="l" t="t" r="r" b="b"/>
              <a:pathLst>
                <a:path w="104775" h="85725">
                  <a:moveTo>
                    <a:pt x="0" y="85725"/>
                  </a:move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2498" y="3597275"/>
              <a:ext cx="29096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2233" y="4105275"/>
              <a:ext cx="303018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weight less dependent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 participants’ self-report.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1571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17</a:t>
              </a:r>
            </a:p>
          </p:txBody>
        </p:sp>
      </p:grpSp>
      <p:grpSp>
        <p:nvGrpSpPr>
          <p:cNvPr id="6" name="weight-result"/>
          <p:cNvGrpSpPr/>
          <p:nvPr/>
        </p:nvGrpSpPr>
        <p:grpSpPr>
          <a:xfrm>
            <a:off x="2674865" y="1987550"/>
            <a:ext cx="6842270" cy="1162050"/>
            <a:chOff x="2674865" y="1987550"/>
            <a:chExt cx="684227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2674865" y="1987550"/>
              <a:ext cx="684227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6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 loss.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142117" y="3152775"/>
            <a:ext cx="5907765" cy="1847850"/>
            <a:chOff x="3142117" y="3152775"/>
            <a:chExt cx="5907765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142117" y="3152775"/>
              <a:ext cx="590776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But why?</a:t>
              </a:r>
            </a:p>
          </p:txBody>
        </p:sp>
      </p:grpSp>
      <p:grpSp>
        <p:nvGrpSpPr>
          <p:cNvPr id="10" name="question-subtitle"/>
          <p:cNvGrpSpPr/>
          <p:nvPr/>
        </p:nvGrpSpPr>
        <p:grpSpPr>
          <a:xfrm>
            <a:off x="3832075" y="5178425"/>
            <a:ext cx="4527850" cy="440055"/>
            <a:chOff x="3832075" y="5178425"/>
            <a:chExt cx="452785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3832075" y="5178425"/>
              <a:ext cx="45278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mechanism was not isolated.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3504" y="6467475"/>
            <a:ext cx="78526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and Discussion · Programme effect and mechanism are different questions.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87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OBSERVATION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736081" cy="933450"/>
            <a:chOff x="590550" y="841375"/>
            <a:chExt cx="973608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7360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diets. Different reductions.</a:t>
              </a:r>
            </a:p>
          </p:txBody>
        </p:sp>
      </p:grpSp>
      <p:grpSp>
        <p:nvGrpSpPr>
          <p:cNvPr id="10" name="hkd-intake"/>
          <p:cNvGrpSpPr/>
          <p:nvPr/>
        </p:nvGrpSpPr>
        <p:grpSpPr>
          <a:xfrm>
            <a:off x="590550" y="2168525"/>
            <a:ext cx="3677040" cy="2622550"/>
            <a:chOff x="590550" y="2168525"/>
            <a:chExt cx="3677040" cy="2622550"/>
          </a:xfrm>
        </p:grpSpPr>
        <p:sp>
          <p:nvSpPr>
            <p:cNvPr id="7" name="TextBox 7"/>
            <p:cNvSpPr txBox="1"/>
            <p:nvPr/>
          </p:nvSpPr>
          <p:spPr>
            <a:xfrm>
              <a:off x="655320" y="2168525"/>
              <a:ext cx="7162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intake"/>
          <p:cNvGrpSpPr/>
          <p:nvPr/>
        </p:nvGrpSpPr>
        <p:grpSpPr>
          <a:xfrm>
            <a:off x="6686550" y="2168525"/>
            <a:ext cx="3677040" cy="2622550"/>
            <a:chOff x="6686550" y="2168525"/>
            <a:chExt cx="3677040" cy="2622550"/>
          </a:xfrm>
        </p:grpSpPr>
        <p:sp>
          <p:nvSpPr>
            <p:cNvPr id="11" name="TextBox 11"/>
            <p:cNvSpPr txBox="1"/>
            <p:nvPr/>
          </p:nvSpPr>
          <p:spPr>
            <a:xfrm>
              <a:off x="6751320" y="2168525"/>
              <a:ext cx="698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86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7" name="calorie-context"/>
          <p:cNvGrpSpPr/>
          <p:nvPr/>
        </p:nvGrpSpPr>
        <p:grpSpPr>
          <a:xfrm>
            <a:off x="2564099" y="5245100"/>
            <a:ext cx="7063801" cy="860044"/>
            <a:chOff x="2564099" y="5245100"/>
            <a:chExt cx="7063801" cy="860044"/>
          </a:xfrm>
        </p:grpSpPr>
        <p:sp>
          <p:nvSpPr>
            <p:cNvPr id="15" name="TextBox 15"/>
            <p:cNvSpPr txBox="1"/>
            <p:nvPr/>
          </p:nvSpPr>
          <p:spPr>
            <a:xfrm>
              <a:off x="3132981" y="5245100"/>
              <a:ext cx="59260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Reported change from baseline at 6 months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4099" y="5753100"/>
              <a:ext cx="7063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advised energy restriction. Actual intakes were not matched.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3504" y="6467475"/>
            <a:ext cx="6952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5 · Self-reported intake changes, not assigned or absolute calorie intakes.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365049" cy="933450"/>
            <a:chOff x="590550" y="841375"/>
            <a:chExt cx="1036504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3650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Assigned does not mean verified.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27" name="!!ketosis-route"/>
          <p:cNvGrpSpPr/>
          <p:nvPr/>
        </p:nvGrpSpPr>
        <p:grpSpPr>
          <a:xfrm>
            <a:off x="3000375" y="2683764"/>
            <a:ext cx="6134100" cy="1135380"/>
            <a:chOff x="3000375" y="2683764"/>
            <a:chExt cx="6134100" cy="1135380"/>
          </a:xfrm>
        </p:grpSpPr>
        <p:sp>
          <p:nvSpPr>
            <p:cNvPr id="19" name="Line 19"/>
            <p:cNvSpPr/>
            <p:nvPr/>
          </p:nvSpPr>
          <p:spPr>
            <a:xfrm>
              <a:off x="3000375" y="3171825"/>
              <a:ext cx="11906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7867650" y="3171825"/>
              <a:ext cx="1266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5325" y="2705100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8655" y="2683764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42663" y="3051810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8665" y="2865120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3448" y="2832100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876" y="3467100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29" name="scene-conclusion"/>
          <p:cNvGrpSpPr/>
          <p:nvPr/>
        </p:nvGrpSpPr>
        <p:grpSpPr>
          <a:xfrm>
            <a:off x="2979885" y="5457825"/>
            <a:ext cx="6232230" cy="656844"/>
            <a:chOff x="2979885" y="5457825"/>
            <a:chExt cx="6232230" cy="656844"/>
          </a:xfrm>
        </p:grpSpPr>
        <p:sp>
          <p:nvSpPr>
            <p:cNvPr id="28" name="TextBox 28"/>
            <p:cNvSpPr txBox="1"/>
            <p:nvPr/>
          </p:nvSpPr>
          <p:spPr>
            <a:xfrm>
              <a:off x="2979885" y="5457825"/>
              <a:ext cx="6232230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Diet advice and food diaries do not confirm sustained ketosis.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Dashed arrows = a possible pathway.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063041" cy="933450"/>
            <a:chOff x="590550" y="841375"/>
            <a:chExt cx="1006304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06304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possible routes. One result.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31" name="!!ketosis-route"/>
          <p:cNvGrpSpPr/>
          <p:nvPr/>
        </p:nvGrpSpPr>
        <p:grpSpPr>
          <a:xfrm>
            <a:off x="3000375" y="1797939"/>
            <a:ext cx="6134100" cy="1431036"/>
            <a:chOff x="3000375" y="1797939"/>
            <a:chExt cx="6134100" cy="1431036"/>
          </a:xfrm>
        </p:grpSpPr>
        <p:sp>
          <p:nvSpPr>
            <p:cNvPr id="19" name="Line 19"/>
            <p:cNvSpPr/>
            <p:nvPr/>
          </p:nvSpPr>
          <p:spPr>
            <a:xfrm>
              <a:off x="3000375" y="32194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9334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3524250" y="2286000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7867650" y="2286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296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29650" y="32194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05325" y="1819275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8655" y="1797939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2663" y="2165985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558665" y="1979295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73448" y="1946275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5876" y="25812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40" name="!!energy-route"/>
          <p:cNvGrpSpPr/>
          <p:nvPr/>
        </p:nvGrpSpPr>
        <p:grpSpPr>
          <a:xfrm>
            <a:off x="3000375" y="3714750"/>
            <a:ext cx="6134100" cy="1237869"/>
            <a:chOff x="3000375" y="3714750"/>
            <a:chExt cx="6134100" cy="1237869"/>
          </a:xfrm>
        </p:grpSpPr>
        <p:sp>
          <p:nvSpPr>
            <p:cNvPr id="32" name="Line 32"/>
            <p:cNvSpPr/>
            <p:nvPr/>
          </p:nvSpPr>
          <p:spPr>
            <a:xfrm>
              <a:off x="3000375" y="37147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35242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4" name="Line 34"/>
            <p:cNvSpPr/>
            <p:nvPr/>
          </p:nvSpPr>
          <p:spPr>
            <a:xfrm>
              <a:off x="3524250" y="4429125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7867650" y="4429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86296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7" name="Line 37"/>
            <p:cNvSpPr/>
            <p:nvPr/>
          </p:nvSpPr>
          <p:spPr>
            <a:xfrm>
              <a:off x="8629650" y="37147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7571" y="4111625"/>
              <a:ext cx="29616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intake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442" y="4600575"/>
              <a:ext cx="2395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contribution?</a:t>
              </a:r>
            </a:p>
          </p:txBody>
        </p:sp>
      </p:grpSp>
      <p:grpSp>
        <p:nvGrpSpPr>
          <p:cNvPr id="42" name="scene-conclusion"/>
          <p:cNvGrpSpPr/>
          <p:nvPr/>
        </p:nvGrpSpPr>
        <p:grpSpPr>
          <a:xfrm>
            <a:off x="2789278" y="5457825"/>
            <a:ext cx="6613444" cy="656844"/>
            <a:chOff x="2789278" y="5457825"/>
            <a:chExt cx="6613444" cy="656844"/>
          </a:xfrm>
        </p:grpSpPr>
        <p:sp>
          <p:nvSpPr>
            <p:cNvPr id="41" name="TextBox 41"/>
            <p:cNvSpPr txBox="1"/>
            <p:nvPr/>
          </p:nvSpPr>
          <p:spPr>
            <a:xfrm>
              <a:off x="2789278" y="5457825"/>
              <a:ext cx="661344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paths can overlap. Their contributions were not isolated.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Dashed arrows = hypotheses, not demonstrated mediation.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491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17</a:t>
              </a:r>
            </a:p>
          </p:txBody>
        </p:sp>
      </p:grpSp>
      <p:grpSp>
        <p:nvGrpSpPr>
          <p:cNvPr id="6" name="!!weight-result"/>
          <p:cNvGrpSpPr/>
          <p:nvPr/>
        </p:nvGrpSpPr>
        <p:grpSpPr>
          <a:xfrm>
            <a:off x="2529733" y="1346200"/>
            <a:ext cx="7132534" cy="1047750"/>
            <a:chOff x="2529733" y="1346200"/>
            <a:chExt cx="7132534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2529733" y="1346200"/>
              <a:ext cx="713253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programme effect.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695235" y="2305050"/>
            <a:ext cx="4801530" cy="1847850"/>
            <a:chOff x="3695235" y="2305050"/>
            <a:chExt cx="4801530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695235" y="2305050"/>
              <a:ext cx="480153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An unresolved</a:t>
              </a:r>
              <a:b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</a:b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mechanism.</a:t>
              </a:r>
            </a:p>
          </p:txBody>
        </p:sp>
      </p:grpSp>
      <p:grpSp>
        <p:nvGrpSpPr>
          <p:cNvPr id="11" name="!!ketosis-route"/>
          <p:cNvGrpSpPr/>
          <p:nvPr/>
        </p:nvGrpSpPr>
        <p:grpSpPr>
          <a:xfrm>
            <a:off x="1965277" y="4435475"/>
            <a:ext cx="2679796" cy="793369"/>
            <a:chOff x="1965277" y="4435475"/>
            <a:chExt cx="2679796" cy="793369"/>
          </a:xfrm>
        </p:grpSpPr>
        <p:sp>
          <p:nvSpPr>
            <p:cNvPr id="9" name="TextBox 9"/>
            <p:cNvSpPr txBox="1"/>
            <p:nvPr/>
          </p:nvSpPr>
          <p:spPr>
            <a:xfrm>
              <a:off x="1976475" y="4435475"/>
              <a:ext cx="26574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 unverified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5277" y="4876800"/>
              <a:ext cx="2679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Was the state achieved?</a:t>
              </a:r>
            </a:p>
          </p:txBody>
        </p:sp>
      </p:grpSp>
      <p:grpSp>
        <p:nvGrpSpPr>
          <p:cNvPr id="14" name="!!energy-route"/>
          <p:cNvGrpSpPr/>
          <p:nvPr/>
        </p:nvGrpSpPr>
        <p:grpSpPr>
          <a:xfrm>
            <a:off x="7413485" y="4435475"/>
            <a:ext cx="2927631" cy="793369"/>
            <a:chOff x="7413485" y="4435475"/>
            <a:chExt cx="2927631" cy="793369"/>
          </a:xfrm>
        </p:grpSpPr>
        <p:sp>
          <p:nvSpPr>
            <p:cNvPr id="12" name="TextBox 12"/>
            <p:cNvSpPr txBox="1"/>
            <p:nvPr/>
          </p:nvSpPr>
          <p:spPr>
            <a:xfrm>
              <a:off x="7413485" y="4435475"/>
              <a:ext cx="29276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Calories unmatched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1028" y="4876800"/>
              <a:ext cx="2732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Would extra loss persist?</a:t>
              </a:r>
            </a:p>
          </p:txBody>
        </p:sp>
      </p:grpSp>
      <p:grpSp>
        <p:nvGrpSpPr>
          <p:cNvPr id="16" name="scene-conclusion"/>
          <p:cNvGrpSpPr/>
          <p:nvPr/>
        </p:nvGrpSpPr>
        <p:grpSpPr>
          <a:xfrm>
            <a:off x="3308386" y="5743575"/>
            <a:ext cx="5575228" cy="352044"/>
            <a:chOff x="3308386" y="5743575"/>
            <a:chExt cx="5575228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3308386" y="5743575"/>
              <a:ext cx="55752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Eating less may be part of the programme’s benefit.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3504" y="6467475"/>
            <a:ext cx="7582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 calorie-independent ketosis benefit was not established. The programme comparison can still be useful.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17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2189988" cy="1043940"/>
            <a:chOff x="594360" y="4584700"/>
            <a:chExt cx="2189988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2189988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people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randomised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8249" y="151447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8249" y="362902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 assigned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3847657" y="5715000"/>
            <a:ext cx="4496685" cy="352044"/>
            <a:chOff x="3847657" y="5715000"/>
            <a:chExt cx="4496685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3847657" y="5715000"/>
              <a:ext cx="44966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same participants will remain in view.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p:transition p14:dur="55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17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3164434" cy="1043940"/>
            <a:chOff x="594360" y="4584700"/>
            <a:chExt cx="3164434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3164434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weights available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 6 months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9211" y="151447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41 measured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9211" y="362902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39 measured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2420214" y="5715000"/>
            <a:ext cx="7351571" cy="352044"/>
            <a:chOff x="2420214" y="5715000"/>
            <a:chExt cx="7351571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2420214" y="5715000"/>
              <a:ext cx="7351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missing outcomes. Missing measurement ≠ not following the diet.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590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OBSERVATION IS NOT ADHERENCE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386190" cy="933450"/>
            <a:chOff x="590550" y="841375"/>
            <a:chExt cx="538619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38619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Zoom in on HKD.</a:t>
              </a:r>
            </a:p>
          </p:txBody>
        </p:sp>
      </p:grpSp>
      <p:grpSp>
        <p:nvGrpSpPr>
          <p:cNvPr id="9" name="!!hkd-label"/>
          <p:cNvGrpSpPr/>
          <p:nvPr/>
        </p:nvGrpSpPr>
        <p:grpSpPr>
          <a:xfrm>
            <a:off x="594360" y="2032000"/>
            <a:ext cx="10879192" cy="586740"/>
            <a:chOff x="594360" y="2032000"/>
            <a:chExt cx="10879192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032000"/>
              <a:ext cx="23426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0" y="2101850"/>
              <a:ext cx="37697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measured + 12 unknown</a:t>
              </a:r>
            </a:p>
          </p:txBody>
        </p:sp>
      </p:grpSp>
      <p:grpSp>
        <p:nvGrpSpPr>
          <p:cNvPr id="12" name="!!participant-00"/>
          <p:cNvGrpSpPr/>
          <p:nvPr/>
        </p:nvGrpSpPr>
        <p:grpSpPr>
          <a:xfrm>
            <a:off x="936784" y="3023711"/>
            <a:ext cx="193358" cy="566261"/>
            <a:chOff x="936784" y="3023711"/>
            <a:chExt cx="193358" cy="566261"/>
          </a:xfrm>
        </p:grpSpPr>
        <p:sp>
          <p:nvSpPr>
            <p:cNvPr id="10" name="Ellipse 10"/>
            <p:cNvSpPr/>
            <p:nvPr/>
          </p:nvSpPr>
          <p:spPr>
            <a:xfrm>
              <a:off x="9505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67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5" name="!!participant-01"/>
          <p:cNvGrpSpPr/>
          <p:nvPr/>
        </p:nvGrpSpPr>
        <p:grpSpPr>
          <a:xfrm>
            <a:off x="1498759" y="3023711"/>
            <a:ext cx="193358" cy="566261"/>
            <a:chOff x="1498759" y="3023711"/>
            <a:chExt cx="193358" cy="566261"/>
          </a:xfrm>
        </p:grpSpPr>
        <p:sp>
          <p:nvSpPr>
            <p:cNvPr id="13" name="Ellipse 13"/>
            <p:cNvSpPr/>
            <p:nvPr/>
          </p:nvSpPr>
          <p:spPr>
            <a:xfrm>
              <a:off x="15125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987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8" name="!!participant-02"/>
          <p:cNvGrpSpPr/>
          <p:nvPr/>
        </p:nvGrpSpPr>
        <p:grpSpPr>
          <a:xfrm>
            <a:off x="2060734" y="3023711"/>
            <a:ext cx="193358" cy="566261"/>
            <a:chOff x="2060734" y="3023711"/>
            <a:chExt cx="193358" cy="566261"/>
          </a:xfrm>
        </p:grpSpPr>
        <p:sp>
          <p:nvSpPr>
            <p:cNvPr id="16" name="Ellipse 16"/>
            <p:cNvSpPr/>
            <p:nvPr/>
          </p:nvSpPr>
          <p:spPr>
            <a:xfrm>
              <a:off x="20745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607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1" name="!!participant-03"/>
          <p:cNvGrpSpPr/>
          <p:nvPr/>
        </p:nvGrpSpPr>
        <p:grpSpPr>
          <a:xfrm>
            <a:off x="2622709" y="3023711"/>
            <a:ext cx="193358" cy="566261"/>
            <a:chOff x="2622709" y="3023711"/>
            <a:chExt cx="193358" cy="566261"/>
          </a:xfrm>
        </p:grpSpPr>
        <p:sp>
          <p:nvSpPr>
            <p:cNvPr id="19" name="Ellipse 19"/>
            <p:cNvSpPr/>
            <p:nvPr/>
          </p:nvSpPr>
          <p:spPr>
            <a:xfrm>
              <a:off x="26365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227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4" name="!!participant-04"/>
          <p:cNvGrpSpPr/>
          <p:nvPr/>
        </p:nvGrpSpPr>
        <p:grpSpPr>
          <a:xfrm>
            <a:off x="3184684" y="3023711"/>
            <a:ext cx="193358" cy="566261"/>
            <a:chOff x="3184684" y="3023711"/>
            <a:chExt cx="193358" cy="566261"/>
          </a:xfrm>
        </p:grpSpPr>
        <p:sp>
          <p:nvSpPr>
            <p:cNvPr id="22" name="Ellipse 22"/>
            <p:cNvSpPr/>
            <p:nvPr/>
          </p:nvSpPr>
          <p:spPr>
            <a:xfrm>
              <a:off x="31984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846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7" name="!!participant-05"/>
          <p:cNvGrpSpPr/>
          <p:nvPr/>
        </p:nvGrpSpPr>
        <p:grpSpPr>
          <a:xfrm>
            <a:off x="3746659" y="3023711"/>
            <a:ext cx="193358" cy="566261"/>
            <a:chOff x="3746659" y="3023711"/>
            <a:chExt cx="193358" cy="566261"/>
          </a:xfrm>
        </p:grpSpPr>
        <p:sp>
          <p:nvSpPr>
            <p:cNvPr id="25" name="Ellipse 25"/>
            <p:cNvSpPr/>
            <p:nvPr/>
          </p:nvSpPr>
          <p:spPr>
            <a:xfrm>
              <a:off x="37604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466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0" name="!!participant-06"/>
          <p:cNvGrpSpPr/>
          <p:nvPr/>
        </p:nvGrpSpPr>
        <p:grpSpPr>
          <a:xfrm>
            <a:off x="4308634" y="3023711"/>
            <a:ext cx="193358" cy="566261"/>
            <a:chOff x="4308634" y="3023711"/>
            <a:chExt cx="193358" cy="566261"/>
          </a:xfrm>
        </p:grpSpPr>
        <p:sp>
          <p:nvSpPr>
            <p:cNvPr id="28" name="Ellipse 28"/>
            <p:cNvSpPr/>
            <p:nvPr/>
          </p:nvSpPr>
          <p:spPr>
            <a:xfrm>
              <a:off x="43224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86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3" name="!!participant-07"/>
          <p:cNvGrpSpPr/>
          <p:nvPr/>
        </p:nvGrpSpPr>
        <p:grpSpPr>
          <a:xfrm>
            <a:off x="4870609" y="3023711"/>
            <a:ext cx="193358" cy="566261"/>
            <a:chOff x="4870609" y="3023711"/>
            <a:chExt cx="193358" cy="566261"/>
          </a:xfrm>
        </p:grpSpPr>
        <p:sp>
          <p:nvSpPr>
            <p:cNvPr id="31" name="Ellipse 31"/>
            <p:cNvSpPr/>
            <p:nvPr/>
          </p:nvSpPr>
          <p:spPr>
            <a:xfrm>
              <a:off x="48844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706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6" name="!!participant-08"/>
          <p:cNvGrpSpPr/>
          <p:nvPr/>
        </p:nvGrpSpPr>
        <p:grpSpPr>
          <a:xfrm>
            <a:off x="5432584" y="3023711"/>
            <a:ext cx="193358" cy="566261"/>
            <a:chOff x="5432584" y="3023711"/>
            <a:chExt cx="193358" cy="566261"/>
          </a:xfrm>
        </p:grpSpPr>
        <p:sp>
          <p:nvSpPr>
            <p:cNvPr id="34" name="Ellipse 34"/>
            <p:cNvSpPr/>
            <p:nvPr/>
          </p:nvSpPr>
          <p:spPr>
            <a:xfrm>
              <a:off x="54463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325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9" name="!!participant-09"/>
          <p:cNvGrpSpPr/>
          <p:nvPr/>
        </p:nvGrpSpPr>
        <p:grpSpPr>
          <a:xfrm>
            <a:off x="5994559" y="3023711"/>
            <a:ext cx="193358" cy="566261"/>
            <a:chOff x="5994559" y="3023711"/>
            <a:chExt cx="193358" cy="566261"/>
          </a:xfrm>
        </p:grpSpPr>
        <p:sp>
          <p:nvSpPr>
            <p:cNvPr id="37" name="Ellipse 37"/>
            <p:cNvSpPr/>
            <p:nvPr/>
          </p:nvSpPr>
          <p:spPr>
            <a:xfrm>
              <a:off x="60083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945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2" name="!!participant-10"/>
          <p:cNvGrpSpPr/>
          <p:nvPr/>
        </p:nvGrpSpPr>
        <p:grpSpPr>
          <a:xfrm>
            <a:off x="936784" y="3833336"/>
            <a:ext cx="193358" cy="566262"/>
            <a:chOff x="936784" y="3833336"/>
            <a:chExt cx="193358" cy="566262"/>
          </a:xfrm>
        </p:grpSpPr>
        <p:sp>
          <p:nvSpPr>
            <p:cNvPr id="40" name="Ellipse 40"/>
            <p:cNvSpPr/>
            <p:nvPr/>
          </p:nvSpPr>
          <p:spPr>
            <a:xfrm>
              <a:off x="9505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67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5" name="!!participant-11"/>
          <p:cNvGrpSpPr/>
          <p:nvPr/>
        </p:nvGrpSpPr>
        <p:grpSpPr>
          <a:xfrm>
            <a:off x="1498759" y="3833336"/>
            <a:ext cx="193358" cy="566262"/>
            <a:chOff x="1498759" y="3833336"/>
            <a:chExt cx="193358" cy="566262"/>
          </a:xfrm>
        </p:grpSpPr>
        <p:sp>
          <p:nvSpPr>
            <p:cNvPr id="43" name="Ellipse 43"/>
            <p:cNvSpPr/>
            <p:nvPr/>
          </p:nvSpPr>
          <p:spPr>
            <a:xfrm>
              <a:off x="15125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987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8" name="!!participant-12"/>
          <p:cNvGrpSpPr/>
          <p:nvPr/>
        </p:nvGrpSpPr>
        <p:grpSpPr>
          <a:xfrm>
            <a:off x="2060734" y="3833336"/>
            <a:ext cx="193358" cy="566262"/>
            <a:chOff x="2060734" y="3833336"/>
            <a:chExt cx="193358" cy="566262"/>
          </a:xfrm>
        </p:grpSpPr>
        <p:sp>
          <p:nvSpPr>
            <p:cNvPr id="46" name="Ellipse 46"/>
            <p:cNvSpPr/>
            <p:nvPr/>
          </p:nvSpPr>
          <p:spPr>
            <a:xfrm>
              <a:off x="20745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607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1" name="!!participant-13"/>
          <p:cNvGrpSpPr/>
          <p:nvPr/>
        </p:nvGrpSpPr>
        <p:grpSpPr>
          <a:xfrm>
            <a:off x="2622709" y="3833336"/>
            <a:ext cx="193358" cy="566262"/>
            <a:chOff x="2622709" y="3833336"/>
            <a:chExt cx="193358" cy="566262"/>
          </a:xfrm>
        </p:grpSpPr>
        <p:sp>
          <p:nvSpPr>
            <p:cNvPr id="49" name="Ellipse 49"/>
            <p:cNvSpPr/>
            <p:nvPr/>
          </p:nvSpPr>
          <p:spPr>
            <a:xfrm>
              <a:off x="26365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6227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4" name="!!participant-14"/>
          <p:cNvGrpSpPr/>
          <p:nvPr/>
        </p:nvGrpSpPr>
        <p:grpSpPr>
          <a:xfrm>
            <a:off x="3184684" y="3833336"/>
            <a:ext cx="193358" cy="566262"/>
            <a:chOff x="3184684" y="3833336"/>
            <a:chExt cx="193358" cy="566262"/>
          </a:xfrm>
        </p:grpSpPr>
        <p:sp>
          <p:nvSpPr>
            <p:cNvPr id="52" name="Ellipse 52"/>
            <p:cNvSpPr/>
            <p:nvPr/>
          </p:nvSpPr>
          <p:spPr>
            <a:xfrm>
              <a:off x="31984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846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7" name="!!participant-15"/>
          <p:cNvGrpSpPr/>
          <p:nvPr/>
        </p:nvGrpSpPr>
        <p:grpSpPr>
          <a:xfrm>
            <a:off x="3746659" y="3833336"/>
            <a:ext cx="193358" cy="566262"/>
            <a:chOff x="3746659" y="3833336"/>
            <a:chExt cx="193358" cy="566262"/>
          </a:xfrm>
        </p:grpSpPr>
        <p:sp>
          <p:nvSpPr>
            <p:cNvPr id="55" name="Ellipse 55"/>
            <p:cNvSpPr/>
            <p:nvPr/>
          </p:nvSpPr>
          <p:spPr>
            <a:xfrm>
              <a:off x="37604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7466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0" name="!!participant-16"/>
          <p:cNvGrpSpPr/>
          <p:nvPr/>
        </p:nvGrpSpPr>
        <p:grpSpPr>
          <a:xfrm>
            <a:off x="4308634" y="3833336"/>
            <a:ext cx="193358" cy="566262"/>
            <a:chOff x="4308634" y="3833336"/>
            <a:chExt cx="193358" cy="566262"/>
          </a:xfrm>
        </p:grpSpPr>
        <p:sp>
          <p:nvSpPr>
            <p:cNvPr id="58" name="Ellipse 58"/>
            <p:cNvSpPr/>
            <p:nvPr/>
          </p:nvSpPr>
          <p:spPr>
            <a:xfrm>
              <a:off x="43224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86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3" name="!!participant-17"/>
          <p:cNvGrpSpPr/>
          <p:nvPr/>
        </p:nvGrpSpPr>
        <p:grpSpPr>
          <a:xfrm>
            <a:off x="4870609" y="3833336"/>
            <a:ext cx="193358" cy="566262"/>
            <a:chOff x="4870609" y="3833336"/>
            <a:chExt cx="193358" cy="566262"/>
          </a:xfrm>
        </p:grpSpPr>
        <p:sp>
          <p:nvSpPr>
            <p:cNvPr id="61" name="Ellipse 61"/>
            <p:cNvSpPr/>
            <p:nvPr/>
          </p:nvSpPr>
          <p:spPr>
            <a:xfrm>
              <a:off x="48844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706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6" name="!!participant-18"/>
          <p:cNvGrpSpPr/>
          <p:nvPr/>
        </p:nvGrpSpPr>
        <p:grpSpPr>
          <a:xfrm>
            <a:off x="5432584" y="3833336"/>
            <a:ext cx="193358" cy="566262"/>
            <a:chOff x="5432584" y="3833336"/>
            <a:chExt cx="193358" cy="566262"/>
          </a:xfrm>
        </p:grpSpPr>
        <p:sp>
          <p:nvSpPr>
            <p:cNvPr id="64" name="Ellipse 64"/>
            <p:cNvSpPr/>
            <p:nvPr/>
          </p:nvSpPr>
          <p:spPr>
            <a:xfrm>
              <a:off x="54463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325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9" name="!!participant-19"/>
          <p:cNvGrpSpPr/>
          <p:nvPr/>
        </p:nvGrpSpPr>
        <p:grpSpPr>
          <a:xfrm>
            <a:off x="5994559" y="3833336"/>
            <a:ext cx="193358" cy="566262"/>
            <a:chOff x="5994559" y="3833336"/>
            <a:chExt cx="193358" cy="566262"/>
          </a:xfrm>
        </p:grpSpPr>
        <p:sp>
          <p:nvSpPr>
            <p:cNvPr id="67" name="Ellipse 67"/>
            <p:cNvSpPr/>
            <p:nvPr/>
          </p:nvSpPr>
          <p:spPr>
            <a:xfrm>
              <a:off x="60083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9945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2" name="!!participant-20"/>
          <p:cNvGrpSpPr/>
          <p:nvPr/>
        </p:nvGrpSpPr>
        <p:grpSpPr>
          <a:xfrm>
            <a:off x="936784" y="4642961"/>
            <a:ext cx="193358" cy="566261"/>
            <a:chOff x="936784" y="4642961"/>
            <a:chExt cx="193358" cy="566261"/>
          </a:xfrm>
        </p:grpSpPr>
        <p:sp>
          <p:nvSpPr>
            <p:cNvPr id="70" name="Ellipse 70"/>
            <p:cNvSpPr/>
            <p:nvPr/>
          </p:nvSpPr>
          <p:spPr>
            <a:xfrm>
              <a:off x="9505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367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5" name="!!participant-21"/>
          <p:cNvGrpSpPr/>
          <p:nvPr/>
        </p:nvGrpSpPr>
        <p:grpSpPr>
          <a:xfrm>
            <a:off x="1498759" y="4642961"/>
            <a:ext cx="193358" cy="566261"/>
            <a:chOff x="1498759" y="4642961"/>
            <a:chExt cx="193358" cy="566261"/>
          </a:xfrm>
        </p:grpSpPr>
        <p:sp>
          <p:nvSpPr>
            <p:cNvPr id="73" name="Ellipse 73"/>
            <p:cNvSpPr/>
            <p:nvPr/>
          </p:nvSpPr>
          <p:spPr>
            <a:xfrm>
              <a:off x="15125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4987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8" name="!!participant-22"/>
          <p:cNvGrpSpPr/>
          <p:nvPr/>
        </p:nvGrpSpPr>
        <p:grpSpPr>
          <a:xfrm>
            <a:off x="2060734" y="4642961"/>
            <a:ext cx="193358" cy="566261"/>
            <a:chOff x="2060734" y="4642961"/>
            <a:chExt cx="193358" cy="566261"/>
          </a:xfrm>
        </p:grpSpPr>
        <p:sp>
          <p:nvSpPr>
            <p:cNvPr id="76" name="Ellipse 76"/>
            <p:cNvSpPr/>
            <p:nvPr/>
          </p:nvSpPr>
          <p:spPr>
            <a:xfrm>
              <a:off x="20745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607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1" name="!!participant-23"/>
          <p:cNvGrpSpPr/>
          <p:nvPr/>
        </p:nvGrpSpPr>
        <p:grpSpPr>
          <a:xfrm>
            <a:off x="2622709" y="4642961"/>
            <a:ext cx="193358" cy="566261"/>
            <a:chOff x="2622709" y="4642961"/>
            <a:chExt cx="193358" cy="566261"/>
          </a:xfrm>
        </p:grpSpPr>
        <p:sp>
          <p:nvSpPr>
            <p:cNvPr id="79" name="Ellipse 79"/>
            <p:cNvSpPr/>
            <p:nvPr/>
          </p:nvSpPr>
          <p:spPr>
            <a:xfrm>
              <a:off x="26365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26227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4" name="!!participant-24"/>
          <p:cNvGrpSpPr/>
          <p:nvPr/>
        </p:nvGrpSpPr>
        <p:grpSpPr>
          <a:xfrm>
            <a:off x="3184684" y="4642961"/>
            <a:ext cx="193358" cy="566261"/>
            <a:chOff x="3184684" y="4642961"/>
            <a:chExt cx="193358" cy="566261"/>
          </a:xfrm>
        </p:grpSpPr>
        <p:sp>
          <p:nvSpPr>
            <p:cNvPr id="82" name="Ellipse 82"/>
            <p:cNvSpPr/>
            <p:nvPr/>
          </p:nvSpPr>
          <p:spPr>
            <a:xfrm>
              <a:off x="31984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31846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7" name="!!participant-25"/>
          <p:cNvGrpSpPr/>
          <p:nvPr/>
        </p:nvGrpSpPr>
        <p:grpSpPr>
          <a:xfrm>
            <a:off x="3746659" y="4642961"/>
            <a:ext cx="193358" cy="566261"/>
            <a:chOff x="3746659" y="4642961"/>
            <a:chExt cx="193358" cy="566261"/>
          </a:xfrm>
        </p:grpSpPr>
        <p:sp>
          <p:nvSpPr>
            <p:cNvPr id="85" name="Ellipse 85"/>
            <p:cNvSpPr/>
            <p:nvPr/>
          </p:nvSpPr>
          <p:spPr>
            <a:xfrm>
              <a:off x="37604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37466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0" name="!!participant-26"/>
          <p:cNvGrpSpPr/>
          <p:nvPr/>
        </p:nvGrpSpPr>
        <p:grpSpPr>
          <a:xfrm>
            <a:off x="4308634" y="4642961"/>
            <a:ext cx="193358" cy="566261"/>
            <a:chOff x="4308634" y="4642961"/>
            <a:chExt cx="193358" cy="566261"/>
          </a:xfrm>
        </p:grpSpPr>
        <p:sp>
          <p:nvSpPr>
            <p:cNvPr id="88" name="Ellipse 88"/>
            <p:cNvSpPr/>
            <p:nvPr/>
          </p:nvSpPr>
          <p:spPr>
            <a:xfrm>
              <a:off x="43224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3086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3" name="!!participant-27"/>
          <p:cNvGrpSpPr/>
          <p:nvPr/>
        </p:nvGrpSpPr>
        <p:grpSpPr>
          <a:xfrm>
            <a:off x="4870609" y="4642961"/>
            <a:ext cx="193358" cy="566261"/>
            <a:chOff x="4870609" y="4642961"/>
            <a:chExt cx="193358" cy="566261"/>
          </a:xfrm>
        </p:grpSpPr>
        <p:sp>
          <p:nvSpPr>
            <p:cNvPr id="91" name="Ellipse 91"/>
            <p:cNvSpPr/>
            <p:nvPr/>
          </p:nvSpPr>
          <p:spPr>
            <a:xfrm>
              <a:off x="48844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48706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6" name="!!participant-28"/>
          <p:cNvGrpSpPr/>
          <p:nvPr/>
        </p:nvGrpSpPr>
        <p:grpSpPr>
          <a:xfrm>
            <a:off x="5432584" y="4642961"/>
            <a:ext cx="193358" cy="566261"/>
            <a:chOff x="5432584" y="4642961"/>
            <a:chExt cx="193358" cy="566261"/>
          </a:xfrm>
        </p:grpSpPr>
        <p:sp>
          <p:nvSpPr>
            <p:cNvPr id="94" name="Ellipse 94"/>
            <p:cNvSpPr/>
            <p:nvPr/>
          </p:nvSpPr>
          <p:spPr>
            <a:xfrm>
              <a:off x="54463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4325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9" name="!!participant-29"/>
          <p:cNvGrpSpPr/>
          <p:nvPr/>
        </p:nvGrpSpPr>
        <p:grpSpPr>
          <a:xfrm>
            <a:off x="8071009" y="3023711"/>
            <a:ext cx="193358" cy="566261"/>
            <a:chOff x="8071009" y="3023711"/>
            <a:chExt cx="193358" cy="566261"/>
          </a:xfrm>
        </p:grpSpPr>
        <p:sp>
          <p:nvSpPr>
            <p:cNvPr id="97" name="Ellipse 97"/>
            <p:cNvSpPr/>
            <p:nvPr/>
          </p:nvSpPr>
          <p:spPr>
            <a:xfrm>
              <a:off x="80848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710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2" name="!!participant-30"/>
          <p:cNvGrpSpPr/>
          <p:nvPr/>
        </p:nvGrpSpPr>
        <p:grpSpPr>
          <a:xfrm>
            <a:off x="8852059" y="3023711"/>
            <a:ext cx="193358" cy="566261"/>
            <a:chOff x="8852059" y="3023711"/>
            <a:chExt cx="193358" cy="566261"/>
          </a:xfrm>
        </p:grpSpPr>
        <p:sp>
          <p:nvSpPr>
            <p:cNvPr id="100" name="Ellipse 100"/>
            <p:cNvSpPr/>
            <p:nvPr/>
          </p:nvSpPr>
          <p:spPr>
            <a:xfrm>
              <a:off x="88658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520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5" name="!!participant-31"/>
          <p:cNvGrpSpPr/>
          <p:nvPr/>
        </p:nvGrpSpPr>
        <p:grpSpPr>
          <a:xfrm>
            <a:off x="9633109" y="3023711"/>
            <a:ext cx="193358" cy="566261"/>
            <a:chOff x="9633109" y="3023711"/>
            <a:chExt cx="193358" cy="566261"/>
          </a:xfrm>
        </p:grpSpPr>
        <p:sp>
          <p:nvSpPr>
            <p:cNvPr id="103" name="Ellipse 103"/>
            <p:cNvSpPr/>
            <p:nvPr/>
          </p:nvSpPr>
          <p:spPr>
            <a:xfrm>
              <a:off x="96469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6331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8" name="!!participant-32"/>
          <p:cNvGrpSpPr/>
          <p:nvPr/>
        </p:nvGrpSpPr>
        <p:grpSpPr>
          <a:xfrm>
            <a:off x="10414159" y="3023711"/>
            <a:ext cx="193358" cy="566261"/>
            <a:chOff x="10414159" y="3023711"/>
            <a:chExt cx="193358" cy="566261"/>
          </a:xfrm>
        </p:grpSpPr>
        <p:sp>
          <p:nvSpPr>
            <p:cNvPr id="106" name="Ellipse 106"/>
            <p:cNvSpPr/>
            <p:nvPr/>
          </p:nvSpPr>
          <p:spPr>
            <a:xfrm>
              <a:off x="104279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141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1" name="!!participant-33"/>
          <p:cNvGrpSpPr/>
          <p:nvPr/>
        </p:nvGrpSpPr>
        <p:grpSpPr>
          <a:xfrm>
            <a:off x="8071009" y="3833336"/>
            <a:ext cx="193358" cy="566262"/>
            <a:chOff x="8071009" y="3833336"/>
            <a:chExt cx="193358" cy="566262"/>
          </a:xfrm>
        </p:grpSpPr>
        <p:sp>
          <p:nvSpPr>
            <p:cNvPr id="109" name="Ellipse 109"/>
            <p:cNvSpPr/>
            <p:nvPr/>
          </p:nvSpPr>
          <p:spPr>
            <a:xfrm>
              <a:off x="80848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0710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4" name="!!participant-34"/>
          <p:cNvGrpSpPr/>
          <p:nvPr/>
        </p:nvGrpSpPr>
        <p:grpSpPr>
          <a:xfrm>
            <a:off x="8852059" y="3833336"/>
            <a:ext cx="193358" cy="566262"/>
            <a:chOff x="8852059" y="3833336"/>
            <a:chExt cx="193358" cy="566262"/>
          </a:xfrm>
        </p:grpSpPr>
        <p:sp>
          <p:nvSpPr>
            <p:cNvPr id="112" name="Ellipse 112"/>
            <p:cNvSpPr/>
            <p:nvPr/>
          </p:nvSpPr>
          <p:spPr>
            <a:xfrm>
              <a:off x="88658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8520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7" name="!!participant-35"/>
          <p:cNvGrpSpPr/>
          <p:nvPr/>
        </p:nvGrpSpPr>
        <p:grpSpPr>
          <a:xfrm>
            <a:off x="9633109" y="3833336"/>
            <a:ext cx="193358" cy="566262"/>
            <a:chOff x="9633109" y="3833336"/>
            <a:chExt cx="193358" cy="566262"/>
          </a:xfrm>
        </p:grpSpPr>
        <p:sp>
          <p:nvSpPr>
            <p:cNvPr id="115" name="Ellipse 115"/>
            <p:cNvSpPr/>
            <p:nvPr/>
          </p:nvSpPr>
          <p:spPr>
            <a:xfrm>
              <a:off x="96469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6331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0" name="!!participant-36"/>
          <p:cNvGrpSpPr/>
          <p:nvPr/>
        </p:nvGrpSpPr>
        <p:grpSpPr>
          <a:xfrm>
            <a:off x="10414159" y="3833336"/>
            <a:ext cx="193358" cy="566262"/>
            <a:chOff x="10414159" y="3833336"/>
            <a:chExt cx="193358" cy="566262"/>
          </a:xfrm>
        </p:grpSpPr>
        <p:sp>
          <p:nvSpPr>
            <p:cNvPr id="118" name="Ellipse 118"/>
            <p:cNvSpPr/>
            <p:nvPr/>
          </p:nvSpPr>
          <p:spPr>
            <a:xfrm>
              <a:off x="104279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04141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3" name="!!participant-37"/>
          <p:cNvGrpSpPr/>
          <p:nvPr/>
        </p:nvGrpSpPr>
        <p:grpSpPr>
          <a:xfrm>
            <a:off x="8071009" y="4642961"/>
            <a:ext cx="193358" cy="566261"/>
            <a:chOff x="8071009" y="4642961"/>
            <a:chExt cx="193358" cy="566261"/>
          </a:xfrm>
        </p:grpSpPr>
        <p:sp>
          <p:nvSpPr>
            <p:cNvPr id="121" name="Ellipse 121"/>
            <p:cNvSpPr/>
            <p:nvPr/>
          </p:nvSpPr>
          <p:spPr>
            <a:xfrm>
              <a:off x="80848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0710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6" name="!!participant-38"/>
          <p:cNvGrpSpPr/>
          <p:nvPr/>
        </p:nvGrpSpPr>
        <p:grpSpPr>
          <a:xfrm>
            <a:off x="8852059" y="4642961"/>
            <a:ext cx="193358" cy="566261"/>
            <a:chOff x="8852059" y="4642961"/>
            <a:chExt cx="193358" cy="566261"/>
          </a:xfrm>
        </p:grpSpPr>
        <p:sp>
          <p:nvSpPr>
            <p:cNvPr id="124" name="Ellipse 124"/>
            <p:cNvSpPr/>
            <p:nvPr/>
          </p:nvSpPr>
          <p:spPr>
            <a:xfrm>
              <a:off x="88658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88520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9" name="!!participant-39"/>
          <p:cNvGrpSpPr/>
          <p:nvPr/>
        </p:nvGrpSpPr>
        <p:grpSpPr>
          <a:xfrm>
            <a:off x="9633109" y="4642961"/>
            <a:ext cx="193358" cy="566261"/>
            <a:chOff x="9633109" y="4642961"/>
            <a:chExt cx="193358" cy="566261"/>
          </a:xfrm>
        </p:grpSpPr>
        <p:sp>
          <p:nvSpPr>
            <p:cNvPr id="127" name="Ellipse 127"/>
            <p:cNvSpPr/>
            <p:nvPr/>
          </p:nvSpPr>
          <p:spPr>
            <a:xfrm>
              <a:off x="96469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96331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2" name="!!participant-40"/>
          <p:cNvGrpSpPr/>
          <p:nvPr/>
        </p:nvGrpSpPr>
        <p:grpSpPr>
          <a:xfrm>
            <a:off x="10414159" y="4642961"/>
            <a:ext cx="193358" cy="566261"/>
            <a:chOff x="10414159" y="4642961"/>
            <a:chExt cx="193358" cy="566261"/>
          </a:xfrm>
        </p:grpSpPr>
        <p:sp>
          <p:nvSpPr>
            <p:cNvPr id="130" name="Ellipse 130"/>
            <p:cNvSpPr/>
            <p:nvPr/>
          </p:nvSpPr>
          <p:spPr>
            <a:xfrm>
              <a:off x="104279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4141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scene-conclusion"/>
          <p:cNvGrpSpPr/>
          <p:nvPr/>
        </p:nvGrpSpPr>
        <p:grpSpPr>
          <a:xfrm>
            <a:off x="2301331" y="5743575"/>
            <a:ext cx="7589338" cy="352044"/>
            <a:chOff x="2301331" y="5743575"/>
            <a:chExt cx="7589338" cy="352044"/>
          </a:xfrm>
        </p:grpSpPr>
        <p:sp>
          <p:nvSpPr>
            <p:cNvPr id="133" name="TextBox 133"/>
            <p:cNvSpPr txBox="1"/>
            <p:nvPr/>
          </p:nvSpPr>
          <p:spPr>
            <a:xfrm>
              <a:off x="2301331" y="5743575"/>
              <a:ext cx="7589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They might have followed the diet. Their weight outcomes are missing.</a:t>
              </a:r>
            </a:p>
          </p:txBody>
        </p:sp>
      </p:grpSp>
      <p:sp>
        <p:nvSpPr>
          <p:cNvPr id="135" name="TextBox 135"/>
          <p:cNvSpPr txBox="1"/>
          <p:nvPr/>
        </p:nvSpPr>
        <p:spPr>
          <a:xfrm>
            <a:off x="603504" y="6467475"/>
            <a:ext cx="6890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· The 12 missing HKD outcomes are not automatically 12 diet failures.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993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UNKNOWN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50467" cy="933450"/>
            <a:chOff x="590550" y="841375"/>
            <a:chExt cx="92504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504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weight loss is unknown.</a:t>
              </a:r>
            </a:p>
          </p:txBody>
        </p:sp>
      </p:grpSp>
      <p:grpSp>
        <p:nvGrpSpPr>
          <p:cNvPr id="9" name="!!participant-29"/>
          <p:cNvGrpSpPr/>
          <p:nvPr/>
        </p:nvGrpSpPr>
        <p:grpSpPr>
          <a:xfrm>
            <a:off x="1292542" y="2332672"/>
            <a:ext cx="253365" cy="741998"/>
            <a:chOff x="1292542" y="2332672"/>
            <a:chExt cx="253365" cy="741998"/>
          </a:xfrm>
        </p:grpSpPr>
        <p:sp>
          <p:nvSpPr>
            <p:cNvPr id="7" name="Ellipse 7"/>
            <p:cNvSpPr/>
            <p:nvPr/>
          </p:nvSpPr>
          <p:spPr>
            <a:xfrm>
              <a:off x="13106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2925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" name="!!participant-30"/>
          <p:cNvGrpSpPr/>
          <p:nvPr/>
        </p:nvGrpSpPr>
        <p:grpSpPr>
          <a:xfrm>
            <a:off x="2121218" y="2332672"/>
            <a:ext cx="253365" cy="741998"/>
            <a:chOff x="2121218" y="2332672"/>
            <a:chExt cx="253365" cy="741998"/>
          </a:xfrm>
        </p:grpSpPr>
        <p:sp>
          <p:nvSpPr>
            <p:cNvPr id="10" name="Ellipse 10"/>
            <p:cNvSpPr/>
            <p:nvPr/>
          </p:nvSpPr>
          <p:spPr>
            <a:xfrm>
              <a:off x="21393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212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5" name="!!participant-31"/>
          <p:cNvGrpSpPr/>
          <p:nvPr/>
        </p:nvGrpSpPr>
        <p:grpSpPr>
          <a:xfrm>
            <a:off x="2949892" y="2332672"/>
            <a:ext cx="253365" cy="741998"/>
            <a:chOff x="2949892" y="2332672"/>
            <a:chExt cx="253365" cy="741998"/>
          </a:xfrm>
        </p:grpSpPr>
        <p:sp>
          <p:nvSpPr>
            <p:cNvPr id="13" name="Ellipse 13"/>
            <p:cNvSpPr/>
            <p:nvPr/>
          </p:nvSpPr>
          <p:spPr>
            <a:xfrm>
              <a:off x="29679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498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8" name="!!participant-32"/>
          <p:cNvGrpSpPr/>
          <p:nvPr/>
        </p:nvGrpSpPr>
        <p:grpSpPr>
          <a:xfrm>
            <a:off x="3778568" y="2332672"/>
            <a:ext cx="253365" cy="741998"/>
            <a:chOff x="3778568" y="2332672"/>
            <a:chExt cx="253365" cy="741998"/>
          </a:xfrm>
        </p:grpSpPr>
        <p:sp>
          <p:nvSpPr>
            <p:cNvPr id="16" name="Ellipse 16"/>
            <p:cNvSpPr/>
            <p:nvPr/>
          </p:nvSpPr>
          <p:spPr>
            <a:xfrm>
              <a:off x="37966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785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1" name="!!participant-33"/>
          <p:cNvGrpSpPr/>
          <p:nvPr/>
        </p:nvGrpSpPr>
        <p:grpSpPr>
          <a:xfrm>
            <a:off x="4607242" y="2332672"/>
            <a:ext cx="253365" cy="741998"/>
            <a:chOff x="4607242" y="2332672"/>
            <a:chExt cx="253365" cy="741998"/>
          </a:xfrm>
        </p:grpSpPr>
        <p:sp>
          <p:nvSpPr>
            <p:cNvPr id="19" name="Ellipse 19"/>
            <p:cNvSpPr/>
            <p:nvPr/>
          </p:nvSpPr>
          <p:spPr>
            <a:xfrm>
              <a:off x="46253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072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" name="!!participant-34"/>
          <p:cNvGrpSpPr/>
          <p:nvPr/>
        </p:nvGrpSpPr>
        <p:grpSpPr>
          <a:xfrm>
            <a:off x="5435918" y="2332672"/>
            <a:ext cx="253365" cy="741998"/>
            <a:chOff x="5435918" y="2332672"/>
            <a:chExt cx="253365" cy="741998"/>
          </a:xfrm>
        </p:grpSpPr>
        <p:sp>
          <p:nvSpPr>
            <p:cNvPr id="22" name="Ellipse 22"/>
            <p:cNvSpPr/>
            <p:nvPr/>
          </p:nvSpPr>
          <p:spPr>
            <a:xfrm>
              <a:off x="54540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359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7" name="!!participant-35"/>
          <p:cNvGrpSpPr/>
          <p:nvPr/>
        </p:nvGrpSpPr>
        <p:grpSpPr>
          <a:xfrm>
            <a:off x="6264592" y="2332672"/>
            <a:ext cx="253365" cy="741998"/>
            <a:chOff x="6264592" y="2332672"/>
            <a:chExt cx="253365" cy="741998"/>
          </a:xfrm>
        </p:grpSpPr>
        <p:sp>
          <p:nvSpPr>
            <p:cNvPr id="25" name="Ellipse 25"/>
            <p:cNvSpPr/>
            <p:nvPr/>
          </p:nvSpPr>
          <p:spPr>
            <a:xfrm>
              <a:off x="62826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645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0" name="!!participant-36"/>
          <p:cNvGrpSpPr/>
          <p:nvPr/>
        </p:nvGrpSpPr>
        <p:grpSpPr>
          <a:xfrm>
            <a:off x="7093268" y="2332672"/>
            <a:ext cx="253365" cy="741998"/>
            <a:chOff x="7093268" y="2332672"/>
            <a:chExt cx="253365" cy="741998"/>
          </a:xfrm>
        </p:grpSpPr>
        <p:sp>
          <p:nvSpPr>
            <p:cNvPr id="28" name="Ellipse 28"/>
            <p:cNvSpPr/>
            <p:nvPr/>
          </p:nvSpPr>
          <p:spPr>
            <a:xfrm>
              <a:off x="71113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932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3" name="!!participant-37"/>
          <p:cNvGrpSpPr/>
          <p:nvPr/>
        </p:nvGrpSpPr>
        <p:grpSpPr>
          <a:xfrm>
            <a:off x="7921942" y="2332672"/>
            <a:ext cx="253365" cy="741998"/>
            <a:chOff x="7921942" y="2332672"/>
            <a:chExt cx="253365" cy="741998"/>
          </a:xfrm>
        </p:grpSpPr>
        <p:sp>
          <p:nvSpPr>
            <p:cNvPr id="31" name="Ellipse 31"/>
            <p:cNvSpPr/>
            <p:nvPr/>
          </p:nvSpPr>
          <p:spPr>
            <a:xfrm>
              <a:off x="79400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219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6" name="!!participant-38"/>
          <p:cNvGrpSpPr/>
          <p:nvPr/>
        </p:nvGrpSpPr>
        <p:grpSpPr>
          <a:xfrm>
            <a:off x="8750618" y="2332672"/>
            <a:ext cx="253365" cy="741998"/>
            <a:chOff x="8750618" y="2332672"/>
            <a:chExt cx="253365" cy="741998"/>
          </a:xfrm>
        </p:grpSpPr>
        <p:sp>
          <p:nvSpPr>
            <p:cNvPr id="34" name="Ellipse 34"/>
            <p:cNvSpPr/>
            <p:nvPr/>
          </p:nvSpPr>
          <p:spPr>
            <a:xfrm>
              <a:off x="87687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506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9" name="!!participant-39"/>
          <p:cNvGrpSpPr/>
          <p:nvPr/>
        </p:nvGrpSpPr>
        <p:grpSpPr>
          <a:xfrm>
            <a:off x="9579292" y="2332672"/>
            <a:ext cx="253365" cy="741998"/>
            <a:chOff x="9579292" y="2332672"/>
            <a:chExt cx="253365" cy="741998"/>
          </a:xfrm>
        </p:grpSpPr>
        <p:sp>
          <p:nvSpPr>
            <p:cNvPr id="37" name="Ellipse 37"/>
            <p:cNvSpPr/>
            <p:nvPr/>
          </p:nvSpPr>
          <p:spPr>
            <a:xfrm>
              <a:off x="95973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792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2" name="!!participant-40"/>
          <p:cNvGrpSpPr/>
          <p:nvPr/>
        </p:nvGrpSpPr>
        <p:grpSpPr>
          <a:xfrm>
            <a:off x="10407968" y="2332672"/>
            <a:ext cx="253365" cy="741998"/>
            <a:chOff x="10407968" y="2332672"/>
            <a:chExt cx="253365" cy="741998"/>
          </a:xfrm>
        </p:grpSpPr>
        <p:sp>
          <p:nvSpPr>
            <p:cNvPr id="40" name="Ellipse 40"/>
            <p:cNvSpPr/>
            <p:nvPr/>
          </p:nvSpPr>
          <p:spPr>
            <a:xfrm>
              <a:off x="104260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079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unknown-label"/>
          <p:cNvGrpSpPr/>
          <p:nvPr/>
        </p:nvGrpSpPr>
        <p:grpSpPr>
          <a:xfrm>
            <a:off x="3870274" y="3511550"/>
            <a:ext cx="4451451" cy="440055"/>
            <a:chOff x="3870274" y="3511550"/>
            <a:chExt cx="4451451" cy="440055"/>
          </a:xfrm>
        </p:grpSpPr>
        <p:sp>
          <p:nvSpPr>
            <p:cNvPr id="43" name="TextBox 43"/>
            <p:cNvSpPr txBox="1"/>
            <p:nvPr/>
          </p:nvSpPr>
          <p:spPr>
            <a:xfrm>
              <a:off x="3870274" y="3511550"/>
              <a:ext cx="4451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unobserved HKD outcomes</a:t>
              </a:r>
            </a:p>
          </p:txBody>
        </p:sp>
      </p:grpSp>
      <p:grpSp>
        <p:nvGrpSpPr>
          <p:cNvPr id="47" name="possibility-0"/>
          <p:cNvGrpSpPr/>
          <p:nvPr/>
        </p:nvGrpSpPr>
        <p:grpSpPr>
          <a:xfrm>
            <a:off x="1677487" y="4337050"/>
            <a:ext cx="1217025" cy="920369"/>
            <a:chOff x="1677487" y="4337050"/>
            <a:chExt cx="1217025" cy="920369"/>
          </a:xfrm>
        </p:grpSpPr>
        <p:sp>
          <p:nvSpPr>
            <p:cNvPr id="45" name="TextBox 45"/>
            <p:cNvSpPr txBox="1"/>
            <p:nvPr/>
          </p:nvSpPr>
          <p:spPr>
            <a:xfrm>
              <a:off x="1678883" y="4337050"/>
              <a:ext cx="12142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7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0" name="possibility-1"/>
          <p:cNvGrpSpPr/>
          <p:nvPr/>
        </p:nvGrpSpPr>
        <p:grpSpPr>
          <a:xfrm>
            <a:off x="5277542" y="4337050"/>
            <a:ext cx="1636917" cy="920369"/>
            <a:chOff x="5277542" y="4337050"/>
            <a:chExt cx="1636917" cy="920369"/>
          </a:xfrm>
        </p:grpSpPr>
        <p:sp>
          <p:nvSpPr>
            <p:cNvPr id="48" name="TextBox 48"/>
            <p:cNvSpPr txBox="1"/>
            <p:nvPr/>
          </p:nvSpPr>
          <p:spPr>
            <a:xfrm>
              <a:off x="5277542" y="4337050"/>
              <a:ext cx="16369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Similar?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3" name="possibility-2"/>
          <p:cNvGrpSpPr/>
          <p:nvPr/>
        </p:nvGrpSpPr>
        <p:grpSpPr>
          <a:xfrm>
            <a:off x="9276398" y="4337050"/>
            <a:ext cx="1259205" cy="920369"/>
            <a:chOff x="9276398" y="4337050"/>
            <a:chExt cx="1259205" cy="920369"/>
          </a:xfrm>
        </p:grpSpPr>
        <p:sp>
          <p:nvSpPr>
            <p:cNvPr id="51" name="TextBox 51"/>
            <p:cNvSpPr txBox="1"/>
            <p:nvPr/>
          </p:nvSpPr>
          <p:spPr>
            <a:xfrm>
              <a:off x="9276398" y="4337050"/>
              <a:ext cx="12592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More?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843489" y="5734050"/>
            <a:ext cx="6505022" cy="352044"/>
            <a:chOff x="2843489" y="5734050"/>
            <a:chExt cx="6505022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843489" y="5734050"/>
              <a:ext cx="65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unknown outcomes may change the estimated benefit.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6284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Qualitative possibilities, not observed results or invented participant-level weight values.</a:t>
            </a:r>
          </a:p>
        </p:txBody>
      </p:sp>
    </p:spTree>
  </p:cSld>
  <p:clrMapOvr>
    <a:masterClrMapping/>
  </p:clrMapOvr>
  <mc:AlternateContent>
    <mc:Choice Requires="p159">
      <p:transition p14:dur="1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665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BIAS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492818" cy="933450"/>
            <a:chOff x="590550" y="841375"/>
            <a:chExt cx="7492818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49281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Who is missing matters.</a:t>
              </a:r>
            </a:p>
          </p:txBody>
        </p:sp>
      </p:grpSp>
      <p:grpSp>
        <p:nvGrpSpPr>
          <p:cNvPr id="8" name="conditional-label"/>
          <p:cNvGrpSpPr/>
          <p:nvPr/>
        </p:nvGrpSpPr>
        <p:grpSpPr>
          <a:xfrm>
            <a:off x="598170" y="1920875"/>
            <a:ext cx="8908867" cy="440055"/>
            <a:chOff x="598170" y="1920875"/>
            <a:chExt cx="8908867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1920875"/>
              <a:ext cx="89088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were disproportionately missing…</a:t>
              </a:r>
            </a:p>
          </p:txBody>
        </p:sp>
      </p:grpSp>
      <p:grpSp>
        <p:nvGrpSpPr>
          <p:cNvPr id="11" name="!!participant-29"/>
          <p:cNvGrpSpPr/>
          <p:nvPr/>
        </p:nvGrpSpPr>
        <p:grpSpPr>
          <a:xfrm>
            <a:off x="882491" y="2815114"/>
            <a:ext cx="73343" cy="214788"/>
            <a:chOff x="882491" y="2815114"/>
            <a:chExt cx="73343" cy="214788"/>
          </a:xfrm>
        </p:grpSpPr>
        <p:sp>
          <p:nvSpPr>
            <p:cNvPr id="9" name="Ellipse 9"/>
            <p:cNvSpPr/>
            <p:nvPr/>
          </p:nvSpPr>
          <p:spPr>
            <a:xfrm>
              <a:off x="887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82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" name="!!participant-30"/>
          <p:cNvGrpSpPr/>
          <p:nvPr/>
        </p:nvGrpSpPr>
        <p:grpSpPr>
          <a:xfrm>
            <a:off x="1111091" y="2815114"/>
            <a:ext cx="73343" cy="214788"/>
            <a:chOff x="1111091" y="2815114"/>
            <a:chExt cx="73343" cy="214788"/>
          </a:xfrm>
        </p:grpSpPr>
        <p:sp>
          <p:nvSpPr>
            <p:cNvPr id="12" name="Ellipse 12"/>
            <p:cNvSpPr/>
            <p:nvPr/>
          </p:nvSpPr>
          <p:spPr>
            <a:xfrm>
              <a:off x="1116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11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7" name="!!participant-31"/>
          <p:cNvGrpSpPr/>
          <p:nvPr/>
        </p:nvGrpSpPr>
        <p:grpSpPr>
          <a:xfrm>
            <a:off x="1339691" y="2815114"/>
            <a:ext cx="73343" cy="214788"/>
            <a:chOff x="1339691" y="2815114"/>
            <a:chExt cx="73343" cy="214788"/>
          </a:xfrm>
        </p:grpSpPr>
        <p:sp>
          <p:nvSpPr>
            <p:cNvPr id="15" name="Ellipse 15"/>
            <p:cNvSpPr/>
            <p:nvPr/>
          </p:nvSpPr>
          <p:spPr>
            <a:xfrm>
              <a:off x="1344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39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0" name="!!participant-32"/>
          <p:cNvGrpSpPr/>
          <p:nvPr/>
        </p:nvGrpSpPr>
        <p:grpSpPr>
          <a:xfrm>
            <a:off x="1568291" y="2815114"/>
            <a:ext cx="73343" cy="214788"/>
            <a:chOff x="1568291" y="2815114"/>
            <a:chExt cx="73343" cy="214788"/>
          </a:xfrm>
        </p:grpSpPr>
        <p:sp>
          <p:nvSpPr>
            <p:cNvPr id="18" name="Ellipse 18"/>
            <p:cNvSpPr/>
            <p:nvPr/>
          </p:nvSpPr>
          <p:spPr>
            <a:xfrm>
              <a:off x="1573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568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" name="!!participant-33"/>
          <p:cNvGrpSpPr/>
          <p:nvPr/>
        </p:nvGrpSpPr>
        <p:grpSpPr>
          <a:xfrm>
            <a:off x="1796891" y="2815114"/>
            <a:ext cx="73343" cy="214788"/>
            <a:chOff x="1796891" y="2815114"/>
            <a:chExt cx="73343" cy="214788"/>
          </a:xfrm>
        </p:grpSpPr>
        <p:sp>
          <p:nvSpPr>
            <p:cNvPr id="21" name="Ellipse 21"/>
            <p:cNvSpPr/>
            <p:nvPr/>
          </p:nvSpPr>
          <p:spPr>
            <a:xfrm>
              <a:off x="1802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96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6" name="!!participant-34"/>
          <p:cNvGrpSpPr/>
          <p:nvPr/>
        </p:nvGrpSpPr>
        <p:grpSpPr>
          <a:xfrm>
            <a:off x="2025491" y="2815114"/>
            <a:ext cx="73343" cy="214788"/>
            <a:chOff x="2025491" y="2815114"/>
            <a:chExt cx="73343" cy="214788"/>
          </a:xfrm>
        </p:grpSpPr>
        <p:sp>
          <p:nvSpPr>
            <p:cNvPr id="24" name="Ellipse 24"/>
            <p:cNvSpPr/>
            <p:nvPr/>
          </p:nvSpPr>
          <p:spPr>
            <a:xfrm>
              <a:off x="2030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25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9" name="!!participant-35"/>
          <p:cNvGrpSpPr/>
          <p:nvPr/>
        </p:nvGrpSpPr>
        <p:grpSpPr>
          <a:xfrm>
            <a:off x="2254091" y="2815114"/>
            <a:ext cx="73343" cy="214788"/>
            <a:chOff x="2254091" y="2815114"/>
            <a:chExt cx="73343" cy="214788"/>
          </a:xfrm>
        </p:grpSpPr>
        <p:sp>
          <p:nvSpPr>
            <p:cNvPr id="27" name="Ellipse 27"/>
            <p:cNvSpPr/>
            <p:nvPr/>
          </p:nvSpPr>
          <p:spPr>
            <a:xfrm>
              <a:off x="2259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4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2" name="!!participant-36"/>
          <p:cNvGrpSpPr/>
          <p:nvPr/>
        </p:nvGrpSpPr>
        <p:grpSpPr>
          <a:xfrm>
            <a:off x="2482691" y="2815114"/>
            <a:ext cx="73343" cy="214788"/>
            <a:chOff x="2482691" y="2815114"/>
            <a:chExt cx="73343" cy="214788"/>
          </a:xfrm>
        </p:grpSpPr>
        <p:sp>
          <p:nvSpPr>
            <p:cNvPr id="30" name="Ellipse 30"/>
            <p:cNvSpPr/>
            <p:nvPr/>
          </p:nvSpPr>
          <p:spPr>
            <a:xfrm>
              <a:off x="2487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2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5" name="!!participant-37"/>
          <p:cNvGrpSpPr/>
          <p:nvPr/>
        </p:nvGrpSpPr>
        <p:grpSpPr>
          <a:xfrm>
            <a:off x="2711291" y="2815114"/>
            <a:ext cx="73343" cy="214788"/>
            <a:chOff x="2711291" y="2815114"/>
            <a:chExt cx="73343" cy="214788"/>
          </a:xfrm>
        </p:grpSpPr>
        <p:sp>
          <p:nvSpPr>
            <p:cNvPr id="33" name="Ellipse 33"/>
            <p:cNvSpPr/>
            <p:nvPr/>
          </p:nvSpPr>
          <p:spPr>
            <a:xfrm>
              <a:off x="2716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1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8" name="!!participant-38"/>
          <p:cNvGrpSpPr/>
          <p:nvPr/>
        </p:nvGrpSpPr>
        <p:grpSpPr>
          <a:xfrm>
            <a:off x="2939891" y="2815114"/>
            <a:ext cx="73343" cy="214788"/>
            <a:chOff x="2939891" y="2815114"/>
            <a:chExt cx="73343" cy="214788"/>
          </a:xfrm>
        </p:grpSpPr>
        <p:sp>
          <p:nvSpPr>
            <p:cNvPr id="36" name="Ellipse 36"/>
            <p:cNvSpPr/>
            <p:nvPr/>
          </p:nvSpPr>
          <p:spPr>
            <a:xfrm>
              <a:off x="2945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39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1" name="!!participant-39"/>
          <p:cNvGrpSpPr/>
          <p:nvPr/>
        </p:nvGrpSpPr>
        <p:grpSpPr>
          <a:xfrm>
            <a:off x="3168491" y="2815114"/>
            <a:ext cx="73343" cy="214788"/>
            <a:chOff x="3168491" y="2815114"/>
            <a:chExt cx="73343" cy="214788"/>
          </a:xfrm>
        </p:grpSpPr>
        <p:sp>
          <p:nvSpPr>
            <p:cNvPr id="39" name="Ellipse 39"/>
            <p:cNvSpPr/>
            <p:nvPr/>
          </p:nvSpPr>
          <p:spPr>
            <a:xfrm>
              <a:off x="3173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68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!!participant-40"/>
          <p:cNvGrpSpPr/>
          <p:nvPr/>
        </p:nvGrpSpPr>
        <p:grpSpPr>
          <a:xfrm>
            <a:off x="3397091" y="2815114"/>
            <a:ext cx="73343" cy="214788"/>
            <a:chOff x="3397091" y="2815114"/>
            <a:chExt cx="73343" cy="214788"/>
          </a:xfrm>
        </p:grpSpPr>
        <p:sp>
          <p:nvSpPr>
            <p:cNvPr id="42" name="Ellipse 42"/>
            <p:cNvSpPr/>
            <p:nvPr/>
          </p:nvSpPr>
          <p:spPr>
            <a:xfrm>
              <a:off x="3402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97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7" name="missing-condition"/>
          <p:cNvGrpSpPr/>
          <p:nvPr/>
        </p:nvGrpSpPr>
        <p:grpSpPr>
          <a:xfrm>
            <a:off x="598170" y="3498850"/>
            <a:ext cx="2397833" cy="1425194"/>
            <a:chOff x="598170" y="3498850"/>
            <a:chExt cx="2397833" cy="1425194"/>
          </a:xfrm>
        </p:grpSpPr>
        <p:sp>
          <p:nvSpPr>
            <p:cNvPr id="45" name="TextBox 45"/>
            <p:cNvSpPr txBox="1"/>
            <p:nvPr/>
          </p:nvSpPr>
          <p:spPr>
            <a:xfrm>
              <a:off x="598170" y="3498850"/>
              <a:ext cx="2372925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 successful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outcomes absent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0456" y="4572000"/>
              <a:ext cx="2395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Hypothetical condition</a:t>
              </a:r>
            </a:p>
          </p:txBody>
        </p:sp>
      </p:grpSp>
      <p:grpSp>
        <p:nvGrpSpPr>
          <p:cNvPr id="50" name="selected-view"/>
          <p:cNvGrpSpPr/>
          <p:nvPr/>
        </p:nvGrpSpPr>
        <p:grpSpPr>
          <a:xfrm>
            <a:off x="4105275" y="3222625"/>
            <a:ext cx="3120695" cy="1202055"/>
            <a:chOff x="4105275" y="3222625"/>
            <a:chExt cx="3120695" cy="1202055"/>
          </a:xfrm>
        </p:grpSpPr>
        <p:sp>
          <p:nvSpPr>
            <p:cNvPr id="48" name="Line 48"/>
            <p:cNvSpPr/>
            <p:nvPr/>
          </p:nvSpPr>
          <p:spPr>
            <a:xfrm>
              <a:off x="4105275" y="3762375"/>
              <a:ext cx="52387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84420" y="3222625"/>
              <a:ext cx="2341550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looks 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successful</a:t>
              </a:r>
            </a:p>
          </p:txBody>
        </p:sp>
      </p:grpSp>
      <p:grpSp>
        <p:nvGrpSpPr>
          <p:cNvPr id="53" name="biased-estimate"/>
          <p:cNvGrpSpPr/>
          <p:nvPr/>
        </p:nvGrpSpPr>
        <p:grpSpPr>
          <a:xfrm>
            <a:off x="7762875" y="3222625"/>
            <a:ext cx="2802998" cy="821055"/>
            <a:chOff x="7762875" y="3222625"/>
            <a:chExt cx="2802998" cy="821055"/>
          </a:xfrm>
        </p:grpSpPr>
        <p:sp>
          <p:nvSpPr>
            <p:cNvPr id="51" name="Line 51"/>
            <p:cNvSpPr/>
            <p:nvPr/>
          </p:nvSpPr>
          <p:spPr>
            <a:xfrm>
              <a:off x="7762875" y="3762375"/>
              <a:ext cx="5905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84895" y="3222625"/>
              <a:ext cx="1880978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may</a:t>
              </a:r>
              <a:b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 overstated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459872" y="5715000"/>
            <a:ext cx="7272257" cy="352044"/>
            <a:chOff x="2459872" y="5715000"/>
            <a:chExt cx="7272257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459872" y="5715000"/>
              <a:ext cx="7272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Potential attrition bias — this is a conditional example, not a finding.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8529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Illustration for a comparison based on measured participants; actual missing outcomes and bias direction are unknown.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80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17</a:t>
              </a:r>
            </a:p>
          </p:txBody>
        </p:sp>
      </p:grpSp>
      <p:grpSp>
        <p:nvGrpSpPr>
          <p:cNvPr id="6" name="estimate-question"/>
          <p:cNvGrpSpPr/>
          <p:nvPr/>
        </p:nvGrpSpPr>
        <p:grpSpPr>
          <a:xfrm>
            <a:off x="5386252" y="1597025"/>
            <a:ext cx="1419495" cy="3219450"/>
            <a:chOff x="5386252" y="1597025"/>
            <a:chExt cx="1419495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386252" y="1597025"/>
              <a:ext cx="1419495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8" name="smaller-benefit"/>
          <p:cNvGrpSpPr/>
          <p:nvPr/>
        </p:nvGrpSpPr>
        <p:grpSpPr>
          <a:xfrm>
            <a:off x="1282332" y="2517775"/>
            <a:ext cx="1512037" cy="1062990"/>
            <a:chOff x="1282332" y="2517775"/>
            <a:chExt cx="1512037" cy="1062990"/>
          </a:xfrm>
        </p:grpSpPr>
        <p:sp>
          <p:nvSpPr>
            <p:cNvPr id="7" name="TextBox 7"/>
            <p:cNvSpPr txBox="1"/>
            <p:nvPr/>
          </p:nvSpPr>
          <p:spPr>
            <a:xfrm>
              <a:off x="1282332" y="2517775"/>
              <a:ext cx="1512037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75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Smaller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benefit?</a:t>
              </a:r>
            </a:p>
          </p:txBody>
        </p:sp>
      </p:grpSp>
      <p:grpSp>
        <p:nvGrpSpPr>
          <p:cNvPr id="10" name="larger-benefit"/>
          <p:cNvGrpSpPr/>
          <p:nvPr/>
        </p:nvGrpSpPr>
        <p:grpSpPr>
          <a:xfrm>
            <a:off x="9397632" y="2517775"/>
            <a:ext cx="1512037" cy="1062990"/>
            <a:chOff x="9397632" y="2517775"/>
            <a:chExt cx="1512037" cy="1062990"/>
          </a:xfrm>
        </p:grpSpPr>
        <p:sp>
          <p:nvSpPr>
            <p:cNvPr id="9" name="TextBox 9"/>
            <p:cNvSpPr txBox="1"/>
            <p:nvPr/>
          </p:nvSpPr>
          <p:spPr>
            <a:xfrm>
              <a:off x="9397632" y="2517775"/>
              <a:ext cx="1512037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75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Larger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benefit?</a:t>
              </a:r>
            </a:p>
          </p:txBody>
        </p:sp>
      </p:grpSp>
      <p:grpSp>
        <p:nvGrpSpPr>
          <p:cNvPr id="12" name="uncertainty-heading"/>
          <p:cNvGrpSpPr/>
          <p:nvPr/>
        </p:nvGrpSpPr>
        <p:grpSpPr>
          <a:xfrm>
            <a:off x="3081028" y="4613275"/>
            <a:ext cx="6029944" cy="704088"/>
            <a:chOff x="3081028" y="4613275"/>
            <a:chExt cx="6029944" cy="704088"/>
          </a:xfrm>
        </p:grpSpPr>
        <p:sp>
          <p:nvSpPr>
            <p:cNvPr id="11" name="TextBox 11"/>
            <p:cNvSpPr txBox="1"/>
            <p:nvPr/>
          </p:nvSpPr>
          <p:spPr>
            <a:xfrm>
              <a:off x="3081028" y="4613275"/>
              <a:ext cx="60299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direction is unknown.</a:t>
              </a:r>
            </a:p>
          </p:txBody>
        </p:sp>
      </p:grpSp>
      <p:grpSp>
        <p:nvGrpSpPr>
          <p:cNvPr id="14" name="scene-conclusion"/>
          <p:cNvGrpSpPr/>
          <p:nvPr/>
        </p:nvGrpSpPr>
        <p:grpSpPr>
          <a:xfrm>
            <a:off x="3254565" y="5724525"/>
            <a:ext cx="5682869" cy="352044"/>
            <a:chOff x="3254565" y="5724525"/>
            <a:chExt cx="5682869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3254565" y="5724525"/>
              <a:ext cx="56828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Missing-outcome handling was not clearly explained.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3504" y="6467475"/>
            <a:ext cx="72893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2.9; Figure 1 · No numerical bias estimate or uncertainty interval is inferred.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91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WHO WAS STUDIED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813967" cy="933450"/>
            <a:chOff x="590550" y="841375"/>
            <a:chExt cx="98139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8139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setting. A selected sample.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1097775" y="2314575"/>
            <a:ext cx="2166899" cy="2990469"/>
            <a:chOff x="1097775" y="2314575"/>
            <a:chExt cx="2166899" cy="2990469"/>
          </a:xfrm>
        </p:grpSpPr>
        <p:sp>
          <p:nvSpPr>
            <p:cNvPr id="7" name="Rectangle 7"/>
            <p:cNvSpPr/>
            <p:nvPr/>
          </p:nvSpPr>
          <p:spPr>
            <a:xfrm>
              <a:off x="1562100" y="2314575"/>
              <a:ext cx="1181100" cy="14287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57400" y="2457450"/>
              <a:ext cx="190500" cy="52387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895475" y="2619375"/>
              <a:ext cx="514350" cy="1905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5260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66925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66925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7775" y="4041775"/>
              <a:ext cx="2166899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6199" y="4953000"/>
              <a:ext cx="1130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Singapore</a:t>
              </a:r>
            </a:p>
          </p:txBody>
        </p:sp>
      </p:grpSp>
      <p:grpSp>
        <p:nvGrpSpPr>
          <p:cNvPr id="22" name="sample-sex"/>
          <p:cNvGrpSpPr/>
          <p:nvPr/>
        </p:nvGrpSpPr>
        <p:grpSpPr>
          <a:xfrm>
            <a:off x="4697839" y="2571750"/>
            <a:ext cx="2624872" cy="2428494"/>
            <a:chOff x="4697839" y="2571750"/>
            <a:chExt cx="2624872" cy="2428494"/>
          </a:xfrm>
        </p:grpSpPr>
        <p:sp>
          <p:nvSpPr>
            <p:cNvPr id="19" name="TextBox 19"/>
            <p:cNvSpPr txBox="1"/>
            <p:nvPr/>
          </p:nvSpPr>
          <p:spPr>
            <a:xfrm>
              <a:off x="4697839" y="2571750"/>
              <a:ext cx="2624872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427" y="3975100"/>
              <a:ext cx="14216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women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9958" y="4648200"/>
              <a:ext cx="22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69 of 80 participants</a:t>
              </a:r>
            </a:p>
          </p:txBody>
        </p:sp>
      </p:grpSp>
      <p:grpSp>
        <p:nvGrpSpPr>
          <p:cNvPr id="30" name="sample-access"/>
          <p:cNvGrpSpPr/>
          <p:nvPr/>
        </p:nvGrpSpPr>
        <p:grpSpPr>
          <a:xfrm>
            <a:off x="8554069" y="2333625"/>
            <a:ext cx="2722912" cy="2971419"/>
            <a:chOff x="8554069" y="2333625"/>
            <a:chExt cx="2722912" cy="2971419"/>
          </a:xfrm>
        </p:grpSpPr>
        <p:sp>
          <p:nvSpPr>
            <p:cNvPr id="23" name="Rectangle 23"/>
            <p:cNvSpPr/>
            <p:nvPr/>
          </p:nvSpPr>
          <p:spPr>
            <a:xfrm>
              <a:off x="9486900" y="2333625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684068" y="2419350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701212" y="3156585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75495" y="2642235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24060" y="2847975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4069" y="4041775"/>
              <a:ext cx="2722912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English literacy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Smartphone access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4003" y="4953000"/>
              <a:ext cx="246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Required to participate</a:t>
              </a:r>
            </a:p>
          </p:txBody>
        </p:sp>
      </p:grpSp>
      <p:grpSp>
        <p:nvGrpSpPr>
          <p:cNvPr id="32" name="scene-conclusion"/>
          <p:cNvGrpSpPr/>
          <p:nvPr/>
        </p:nvGrpSpPr>
        <p:grpSpPr>
          <a:xfrm>
            <a:off x="2918373" y="5724525"/>
            <a:ext cx="6355253" cy="352044"/>
            <a:chOff x="2918373" y="5724525"/>
            <a:chExt cx="6355253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2918373" y="5724525"/>
              <a:ext cx="6355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Random assignment ≠ a representative population sample.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5749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and Table 1 · Some diseases were also excluded.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995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UNDER WHAT CONDITIONS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8603125" cy="933450"/>
            <a:chOff x="590550" y="841375"/>
            <a:chExt cx="860312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86031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shaped the setting.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609600" y="2057400"/>
            <a:ext cx="7059859" cy="818769"/>
            <a:chOff x="609600" y="2057400"/>
            <a:chExt cx="7059859" cy="818769"/>
          </a:xfrm>
        </p:grpSpPr>
        <p:sp>
          <p:nvSpPr>
            <p:cNvPr id="7" name="Rectangle 7"/>
            <p:cNvSpPr/>
            <p:nvPr/>
          </p:nvSpPr>
          <p:spPr>
            <a:xfrm>
              <a:off x="609600" y="2057400"/>
              <a:ext cx="519684" cy="6286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7532" y="2120265"/>
              <a:ext cx="83820" cy="23050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6285" y="2191512"/>
              <a:ext cx="226314" cy="8382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3420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93420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1723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1723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70026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70026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6845" y="2092325"/>
              <a:ext cx="62426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support structure in both groups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9131" y="2524125"/>
              <a:ext cx="588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intervention was delivered under these conditions.</a:t>
              </a:r>
            </a:p>
          </p:txBody>
        </p:sp>
      </p:grpSp>
      <p:grpSp>
        <p:nvGrpSpPr>
          <p:cNvPr id="21" name="!!workshops"/>
          <p:cNvGrpSpPr/>
          <p:nvPr/>
        </p:nvGrpSpPr>
        <p:grpSpPr>
          <a:xfrm>
            <a:off x="1417959" y="3429000"/>
            <a:ext cx="1621782" cy="1979930"/>
            <a:chOff x="1417959" y="3429000"/>
            <a:chExt cx="1621782" cy="1979930"/>
          </a:xfrm>
        </p:grpSpPr>
        <p:sp>
          <p:nvSpPr>
            <p:cNvPr id="19" name="TextBox 19"/>
            <p:cNvSpPr txBox="1"/>
            <p:nvPr/>
          </p:nvSpPr>
          <p:spPr>
            <a:xfrm>
              <a:off x="18503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7959" y="4968875"/>
              <a:ext cx="1621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</p:grpSp>
      <p:grpSp>
        <p:nvGrpSpPr>
          <p:cNvPr id="28" name="!!app-coaching"/>
          <p:cNvGrpSpPr/>
          <p:nvPr/>
        </p:nvGrpSpPr>
        <p:grpSpPr>
          <a:xfrm>
            <a:off x="5096332" y="3448050"/>
            <a:ext cx="1999336" cy="2027555"/>
            <a:chOff x="5096332" y="3448050"/>
            <a:chExt cx="1999336" cy="2027555"/>
          </a:xfrm>
        </p:grpSpPr>
        <p:sp>
          <p:nvSpPr>
            <p:cNvPr id="22" name="Rectangle 22"/>
            <p:cNvSpPr/>
            <p:nvPr/>
          </p:nvSpPr>
          <p:spPr>
            <a:xfrm>
              <a:off x="5791200" y="3448050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88368" y="3533775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05512" y="4271010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979795" y="3756660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28360" y="3962400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96332" y="4664075"/>
              <a:ext cx="199933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coaching</a:t>
              </a:r>
            </a:p>
          </p:txBody>
        </p:sp>
      </p:grpSp>
      <p:grpSp>
        <p:nvGrpSpPr>
          <p:cNvPr id="31" name="support-duration"/>
          <p:cNvGrpSpPr/>
          <p:nvPr/>
        </p:nvGrpSpPr>
        <p:grpSpPr>
          <a:xfrm>
            <a:off x="8614166" y="3429000"/>
            <a:ext cx="2697968" cy="1979930"/>
            <a:chOff x="8614166" y="3429000"/>
            <a:chExt cx="2697968" cy="1979930"/>
          </a:xfrm>
        </p:grpSpPr>
        <p:sp>
          <p:nvSpPr>
            <p:cNvPr id="29" name="TextBox 29"/>
            <p:cNvSpPr txBox="1"/>
            <p:nvPr/>
          </p:nvSpPr>
          <p:spPr>
            <a:xfrm>
              <a:off x="95846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4166" y="4968875"/>
              <a:ext cx="26979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of support</a:t>
              </a:r>
            </a:p>
          </p:txBody>
        </p:sp>
      </p:grpSp>
      <p:grpSp>
        <p:nvGrpSpPr>
          <p:cNvPr id="33" name="scene-conclusion"/>
          <p:cNvGrpSpPr/>
          <p:nvPr/>
        </p:nvGrpSpPr>
        <p:grpSpPr>
          <a:xfrm>
            <a:off x="2621712" y="5724525"/>
            <a:ext cx="6948575" cy="352044"/>
            <a:chOff x="2621712" y="5724525"/>
            <a:chExt cx="6948575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2621712" y="5724525"/>
              <a:ext cx="6948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result belongs to this programme and its delivery conditions.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3504" y="6467475"/>
            <a:ext cx="7293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 · Shared support strengthens the comparison and describes the setting.</a:t>
            </a:r>
          </a:p>
        </p:txBody>
      </p: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"/>
                            </p:stCondLst>
                            <p:childTnLst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17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781369" cy="933450"/>
            <a:chOff x="590550" y="841375"/>
            <a:chExt cx="778136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7813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benefit elsewhere?</a:t>
              </a:r>
            </a:p>
          </p:txBody>
        </p:sp>
      </p:grpSp>
      <p:grpSp>
        <p:nvGrpSpPr>
          <p:cNvPr id="17" name="!!study-hospital"/>
          <p:cNvGrpSpPr/>
          <p:nvPr/>
        </p:nvGrpSpPr>
        <p:grpSpPr>
          <a:xfrm>
            <a:off x="609600" y="2352675"/>
            <a:ext cx="2768834" cy="857250"/>
            <a:chOff x="609600" y="2352675"/>
            <a:chExt cx="2768834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2352675"/>
              <a:ext cx="708660" cy="8572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06780" y="2438400"/>
              <a:ext cx="114300" cy="31432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2535555"/>
              <a:ext cx="308610" cy="1143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390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2495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0109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109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9631" y="2403475"/>
              <a:ext cx="1758803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people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</a:p>
          </p:txBody>
        </p:sp>
      </p:grpSp>
      <p:grpSp>
        <p:nvGrpSpPr>
          <p:cNvPr id="19" name="!!workshops"/>
          <p:cNvGrpSpPr/>
          <p:nvPr/>
        </p:nvGrpSpPr>
        <p:grpSpPr>
          <a:xfrm>
            <a:off x="598170" y="3702050"/>
            <a:ext cx="1874397" cy="440055"/>
            <a:chOff x="598170" y="3702050"/>
            <a:chExt cx="1874397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3702050"/>
              <a:ext cx="1874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workshops</a:t>
              </a:r>
            </a:p>
          </p:txBody>
        </p:sp>
      </p:grpSp>
      <p:grpSp>
        <p:nvGrpSpPr>
          <p:cNvPr id="21" name="!!app-coaching"/>
          <p:cNvGrpSpPr/>
          <p:nvPr/>
        </p:nvGrpSpPr>
        <p:grpSpPr>
          <a:xfrm>
            <a:off x="600456" y="4486275"/>
            <a:ext cx="2443660" cy="352044"/>
            <a:chOff x="600456" y="4486275"/>
            <a:chExt cx="2443660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4486275"/>
              <a:ext cx="2443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 + dietitian support</a:t>
              </a:r>
            </a:p>
          </p:txBody>
        </p:sp>
      </p:grpSp>
      <p:grpSp>
        <p:nvGrpSpPr>
          <p:cNvPr id="25" name="transfer-bridge"/>
          <p:cNvGrpSpPr/>
          <p:nvPr/>
        </p:nvGrpSpPr>
        <p:grpSpPr>
          <a:xfrm>
            <a:off x="4352925" y="3267075"/>
            <a:ext cx="2257425" cy="936625"/>
            <a:chOff x="4352925" y="3267075"/>
            <a:chExt cx="2257425" cy="936625"/>
          </a:xfrm>
        </p:grpSpPr>
        <p:sp>
          <p:nvSpPr>
            <p:cNvPr id="22" name="Line 22"/>
            <p:cNvSpPr/>
            <p:nvPr/>
          </p:nvSpPr>
          <p:spPr>
            <a:xfrm>
              <a:off x="4352925" y="3638550"/>
              <a:ext cx="22574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3" name="Ellipse 23"/>
            <p:cNvSpPr/>
            <p:nvPr/>
          </p:nvSpPr>
          <p:spPr>
            <a:xfrm>
              <a:off x="5067300" y="3267075"/>
              <a:ext cx="742950" cy="7429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22383" y="3270250"/>
              <a:ext cx="4327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32" name="!!wider-world"/>
          <p:cNvGrpSpPr/>
          <p:nvPr/>
        </p:nvGrpSpPr>
        <p:grpSpPr>
          <a:xfrm>
            <a:off x="8037980" y="2238375"/>
            <a:ext cx="2669241" cy="3018155"/>
            <a:chOff x="8037980" y="2238375"/>
            <a:chExt cx="2669241" cy="3018155"/>
          </a:xfrm>
        </p:grpSpPr>
        <p:sp>
          <p:nvSpPr>
            <p:cNvPr id="26" name="Ellipse 26"/>
            <p:cNvSpPr/>
            <p:nvPr/>
          </p:nvSpPr>
          <p:spPr>
            <a:xfrm>
              <a:off x="8534400" y="2238375"/>
              <a:ext cx="1676400" cy="1676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95410" y="2238375"/>
              <a:ext cx="754380" cy="1676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34400" y="2762250"/>
              <a:ext cx="1676400" cy="6286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34400" y="3076575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7980" y="4213225"/>
              <a:ext cx="266924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Other adults?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4881" y="4816475"/>
              <a:ext cx="1935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support?</a:t>
              </a:r>
            </a:p>
          </p:txBody>
        </p:sp>
      </p:grpSp>
      <p:grpSp>
        <p:nvGrpSpPr>
          <p:cNvPr id="34" name="scene-conclusion"/>
          <p:cNvGrpSpPr/>
          <p:nvPr/>
        </p:nvGrpSpPr>
        <p:grpSpPr>
          <a:xfrm>
            <a:off x="3075653" y="5724525"/>
            <a:ext cx="6040694" cy="352044"/>
            <a:chOff x="3075653" y="5724525"/>
            <a:chExt cx="6040694" cy="352044"/>
          </a:xfrm>
        </p:grpSpPr>
        <p:sp>
          <p:nvSpPr>
            <p:cNvPr id="33" name="TextBox 33"/>
            <p:cNvSpPr txBox="1"/>
            <p:nvPr/>
          </p:nvSpPr>
          <p:spPr>
            <a:xfrm>
              <a:off x="3075653" y="5724525"/>
              <a:ext cx="6040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Applicability is untested. That does not mean no benefit.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03504" y="6467475"/>
            <a:ext cx="6896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The dashed bridge asks about transfer across people and settings; it is not a biological pathway.</a:t>
            </a:r>
          </a:p>
        </p:txBody>
      </p:sp>
    </p:spTree>
  </p:cSld>
  <p:clrMapOvr>
    <a:masterClrMapping/>
  </p:clrMapOvr>
  <mc:AlternateContent>
    <mc:Choice Requires="p159">
      <p:transition p14:dur="13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31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STUDY DESIGN · THE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35747" cy="933450"/>
            <a:chOff x="590550" y="841375"/>
            <a:chExt cx="923574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3574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limits. Three questions.</a:t>
              </a:r>
            </a:p>
          </p:txBody>
        </p:sp>
      </p:grpSp>
      <p:grpSp>
        <p:nvGrpSpPr>
          <p:cNvPr id="10" name="mechanism-question"/>
          <p:cNvGrpSpPr/>
          <p:nvPr/>
        </p:nvGrpSpPr>
        <p:grpSpPr>
          <a:xfrm>
            <a:off x="1595782" y="2390775"/>
            <a:ext cx="1380437" cy="2618994"/>
            <a:chOff x="1595782" y="2390775"/>
            <a:chExt cx="1380437" cy="2618994"/>
          </a:xfrm>
        </p:grpSpPr>
        <p:sp>
          <p:nvSpPr>
            <p:cNvPr id="7" name="TextBox 7"/>
            <p:cNvSpPr txBox="1"/>
            <p:nvPr/>
          </p:nvSpPr>
          <p:spPr>
            <a:xfrm>
              <a:off x="1872266" y="2390775"/>
              <a:ext cx="827469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82" y="3889375"/>
              <a:ext cx="138043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3479" y="4657725"/>
              <a:ext cx="1265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</p:grpSp>
      <p:grpSp>
        <p:nvGrpSpPr>
          <p:cNvPr id="15" name="estimate-question"/>
          <p:cNvGrpSpPr/>
          <p:nvPr/>
        </p:nvGrpSpPr>
        <p:grpSpPr>
          <a:xfrm>
            <a:off x="4761177" y="2473642"/>
            <a:ext cx="2669646" cy="2536127"/>
            <a:chOff x="4761177" y="2473642"/>
            <a:chExt cx="2669646" cy="2536127"/>
          </a:xfrm>
        </p:grpSpPr>
        <p:sp>
          <p:nvSpPr>
            <p:cNvPr id="11" name="Ellipse 11"/>
            <p:cNvSpPr/>
            <p:nvPr/>
          </p:nvSpPr>
          <p:spPr>
            <a:xfrm>
              <a:off x="5941695" y="2473642"/>
              <a:ext cx="308610" cy="30861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15978" y="2910840"/>
              <a:ext cx="360045" cy="61722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61177" y="3965575"/>
              <a:ext cx="26696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reliable?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3545" y="4657725"/>
              <a:ext cx="19649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outcomes</a:t>
              </a:r>
            </a:p>
          </p:txBody>
        </p:sp>
      </p:grpSp>
      <p:grpSp>
        <p:nvGrpSpPr>
          <p:cNvPr id="22" name="!!wider-world"/>
          <p:cNvGrpSpPr/>
          <p:nvPr/>
        </p:nvGrpSpPr>
        <p:grpSpPr>
          <a:xfrm>
            <a:off x="8793963" y="2447925"/>
            <a:ext cx="2224073" cy="2561844"/>
            <a:chOff x="8793963" y="2447925"/>
            <a:chExt cx="2224073" cy="2561844"/>
          </a:xfrm>
        </p:grpSpPr>
        <p:sp>
          <p:nvSpPr>
            <p:cNvPr id="16" name="Ellipse 16"/>
            <p:cNvSpPr/>
            <p:nvPr/>
          </p:nvSpPr>
          <p:spPr>
            <a:xfrm>
              <a:off x="9334500" y="2447925"/>
              <a:ext cx="1143000" cy="11430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48825" y="2447925"/>
              <a:ext cx="514350" cy="11430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334500" y="2805112"/>
              <a:ext cx="1143000" cy="428625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334500" y="30194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963" y="3965575"/>
              <a:ext cx="2224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whom?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5593" y="4657725"/>
              <a:ext cx="168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Generalisability</a:t>
              </a:r>
            </a:p>
          </p:txBody>
        </p:sp>
      </p:grpSp>
      <p:grpSp>
        <p:nvGrpSpPr>
          <p:cNvPr id="24" name="scene-conclusion"/>
          <p:cNvGrpSpPr/>
          <p:nvPr/>
        </p:nvGrpSpPr>
        <p:grpSpPr>
          <a:xfrm>
            <a:off x="2577304" y="5724525"/>
            <a:ext cx="7037393" cy="352044"/>
            <a:chOff x="2577304" y="5724525"/>
            <a:chExt cx="7037393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2577304" y="5724525"/>
              <a:ext cx="703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useful programme comparison. Carefully bounded conclusions.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3504" y="6467475"/>
            <a:ext cx="4764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SL et al. (2024), Nutrients 16:4380 · doi:10.3390/nu16244380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keynote_white">
  <a:themeElements>
    <a:clrScheme name="weight_loss_keynote_white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keynote_white">
  <a:themeElements>
    <a:clrScheme name="weight_loss_keynote_white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2026-10-27T10:08:01Z</dcterms:created>
  <dcterms:modified xsi:type="dcterms:W3CDTF">2026-10-27T10:08:01Z</dcterms:modified>
  <cp:category/>
  <cp:contentStatus/>
</cp:coreProperties>
</file>