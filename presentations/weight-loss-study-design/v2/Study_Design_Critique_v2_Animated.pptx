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Randomisation and objective weighing support the programme comparison. Three issues qualify its interpretation.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At six months, reported calorie intake fell more with HKD: seven hundred and four versus four hundred and twenty-three daily. Both groups had calorie-restriction advice.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Diet composition might affect weight through ketosis or other physiological effects. It might also reduce appetite and calorie intake, which then reduces weight. These pathways can overlap.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Lower intake may therefore be a mediator: a step through which HKD works. This can contribute to the programme effect, rather than invalidate randomisation.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But these pathways were not separately randomized. This limits mechanistic attribution, not automatically the programme comparison; an independent composition effect is not identified.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Next, the prescription limited net carbohydrate to fifty grams daily. Self-reported food diaries assessed intake, not metabolic state.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Without reported blood or urine ketone measurements, we cannot tell who entered ketosis, or whether it persisted.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Weight loss cannot verify ketosis either: lower calorie intake can also cause it. The result concerns assigned advice, not an isolated effect of verified ketosis.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eighty participants entered the trial.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Only fifty-nine completed six-month measurements. Twenty-one outcomes were missing: twelve in HKD and nine in ERD.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Consider those twelve missing HKD outcomes. Their weight changes are unknown. If they lost less than measured participants, the available responses would not represent everyone assigned.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Completer-only HKD loss could then look larger. Other dropout patterns could shrink the gap. This is potential attrition bias: randomisation does not necessarily protect a selectively observed subset.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ITT was claimed, but missing-outcome handling is unclear. Group labels cannot restore missing weights. Continued weighing after diet cessation preserves outcome information; remaining missingness requires assumptions.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Programme-level evidence is useful, while mechanism and missing-outcome effects remain unresolved.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design_critiqu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design_critiqu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35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017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STUDY DESIGN · THREE LIMITS TO INTERPRETATION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888852" cy="847725"/>
            <a:chOff x="495300" y="609600"/>
            <a:chExt cx="688885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88885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does this trial test?</a:t>
              </a:r>
            </a:p>
          </p:txBody>
        </p:sp>
      </p:grpSp>
      <p:grpSp>
        <p:nvGrpSpPr>
          <p:cNvPr id="11" name="programme-comparison"/>
          <p:cNvGrpSpPr/>
          <p:nvPr/>
        </p:nvGrpSpPr>
        <p:grpSpPr>
          <a:xfrm>
            <a:off x="666750" y="2247900"/>
            <a:ext cx="6286500" cy="2705100"/>
            <a:chOff x="666750" y="2247900"/>
            <a:chExt cx="6286500" cy="2705100"/>
          </a:xfrm>
        </p:grpSpPr>
        <p:sp>
          <p:nvSpPr>
            <p:cNvPr id="7" name="Rectangle 7"/>
            <p:cNvSpPr/>
            <p:nvPr/>
          </p:nvSpPr>
          <p:spPr>
            <a:xfrm>
              <a:off x="666750" y="2247900"/>
              <a:ext cx="6286500" cy="1181100"/>
            </a:xfrm>
            <a:prstGeom prst="roundRect">
              <a:avLst>
                <a:gd name="adj" fmla="val 1774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8784" y="2641600"/>
              <a:ext cx="28200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HKD programme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3771900"/>
              <a:ext cx="6286500" cy="1181100"/>
            </a:xfrm>
            <a:prstGeom prst="roundRect">
              <a:avLst>
                <a:gd name="adj" fmla="val 177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8784" y="4165600"/>
              <a:ext cx="27753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ERD programme</a:t>
              </a:r>
            </a:p>
          </p:txBody>
        </p:sp>
      </p:grpSp>
      <p:grpSp>
        <p:nvGrpSpPr>
          <p:cNvPr id="17" name="measured-outcome"/>
          <p:cNvGrpSpPr/>
          <p:nvPr/>
        </p:nvGrpSpPr>
        <p:grpSpPr>
          <a:xfrm>
            <a:off x="7987284" y="2333625"/>
            <a:ext cx="2377531" cy="2280666"/>
            <a:chOff x="7987284" y="2333625"/>
            <a:chExt cx="2377531" cy="2280666"/>
          </a:xfrm>
        </p:grpSpPr>
        <p:sp>
          <p:nvSpPr>
            <p:cNvPr id="12" name="Rectangle 12"/>
            <p:cNvSpPr/>
            <p:nvPr/>
          </p:nvSpPr>
          <p:spPr>
            <a:xfrm>
              <a:off x="8001000" y="2333625"/>
              <a:ext cx="1143000" cy="952500"/>
            </a:xfrm>
            <a:prstGeom prst="roundRect">
              <a:avLst>
                <a:gd name="adj" fmla="val 22000"/>
              </a:avLst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15325" y="2505075"/>
              <a:ext cx="514350" cy="285750"/>
            </a:xfrm>
            <a:prstGeom prst="roundRect">
              <a:avLst>
                <a:gd name="adj" fmla="val 20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1965" y="2505075"/>
              <a:ext cx="301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kg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229600" y="300037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87284" y="3629025"/>
              <a:ext cx="2377531" cy="9852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Weight change</a:t>
              </a:r>
              <a:b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at 6 months</a:t>
              </a:r>
            </a:p>
          </p:txBody>
        </p:sp>
      </p:grpSp>
      <p:grpSp>
        <p:nvGrpSpPr>
          <p:cNvPr id="19" name="fair-comparison"/>
          <p:cNvGrpSpPr/>
          <p:nvPr/>
        </p:nvGrpSpPr>
        <p:grpSpPr>
          <a:xfrm>
            <a:off x="2259399" y="5645150"/>
            <a:ext cx="7673201" cy="440055"/>
            <a:chOff x="2259399" y="5645150"/>
            <a:chExt cx="7673201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2259399" y="5645150"/>
              <a:ext cx="76732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Randomisation · shared support · objective weighing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08254" y="6467475"/>
            <a:ext cx="58582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(2024), Nutrients 16:4380 · Methods 2.4–2.7 · doi:10.3390/nu16244380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6564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ENERGY · REPORTED MEAN CHANGE FROM BASELINE AT 6 MONTHS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394478" cy="847725"/>
            <a:chOff x="495300" y="609600"/>
            <a:chExt cx="6394478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39447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A calorie gap emerged.</a:t>
              </a:r>
            </a:p>
          </p:txBody>
        </p:sp>
      </p:grpSp>
      <p:grpSp>
        <p:nvGrpSpPr>
          <p:cNvPr id="10" name="hkd-energy-change"/>
          <p:cNvGrpSpPr/>
          <p:nvPr/>
        </p:nvGrpSpPr>
        <p:grpSpPr>
          <a:xfrm>
            <a:off x="666750" y="2098675"/>
            <a:ext cx="2309667" cy="2186305"/>
            <a:chOff x="666750" y="2098675"/>
            <a:chExt cx="2309667" cy="2186305"/>
          </a:xfrm>
        </p:grpSpPr>
        <p:sp>
          <p:nvSpPr>
            <p:cNvPr id="7" name="TextBox 7"/>
            <p:cNvSpPr txBox="1"/>
            <p:nvPr/>
          </p:nvSpPr>
          <p:spPr>
            <a:xfrm>
              <a:off x="691134" y="2098675"/>
              <a:ext cx="859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2759075"/>
              <a:ext cx="230966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−704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1520" y="384492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4" name="erd-energy-change"/>
          <p:cNvGrpSpPr/>
          <p:nvPr/>
        </p:nvGrpSpPr>
        <p:grpSpPr>
          <a:xfrm>
            <a:off x="6629400" y="2098675"/>
            <a:ext cx="2309667" cy="2186305"/>
            <a:chOff x="6629400" y="2098675"/>
            <a:chExt cx="2309667" cy="2186305"/>
          </a:xfrm>
        </p:grpSpPr>
        <p:sp>
          <p:nvSpPr>
            <p:cNvPr id="11" name="TextBox 11"/>
            <p:cNvSpPr txBox="1"/>
            <p:nvPr/>
          </p:nvSpPr>
          <p:spPr>
            <a:xfrm>
              <a:off x="6653784" y="2098675"/>
              <a:ext cx="8383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29400" y="2759075"/>
              <a:ext cx="230966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−423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4170" y="384492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8" name="energy-fact"/>
          <p:cNvGrpSpPr/>
          <p:nvPr/>
        </p:nvGrpSpPr>
        <p:grpSpPr>
          <a:xfrm>
            <a:off x="514350" y="4972050"/>
            <a:ext cx="11163300" cy="1143000"/>
            <a:chOff x="514350" y="4972050"/>
            <a:chExt cx="111633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514350" y="4972050"/>
              <a:ext cx="11163300" cy="1143000"/>
            </a:xfrm>
            <a:prstGeom prst="roundRect">
              <a:avLst>
                <a:gd name="adj" fmla="val 18333"/>
              </a:avLst>
            </a:prstGeom>
            <a:solidFill>
              <a:srgbClr val="24455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7334" y="5089525"/>
              <a:ext cx="76494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Both groups were advised to restrict energy.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9620" y="5578475"/>
              <a:ext cx="54354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Reported calorie reductions still differed.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08254" y="6467475"/>
            <a:ext cx="75715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Lim et al. 2024 · Table 5 · These are reported changes in intake, not prescribed or absolute daily calories.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971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ENERGY · POSSIBLE CAUSAL PATHWAYS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7777670" cy="847725"/>
            <a:chOff x="495300" y="609600"/>
            <a:chExt cx="7777670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777767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routes could explain it.</a:t>
              </a:r>
            </a:p>
          </p:txBody>
        </p:sp>
      </p:grpSp>
      <p:grpSp>
        <p:nvGrpSpPr>
          <p:cNvPr id="10" name="!!programme-anchor"/>
          <p:cNvGrpSpPr/>
          <p:nvPr/>
        </p:nvGrpSpPr>
        <p:grpSpPr>
          <a:xfrm>
            <a:off x="514350" y="2828925"/>
            <a:ext cx="2381250" cy="1390650"/>
            <a:chOff x="514350" y="2828925"/>
            <a:chExt cx="2381250" cy="1390650"/>
          </a:xfrm>
        </p:grpSpPr>
        <p:sp>
          <p:nvSpPr>
            <p:cNvPr id="7" name="Rectangle 7"/>
            <p:cNvSpPr/>
            <p:nvPr/>
          </p:nvSpPr>
          <p:spPr>
            <a:xfrm>
              <a:off x="51435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945" y="2978150"/>
              <a:ext cx="17380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HKD advice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231" y="3422650"/>
              <a:ext cx="1708191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Diet composition</a:t>
              </a:r>
              <a:b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changes</a:t>
              </a:r>
            </a:p>
          </p:txBody>
        </p:sp>
      </p:grpSp>
      <p:grpSp>
        <p:nvGrpSpPr>
          <p:cNvPr id="30" name="!!causal-route-model"/>
          <p:cNvGrpSpPr/>
          <p:nvPr/>
        </p:nvGrpSpPr>
        <p:grpSpPr>
          <a:xfrm>
            <a:off x="2895600" y="2028825"/>
            <a:ext cx="6391275" cy="3286125"/>
            <a:chOff x="2895600" y="2028825"/>
            <a:chExt cx="6391275" cy="3286125"/>
          </a:xfrm>
        </p:grpSpPr>
        <p:sp>
          <p:nvSpPr>
            <p:cNvPr id="11" name="Line 11"/>
            <p:cNvSpPr/>
            <p:nvPr/>
          </p:nvSpPr>
          <p:spPr>
            <a:xfrm>
              <a:off x="2895600" y="32289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35242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524250" y="2571750"/>
              <a:ext cx="666750" cy="1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38625" y="2028825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7572375" y="25717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86677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8667750" y="3228975"/>
              <a:ext cx="619125" cy="1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>
              <a:off x="2895600" y="38290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35242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4752975"/>
              <a:ext cx="666750" cy="1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38625" y="4210050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7572375" y="4752975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677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9239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67750" y="3829050"/>
              <a:ext cx="619125" cy="1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46270" y="2159000"/>
              <a:ext cx="27084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Other diet effects?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8556" y="2657475"/>
              <a:ext cx="1951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Including ketosis?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6270" y="4324350"/>
              <a:ext cx="1880806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Lower energy</a:t>
              </a:r>
              <a:b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intake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905500" y="3133725"/>
              <a:ext cx="1" cy="1066800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05906" y="3457575"/>
              <a:ext cx="1951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May alter appetite</a:t>
              </a:r>
            </a:p>
          </p:txBody>
        </p:sp>
      </p:grpSp>
      <p:grpSp>
        <p:nvGrpSpPr>
          <p:cNvPr id="34" name="!!weight-anchor"/>
          <p:cNvGrpSpPr/>
          <p:nvPr/>
        </p:nvGrpSpPr>
        <p:grpSpPr>
          <a:xfrm>
            <a:off x="9296400" y="2828925"/>
            <a:ext cx="2381250" cy="1390650"/>
            <a:chOff x="9296400" y="2828925"/>
            <a:chExt cx="2381250" cy="1390650"/>
          </a:xfrm>
        </p:grpSpPr>
        <p:sp>
          <p:nvSpPr>
            <p:cNvPr id="31" name="Rectangle 31"/>
            <p:cNvSpPr/>
            <p:nvPr/>
          </p:nvSpPr>
          <p:spPr>
            <a:xfrm>
              <a:off x="929640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82709" y="2994025"/>
              <a:ext cx="19543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Weight loss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87281" y="3600450"/>
              <a:ext cx="2073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Observed outcome</a:t>
              </a:r>
            </a:p>
          </p:txBody>
        </p:sp>
      </p:grpSp>
      <p:grpSp>
        <p:nvGrpSpPr>
          <p:cNvPr id="36" name="!!causal-caption"/>
          <p:cNvGrpSpPr/>
          <p:nvPr/>
        </p:nvGrpSpPr>
        <p:grpSpPr>
          <a:xfrm>
            <a:off x="1602302" y="5759450"/>
            <a:ext cx="8987395" cy="440055"/>
            <a:chOff x="1602302" y="5759450"/>
            <a:chExt cx="8987395" cy="440055"/>
          </a:xfrm>
        </p:grpSpPr>
        <p:sp>
          <p:nvSpPr>
            <p:cNvPr id="35" name="TextBox 35"/>
            <p:cNvSpPr txBox="1"/>
            <p:nvPr/>
          </p:nvSpPr>
          <p:spPr>
            <a:xfrm>
              <a:off x="1602302" y="5759450"/>
              <a:ext cx="89873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Possible pathways can operate together; neither was isolated.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08254" y="6467475"/>
            <a:ext cx="7229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Interpretation of Table 5 + Discussion · Dashed arrows are hypotheses, not demonstrated mediation.</a:t>
            </a:r>
          </a:p>
        </p:txBody>
      </p:sp>
    </p:spTree>
  </p:cSld>
  <p:clrMapOvr>
    <a:masterClrMapping/>
  </p:clrMapOvr>
  <p:transition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971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ENERGY · POSSIBLE CAUSAL PATHWAYS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8897055" cy="847725"/>
            <a:chOff x="495300" y="609600"/>
            <a:chExt cx="889705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889705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Eating less may be the pathway.</a:t>
              </a:r>
            </a:p>
          </p:txBody>
        </p:sp>
      </p:grpSp>
      <p:grpSp>
        <p:nvGrpSpPr>
          <p:cNvPr id="10" name="!!programme-anchor"/>
          <p:cNvGrpSpPr/>
          <p:nvPr/>
        </p:nvGrpSpPr>
        <p:grpSpPr>
          <a:xfrm>
            <a:off x="514350" y="2828925"/>
            <a:ext cx="2381250" cy="1390650"/>
            <a:chOff x="514350" y="2828925"/>
            <a:chExt cx="2381250" cy="1390650"/>
          </a:xfrm>
        </p:grpSpPr>
        <p:sp>
          <p:nvSpPr>
            <p:cNvPr id="7" name="Rectangle 7"/>
            <p:cNvSpPr/>
            <p:nvPr/>
          </p:nvSpPr>
          <p:spPr>
            <a:xfrm>
              <a:off x="51435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945" y="2978150"/>
              <a:ext cx="17380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HKD advice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231" y="3422650"/>
              <a:ext cx="1708191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Diet composition</a:t>
              </a:r>
              <a:b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changes</a:t>
              </a:r>
            </a:p>
          </p:txBody>
        </p:sp>
      </p:grpSp>
      <p:grpSp>
        <p:nvGrpSpPr>
          <p:cNvPr id="30" name="!!causal-route-model"/>
          <p:cNvGrpSpPr/>
          <p:nvPr/>
        </p:nvGrpSpPr>
        <p:grpSpPr>
          <a:xfrm>
            <a:off x="2895600" y="2028825"/>
            <a:ext cx="6391275" cy="3286125"/>
            <a:chOff x="2895600" y="2028825"/>
            <a:chExt cx="6391275" cy="3286125"/>
          </a:xfrm>
        </p:grpSpPr>
        <p:sp>
          <p:nvSpPr>
            <p:cNvPr id="11" name="Line 11"/>
            <p:cNvSpPr/>
            <p:nvPr/>
          </p:nvSpPr>
          <p:spPr>
            <a:xfrm>
              <a:off x="2895600" y="32289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35242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524250" y="2571750"/>
              <a:ext cx="666750" cy="1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38625" y="2028825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7572375" y="25717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86677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52656B"/>
              </a:solidFill>
              <a:custDash>
                <a:ds d="233333" sp="166667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8667750" y="3228975"/>
              <a:ext cx="619125" cy="1"/>
            </a:xfrm>
            <a:prstGeom prst="line">
              <a:avLst/>
            </a:prstGeom>
            <a:noFill/>
            <a:ln w="28575">
              <a:solidFill>
                <a:srgbClr val="52656B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>
              <a:off x="2895600" y="38290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35242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4752975"/>
              <a:ext cx="6667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38625" y="4210050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7572375" y="4752975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677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9239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67750" y="3829050"/>
              <a:ext cx="6191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46270" y="2159000"/>
              <a:ext cx="27084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Other diet effects?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8556" y="2657475"/>
              <a:ext cx="1951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Including ketosis?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6270" y="4324350"/>
              <a:ext cx="1880806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Lower energy</a:t>
              </a:r>
              <a:b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intake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905500" y="3133725"/>
              <a:ext cx="1" cy="10668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05906" y="3457575"/>
              <a:ext cx="1951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May alter appetite</a:t>
              </a:r>
            </a:p>
          </p:txBody>
        </p:sp>
      </p:grpSp>
      <p:grpSp>
        <p:nvGrpSpPr>
          <p:cNvPr id="34" name="!!weight-anchor"/>
          <p:cNvGrpSpPr/>
          <p:nvPr/>
        </p:nvGrpSpPr>
        <p:grpSpPr>
          <a:xfrm>
            <a:off x="9296400" y="2828925"/>
            <a:ext cx="2381250" cy="1390650"/>
            <a:chOff x="9296400" y="2828925"/>
            <a:chExt cx="2381250" cy="1390650"/>
          </a:xfrm>
        </p:grpSpPr>
        <p:sp>
          <p:nvSpPr>
            <p:cNvPr id="31" name="Rectangle 31"/>
            <p:cNvSpPr/>
            <p:nvPr/>
          </p:nvSpPr>
          <p:spPr>
            <a:xfrm>
              <a:off x="929640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82709" y="2994025"/>
              <a:ext cx="19543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Weight loss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87281" y="3600450"/>
              <a:ext cx="2073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Observed outcome</a:t>
              </a:r>
            </a:p>
          </p:txBody>
        </p:sp>
      </p:grpSp>
      <p:grpSp>
        <p:nvGrpSpPr>
          <p:cNvPr id="36" name="!!causal-caption"/>
          <p:cNvGrpSpPr/>
          <p:nvPr/>
        </p:nvGrpSpPr>
        <p:grpSpPr>
          <a:xfrm>
            <a:off x="1825210" y="5759450"/>
            <a:ext cx="8541580" cy="440055"/>
            <a:chOff x="1825210" y="5759450"/>
            <a:chExt cx="8541580" cy="440055"/>
          </a:xfrm>
        </p:grpSpPr>
        <p:sp>
          <p:nvSpPr>
            <p:cNvPr id="35" name="TextBox 35"/>
            <p:cNvSpPr txBox="1"/>
            <p:nvPr/>
          </p:nvSpPr>
          <p:spPr>
            <a:xfrm>
              <a:off x="1825210" y="5759450"/>
              <a:ext cx="85415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Mediator = a step through which the programme may work.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08254" y="6467475"/>
            <a:ext cx="7229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Interpretation of Table 5 + Discussion · Dashed arrows are hypotheses, not demonstrated mediation.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971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ENERGY · POSSIBLE CAUSAL PATHWAYS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646301" cy="847725"/>
            <a:chOff x="495300" y="609600"/>
            <a:chExt cx="10646301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64630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programme is not the mechanism.</a:t>
              </a:r>
            </a:p>
          </p:txBody>
        </p:sp>
      </p:grpSp>
      <p:grpSp>
        <p:nvGrpSpPr>
          <p:cNvPr id="10" name="!!programme-anchor"/>
          <p:cNvGrpSpPr/>
          <p:nvPr/>
        </p:nvGrpSpPr>
        <p:grpSpPr>
          <a:xfrm>
            <a:off x="514350" y="2828925"/>
            <a:ext cx="2381250" cy="1390650"/>
            <a:chOff x="514350" y="2828925"/>
            <a:chExt cx="2381250" cy="1390650"/>
          </a:xfrm>
        </p:grpSpPr>
        <p:sp>
          <p:nvSpPr>
            <p:cNvPr id="7" name="Rectangle 7"/>
            <p:cNvSpPr/>
            <p:nvPr/>
          </p:nvSpPr>
          <p:spPr>
            <a:xfrm>
              <a:off x="51435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945" y="2978150"/>
              <a:ext cx="17380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HKD advice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231" y="3422650"/>
              <a:ext cx="1708191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Diet composition</a:t>
              </a:r>
              <a:b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changes</a:t>
              </a:r>
            </a:p>
          </p:txBody>
        </p:sp>
      </p:grpSp>
      <p:grpSp>
        <p:nvGrpSpPr>
          <p:cNvPr id="30" name="!!causal-route-model"/>
          <p:cNvGrpSpPr/>
          <p:nvPr/>
        </p:nvGrpSpPr>
        <p:grpSpPr>
          <a:xfrm>
            <a:off x="2895600" y="2028825"/>
            <a:ext cx="6391275" cy="3286125"/>
            <a:chOff x="2895600" y="2028825"/>
            <a:chExt cx="6391275" cy="3286125"/>
          </a:xfrm>
        </p:grpSpPr>
        <p:sp>
          <p:nvSpPr>
            <p:cNvPr id="11" name="Line 11"/>
            <p:cNvSpPr/>
            <p:nvPr/>
          </p:nvSpPr>
          <p:spPr>
            <a:xfrm>
              <a:off x="2895600" y="32289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35242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524250" y="2571750"/>
              <a:ext cx="6667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38625" y="2028825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rgbClr val="FBE6DE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7572375" y="25717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6" name="Line 16"/>
            <p:cNvSpPr/>
            <p:nvPr/>
          </p:nvSpPr>
          <p:spPr>
            <a:xfrm>
              <a:off x="86677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8667750" y="3228975"/>
              <a:ext cx="6191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>
              <a:off x="2895600" y="38290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35242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4752975"/>
              <a:ext cx="6667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38625" y="4210050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7572375" y="4752975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677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9239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67750" y="3829050"/>
              <a:ext cx="6191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46270" y="2159000"/>
              <a:ext cx="27084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Other diet effects?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8556" y="2657475"/>
              <a:ext cx="1951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Including ketosis?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6270" y="4324350"/>
              <a:ext cx="1880806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Lower energy</a:t>
              </a:r>
              <a:b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intake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905500" y="3133725"/>
              <a:ext cx="1" cy="106680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05906" y="3457575"/>
              <a:ext cx="1951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May alter appetite</a:t>
              </a:r>
            </a:p>
          </p:txBody>
        </p:sp>
      </p:grpSp>
      <p:grpSp>
        <p:nvGrpSpPr>
          <p:cNvPr id="34" name="!!weight-anchor"/>
          <p:cNvGrpSpPr/>
          <p:nvPr/>
        </p:nvGrpSpPr>
        <p:grpSpPr>
          <a:xfrm>
            <a:off x="9296400" y="2828925"/>
            <a:ext cx="2381250" cy="1390650"/>
            <a:chOff x="9296400" y="2828925"/>
            <a:chExt cx="2381250" cy="1390650"/>
          </a:xfrm>
        </p:grpSpPr>
        <p:sp>
          <p:nvSpPr>
            <p:cNvPr id="31" name="Rectangle 31"/>
            <p:cNvSpPr/>
            <p:nvPr/>
          </p:nvSpPr>
          <p:spPr>
            <a:xfrm>
              <a:off x="929640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82709" y="2994025"/>
              <a:ext cx="19543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Weight loss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87281" y="3600450"/>
              <a:ext cx="2073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Observed outcome</a:t>
              </a:r>
            </a:p>
          </p:txBody>
        </p:sp>
      </p:grpSp>
      <p:grpSp>
        <p:nvGrpSpPr>
          <p:cNvPr id="37" name="!!causal-caption"/>
          <p:cNvGrpSpPr/>
          <p:nvPr/>
        </p:nvGrpSpPr>
        <p:grpSpPr>
          <a:xfrm>
            <a:off x="2899215" y="5610225"/>
            <a:ext cx="6393571" cy="675894"/>
            <a:chOff x="2899215" y="5610225"/>
            <a:chExt cx="6393571" cy="675894"/>
          </a:xfrm>
        </p:grpSpPr>
        <p:sp>
          <p:nvSpPr>
            <p:cNvPr id="35" name="TextBox 35"/>
            <p:cNvSpPr txBox="1"/>
            <p:nvPr/>
          </p:nvSpPr>
          <p:spPr>
            <a:xfrm>
              <a:off x="2899215" y="5610225"/>
              <a:ext cx="63935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automatically confounding or failed randomisation.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44011" y="5934075"/>
              <a:ext cx="5303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calorie-independent effect was not isolated.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08254" y="6467475"/>
            <a:ext cx="7229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Interpretation of Table 5 + Discussion · Dashed arrows are hypotheses, not demonstrated mediation.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611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KETOSIS · INSTRUCTION VS ACTUAL EXPOSURE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8531486" cy="847725"/>
            <a:chOff x="495300" y="609600"/>
            <a:chExt cx="8531486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853148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 prescription is not exposure.</a:t>
              </a:r>
            </a:p>
          </p:txBody>
        </p:sp>
      </p:grpSp>
      <p:grpSp>
        <p:nvGrpSpPr>
          <p:cNvPr id="10" name="!!assignment-cue"/>
          <p:cNvGrpSpPr/>
          <p:nvPr/>
        </p:nvGrpSpPr>
        <p:grpSpPr>
          <a:xfrm>
            <a:off x="628650" y="2416175"/>
            <a:ext cx="2520385" cy="1755394"/>
            <a:chOff x="628650" y="2416175"/>
            <a:chExt cx="2520385" cy="1755394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2416175"/>
              <a:ext cx="1891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PRESCRIPTION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8650" y="2673350"/>
              <a:ext cx="252038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≤50 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5706" y="3819525"/>
              <a:ext cx="229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 carbohydrate/day</a:t>
              </a:r>
            </a:p>
          </p:txBody>
        </p:sp>
      </p:grpSp>
      <p:grpSp>
        <p:nvGrpSpPr>
          <p:cNvPr id="17" name="!!intake-evidence"/>
          <p:cNvGrpSpPr/>
          <p:nvPr/>
        </p:nvGrpSpPr>
        <p:grpSpPr>
          <a:xfrm>
            <a:off x="4019550" y="2257425"/>
            <a:ext cx="2526318" cy="1951355"/>
            <a:chOff x="4019550" y="2257425"/>
            <a:chExt cx="2526318" cy="1951355"/>
          </a:xfrm>
        </p:grpSpPr>
        <p:sp>
          <p:nvSpPr>
            <p:cNvPr id="11" name="Line 11"/>
            <p:cNvSpPr/>
            <p:nvPr/>
          </p:nvSpPr>
          <p:spPr>
            <a:xfrm>
              <a:off x="4019550" y="3181350"/>
              <a:ext cx="361950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62500" y="2257425"/>
              <a:ext cx="1114425" cy="1381125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953000" y="2562225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953000" y="2819400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953000" y="3076575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0" y="0"/>
                  </a:moveTo>
                  <a:lnTo>
                    <a:pt x="5429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12970" y="3768725"/>
              <a:ext cx="18328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Food diaries</a:t>
              </a:r>
            </a:p>
          </p:txBody>
        </p:sp>
      </p:grpSp>
      <p:grpSp>
        <p:nvGrpSpPr>
          <p:cNvPr id="22" name="!!ketone-question"/>
          <p:cNvGrpSpPr/>
          <p:nvPr/>
        </p:nvGrpSpPr>
        <p:grpSpPr>
          <a:xfrm>
            <a:off x="7848600" y="2152650"/>
            <a:ext cx="2609850" cy="2093341"/>
            <a:chOff x="7848600" y="2152650"/>
            <a:chExt cx="2609850" cy="2093341"/>
          </a:xfrm>
        </p:grpSpPr>
        <p:sp>
          <p:nvSpPr>
            <p:cNvPr id="18" name="Line 18"/>
            <p:cNvSpPr/>
            <p:nvPr/>
          </p:nvSpPr>
          <p:spPr>
            <a:xfrm>
              <a:off x="7848600" y="3181350"/>
              <a:ext cx="390525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8972550" y="2152650"/>
              <a:ext cx="1485900" cy="14859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84181" y="2349500"/>
              <a:ext cx="46263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7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14393" y="3717925"/>
              <a:ext cx="1402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Ketosis?</a:t>
              </a:r>
            </a:p>
          </p:txBody>
        </p:sp>
      </p:grpSp>
      <p:grpSp>
        <p:nvGrpSpPr>
          <p:cNvPr id="26" name="!!exposure-caption"/>
          <p:cNvGrpSpPr/>
          <p:nvPr/>
        </p:nvGrpSpPr>
        <p:grpSpPr>
          <a:xfrm>
            <a:off x="514350" y="5153025"/>
            <a:ext cx="11163300" cy="981075"/>
            <a:chOff x="514350" y="5153025"/>
            <a:chExt cx="11163300" cy="981075"/>
          </a:xfrm>
        </p:grpSpPr>
        <p:sp>
          <p:nvSpPr>
            <p:cNvPr id="23" name="Rectangle 23"/>
            <p:cNvSpPr/>
            <p:nvPr/>
          </p:nvSpPr>
          <p:spPr>
            <a:xfrm>
              <a:off x="514350" y="5153025"/>
              <a:ext cx="11163300" cy="981075"/>
            </a:xfrm>
            <a:prstGeom prst="roundRect">
              <a:avLst>
                <a:gd name="adj" fmla="val 213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8284" y="5241925"/>
              <a:ext cx="38998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 diary reports intake.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0570" y="5664200"/>
              <a:ext cx="51675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It does not measure a metabolic state.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08254" y="6467475"/>
            <a:ext cx="57173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 + Discussion · Food diaries are self-reported.</a:t>
            </a:r>
          </a:p>
        </p:txBody>
      </p:sp>
    </p:spTree>
  </p:cSld>
  <p:clrMapOvr>
    <a:masterClrMapping/>
  </p:clrMapOvr>
  <p:transition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601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KETOSIS · EXPOSURE VERIFICATION IS MISSING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8276032" cy="847725"/>
            <a:chOff x="495300" y="609600"/>
            <a:chExt cx="827603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827603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actually entered ketosis?</a:t>
              </a:r>
            </a:p>
          </p:txBody>
        </p:sp>
      </p:grpSp>
      <p:grpSp>
        <p:nvGrpSpPr>
          <p:cNvPr id="12" name="!!assignment-cue"/>
          <p:cNvGrpSpPr/>
          <p:nvPr/>
        </p:nvGrpSpPr>
        <p:grpSpPr>
          <a:xfrm>
            <a:off x="676275" y="2352675"/>
            <a:ext cx="2752725" cy="1524000"/>
            <a:chOff x="676275" y="2352675"/>
            <a:chExt cx="2752725" cy="1524000"/>
          </a:xfrm>
        </p:grpSpPr>
        <p:sp>
          <p:nvSpPr>
            <p:cNvPr id="7" name="Rectangle 7"/>
            <p:cNvSpPr/>
            <p:nvPr/>
          </p:nvSpPr>
          <p:spPr>
            <a:xfrm>
              <a:off x="676275" y="2352675"/>
              <a:ext cx="2752725" cy="1524000"/>
            </a:xfrm>
            <a:prstGeom prst="roundRect">
              <a:avLst>
                <a:gd name="adj" fmla="val 13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920" y="2606675"/>
              <a:ext cx="21698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Assigned HKD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3381375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0" y="0"/>
                  </a:moveTo>
                  <a:lnTo>
                    <a:pt x="85725" y="952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38225" y="3238500"/>
              <a:ext cx="190500" cy="238125"/>
            </a:xfrm>
            <a:custGeom>
              <a:avLst/>
              <a:gdLst/>
              <a:ahLst/>
              <a:cxnLst/>
              <a:rect l="l" t="t" r="r" b="b"/>
              <a:pathLst>
                <a:path w="190500" h="238125">
                  <a:moveTo>
                    <a:pt x="0" y="238125"/>
                  </a:moveTo>
                  <a:lnTo>
                    <a:pt x="19050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1506" y="3238500"/>
              <a:ext cx="1346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Known label</a:t>
              </a:r>
            </a:p>
          </p:txBody>
        </p:sp>
      </p:grpSp>
      <p:grpSp>
        <p:nvGrpSpPr>
          <p:cNvPr id="15" name="!!intake-evidence"/>
          <p:cNvGrpSpPr/>
          <p:nvPr/>
        </p:nvGrpSpPr>
        <p:grpSpPr>
          <a:xfrm>
            <a:off x="4189095" y="2489200"/>
            <a:ext cx="2167014" cy="1548130"/>
            <a:chOff x="4189095" y="2489200"/>
            <a:chExt cx="2167014" cy="1548130"/>
          </a:xfrm>
        </p:grpSpPr>
        <p:sp>
          <p:nvSpPr>
            <p:cNvPr id="13" name="TextBox 13"/>
            <p:cNvSpPr txBox="1"/>
            <p:nvPr/>
          </p:nvSpPr>
          <p:spPr>
            <a:xfrm>
              <a:off x="4189095" y="2489200"/>
              <a:ext cx="2167014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Blood or urine</a:t>
              </a:r>
              <a:b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ketone checks?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9095" y="3597275"/>
              <a:ext cx="18495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Not reported</a:t>
              </a:r>
            </a:p>
          </p:txBody>
        </p:sp>
      </p:grpSp>
      <p:grpSp>
        <p:nvGrpSpPr>
          <p:cNvPr id="19" name="!!ketone-question"/>
          <p:cNvGrpSpPr/>
          <p:nvPr/>
        </p:nvGrpSpPr>
        <p:grpSpPr>
          <a:xfrm>
            <a:off x="8263808" y="1924050"/>
            <a:ext cx="2827185" cy="2560955"/>
            <a:chOff x="8263808" y="1924050"/>
            <a:chExt cx="2827185" cy="2560955"/>
          </a:xfrm>
        </p:grpSpPr>
        <p:sp>
          <p:nvSpPr>
            <p:cNvPr id="16" name="Ellipse 16"/>
            <p:cNvSpPr/>
            <p:nvPr/>
          </p:nvSpPr>
          <p:spPr>
            <a:xfrm>
              <a:off x="8763000" y="1924050"/>
              <a:ext cx="1828800" cy="18288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6081" y="2320925"/>
              <a:ext cx="46263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7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63808" y="4044950"/>
              <a:ext cx="28271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Unknown exposure</a:t>
              </a:r>
            </a:p>
          </p:txBody>
        </p:sp>
      </p:grpSp>
      <p:grpSp>
        <p:nvGrpSpPr>
          <p:cNvPr id="23" name="!!exposure-caption"/>
          <p:cNvGrpSpPr/>
          <p:nvPr/>
        </p:nvGrpSpPr>
        <p:grpSpPr>
          <a:xfrm>
            <a:off x="514350" y="5153025"/>
            <a:ext cx="11163300" cy="981075"/>
            <a:chOff x="514350" y="5153025"/>
            <a:chExt cx="11163300" cy="981075"/>
          </a:xfrm>
        </p:grpSpPr>
        <p:sp>
          <p:nvSpPr>
            <p:cNvPr id="20" name="Rectangle 20"/>
            <p:cNvSpPr/>
            <p:nvPr/>
          </p:nvSpPr>
          <p:spPr>
            <a:xfrm>
              <a:off x="514350" y="5153025"/>
              <a:ext cx="11163300" cy="981075"/>
            </a:xfrm>
            <a:prstGeom prst="roundRect">
              <a:avLst>
                <a:gd name="adj" fmla="val 213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8284" y="5251450"/>
              <a:ext cx="36912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entered ketosis?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570" y="5673725"/>
              <a:ext cx="50330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And who stayed in ketosis over time?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08254" y="6467475"/>
            <a:ext cx="6790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Discussion · Unknown ketosis does not mean no participant achieved ketosis.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589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KETOSIS · LIMIT TO MECHANISTIC ATTRIBUTION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253262" cy="847725"/>
            <a:chOff x="495300" y="609600"/>
            <a:chExt cx="925326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25326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Weight loss cannot verify ketosis.</a:t>
              </a:r>
            </a:p>
          </p:txBody>
        </p:sp>
      </p:grpSp>
      <p:grpSp>
        <p:nvGrpSpPr>
          <p:cNvPr id="12" name="weight-evidence"/>
          <p:cNvGrpSpPr/>
          <p:nvPr/>
        </p:nvGrpSpPr>
        <p:grpSpPr>
          <a:xfrm>
            <a:off x="748284" y="2381250"/>
            <a:ext cx="2191508" cy="2290191"/>
            <a:chOff x="748284" y="2381250"/>
            <a:chExt cx="2191508" cy="2290191"/>
          </a:xfrm>
        </p:grpSpPr>
        <p:sp>
          <p:nvSpPr>
            <p:cNvPr id="7" name="Rectangle 7"/>
            <p:cNvSpPr/>
            <p:nvPr/>
          </p:nvSpPr>
          <p:spPr>
            <a:xfrm>
              <a:off x="952500" y="2381250"/>
              <a:ext cx="1143000" cy="952500"/>
            </a:xfrm>
            <a:prstGeom prst="roundRect">
              <a:avLst>
                <a:gd name="adj" fmla="val 22000"/>
              </a:avLst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266825" y="2552700"/>
              <a:ext cx="514350" cy="285750"/>
            </a:xfrm>
            <a:prstGeom prst="roundRect">
              <a:avLst>
                <a:gd name="adj" fmla="val 20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73465" y="2552700"/>
              <a:ext cx="301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kg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181100" y="30480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8284" y="3686175"/>
              <a:ext cx="2191508" cy="9852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Weight loss</a:t>
              </a:r>
              <a:b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was observed</a:t>
              </a:r>
            </a:p>
          </p:txBody>
        </p:sp>
      </p:grpSp>
      <p:grpSp>
        <p:nvGrpSpPr>
          <p:cNvPr id="17" name="invalid-inference"/>
          <p:cNvGrpSpPr/>
          <p:nvPr/>
        </p:nvGrpSpPr>
        <p:grpSpPr>
          <a:xfrm>
            <a:off x="4810125" y="2714625"/>
            <a:ext cx="2295525" cy="1571244"/>
            <a:chOff x="4810125" y="2714625"/>
            <a:chExt cx="2295525" cy="1571244"/>
          </a:xfrm>
        </p:grpSpPr>
        <p:sp>
          <p:nvSpPr>
            <p:cNvPr id="13" name="Line 13"/>
            <p:cNvSpPr/>
            <p:nvPr/>
          </p:nvSpPr>
          <p:spPr>
            <a:xfrm>
              <a:off x="4810125" y="3171825"/>
              <a:ext cx="2295525" cy="1"/>
            </a:xfrm>
            <a:prstGeom prst="line">
              <a:avLst/>
            </a:prstGeom>
            <a:noFill/>
            <a:ln w="571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5534025" y="2714625"/>
              <a:ext cx="733425" cy="923925"/>
            </a:xfrm>
            <a:custGeom>
              <a:avLst/>
              <a:gdLst/>
              <a:ahLst/>
              <a:cxnLst/>
              <a:rect l="l" t="t" r="r" b="b"/>
              <a:pathLst>
                <a:path w="733425" h="923925">
                  <a:moveTo>
                    <a:pt x="0" y="0"/>
                  </a:moveTo>
                  <a:lnTo>
                    <a:pt x="733425" y="923925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34025" y="2714625"/>
              <a:ext cx="733425" cy="923925"/>
            </a:xfrm>
            <a:custGeom>
              <a:avLst/>
              <a:gdLst/>
              <a:ahLst/>
              <a:cxnLst/>
              <a:rect l="l" t="t" r="r" b="b"/>
              <a:pathLst>
                <a:path w="733425" h="923925">
                  <a:moveTo>
                    <a:pt x="733425" y="0"/>
                  </a:moveTo>
                  <a:lnTo>
                    <a:pt x="0" y="923925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05561" y="3933825"/>
              <a:ext cx="1790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Does not prove</a:t>
              </a:r>
            </a:p>
          </p:txBody>
        </p:sp>
      </p:grpSp>
      <p:grpSp>
        <p:nvGrpSpPr>
          <p:cNvPr id="21" name="!!ketone-question"/>
          <p:cNvGrpSpPr/>
          <p:nvPr/>
        </p:nvGrpSpPr>
        <p:grpSpPr>
          <a:xfrm>
            <a:off x="8340037" y="1924050"/>
            <a:ext cx="2674725" cy="2560955"/>
            <a:chOff x="8340037" y="1924050"/>
            <a:chExt cx="2674725" cy="2560955"/>
          </a:xfrm>
        </p:grpSpPr>
        <p:sp>
          <p:nvSpPr>
            <p:cNvPr id="18" name="Ellipse 18"/>
            <p:cNvSpPr/>
            <p:nvPr/>
          </p:nvSpPr>
          <p:spPr>
            <a:xfrm>
              <a:off x="8763000" y="1924050"/>
              <a:ext cx="1828800" cy="1828800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6081" y="2320925"/>
              <a:ext cx="46263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7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0037" y="4044950"/>
              <a:ext cx="26747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Confirmed ketosis</a:t>
              </a:r>
            </a:p>
          </p:txBody>
        </p:sp>
      </p:grpSp>
      <p:grpSp>
        <p:nvGrpSpPr>
          <p:cNvPr id="25" name="!!exposure-caption"/>
          <p:cNvGrpSpPr/>
          <p:nvPr/>
        </p:nvGrpSpPr>
        <p:grpSpPr>
          <a:xfrm>
            <a:off x="514350" y="5153025"/>
            <a:ext cx="11163300" cy="981075"/>
            <a:chOff x="514350" y="5153025"/>
            <a:chExt cx="11163300" cy="981075"/>
          </a:xfrm>
        </p:grpSpPr>
        <p:sp>
          <p:nvSpPr>
            <p:cNvPr id="22" name="Rectangle 22"/>
            <p:cNvSpPr/>
            <p:nvPr/>
          </p:nvSpPr>
          <p:spPr>
            <a:xfrm>
              <a:off x="514350" y="5153025"/>
              <a:ext cx="11163300" cy="981075"/>
            </a:xfrm>
            <a:prstGeom prst="roundRect">
              <a:avLst>
                <a:gd name="adj" fmla="val 2135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8284" y="5241925"/>
              <a:ext cx="81004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Calorie reduction can also produce weight loss.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856" y="5715000"/>
              <a:ext cx="5911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The outcome does not identify a ketosis-specific effect.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08254" y="6467475"/>
            <a:ext cx="77814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Methods 2.3, 2.7 + Discussion · The trial tests assigned advice, not experimentally verified ketosis exposure.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2573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03 · ATTRITION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3775" cy="847725"/>
            <a:chOff x="495300" y="609600"/>
            <a:chExt cx="699377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377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stays in the picture?</a:t>
              </a:r>
            </a:p>
          </p:txBody>
        </p:sp>
      </p:grpSp>
      <p:grpSp>
        <p:nvGrpSpPr>
          <p:cNvPr id="168" name="!!cohort-grid"/>
          <p:cNvGrpSpPr/>
          <p:nvPr/>
        </p:nvGrpSpPr>
        <p:grpSpPr>
          <a:xfrm>
            <a:off x="819150" y="2057400"/>
            <a:ext cx="5448300" cy="3476625"/>
            <a:chOff x="819150" y="2057400"/>
            <a:chExt cx="5448300" cy="3476625"/>
          </a:xfrm>
        </p:grpSpPr>
        <p:grpSp>
          <p:nvGrpSpPr>
            <p:cNvPr id="167" name="participant-followup-chartArea"/>
            <p:cNvGrpSpPr/>
            <p:nvPr/>
          </p:nvGrpSpPr>
          <p:grpSpPr>
            <a:xfrm>
              <a:off x="819150" y="2057400"/>
              <a:ext cx="5448300" cy="3476625"/>
              <a:chOff x="819150" y="2057400"/>
              <a:chExt cx="5448300" cy="34766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91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4192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097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0097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002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6003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908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908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1813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7814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719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3719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624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9625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9530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530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5435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1436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341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286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4192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4097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0097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0002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6003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1908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813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814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719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3719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625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9530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5530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5435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436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341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286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4192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4097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0097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0002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6003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5908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1908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1813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7814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37719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719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3624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9625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9530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5530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5435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1436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1341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286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191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4192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14097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20097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0002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26003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25908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1908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31813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7814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7719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3719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3624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49625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9530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55530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55435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61436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1341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286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191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14192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097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20097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20002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26003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25908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31908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31813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37814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37719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3719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43624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9625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49530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55530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55435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61436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61341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7" name="Ellipse 107"/>
              <p:cNvSpPr/>
              <p:nvPr/>
            </p:nvSpPr>
            <p:spPr>
              <a:xfrm>
                <a:off x="8286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91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4192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14097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20097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20002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26003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5908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31908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31813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37814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37719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43719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43624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49625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49530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5530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55435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61436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61341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286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8191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14192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14097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20097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20002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26003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25908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5" name="Ellipse 135"/>
              <p:cNvSpPr/>
              <p:nvPr/>
            </p:nvSpPr>
            <p:spPr>
              <a:xfrm>
                <a:off x="31908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31813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37814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37719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9" name="Ellipse 139"/>
              <p:cNvSpPr/>
              <p:nvPr/>
            </p:nvSpPr>
            <p:spPr>
              <a:xfrm>
                <a:off x="43719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43624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49625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49530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55530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55435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61436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61341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7" name="Ellipse 147"/>
              <p:cNvSpPr/>
              <p:nvPr/>
            </p:nvSpPr>
            <p:spPr>
              <a:xfrm>
                <a:off x="8286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91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9" name="Ellipse 149"/>
              <p:cNvSpPr/>
              <p:nvPr/>
            </p:nvSpPr>
            <p:spPr>
              <a:xfrm>
                <a:off x="14192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14097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1" name="Ellipse 151"/>
              <p:cNvSpPr/>
              <p:nvPr/>
            </p:nvSpPr>
            <p:spPr>
              <a:xfrm>
                <a:off x="20097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20002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26003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25908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5" name="Ellipse 155"/>
              <p:cNvSpPr/>
              <p:nvPr/>
            </p:nvSpPr>
            <p:spPr>
              <a:xfrm>
                <a:off x="31908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31813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37814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37719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43719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43624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49625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49530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3" name="Ellipse 163"/>
              <p:cNvSpPr/>
              <p:nvPr/>
            </p:nvSpPr>
            <p:spPr>
              <a:xfrm>
                <a:off x="55530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55435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61436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61341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</p:grpSp>
      </p:grpSp>
      <p:grpSp>
        <p:nvGrpSpPr>
          <p:cNvPr id="172" name="!!cohort-count"/>
          <p:cNvGrpSpPr/>
          <p:nvPr/>
        </p:nvGrpSpPr>
        <p:grpSpPr>
          <a:xfrm>
            <a:off x="7715250" y="2254250"/>
            <a:ext cx="3191110" cy="1955419"/>
            <a:chOff x="7715250" y="2254250"/>
            <a:chExt cx="3191110" cy="1955419"/>
          </a:xfrm>
        </p:grpSpPr>
        <p:sp>
          <p:nvSpPr>
            <p:cNvPr id="169" name="TextBox 169"/>
            <p:cNvSpPr txBox="1"/>
            <p:nvPr/>
          </p:nvSpPr>
          <p:spPr>
            <a:xfrm>
              <a:off x="7715250" y="22542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80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751445" y="3368675"/>
              <a:ext cx="3154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randomized at baseline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3857625"/>
              <a:ext cx="3128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100% in the starting cohort</a:t>
              </a:r>
            </a:p>
          </p:txBody>
        </p:sp>
      </p:grpSp>
      <p:grpSp>
        <p:nvGrpSpPr>
          <p:cNvPr id="176" name="followup-caveat"/>
          <p:cNvGrpSpPr/>
          <p:nvPr/>
        </p:nvGrpSpPr>
        <p:grpSpPr>
          <a:xfrm>
            <a:off x="7722870" y="4673600"/>
            <a:ext cx="3025303" cy="1250569"/>
            <a:chOff x="7722870" y="4673600"/>
            <a:chExt cx="3025303" cy="1250569"/>
          </a:xfrm>
        </p:grpSpPr>
        <p:sp>
          <p:nvSpPr>
            <p:cNvPr id="173" name="TextBox 173"/>
            <p:cNvSpPr txBox="1"/>
            <p:nvPr/>
          </p:nvSpPr>
          <p:spPr>
            <a:xfrm>
              <a:off x="7722870" y="4673600"/>
              <a:ext cx="29958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happens next?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725156" y="5133975"/>
              <a:ext cx="2598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Follow the same cohort.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25156" y="5572125"/>
              <a:ext cx="30230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figure = one participant</a:t>
              </a:r>
            </a:p>
          </p:txBody>
        </p:sp>
      </p:grpSp>
      <p:grpSp>
        <p:nvGrpSpPr>
          <p:cNvPr id="180" name="cohort-legend"/>
          <p:cNvGrpSpPr/>
          <p:nvPr/>
        </p:nvGrpSpPr>
        <p:grpSpPr>
          <a:xfrm>
            <a:off x="676275" y="5915025"/>
            <a:ext cx="4636425" cy="352044"/>
            <a:chOff x="676275" y="5915025"/>
            <a:chExt cx="4636425" cy="352044"/>
          </a:xfrm>
        </p:grpSpPr>
        <p:sp>
          <p:nvSpPr>
            <p:cNvPr id="177" name="Ellipse 177"/>
            <p:cNvSpPr/>
            <p:nvPr/>
          </p:nvSpPr>
          <p:spPr>
            <a:xfrm>
              <a:off x="676275" y="5991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905256" y="5915025"/>
              <a:ext cx="1076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Observed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2753106" y="5915025"/>
              <a:ext cx="2559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Same 80-person cohort</a:t>
              </a:r>
            </a:p>
          </p:txBody>
        </p:sp>
      </p:grpSp>
      <p:sp>
        <p:nvSpPr>
          <p:cNvPr id="181" name="TextBox 181"/>
          <p:cNvSpPr txBox="1"/>
          <p:nvPr/>
        </p:nvSpPr>
        <p:spPr>
          <a:xfrm>
            <a:off x="508254" y="6467475"/>
            <a:ext cx="5674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6-month counts: HKD 29/41; ERD 30/39.</a:t>
            </a:r>
          </a:p>
        </p:txBody>
      </p:sp>
    </p:spTree>
  </p:cSld>
  <p:clrMapOvr>
    <a:masterClrMapping/>
  </p:clrMapOvr>
  <p:transition p14:dur="350">
    <p:fade/>
  </p:transition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2573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03 · ATTRITION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3775" cy="847725"/>
            <a:chOff x="495300" y="609600"/>
            <a:chExt cx="699377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377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stays in the picture?</a:t>
              </a:r>
            </a:p>
          </p:txBody>
        </p:sp>
      </p:grpSp>
      <p:grpSp>
        <p:nvGrpSpPr>
          <p:cNvPr id="168" name="!!cohort-grid"/>
          <p:cNvGrpSpPr/>
          <p:nvPr/>
        </p:nvGrpSpPr>
        <p:grpSpPr>
          <a:xfrm>
            <a:off x="819150" y="2057400"/>
            <a:ext cx="5448300" cy="3476625"/>
            <a:chOff x="819150" y="2057400"/>
            <a:chExt cx="5448300" cy="3476625"/>
          </a:xfrm>
        </p:grpSpPr>
        <p:grpSp>
          <p:nvGrpSpPr>
            <p:cNvPr id="167" name="participant-followup-chartArea"/>
            <p:cNvGrpSpPr/>
            <p:nvPr/>
          </p:nvGrpSpPr>
          <p:grpSpPr>
            <a:xfrm>
              <a:off x="819150" y="2057400"/>
              <a:ext cx="5448300" cy="3476625"/>
              <a:chOff x="819150" y="2057400"/>
              <a:chExt cx="5448300" cy="34766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91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4192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097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0097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002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6003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908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908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1813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7814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719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3719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624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9625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9530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530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5435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1436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341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286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4192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4097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0097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0002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6003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1908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813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814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719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3719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625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9530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5530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5435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436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341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286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4192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4097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0097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0002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6003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5908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1908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1813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7814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37719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719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3624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9625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9530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5530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5435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1436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1341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286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191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4192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14097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20097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0002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26003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25908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1908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31813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7814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7719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3719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3624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49625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9530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55530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55435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61436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1341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286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191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14192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097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20097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20002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26003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25908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31908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31813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37814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37719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3719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43624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9625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49530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55530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55435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61436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61341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7" name="Ellipse 107"/>
              <p:cNvSpPr/>
              <p:nvPr/>
            </p:nvSpPr>
            <p:spPr>
              <a:xfrm>
                <a:off x="8286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91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4192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14097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20097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20002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26003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5908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31908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31813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37814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37719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43719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43624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49625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49530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5530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55435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6143625" y="4295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61341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286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8191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14192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14097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20097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20002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26003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25908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5" name="Ellipse 135"/>
              <p:cNvSpPr/>
              <p:nvPr/>
            </p:nvSpPr>
            <p:spPr>
              <a:xfrm>
                <a:off x="31908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31813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37814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37719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9" name="Ellipse 139"/>
              <p:cNvSpPr/>
              <p:nvPr/>
            </p:nvSpPr>
            <p:spPr>
              <a:xfrm>
                <a:off x="43719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43624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49625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49530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55530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55435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61436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61341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7" name="Ellipse 147"/>
              <p:cNvSpPr/>
              <p:nvPr/>
            </p:nvSpPr>
            <p:spPr>
              <a:xfrm>
                <a:off x="8286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91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9" name="Ellipse 149"/>
              <p:cNvSpPr/>
              <p:nvPr/>
            </p:nvSpPr>
            <p:spPr>
              <a:xfrm>
                <a:off x="14192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14097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1" name="Ellipse 151"/>
              <p:cNvSpPr/>
              <p:nvPr/>
            </p:nvSpPr>
            <p:spPr>
              <a:xfrm>
                <a:off x="20097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20002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26003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25908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5" name="Ellipse 155"/>
              <p:cNvSpPr/>
              <p:nvPr/>
            </p:nvSpPr>
            <p:spPr>
              <a:xfrm>
                <a:off x="31908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31813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37814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37719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43719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43624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49625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49530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3" name="Ellipse 163"/>
              <p:cNvSpPr/>
              <p:nvPr/>
            </p:nvSpPr>
            <p:spPr>
              <a:xfrm>
                <a:off x="55530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55435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61436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61341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</p:grpSp>
      <p:grpSp>
        <p:nvGrpSpPr>
          <p:cNvPr id="172" name="!!cohort-count"/>
          <p:cNvGrpSpPr/>
          <p:nvPr/>
        </p:nvGrpSpPr>
        <p:grpSpPr>
          <a:xfrm>
            <a:off x="7715250" y="2254250"/>
            <a:ext cx="3072860" cy="1955419"/>
            <a:chOff x="7715250" y="2254250"/>
            <a:chExt cx="3072860" cy="1955419"/>
          </a:xfrm>
        </p:grpSpPr>
        <p:sp>
          <p:nvSpPr>
            <p:cNvPr id="169" name="TextBox 169"/>
            <p:cNvSpPr txBox="1"/>
            <p:nvPr/>
          </p:nvSpPr>
          <p:spPr>
            <a:xfrm>
              <a:off x="7715250" y="22542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59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751445" y="3368675"/>
              <a:ext cx="30366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measured at 6 months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3857625"/>
              <a:ext cx="1513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74% retained</a:t>
              </a:r>
            </a:p>
          </p:txBody>
        </p:sp>
      </p:grpSp>
      <p:grpSp>
        <p:nvGrpSpPr>
          <p:cNvPr id="176" name="followup-caveat"/>
          <p:cNvGrpSpPr/>
          <p:nvPr/>
        </p:nvGrpSpPr>
        <p:grpSpPr>
          <a:xfrm>
            <a:off x="7722870" y="4673600"/>
            <a:ext cx="3287826" cy="1250569"/>
            <a:chOff x="7722870" y="4673600"/>
            <a:chExt cx="3287826" cy="1250569"/>
          </a:xfrm>
        </p:grpSpPr>
        <p:sp>
          <p:nvSpPr>
            <p:cNvPr id="173" name="TextBox 173"/>
            <p:cNvSpPr txBox="1"/>
            <p:nvPr/>
          </p:nvSpPr>
          <p:spPr>
            <a:xfrm>
              <a:off x="7722870" y="4673600"/>
              <a:ext cx="32878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outcomes unknown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725156" y="5133975"/>
              <a:ext cx="2853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Bias direction is uncertain.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25156" y="5572125"/>
              <a:ext cx="2892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HKD missing: 12 · ERD: 9</a:t>
              </a:r>
            </a:p>
          </p:txBody>
        </p:sp>
      </p:grpSp>
      <p:grpSp>
        <p:nvGrpSpPr>
          <p:cNvPr id="181" name="cohort-legend"/>
          <p:cNvGrpSpPr/>
          <p:nvPr/>
        </p:nvGrpSpPr>
        <p:grpSpPr>
          <a:xfrm>
            <a:off x="676275" y="5915025"/>
            <a:ext cx="4515293" cy="352044"/>
            <a:chOff x="676275" y="5915025"/>
            <a:chExt cx="4515293" cy="352044"/>
          </a:xfrm>
        </p:grpSpPr>
        <p:sp>
          <p:nvSpPr>
            <p:cNvPr id="177" name="Ellipse 177"/>
            <p:cNvSpPr/>
            <p:nvPr/>
          </p:nvSpPr>
          <p:spPr>
            <a:xfrm>
              <a:off x="676275" y="5991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905256" y="5915025"/>
              <a:ext cx="1076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Observed</a:t>
              </a:r>
            </a:p>
          </p:txBody>
        </p:sp>
        <p:sp>
          <p:nvSpPr>
            <p:cNvPr id="179" name="Ellipse 179"/>
            <p:cNvSpPr/>
            <p:nvPr/>
          </p:nvSpPr>
          <p:spPr>
            <a:xfrm>
              <a:off x="2781300" y="5991225"/>
              <a:ext cx="133350" cy="1333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3010281" y="5915025"/>
              <a:ext cx="2181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at 6 months</a:t>
              </a:r>
            </a:p>
          </p:txBody>
        </p:sp>
      </p:grpSp>
      <p:sp>
        <p:nvSpPr>
          <p:cNvPr id="182" name="TextBox 182"/>
          <p:cNvSpPr txBox="1"/>
          <p:nvPr/>
        </p:nvSpPr>
        <p:spPr>
          <a:xfrm>
            <a:off x="508254" y="6467475"/>
            <a:ext cx="5674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6-month counts: HKD 29/41; ERD 30/39.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824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ATTRITION · FOLLOW THE HKD ARM: 41 ASSIGNED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468313" cy="847725"/>
            <a:chOff x="495300" y="609600"/>
            <a:chExt cx="9468313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46831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missing weights could matter.</a:t>
              </a:r>
            </a:p>
          </p:txBody>
        </p:sp>
      </p:grpSp>
      <p:grpSp>
        <p:nvGrpSpPr>
          <p:cNvPr id="91" name="!!hkd-focus"/>
          <p:cNvGrpSpPr/>
          <p:nvPr/>
        </p:nvGrpSpPr>
        <p:grpSpPr>
          <a:xfrm>
            <a:off x="752856" y="2105025"/>
            <a:ext cx="3736483" cy="3257169"/>
            <a:chOff x="752856" y="2105025"/>
            <a:chExt cx="3736483" cy="3257169"/>
          </a:xfrm>
        </p:grpSpPr>
        <p:grpSp>
          <p:nvGrpSpPr>
            <p:cNvPr id="89" name="hkd-subset-chartArea"/>
            <p:cNvGrpSpPr/>
            <p:nvPr/>
          </p:nvGrpSpPr>
          <p:grpSpPr>
            <a:xfrm>
              <a:off x="781050" y="2105025"/>
              <a:ext cx="3467100" cy="2724150"/>
              <a:chOff x="781050" y="2105025"/>
              <a:chExt cx="3467100" cy="27241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905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810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2668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2573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7430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7335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2193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2098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6955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6860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1718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1623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36480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6385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1243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1148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905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810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2668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2573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7430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7335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2193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2098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6955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6860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1718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31623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6480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6385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1243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1148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905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810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2668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2573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7430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17335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22193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22098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26955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26860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31718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31623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36480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36385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41243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41148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79057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810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126682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2573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174307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7335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221932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22098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269557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26860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3171825" y="3533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31623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3648075" y="3533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36385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4124325" y="3533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41148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7905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7810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2668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2573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17430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7335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22193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22098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26955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6860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31718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31623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36480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36385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41243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41148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790575" y="44862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781050" y="46386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52856" y="5010150"/>
              <a:ext cx="3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HKD: 29 measured + 12 missing</a:t>
              </a:r>
            </a:p>
          </p:txBody>
        </p:sp>
      </p:grpSp>
      <p:grpSp>
        <p:nvGrpSpPr>
          <p:cNvPr id="97" name="unknown-outcomes"/>
          <p:cNvGrpSpPr/>
          <p:nvPr/>
        </p:nvGrpSpPr>
        <p:grpSpPr>
          <a:xfrm>
            <a:off x="6438900" y="2235200"/>
            <a:ext cx="4002612" cy="3003169"/>
            <a:chOff x="6438900" y="2235200"/>
            <a:chExt cx="4002612" cy="3003169"/>
          </a:xfrm>
        </p:grpSpPr>
        <p:sp>
          <p:nvSpPr>
            <p:cNvPr id="92" name="TextBox 92"/>
            <p:cNvSpPr txBox="1"/>
            <p:nvPr/>
          </p:nvSpPr>
          <p:spPr>
            <a:xfrm>
              <a:off x="6489192" y="2235200"/>
              <a:ext cx="34383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UNOBSERVED HKD OUTCOMES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438900" y="2587625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501384" y="3632200"/>
              <a:ext cx="26460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Missing weights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503670" y="4254500"/>
              <a:ext cx="39378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if they lost less weight?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505956" y="4886325"/>
              <a:ext cx="32856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Their responses are unknown.</a:t>
              </a:r>
            </a:p>
          </p:txBody>
        </p:sp>
      </p:grpSp>
      <p:grpSp>
        <p:nvGrpSpPr>
          <p:cNvPr id="99" name="unknown-mean"/>
          <p:cNvGrpSpPr/>
          <p:nvPr/>
        </p:nvGrpSpPr>
        <p:grpSpPr>
          <a:xfrm>
            <a:off x="2218654" y="5848350"/>
            <a:ext cx="7754692" cy="352044"/>
            <a:chOff x="2218654" y="5848350"/>
            <a:chExt cx="7754692" cy="352044"/>
          </a:xfrm>
        </p:grpSpPr>
        <p:sp>
          <p:nvSpPr>
            <p:cNvPr id="98" name="TextBox 98"/>
            <p:cNvSpPr txBox="1"/>
            <p:nvPr/>
          </p:nvSpPr>
          <p:spPr>
            <a:xfrm>
              <a:off x="2218654" y="5848350"/>
              <a:ext cx="77546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12 unobserved weights could change the HKD group estimate.</a:t>
              </a:r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508254" y="6467475"/>
            <a:ext cx="84356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The question is hypothetical; the missing patients’ weight changes are unknown.</a:t>
            </a:r>
          </a:p>
        </p:txBody>
      </p:sp>
    </p:spTree>
  </p:cSld>
  <p:clrMapOvr>
    <a:masterClrMapping/>
  </p:clrMapOvr>
  <p:transition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7001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ATTRITION · ILLUSTRATIVE BIAS MECHANISM, NOT A REPORTED FINDING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456237" cy="847725"/>
            <a:chOff x="495300" y="609600"/>
            <a:chExt cx="10456237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45623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Selection can change the comparison.</a:t>
              </a:r>
            </a:p>
          </p:txBody>
        </p:sp>
      </p:grpSp>
      <p:grpSp>
        <p:nvGrpSpPr>
          <p:cNvPr id="91" name="!!hkd-focus"/>
          <p:cNvGrpSpPr/>
          <p:nvPr/>
        </p:nvGrpSpPr>
        <p:grpSpPr>
          <a:xfrm>
            <a:off x="733806" y="2265045"/>
            <a:ext cx="2531364" cy="3005074"/>
            <a:chOff x="733806" y="2265045"/>
            <a:chExt cx="2531364" cy="3005074"/>
          </a:xfrm>
        </p:grpSpPr>
        <p:grpSp>
          <p:nvGrpSpPr>
            <p:cNvPr id="89" name="hkd-subset-chartArea"/>
            <p:cNvGrpSpPr/>
            <p:nvPr/>
          </p:nvGrpSpPr>
          <p:grpSpPr>
            <a:xfrm>
              <a:off x="758190" y="2265045"/>
              <a:ext cx="2506980" cy="1988820"/>
              <a:chOff x="758190" y="2265045"/>
              <a:chExt cx="2506980" cy="198882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658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581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87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1010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4516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4439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7945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7868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1374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1297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4803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4726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8232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8155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661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1584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658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581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1087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1010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4516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4439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7945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7868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1374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1297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4803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4726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28232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8155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1661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1584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658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581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1087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1010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4516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14439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17945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17868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21374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21297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24803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24726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8232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8155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31661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31584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7658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581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11087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1010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14516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4439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17945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17868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21374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21297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2480310" y="32937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24726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2823210" y="32937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28155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3166110" y="32937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31584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7658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7581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1087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1010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14516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4439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17945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17868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21374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1297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4803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24726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28232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28155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31661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31584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765810" y="39795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758190" y="41014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33806" y="4594225"/>
              <a:ext cx="141617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 measured</a:t>
              </a:r>
              <a:b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 missing</a:t>
              </a:r>
            </a:p>
          </p:txBody>
        </p:sp>
      </p:grpSp>
      <p:grpSp>
        <p:nvGrpSpPr>
          <p:cNvPr id="96" name="selection-mechanism"/>
          <p:cNvGrpSpPr/>
          <p:nvPr/>
        </p:nvGrpSpPr>
        <p:grpSpPr>
          <a:xfrm>
            <a:off x="4634484" y="2133600"/>
            <a:ext cx="5101511" cy="3083941"/>
            <a:chOff x="4634484" y="2133600"/>
            <a:chExt cx="5101511" cy="3083941"/>
          </a:xfrm>
        </p:grpSpPr>
        <p:sp>
          <p:nvSpPr>
            <p:cNvPr id="92" name="TextBox 92"/>
            <p:cNvSpPr txBox="1"/>
            <p:nvPr/>
          </p:nvSpPr>
          <p:spPr>
            <a:xfrm>
              <a:off x="4639056" y="2133600"/>
              <a:ext cx="50969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POORER HKD RESPONDERS LEAVE…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636770" y="2613025"/>
              <a:ext cx="3786188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measured HKD subset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contains better responders.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4857750" y="3657600"/>
              <a:ext cx="1" cy="40005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634484" y="4260850"/>
              <a:ext cx="4386548" cy="9566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Completer-only weight loss</a:t>
              </a:r>
              <a:b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</a:br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could look larger.</a:t>
              </a:r>
            </a:p>
          </p:txBody>
        </p:sp>
      </p:grpSp>
      <p:grpSp>
        <p:nvGrpSpPr>
          <p:cNvPr id="98" name="selection-consequence"/>
          <p:cNvGrpSpPr/>
          <p:nvPr/>
        </p:nvGrpSpPr>
        <p:grpSpPr>
          <a:xfrm>
            <a:off x="1885217" y="5810250"/>
            <a:ext cx="8421566" cy="352044"/>
            <a:chOff x="1885217" y="5810250"/>
            <a:chExt cx="8421566" cy="352044"/>
          </a:xfrm>
        </p:grpSpPr>
        <p:sp>
          <p:nvSpPr>
            <p:cNvPr id="97" name="TextBox 97"/>
            <p:cNvSpPr txBox="1"/>
            <p:nvPr/>
          </p:nvSpPr>
          <p:spPr>
            <a:xfrm>
              <a:off x="1885217" y="5810250"/>
              <a:ext cx="8421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Potential attrition bias. Other missingness patterns could shrink the gap.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508254" y="6467475"/>
            <a:ext cx="82340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Randomisation protects the assigned comparison; a subset selected after assignment need not retain that balance.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560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ATTRITION · WHY THE MISSING OUTCOMES STILL MATTER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092632" cy="847725"/>
            <a:chOff x="495300" y="609600"/>
            <a:chExt cx="1009263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09263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 ITT label cannot restore weights.</a:t>
              </a:r>
            </a:p>
          </p:txBody>
        </p:sp>
      </p:grpSp>
      <p:grpSp>
        <p:nvGrpSpPr>
          <p:cNvPr id="10" name="assignment-labels"/>
          <p:cNvGrpSpPr/>
          <p:nvPr/>
        </p:nvGrpSpPr>
        <p:grpSpPr>
          <a:xfrm>
            <a:off x="514350" y="2152650"/>
            <a:ext cx="5143500" cy="2295525"/>
            <a:chOff x="514350" y="2152650"/>
            <a:chExt cx="5143500" cy="2295525"/>
          </a:xfrm>
        </p:grpSpPr>
        <p:sp>
          <p:nvSpPr>
            <p:cNvPr id="7" name="Rectangle 7"/>
            <p:cNvSpPr/>
            <p:nvPr/>
          </p:nvSpPr>
          <p:spPr>
            <a:xfrm>
              <a:off x="514350" y="2152650"/>
              <a:ext cx="5143500" cy="2295525"/>
            </a:xfrm>
            <a:prstGeom prst="roundRect">
              <a:avLst>
                <a:gd name="adj" fmla="val 91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284" y="2308225"/>
              <a:ext cx="29257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ITT was claimed.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2879725"/>
              <a:ext cx="420029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Keeping original group labels</a:t>
              </a:r>
              <a:b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does not supply missing weights.</a:t>
              </a:r>
            </a:p>
          </p:txBody>
        </p:sp>
      </p:grpSp>
      <p:grpSp>
        <p:nvGrpSpPr>
          <p:cNvPr id="14" name="missing-weights"/>
          <p:cNvGrpSpPr/>
          <p:nvPr/>
        </p:nvGrpSpPr>
        <p:grpSpPr>
          <a:xfrm>
            <a:off x="6491859" y="2279650"/>
            <a:ext cx="4280992" cy="2015744"/>
            <a:chOff x="6491859" y="2279650"/>
            <a:chExt cx="4280992" cy="2015744"/>
          </a:xfrm>
        </p:grpSpPr>
        <p:sp>
          <p:nvSpPr>
            <p:cNvPr id="11" name="TextBox 11"/>
            <p:cNvSpPr txBox="1"/>
            <p:nvPr/>
          </p:nvSpPr>
          <p:spPr>
            <a:xfrm>
              <a:off x="6491859" y="2279650"/>
              <a:ext cx="21975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Still needed: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94145" y="2841625"/>
              <a:ext cx="4278706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Observed outcomes, or explicit</a:t>
              </a:r>
              <a:b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missing-data assumptions.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96431" y="3943350"/>
              <a:ext cx="3514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Handling is unclear in the report.</a:t>
              </a:r>
            </a:p>
          </p:txBody>
        </p:sp>
      </p:grpSp>
      <p:grpSp>
        <p:nvGrpSpPr>
          <p:cNvPr id="18" name="followup-principle"/>
          <p:cNvGrpSpPr/>
          <p:nvPr/>
        </p:nvGrpSpPr>
        <p:grpSpPr>
          <a:xfrm>
            <a:off x="514350" y="5010150"/>
            <a:ext cx="11163300" cy="1181100"/>
            <a:chOff x="514350" y="5010150"/>
            <a:chExt cx="11163300" cy="1181100"/>
          </a:xfrm>
        </p:grpSpPr>
        <p:sp>
          <p:nvSpPr>
            <p:cNvPr id="15" name="Rectangle 15"/>
            <p:cNvSpPr/>
            <p:nvPr/>
          </p:nvSpPr>
          <p:spPr>
            <a:xfrm>
              <a:off x="514350" y="5010150"/>
              <a:ext cx="11163300" cy="1181100"/>
            </a:xfrm>
            <a:prstGeom prst="roundRect">
              <a:avLst>
                <a:gd name="adj" fmla="val 177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284" y="5137150"/>
              <a:ext cx="58238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Diet stopped ≠ follow-up stopped.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856" y="5667375"/>
              <a:ext cx="6975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Their outcomes still belong to the assignment-group comparison.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08254" y="6467475"/>
            <a:ext cx="87745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2.9 · Continue outcome collection where possible; remaining missingness requires assumptions.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795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STUDY DESIGN · THREE LIMITS, ONE CAREFUL CONCLUSION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073879" cy="847725"/>
            <a:chOff x="495300" y="609600"/>
            <a:chExt cx="9073879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07387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A result is not a full explanation.</a:t>
              </a:r>
            </a:p>
          </p:txBody>
        </p:sp>
      </p:grpSp>
      <p:grpSp>
        <p:nvGrpSpPr>
          <p:cNvPr id="9" name="programme-verdict"/>
          <p:cNvGrpSpPr/>
          <p:nvPr/>
        </p:nvGrpSpPr>
        <p:grpSpPr>
          <a:xfrm>
            <a:off x="685800" y="2168525"/>
            <a:ext cx="9023637" cy="1136650"/>
            <a:chOff x="685800" y="2168525"/>
            <a:chExt cx="9023637" cy="1136650"/>
          </a:xfrm>
        </p:grpSpPr>
        <p:sp>
          <p:nvSpPr>
            <p:cNvPr id="7" name="TextBox 7"/>
            <p:cNvSpPr txBox="1"/>
            <p:nvPr/>
          </p:nvSpPr>
          <p:spPr>
            <a:xfrm>
              <a:off x="697992" y="2168525"/>
              <a:ext cx="3374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WHAT THE DESIGN CAN EVALUATE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5800" y="2457450"/>
              <a:ext cx="902363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A supported dietary programme.</a:t>
              </a:r>
            </a:p>
          </p:txBody>
        </p:sp>
      </p:grpSp>
      <p:grpSp>
        <p:nvGrpSpPr>
          <p:cNvPr id="16" name="bounded-judgement"/>
          <p:cNvGrpSpPr/>
          <p:nvPr/>
        </p:nvGrpSpPr>
        <p:grpSpPr>
          <a:xfrm>
            <a:off x="712470" y="3778250"/>
            <a:ext cx="9230685" cy="1525905"/>
            <a:chOff x="712470" y="3778250"/>
            <a:chExt cx="9230685" cy="1525905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778250"/>
              <a:ext cx="13744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ENERGY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2820" y="3778250"/>
              <a:ext cx="61944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Calorie-independent effects were not isolated.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2470" y="4321175"/>
              <a:ext cx="14277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KETOSIS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2820" y="4321175"/>
              <a:ext cx="5857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Actual metabolic exposure was not verified.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2470" y="4864100"/>
              <a:ext cx="172944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ATTRITION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2820" y="4864100"/>
              <a:ext cx="6430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Missing outcomes may change the comparison.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8254" y="6467475"/>
            <a:ext cx="4710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Lim SL et al. (2024). Nutrients 16:4380. doi:10.3390/nu16244380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design_critique">
  <a:themeElements>
    <a:clrScheme name="weight_loss_design_critique">
      <a:dk1>
        <a:srgbClr val="142D3A"/>
      </a:dk1>
      <a:lt1>
        <a:srgbClr val="F7F6F0"/>
      </a:lt1>
      <a:dk2>
        <a:srgbClr val="1F497D"/>
      </a:dk2>
      <a:lt2>
        <a:srgbClr val="E8F1EE"/>
      </a:lt2>
      <a:accent1>
        <a:srgbClr val="142D3A"/>
      </a:accent1>
      <a:accent2>
        <a:srgbClr val="E66D4C"/>
      </a:accent2>
      <a:accent3>
        <a:srgbClr val="087F8C"/>
      </a:accent3>
      <a:accent4>
        <a:srgbClr val="142D3A"/>
      </a:accent4>
      <a:accent5>
        <a:srgbClr val="52656B"/>
      </a:accent5>
      <a:accent6>
        <a:srgbClr val="B8CCC8"/>
      </a:accent6>
      <a:hlink>
        <a:srgbClr val="E66D4C"/>
      </a:hlink>
      <a:folHlink>
        <a:srgbClr val="087F8C"/>
      </a:folHlink>
    </a:clrScheme>
    <a:fontScheme name="weight_loss_design_critique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design_critiq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design_critique">
  <a:themeElements>
    <a:clrScheme name="weight_loss_design_critique">
      <a:dk1>
        <a:srgbClr val="142D3A"/>
      </a:dk1>
      <a:lt1>
        <a:srgbClr val="F7F6F0"/>
      </a:lt1>
      <a:dk2>
        <a:srgbClr val="1F497D"/>
      </a:dk2>
      <a:lt2>
        <a:srgbClr val="E8F1EE"/>
      </a:lt2>
      <a:accent1>
        <a:srgbClr val="142D3A"/>
      </a:accent1>
      <a:accent2>
        <a:srgbClr val="E66D4C"/>
      </a:accent2>
      <a:accent3>
        <a:srgbClr val="087F8C"/>
      </a:accent3>
      <a:accent4>
        <a:srgbClr val="142D3A"/>
      </a:accent4>
      <a:accent5>
        <a:srgbClr val="52656B"/>
      </a:accent5>
      <a:accent6>
        <a:srgbClr val="B8CCC8"/>
      </a:accent6>
      <a:hlink>
        <a:srgbClr val="E66D4C"/>
      </a:hlink>
      <a:folHlink>
        <a:srgbClr val="087F8C"/>
      </a:folHlink>
    </a:clrScheme>
    <a:fontScheme name="weight_loss_design_critique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design_critiq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2026-10-26T12:06:54Z</dcterms:created>
  <dcterms:modified xsi:type="dcterms:W3CDTF">2026-10-26T12:06:54Z</dcterms:modified>
  <cp:category/>
  <cp:contentStatus/>
</cp:coreProperties>
</file>