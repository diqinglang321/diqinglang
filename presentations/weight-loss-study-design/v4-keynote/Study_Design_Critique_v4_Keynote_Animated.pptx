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 autoCompressPictures="0">
  <p:sldMasterIdLst>
    <p:sldMasterId id="2147483648" r:id="rId1"/>
  </p:sldMasterIdLst>
  <p:notesMasterIdLst>
    <p:notesMasterId r:id="rId24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2000" cy="6858000" type="screen16x9"/>
  <p:notesSz cx="6858000" cy="9144000"/>
  <p:defaultTextStyle>
    <a:defPPr>
      <a:defRPr lang="en-GB"/>
    </a:defPPr>
    <a:lvl1pPr marL="0" algn="l" defTabSz="457200" rtl="0" eaLnBrk="1" latinLnBrk="0" hangingPunct="1">
      <a:defRPr sz="1800" kern="1200" lang="en-GB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 lang="en-GB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 lang="en-GB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 lang="en-GB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 lang="en-GB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 lang="en-GB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 lang="en-GB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 lang="en-GB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 lang="en-GB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  <Relationship Id="rId24" Type="http://schemas.openxmlformats.org/officeDocument/2006/relationships/notesMaster" Target="notesMasters/notesMaster1.xml"/>
</Relationships>
</file>

<file path=ppt/notesMasters/_rels/notesMaster1.xml.rels><?xml version="1.0" encoding="UTF-8" standalone="yes"?>
<Relationships xmlns="http://schemas.openxmlformats.org/package/2006/relationships">
  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pPr/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/>
  <p:notesStyle>
    <a:lvl1pPr marL="0" algn="l">
      <a:defRPr sz="1200" lang="en-GB"/>
    </a:lvl1pPr>
  </p:notesStyle>
</p:notesMaster>
</file>

<file path=ppt/notesSlides/_rels/notesSlide1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.xml"/>
</Relationships>
</file>

<file path=ppt/notesSlides/_rels/notesSlide2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2.xml"/>
</Relationships>
</file>

<file path=ppt/notesSlides/_rels/notesSlide3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3.xml"/>
</Relationships>
</file>

<file path=ppt/notesSlides/_rels/notesSlide4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4.xml"/>
</Relationships>
</file>

<file path=ppt/notesSlides/_rels/notesSlide5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5.xml"/>
</Relationships>
</file>

<file path=ppt/notesSlides/_rels/notesSlide6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6.xml"/>
</Relationships>
</file>

<file path=ppt/notesSlides/_rels/notesSlide7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7.xml"/>
</Relationships>
</file>

<file path=ppt/notesSlides/_rels/notesSlide8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8.xml"/>
</Relationships>
</file>

<file path=ppt/notesSlides/_rels/notesSlide9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9.xml"/>
</Relationships>
</file>

<file path=ppt/notesSlides/_rels/notesSlide10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0.xml"/>
</Relationships>
</file>

<file path=ppt/notesSlides/_rels/notesSlide11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1.xml"/>
</Relationships>
</file>

<file path=ppt/notesSlides/_rels/notesSlide12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2.xml"/>
</Relationships>
</file>

<file path=ppt/notesSlides/_rels/notesSlide13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3.xml"/>
</Relationships>
</file>

<file path=ppt/notesSlides/_rels/notesSlide14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4.xml"/>
</Relationships>
</file>

<file path=ppt/notesSlides/_rels/notesSlide15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5.xml"/>
</Relationships>
</file>

<file path=ppt/notesSlides/_rels/notesSlide16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6.xml"/>
</Relationships>
</file>

<file path=ppt/notesSlides/_rels/notesSlide17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7.xml"/>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en-GB" dirty="0"/>
              <a:t>Randomisation within sex and BMI strata helps balance those characteristics. Concealed allocation reduces the opportunity to select participants knowing their next group.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en-GB" dirty="0"/>
              <a:t>Both groups received support, making unequal attention a less likely explanation. Calibrated weighing makes the primary outcome less dependent on self-report.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en-GB" dirty="0"/>
              <a:t>First, the weight-loss mechanism was not isolated.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en-GB" dirty="0"/>
              <a:t>Both groups received calorie-restriction advice. Yet reported intake fell by seven hundred and four calories in HKD, versus four hundred and twenty-three in ERD.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en-GB" dirty="0"/>
              <a:t>Low-carbohydrate advice was intended to induce ketosis. But without objective ketone measurements, we cannot confirm who achieved or sustained that state.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en-GB" dirty="0"/>
              <a:t>Lower energy intake could also explain extra weight loss. These routes can overlap: ketosis, if present, might affect appetite. Their separate contributions were not established.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en-GB" dirty="0"/>
              <a:t>Eating less can be part of the programme’s benefit. The limitation is attributing that benefit specifically to ketosis, independently of calorie intake.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en-GB" dirty="0"/>
              <a:t>Second, eighty people entered the trial.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en-GB" dirty="0"/>
              <a:t>At six months, fifty-nine had weight measurements. Twenty-one outcomes were missing, which does not establish dietary non-adherence.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en-GB" dirty="0"/>
              <a:t>In HKD, twelve of forty-one weights were missing. These participants might still have followed the diet.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en-GB" dirty="0"/>
              <a:t>They could have lost less, the same, or more weight than those measured. Without their outcomes, their contribution to the group estimate remains unknown.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en-GB" dirty="0"/>
              <a:t>If poorer HKD responders were disproportionately missing, the observed subset would look more successful. A comparison based on that subset could overstate the benefit: potential attrition bias.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en-GB" dirty="0"/>
              <a:t>Other missingness patterns could shrink the contrast. The report does not clearly explain how missing outcomes were handled.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en-GB" dirty="0"/>
              <a:t>Third, this was one hospital’s staff, about eighty-six percent women, with English and smartphone requirements. Random assignment does not make the sample representative.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en-GB" dirty="0"/>
              <a:t>Participants also received seven workshops and app-based dietitian coaching. That support formed part of the conditions under which the result was obtained.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en-GB" dirty="0"/>
              <a:t>Other adults, or those receiving less support, may respond differently. Similar benefit is untested, rather than proven absent.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en-GB" dirty="0"/>
              <a:t>So the design leaves three questions: why it works, how reliable the estimated benefit is, and for whom it applies.</a:t>
            </a:r>
          </a:p>
        </p:txBody>
      </p:sp>
    </p:spTree>
  </p:cSld>
  <p:clrMapOvr>
    <a:masterClrMapping/>
  </p:clrMapOvr>
</p:note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p="http://schemas.openxmlformats.org/presentationml/2006/main" type="blank" preserve="1">
  <p:cSld name="weight_loss_keynote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GB" smtClean="0"/>
              <a:t>1/27/13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weight_loss_keynote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lang="en-GB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GB" smtClean="0"/>
              <a:t>1/27/13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lang="en-GB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lang="en-GB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GB" smtClean="0"/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800" kern="1200" lang="en-GB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2250" kern="1200" lang="en-GB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100" kern="1200" lang="en-GB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1950" kern="1200" lang="en-GB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1850" kern="1200" lang="en-GB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1700" kern="1200" lang="en-GB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1550" kern="1200" lang="en-GB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1400" kern="1200" lang="en-GB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1250" kern="1200" lang="en-GB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1100" kern="1200" lang="en-GB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GB"/>
      </a:defPPr>
      <a:lvl1pPr marL="0" algn="l" defTabSz="457200" rtl="0" eaLnBrk="1" latinLnBrk="0" hangingPunct="1">
        <a:defRPr sz="2250" kern="1200" lang="en-GB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2100" kern="1200" lang="en-GB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950" kern="1200" lang="en-GB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50" kern="1200" lang="en-GB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700" kern="1200" lang="en-GB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550" kern="1200" lang="en-GB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400" kern="1200" lang="en-GB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250" kern="1200" lang="en-GB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100" kern="1200" lang="en-GB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1.xml"/>
</Relationships>
</file>

<file path=ppt/slides/_rels/slide2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2.xml"/>
</Relationships>
</file>

<file path=ppt/slides/_rels/slide3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3.xml"/>
</Relationships>
</file>

<file path=ppt/slides/_rels/slide4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4.xml"/>
</Relationships>
</file>

<file path=ppt/slides/_rels/slide5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5.xml"/>
</Relationships>
</file>

<file path=ppt/slides/_rels/slide6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6.xml"/>
</Relationships>
</file>

<file path=ppt/slides/_rels/slide7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7.xml"/>
</Relationships>
</file>

<file path=ppt/slides/_rels/slide8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8.xml"/>
</Relationships>
</file>

<file path=ppt/slides/_rels/slide9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9.xml"/>
</Relationships>
</file>

<file path=ppt/slides/_rels/slide10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10.xml"/>
</Relationships>
</file>

<file path=ppt/slides/_rels/slide11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11.xml"/>
</Relationships>
</file>

<file path=ppt/slides/_rels/slide12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12.xml"/>
</Relationships>
</file>

<file path=ppt/slides/_rels/slide13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13.xml"/>
</Relationships>
</file>

<file path=ppt/slides/_rels/slide14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14.xml"/>
</Relationships>
</file>

<file path=ppt/slides/_rels/slide15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15.xml"/>
</Relationships>
</file>

<file path=ppt/slides/_rels/slide16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16.xml"/>
</Relationships>
</file>

<file path=ppt/slides/_rels/slide17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17.xml"/>
</Relationships>
</file>

<file path=ppt/slides/slide1.xml><?xml version="1.0" encoding="utf-8"?>
<p:sld xmlns:a="http://schemas.openxmlformats.org/drawingml/2006/main" xmlns:p="http://schemas.openxmlformats.org/presentationml/2006/main" xmlns:p14="http://schemas.microsoft.com/office/powerpoint/2010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chapter-chrome"/>
          <p:cNvGrpSpPr/>
          <p:nvPr/>
        </p:nvGrpSpPr>
        <p:grpSpPr>
          <a:xfrm>
            <a:off x="602742" y="301625"/>
            <a:ext cx="10985754" cy="264033"/>
            <a:chOff x="602742" y="301625"/>
            <a:chExt cx="10985754" cy="264033"/>
          </a:xfrm>
        </p:grpSpPr>
        <p:sp>
          <p:nvSpPr>
            <p:cNvPr id="2" name="TextBox 2"/>
            <p:cNvSpPr txBox="1"/>
            <p:nvPr/>
          </p:nvSpPr>
          <p:spPr>
            <a:xfrm>
              <a:off x="602742" y="301625"/>
              <a:ext cx="373706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GB" sz="1350" b="1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DESIGN STRENGTHS · WHY THEY HELP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11082270" y="314325"/>
              <a:ext cx="50622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GB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01 / 17</a:t>
              </a:r>
            </a:p>
          </p:txBody>
        </p:sp>
      </p:grpSp>
      <p:grpSp>
        <p:nvGrpSpPr>
          <p:cNvPr id="6" name="scene-heading"/>
          <p:cNvGrpSpPr/>
          <p:nvPr/>
        </p:nvGrpSpPr>
        <p:grpSpPr>
          <a:xfrm>
            <a:off x="590550" y="841375"/>
            <a:ext cx="6343215" cy="933450"/>
            <a:chOff x="590550" y="841375"/>
            <a:chExt cx="6343215" cy="933450"/>
          </a:xfrm>
        </p:grpSpPr>
        <p:sp>
          <p:nvSpPr>
            <p:cNvPr id="5" name="TextBox 5"/>
            <p:cNvSpPr txBox="1"/>
            <p:nvPr/>
          </p:nvSpPr>
          <p:spPr>
            <a:xfrm>
              <a:off x="590550" y="841375"/>
              <a:ext cx="6343215" cy="9334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GB" sz="4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 fairer comparison.</a:t>
              </a:r>
            </a:p>
          </p:txBody>
        </p:sp>
      </p:grpSp>
      <p:grpSp>
        <p:nvGrpSpPr>
          <p:cNvPr id="16" name="!!randomisation"/>
          <p:cNvGrpSpPr/>
          <p:nvPr/>
        </p:nvGrpSpPr>
        <p:grpSpPr>
          <a:xfrm>
            <a:off x="1414250" y="2162175"/>
            <a:ext cx="3515150" cy="2599944"/>
            <a:chOff x="1414250" y="2162175"/>
            <a:chExt cx="3515150" cy="2599944"/>
          </a:xfrm>
        </p:grpSpPr>
        <p:sp>
          <p:nvSpPr>
            <p:cNvPr id="7" name="Ellipse 7"/>
            <p:cNvSpPr/>
            <p:nvPr/>
          </p:nvSpPr>
          <p:spPr>
            <a:xfrm>
              <a:off x="3038475" y="2162175"/>
              <a:ext cx="228600" cy="228600"/>
            </a:xfrm>
            <a:prstGeom prst="ellipse">
              <a:avLst/>
            </a:prstGeom>
            <a:noFill/>
            <a:ln w="28575">
              <a:solidFill>
                <a:schemeClr val="accent3"/>
              </a:solidFill>
            </a:ln>
          </p:spPr>
        </p:sp>
        <p:sp>
          <p:nvSpPr>
            <p:cNvPr id="8" name="Line 8"/>
            <p:cNvSpPr/>
            <p:nvPr/>
          </p:nvSpPr>
          <p:spPr>
            <a:xfrm>
              <a:off x="3152775" y="2409825"/>
              <a:ext cx="9525" cy="247650"/>
            </a:xfrm>
            <a:custGeom>
              <a:avLst/>
              <a:gdLst/>
              <a:ahLst/>
              <a:cxnLst/>
              <a:rect l="l" t="t" r="r" b="b"/>
              <a:pathLst>
                <a:path w="9525" h="247650">
                  <a:moveTo>
                    <a:pt x="0" y="0"/>
                  </a:moveTo>
                  <a:lnTo>
                    <a:pt x="0" y="247650"/>
                  </a:lnTo>
                </a:path>
              </a:pathLst>
            </a:custGeom>
            <a:noFill/>
            <a:ln w="28575" cap="rnd">
              <a:solidFill>
                <a:schemeClr val="accent3"/>
              </a:solidFill>
            </a:ln>
          </p:spPr>
        </p:sp>
        <p:sp>
          <p:nvSpPr>
            <p:cNvPr id="9" name="Line 9"/>
            <p:cNvSpPr/>
            <p:nvPr/>
          </p:nvSpPr>
          <p:spPr>
            <a:xfrm>
              <a:off x="2752725" y="2657475"/>
              <a:ext cx="800100" cy="9525"/>
            </a:xfrm>
            <a:custGeom>
              <a:avLst/>
              <a:gdLst/>
              <a:ahLst/>
              <a:cxnLst/>
              <a:rect l="l" t="t" r="r" b="b"/>
              <a:pathLst>
                <a:path w="800100" h="9525">
                  <a:moveTo>
                    <a:pt x="0" y="0"/>
                  </a:moveTo>
                  <a:lnTo>
                    <a:pt x="800100" y="0"/>
                  </a:lnTo>
                </a:path>
              </a:pathLst>
            </a:custGeom>
            <a:noFill/>
            <a:ln w="28575" cap="rnd">
              <a:solidFill>
                <a:schemeClr val="accent3"/>
              </a:solidFill>
            </a:ln>
          </p:spPr>
        </p:sp>
        <p:sp>
          <p:nvSpPr>
            <p:cNvPr id="10" name="Line 10"/>
            <p:cNvSpPr/>
            <p:nvPr/>
          </p:nvSpPr>
          <p:spPr>
            <a:xfrm>
              <a:off x="2752725" y="2657475"/>
              <a:ext cx="9525" cy="209550"/>
            </a:xfrm>
            <a:custGeom>
              <a:avLst/>
              <a:gdLst/>
              <a:ahLst/>
              <a:cxnLst/>
              <a:rect l="l" t="t" r="r" b="b"/>
              <a:pathLst>
                <a:path w="9525" h="209550">
                  <a:moveTo>
                    <a:pt x="0" y="0"/>
                  </a:moveTo>
                  <a:lnTo>
                    <a:pt x="0" y="209550"/>
                  </a:lnTo>
                </a:path>
              </a:pathLst>
            </a:custGeom>
            <a:noFill/>
            <a:ln w="28575" cap="rnd">
              <a:solidFill>
                <a:schemeClr val="accent3"/>
              </a:solidFill>
            </a:ln>
          </p:spPr>
        </p:sp>
        <p:sp>
          <p:nvSpPr>
            <p:cNvPr id="11" name="Line 11"/>
            <p:cNvSpPr/>
            <p:nvPr/>
          </p:nvSpPr>
          <p:spPr>
            <a:xfrm>
              <a:off x="3552825" y="2657475"/>
              <a:ext cx="9525" cy="209550"/>
            </a:xfrm>
            <a:custGeom>
              <a:avLst/>
              <a:gdLst/>
              <a:ahLst/>
              <a:cxnLst/>
              <a:rect l="l" t="t" r="r" b="b"/>
              <a:pathLst>
                <a:path w="9525" h="209550">
                  <a:moveTo>
                    <a:pt x="0" y="0"/>
                  </a:moveTo>
                  <a:lnTo>
                    <a:pt x="0" y="209550"/>
                  </a:lnTo>
                </a:path>
              </a:pathLst>
            </a:custGeom>
            <a:noFill/>
            <a:ln w="28575" cap="rnd">
              <a:solidFill>
                <a:schemeClr val="accent3"/>
              </a:solidFill>
            </a:ln>
          </p:spPr>
        </p:sp>
        <p:sp>
          <p:nvSpPr>
            <p:cNvPr id="12" name="Rectangle 12"/>
            <p:cNvSpPr/>
            <p:nvPr/>
          </p:nvSpPr>
          <p:spPr>
            <a:xfrm>
              <a:off x="2581275" y="2905125"/>
              <a:ext cx="361950" cy="304800"/>
            </a:xfrm>
            <a:prstGeom prst="roundRect">
              <a:avLst>
                <a:gd name="adj" fmla="val 25000"/>
              </a:avLst>
            </a:prstGeom>
            <a:noFill/>
            <a:ln w="28575">
              <a:solidFill>
                <a:schemeClr val="accent3"/>
              </a:solidFill>
            </a:ln>
          </p:spPr>
        </p:sp>
        <p:sp>
          <p:nvSpPr>
            <p:cNvPr id="13" name="Rectangle 13"/>
            <p:cNvSpPr/>
            <p:nvPr/>
          </p:nvSpPr>
          <p:spPr>
            <a:xfrm>
              <a:off x="3381375" y="2905125"/>
              <a:ext cx="361950" cy="304800"/>
            </a:xfrm>
            <a:prstGeom prst="roundRect">
              <a:avLst>
                <a:gd name="adj" fmla="val 25000"/>
              </a:avLst>
            </a:prstGeom>
            <a:noFill/>
            <a:ln w="28575">
              <a:solidFill>
                <a:schemeClr val="accent3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1414250" y="3597275"/>
              <a:ext cx="3515150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GB" sz="22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Stratified randomisation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771216" y="4105275"/>
              <a:ext cx="2801219" cy="6568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2400"/>
                </a:lnSpc>
              </a:pPr>
              <a:r>
                <a:rPr lang="en-GB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Helps balance sex and BMI</a:t>
              </a:r>
              <a:br>
                <a:rPr lang="en-GB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</a:br>
              <a:r>
                <a:rPr lang="en-GB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across the two groups.</a:t>
              </a:r>
            </a:p>
          </p:txBody>
        </p:sp>
      </p:grpSp>
      <p:grpSp>
        <p:nvGrpSpPr>
          <p:cNvPr id="24" name="!!concealment"/>
          <p:cNvGrpSpPr/>
          <p:nvPr/>
        </p:nvGrpSpPr>
        <p:grpSpPr>
          <a:xfrm>
            <a:off x="7511346" y="2324100"/>
            <a:ext cx="3131957" cy="2438019"/>
            <a:chOff x="7511346" y="2324100"/>
            <a:chExt cx="3131957" cy="2438019"/>
          </a:xfrm>
        </p:grpSpPr>
        <p:sp>
          <p:nvSpPr>
            <p:cNvPr id="17" name="Rectangle 17"/>
            <p:cNvSpPr/>
            <p:nvPr/>
          </p:nvSpPr>
          <p:spPr>
            <a:xfrm>
              <a:off x="8420100" y="2324100"/>
              <a:ext cx="1143000" cy="762000"/>
            </a:xfrm>
            <a:prstGeom prst="roundRect">
              <a:avLst>
                <a:gd name="adj" fmla="val 12500"/>
              </a:avLst>
            </a:prstGeom>
            <a:noFill/>
            <a:ln w="28575">
              <a:solidFill>
                <a:schemeClr val="accent3"/>
              </a:solidFill>
            </a:ln>
          </p:spPr>
        </p:sp>
        <p:sp>
          <p:nvSpPr>
            <p:cNvPr id="18" name="Line 18"/>
            <p:cNvSpPr/>
            <p:nvPr/>
          </p:nvSpPr>
          <p:spPr>
            <a:xfrm>
              <a:off x="8458200" y="2381250"/>
              <a:ext cx="533400" cy="371475"/>
            </a:xfrm>
            <a:custGeom>
              <a:avLst/>
              <a:gdLst/>
              <a:ahLst/>
              <a:cxnLst/>
              <a:rect l="l" t="t" r="r" b="b"/>
              <a:pathLst>
                <a:path w="533400" h="371475">
                  <a:moveTo>
                    <a:pt x="0" y="0"/>
                  </a:moveTo>
                  <a:lnTo>
                    <a:pt x="533400" y="371475"/>
                  </a:lnTo>
                </a:path>
              </a:pathLst>
            </a:custGeom>
            <a:noFill/>
            <a:ln w="28575" cap="rnd">
              <a:solidFill>
                <a:schemeClr val="accent3"/>
              </a:solidFill>
            </a:ln>
          </p:spPr>
        </p:sp>
        <p:sp>
          <p:nvSpPr>
            <p:cNvPr id="19" name="Line 19"/>
            <p:cNvSpPr/>
            <p:nvPr/>
          </p:nvSpPr>
          <p:spPr>
            <a:xfrm>
              <a:off x="8991600" y="2381250"/>
              <a:ext cx="533400" cy="371475"/>
            </a:xfrm>
            <a:custGeom>
              <a:avLst/>
              <a:gdLst/>
              <a:ahLst/>
              <a:cxnLst/>
              <a:rect l="l" t="t" r="r" b="b"/>
              <a:pathLst>
                <a:path w="533400" h="371475">
                  <a:moveTo>
                    <a:pt x="0" y="371475"/>
                  </a:moveTo>
                  <a:lnTo>
                    <a:pt x="533400" y="0"/>
                  </a:lnTo>
                </a:path>
              </a:pathLst>
            </a:custGeom>
            <a:noFill/>
            <a:ln w="28575" cap="rnd">
              <a:solidFill>
                <a:schemeClr val="accent3"/>
              </a:solidFill>
            </a:ln>
          </p:spPr>
        </p:sp>
        <p:sp>
          <p:nvSpPr>
            <p:cNvPr id="20" name="Rectangle 20"/>
            <p:cNvSpPr/>
            <p:nvPr/>
          </p:nvSpPr>
          <p:spPr>
            <a:xfrm>
              <a:off x="9258300" y="2800350"/>
              <a:ext cx="361950" cy="342900"/>
            </a:xfrm>
            <a:prstGeom prst="roundRect">
              <a:avLst>
                <a:gd name="adj" fmla="val 16667"/>
              </a:avLst>
            </a:prstGeom>
            <a:solidFill>
              <a:schemeClr val="lt1"/>
            </a:solidFill>
            <a:ln w="19050">
              <a:solidFill>
                <a:schemeClr val="accent3"/>
              </a:solidFill>
            </a:ln>
          </p:spPr>
        </p:sp>
        <p:sp>
          <p:nvSpPr>
            <p:cNvPr id="21" name="Freeform 21"/>
            <p:cNvSpPr/>
            <p:nvPr/>
          </p:nvSpPr>
          <p:spPr>
            <a:xfrm>
              <a:off x="9324975" y="2619375"/>
              <a:ext cx="238125" cy="190500"/>
            </a:xfrm>
            <a:custGeom>
              <a:avLst/>
              <a:gdLst/>
              <a:ahLst/>
              <a:cxnLst/>
              <a:rect l="l" t="t" r="r" b="b"/>
              <a:pathLst>
                <a:path w="238125" h="190500">
                  <a:moveTo>
                    <a:pt x="0" y="190500"/>
                  </a:moveTo>
                  <a:lnTo>
                    <a:pt x="0" y="114300"/>
                  </a:lnTo>
                  <a:cubicBezTo>
                    <a:pt x="76200" y="0"/>
                    <a:pt x="155575" y="0"/>
                    <a:pt x="238125" y="114300"/>
                  </a:cubicBezTo>
                  <a:lnTo>
                    <a:pt x="238125" y="190500"/>
                  </a:lnTo>
                </a:path>
              </a:pathLst>
            </a:custGeom>
            <a:noFill/>
            <a:ln w="19050" cap="rnd">
              <a:solidFill>
                <a:schemeClr val="accent3"/>
              </a:solidFill>
              <a:round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546544" y="3597275"/>
              <a:ext cx="3061563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GB" sz="22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Concealed allocation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511346" y="4105275"/>
              <a:ext cx="3131957" cy="6568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2400"/>
                </a:lnSpc>
              </a:pPr>
              <a:r>
                <a:rPr lang="en-GB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Reduces enrolment choices</a:t>
              </a:r>
              <a:br>
                <a:rPr lang="en-GB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</a:br>
              <a:r>
                <a:rPr lang="en-GB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based on the next assignment.</a:t>
              </a:r>
            </a:p>
          </p:txBody>
        </p:sp>
      </p:grpSp>
      <p:grpSp>
        <p:nvGrpSpPr>
          <p:cNvPr id="37" name="!!support"/>
          <p:cNvGrpSpPr/>
          <p:nvPr/>
        </p:nvGrpSpPr>
        <p:grpSpPr>
          <a:xfrm>
            <a:off x="2389994" y="5353050"/>
            <a:ext cx="1855879" cy="365633"/>
            <a:chOff x="2389994" y="5353050"/>
            <a:chExt cx="1855879" cy="365633"/>
          </a:xfrm>
        </p:grpSpPr>
        <p:sp>
          <p:nvSpPr>
            <p:cNvPr id="25" name="Rectangle 25"/>
            <p:cNvSpPr/>
            <p:nvPr/>
          </p:nvSpPr>
          <p:spPr>
            <a:xfrm>
              <a:off x="2532126" y="5353050"/>
              <a:ext cx="175565" cy="301752"/>
            </a:xfrm>
            <a:prstGeom prst="roundRect">
              <a:avLst>
                <a:gd name="adj" fmla="val 21875"/>
              </a:avLst>
            </a:prstGeom>
            <a:noFill/>
            <a:ln w="28575">
              <a:solidFill>
                <a:schemeClr val="accent6"/>
              </a:solidFill>
            </a:ln>
          </p:spPr>
        </p:sp>
        <p:sp>
          <p:nvSpPr>
            <p:cNvPr id="26" name="Line 26"/>
            <p:cNvSpPr/>
            <p:nvPr/>
          </p:nvSpPr>
          <p:spPr>
            <a:xfrm>
              <a:off x="2595220" y="5380482"/>
              <a:ext cx="49378" cy="9525"/>
            </a:xfrm>
            <a:custGeom>
              <a:avLst/>
              <a:gdLst/>
              <a:ahLst/>
              <a:cxnLst/>
              <a:rect l="l" t="t" r="r" b="b"/>
              <a:pathLst>
                <a:path w="49378" h="9525">
                  <a:moveTo>
                    <a:pt x="0" y="0"/>
                  </a:moveTo>
                  <a:lnTo>
                    <a:pt x="49378" y="0"/>
                  </a:lnTo>
                </a:path>
              </a:pathLst>
            </a:custGeom>
            <a:noFill/>
            <a:ln w="28575" cap="rnd">
              <a:solidFill>
                <a:schemeClr val="accent6"/>
              </a:solidFill>
            </a:ln>
          </p:spPr>
        </p:sp>
        <p:sp>
          <p:nvSpPr>
            <p:cNvPr id="27" name="Line 27"/>
            <p:cNvSpPr/>
            <p:nvPr/>
          </p:nvSpPr>
          <p:spPr>
            <a:xfrm>
              <a:off x="2600706" y="5616397"/>
              <a:ext cx="38405" cy="9525"/>
            </a:xfrm>
            <a:custGeom>
              <a:avLst/>
              <a:gdLst/>
              <a:ahLst/>
              <a:cxnLst/>
              <a:rect l="l" t="t" r="r" b="b"/>
              <a:pathLst>
                <a:path w="38405" h="9525">
                  <a:moveTo>
                    <a:pt x="0" y="0"/>
                  </a:moveTo>
                  <a:lnTo>
                    <a:pt x="38405" y="0"/>
                  </a:lnTo>
                </a:path>
              </a:pathLst>
            </a:custGeom>
            <a:noFill/>
            <a:ln w="28575" cap="rnd">
              <a:solidFill>
                <a:schemeClr val="accent6"/>
              </a:solidFill>
            </a:ln>
          </p:spPr>
        </p:sp>
        <p:sp>
          <p:nvSpPr>
            <p:cNvPr id="28" name="Ellipse 28"/>
            <p:cNvSpPr/>
            <p:nvPr/>
          </p:nvSpPr>
          <p:spPr>
            <a:xfrm>
              <a:off x="2592476" y="5451805"/>
              <a:ext cx="54864" cy="54864"/>
            </a:xfrm>
            <a:prstGeom prst="ellipse">
              <a:avLst/>
            </a:prstGeom>
            <a:noFill/>
            <a:ln w="19050">
              <a:solidFill>
                <a:schemeClr val="accent6"/>
              </a:solidFill>
            </a:ln>
          </p:spPr>
        </p:sp>
        <p:sp>
          <p:nvSpPr>
            <p:cNvPr id="29" name="Freeform 29"/>
            <p:cNvSpPr/>
            <p:nvPr/>
          </p:nvSpPr>
          <p:spPr>
            <a:xfrm>
              <a:off x="2576017" y="5517642"/>
              <a:ext cx="87782" cy="43891"/>
            </a:xfrm>
            <a:custGeom>
              <a:avLst/>
              <a:gdLst/>
              <a:ahLst/>
              <a:cxnLst/>
              <a:rect l="l" t="t" r="r" b="b"/>
              <a:pathLst>
                <a:path w="87782" h="43891">
                  <a:moveTo>
                    <a:pt x="0" y="43891"/>
                  </a:moveTo>
                  <a:cubicBezTo>
                    <a:pt x="29261" y="0"/>
                    <a:pt x="58522" y="0"/>
                    <a:pt x="87782" y="43891"/>
                  </a:cubicBezTo>
                </a:path>
              </a:pathLst>
            </a:custGeom>
            <a:noFill/>
            <a:ln w="19050" cap="rnd">
              <a:solidFill>
                <a:schemeClr val="accent6"/>
              </a:solidFill>
              <a:round/>
            </a:ln>
          </p:spPr>
        </p:sp>
        <p:sp>
          <p:nvSpPr>
            <p:cNvPr id="30" name="Ellipse 30"/>
            <p:cNvSpPr/>
            <p:nvPr/>
          </p:nvSpPr>
          <p:spPr>
            <a:xfrm>
              <a:off x="2392909" y="5441690"/>
              <a:ext cx="34976" cy="34976"/>
            </a:xfrm>
            <a:prstGeom prst="ellipse">
              <a:avLst/>
            </a:prstGeom>
            <a:solidFill>
              <a:schemeClr val="accent6"/>
            </a:solidFill>
            <a:ln w="13335">
              <a:solidFill>
                <a:schemeClr val="accent6"/>
              </a:solidFill>
            </a:ln>
          </p:spPr>
        </p:sp>
        <p:sp>
          <p:nvSpPr>
            <p:cNvPr id="31" name="Rectangle 31"/>
            <p:cNvSpPr/>
            <p:nvPr/>
          </p:nvSpPr>
          <p:spPr>
            <a:xfrm>
              <a:off x="2389994" y="5491239"/>
              <a:ext cx="40805" cy="69952"/>
            </a:xfrm>
            <a:prstGeom prst="roundRect">
              <a:avLst>
                <a:gd name="adj" fmla="val 42857"/>
              </a:avLst>
            </a:prstGeom>
            <a:solidFill>
              <a:schemeClr val="accent6"/>
            </a:solidFill>
            <a:ln w="13335">
              <a:solidFill>
                <a:schemeClr val="accent6"/>
              </a:solidFill>
            </a:ln>
          </p:spPr>
        </p:sp>
        <p:sp>
          <p:nvSpPr>
            <p:cNvPr id="32" name="Ellipse 32"/>
            <p:cNvSpPr/>
            <p:nvPr/>
          </p:nvSpPr>
          <p:spPr>
            <a:xfrm>
              <a:off x="2770099" y="5441690"/>
              <a:ext cx="34976" cy="34976"/>
            </a:xfrm>
            <a:prstGeom prst="ellipse">
              <a:avLst/>
            </a:prstGeom>
            <a:solidFill>
              <a:schemeClr val="accent6"/>
            </a:solidFill>
            <a:ln w="13335">
              <a:solidFill>
                <a:schemeClr val="accent6"/>
              </a:solidFill>
            </a:ln>
          </p:spPr>
        </p:sp>
        <p:sp>
          <p:nvSpPr>
            <p:cNvPr id="33" name="Rectangle 33"/>
            <p:cNvSpPr/>
            <p:nvPr/>
          </p:nvSpPr>
          <p:spPr>
            <a:xfrm>
              <a:off x="2767184" y="5491239"/>
              <a:ext cx="40805" cy="69952"/>
            </a:xfrm>
            <a:prstGeom prst="roundRect">
              <a:avLst>
                <a:gd name="adj" fmla="val 42857"/>
              </a:avLst>
            </a:prstGeom>
            <a:solidFill>
              <a:schemeClr val="accent6"/>
            </a:solidFill>
            <a:ln w="13335">
              <a:solidFill>
                <a:schemeClr val="accent6"/>
              </a:solidFill>
            </a:ln>
          </p:spPr>
        </p:sp>
        <p:sp>
          <p:nvSpPr>
            <p:cNvPr id="34" name="Line 34"/>
            <p:cNvSpPr/>
            <p:nvPr/>
          </p:nvSpPr>
          <p:spPr>
            <a:xfrm>
              <a:off x="2466975" y="5548503"/>
              <a:ext cx="44577" cy="9525"/>
            </a:xfrm>
            <a:custGeom>
              <a:avLst/>
              <a:gdLst/>
              <a:ahLst/>
              <a:cxnLst/>
              <a:rect l="l" t="t" r="r" b="b"/>
              <a:pathLst>
                <a:path w="44577" h="9525">
                  <a:moveTo>
                    <a:pt x="0" y="0"/>
                  </a:moveTo>
                  <a:lnTo>
                    <a:pt x="44577" y="0"/>
                  </a:lnTo>
                </a:path>
              </a:pathLst>
            </a:custGeom>
            <a:noFill/>
            <a:ln w="19050" cap="rnd">
              <a:solidFill>
                <a:schemeClr val="accent6"/>
              </a:solidFill>
            </a:ln>
          </p:spPr>
        </p:sp>
        <p:sp>
          <p:nvSpPr>
            <p:cNvPr id="35" name="Line 35"/>
            <p:cNvSpPr/>
            <p:nvPr/>
          </p:nvSpPr>
          <p:spPr>
            <a:xfrm>
              <a:off x="2724150" y="5548503"/>
              <a:ext cx="20574" cy="9525"/>
            </a:xfrm>
            <a:custGeom>
              <a:avLst/>
              <a:gdLst/>
              <a:ahLst/>
              <a:cxnLst/>
              <a:rect l="l" t="t" r="r" b="b"/>
              <a:pathLst>
                <a:path w="20574" h="9525">
                  <a:moveTo>
                    <a:pt x="0" y="0"/>
                  </a:moveTo>
                  <a:lnTo>
                    <a:pt x="20574" y="0"/>
                  </a:lnTo>
                </a:path>
              </a:pathLst>
            </a:custGeom>
            <a:noFill/>
            <a:ln w="19050" cap="rnd">
              <a:solidFill>
                <a:schemeClr val="accent6"/>
              </a:solidFill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2983992" y="5454650"/>
              <a:ext cx="126188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GB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Shared support</a:t>
              </a:r>
            </a:p>
          </p:txBody>
        </p:sp>
      </p:grpSp>
      <p:grpSp>
        <p:nvGrpSpPr>
          <p:cNvPr id="43" name="!!measurement"/>
          <p:cNvGrpSpPr/>
          <p:nvPr/>
        </p:nvGrpSpPr>
        <p:grpSpPr>
          <a:xfrm>
            <a:off x="7524750" y="5353050"/>
            <a:ext cx="2217819" cy="365633"/>
            <a:chOff x="7524750" y="5353050"/>
            <a:chExt cx="2217819" cy="365633"/>
          </a:xfrm>
        </p:grpSpPr>
        <p:sp>
          <p:nvSpPr>
            <p:cNvPr id="38" name="Rectangle 38"/>
            <p:cNvSpPr/>
            <p:nvPr/>
          </p:nvSpPr>
          <p:spPr>
            <a:xfrm>
              <a:off x="7524750" y="5353050"/>
              <a:ext cx="342900" cy="342900"/>
            </a:xfrm>
            <a:prstGeom prst="roundRect">
              <a:avLst>
                <a:gd name="adj" fmla="val 24000"/>
              </a:avLst>
            </a:prstGeom>
            <a:noFill/>
            <a:ln w="28575">
              <a:solidFill>
                <a:schemeClr val="accent6"/>
              </a:solidFill>
            </a:ln>
          </p:spPr>
        </p:sp>
        <p:sp>
          <p:nvSpPr>
            <p:cNvPr id="39" name="Rectangle 39"/>
            <p:cNvSpPr/>
            <p:nvPr/>
          </p:nvSpPr>
          <p:spPr>
            <a:xfrm>
              <a:off x="7607046" y="5414772"/>
              <a:ext cx="178308" cy="85725"/>
            </a:xfrm>
            <a:prstGeom prst="roundRect">
              <a:avLst>
                <a:gd name="adj" fmla="val 24000"/>
              </a:avLst>
            </a:prstGeom>
            <a:noFill/>
            <a:ln w="19050">
              <a:solidFill>
                <a:schemeClr val="accent6"/>
              </a:solidFill>
            </a:ln>
          </p:spPr>
        </p:sp>
        <p:sp>
          <p:nvSpPr>
            <p:cNvPr id="40" name="Line 40"/>
            <p:cNvSpPr/>
            <p:nvPr/>
          </p:nvSpPr>
          <p:spPr>
            <a:xfrm>
              <a:off x="7613904" y="5610225"/>
              <a:ext cx="164592" cy="9525"/>
            </a:xfrm>
            <a:custGeom>
              <a:avLst/>
              <a:gdLst/>
              <a:ahLst/>
              <a:cxnLst/>
              <a:rect l="l" t="t" r="r" b="b"/>
              <a:pathLst>
                <a:path w="164592" h="9525">
                  <a:moveTo>
                    <a:pt x="0" y="0"/>
                  </a:moveTo>
                  <a:lnTo>
                    <a:pt x="164592" y="0"/>
                  </a:lnTo>
                </a:path>
              </a:pathLst>
            </a:custGeom>
            <a:noFill/>
            <a:ln w="28575" cap="rnd">
              <a:solidFill>
                <a:schemeClr val="accent6"/>
              </a:solidFill>
            </a:ln>
          </p:spPr>
        </p:sp>
        <p:sp>
          <p:nvSpPr>
            <p:cNvPr id="41" name="Line 41"/>
            <p:cNvSpPr/>
            <p:nvPr/>
          </p:nvSpPr>
          <p:spPr>
            <a:xfrm>
              <a:off x="7696200" y="5438775"/>
              <a:ext cx="37719" cy="30861"/>
            </a:xfrm>
            <a:custGeom>
              <a:avLst/>
              <a:gdLst/>
              <a:ahLst/>
              <a:cxnLst/>
              <a:rect l="l" t="t" r="r" b="b"/>
              <a:pathLst>
                <a:path w="37719" h="30861">
                  <a:moveTo>
                    <a:pt x="0" y="30861"/>
                  </a:moveTo>
                  <a:lnTo>
                    <a:pt x="37719" y="0"/>
                  </a:lnTo>
                </a:path>
              </a:pathLst>
            </a:custGeom>
            <a:noFill/>
            <a:ln w="19050" cap="rnd">
              <a:solidFill>
                <a:schemeClr val="accent6"/>
              </a:solidFill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8127492" y="5454650"/>
              <a:ext cx="161507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GB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Calibrated weighing</a:t>
              </a:r>
            </a:p>
          </p:txBody>
        </p:sp>
      </p:grpSp>
      <p:sp>
        <p:nvSpPr>
          <p:cNvPr id="44" name="TextBox 44"/>
          <p:cNvSpPr txBox="1"/>
          <p:nvPr/>
        </p:nvSpPr>
        <p:spPr>
          <a:xfrm>
            <a:off x="603504" y="6467475"/>
            <a:ext cx="6845863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GB" sz="120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Lim et al. 2024 · Methods 2.4–2.7 · Each feature strengthens a different part of the comparison.</a:t>
            </a:r>
          </a:p>
        </p:txBody>
      </p:sp>
    </p:spTree>
  </p:cSld>
  <p:clrMapOvr>
    <a:masterClrMapping/>
  </p:clrMapOvr>
  <p:transition p14:dur="55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 decel="50000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8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8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8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"/>
                            </p:stCondLst>
                            <p:childTnLst>
                              <p:par>
                                <p:cTn id="11" presetID="53" presetClass="entr" presetSubtype="16" fill="hold" grpId="0" nodeType="withEffect" decel="50000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8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8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8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mc="http://schemas.openxmlformats.org/markup-compatibility/2006" xmlns:p="http://schemas.openxmlformats.org/presentationml/2006/main" xmlns:p14="http://schemas.microsoft.com/office/powerpoint/2010/main" xmlns:p159="http://schemas.microsoft.com/office/powerpoint/2015/09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chapter-chrome"/>
          <p:cNvGrpSpPr/>
          <p:nvPr/>
        </p:nvGrpSpPr>
        <p:grpSpPr>
          <a:xfrm>
            <a:off x="602742" y="301625"/>
            <a:ext cx="10985754" cy="264033"/>
            <a:chOff x="602742" y="301625"/>
            <a:chExt cx="10985754" cy="264033"/>
          </a:xfrm>
        </p:grpSpPr>
        <p:sp>
          <p:nvSpPr>
            <p:cNvPr id="2" name="TextBox 2"/>
            <p:cNvSpPr txBox="1"/>
            <p:nvPr/>
          </p:nvSpPr>
          <p:spPr>
            <a:xfrm>
              <a:off x="602742" y="301625"/>
              <a:ext cx="373706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GB" sz="1350" b="1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DESIGN STRENGTHS · WHY THEY HELP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11082270" y="314325"/>
              <a:ext cx="50622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GB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02 / 17</a:t>
              </a:r>
            </a:p>
          </p:txBody>
        </p:sp>
      </p:grpSp>
      <p:grpSp>
        <p:nvGrpSpPr>
          <p:cNvPr id="6" name="scene-heading"/>
          <p:cNvGrpSpPr/>
          <p:nvPr/>
        </p:nvGrpSpPr>
        <p:grpSpPr>
          <a:xfrm>
            <a:off x="590550" y="841375"/>
            <a:ext cx="5050770" cy="933450"/>
            <a:chOff x="590550" y="841375"/>
            <a:chExt cx="5050770" cy="933450"/>
          </a:xfrm>
        </p:grpSpPr>
        <p:sp>
          <p:nvSpPr>
            <p:cNvPr id="5" name="TextBox 5"/>
            <p:cNvSpPr txBox="1"/>
            <p:nvPr/>
          </p:nvSpPr>
          <p:spPr>
            <a:xfrm>
              <a:off x="590550" y="841375"/>
              <a:ext cx="5050770" cy="9334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GB" sz="4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 clearer signal.</a:t>
              </a:r>
            </a:p>
          </p:txBody>
        </p:sp>
      </p:grpSp>
      <p:grpSp>
        <p:nvGrpSpPr>
          <p:cNvPr id="15" name="!!randomisation"/>
          <p:cNvGrpSpPr/>
          <p:nvPr/>
        </p:nvGrpSpPr>
        <p:grpSpPr>
          <a:xfrm>
            <a:off x="2381250" y="5353050"/>
            <a:ext cx="2530449" cy="377190"/>
            <a:chOff x="2381250" y="5353050"/>
            <a:chExt cx="2530449" cy="377190"/>
          </a:xfrm>
        </p:grpSpPr>
        <p:sp>
          <p:nvSpPr>
            <p:cNvPr id="7" name="Ellipse 7"/>
            <p:cNvSpPr/>
            <p:nvPr/>
          </p:nvSpPr>
          <p:spPr>
            <a:xfrm>
              <a:off x="2545842" y="5353050"/>
              <a:ext cx="82296" cy="82296"/>
            </a:xfrm>
            <a:prstGeom prst="ellipse">
              <a:avLst/>
            </a:prstGeom>
            <a:noFill/>
            <a:ln w="28575">
              <a:solidFill>
                <a:schemeClr val="accent6"/>
              </a:solidFill>
            </a:ln>
          </p:spPr>
        </p:sp>
        <p:sp>
          <p:nvSpPr>
            <p:cNvPr id="8" name="Line 8"/>
            <p:cNvSpPr/>
            <p:nvPr/>
          </p:nvSpPr>
          <p:spPr>
            <a:xfrm>
              <a:off x="2586990" y="5442204"/>
              <a:ext cx="9525" cy="89154"/>
            </a:xfrm>
            <a:custGeom>
              <a:avLst/>
              <a:gdLst/>
              <a:ahLst/>
              <a:cxnLst/>
              <a:rect l="l" t="t" r="r" b="b"/>
              <a:pathLst>
                <a:path w="9525" h="89154">
                  <a:moveTo>
                    <a:pt x="0" y="0"/>
                  </a:moveTo>
                  <a:lnTo>
                    <a:pt x="0" y="89154"/>
                  </a:lnTo>
                </a:path>
              </a:pathLst>
            </a:custGeom>
            <a:noFill/>
            <a:ln w="28575" cap="rnd">
              <a:solidFill>
                <a:schemeClr val="accent6"/>
              </a:solidFill>
            </a:ln>
          </p:spPr>
        </p:sp>
        <p:sp>
          <p:nvSpPr>
            <p:cNvPr id="9" name="Line 9"/>
            <p:cNvSpPr/>
            <p:nvPr/>
          </p:nvSpPr>
          <p:spPr>
            <a:xfrm>
              <a:off x="2442972" y="5531358"/>
              <a:ext cx="288036" cy="9525"/>
            </a:xfrm>
            <a:custGeom>
              <a:avLst/>
              <a:gdLst/>
              <a:ahLst/>
              <a:cxnLst/>
              <a:rect l="l" t="t" r="r" b="b"/>
              <a:pathLst>
                <a:path w="288036" h="9525">
                  <a:moveTo>
                    <a:pt x="0" y="0"/>
                  </a:moveTo>
                  <a:lnTo>
                    <a:pt x="288036" y="0"/>
                  </a:lnTo>
                </a:path>
              </a:pathLst>
            </a:custGeom>
            <a:noFill/>
            <a:ln w="28575" cap="rnd">
              <a:solidFill>
                <a:schemeClr val="accent6"/>
              </a:solidFill>
            </a:ln>
          </p:spPr>
        </p:sp>
        <p:sp>
          <p:nvSpPr>
            <p:cNvPr id="10" name="Line 10"/>
            <p:cNvSpPr/>
            <p:nvPr/>
          </p:nvSpPr>
          <p:spPr>
            <a:xfrm>
              <a:off x="2442972" y="5531358"/>
              <a:ext cx="9525" cy="75438"/>
            </a:xfrm>
            <a:custGeom>
              <a:avLst/>
              <a:gdLst/>
              <a:ahLst/>
              <a:cxnLst/>
              <a:rect l="l" t="t" r="r" b="b"/>
              <a:pathLst>
                <a:path w="9525" h="75438">
                  <a:moveTo>
                    <a:pt x="0" y="0"/>
                  </a:moveTo>
                  <a:lnTo>
                    <a:pt x="0" y="75438"/>
                  </a:lnTo>
                </a:path>
              </a:pathLst>
            </a:custGeom>
            <a:noFill/>
            <a:ln w="28575" cap="rnd">
              <a:solidFill>
                <a:schemeClr val="accent6"/>
              </a:solidFill>
            </a:ln>
          </p:spPr>
        </p:sp>
        <p:sp>
          <p:nvSpPr>
            <p:cNvPr id="11" name="Line 11"/>
            <p:cNvSpPr/>
            <p:nvPr/>
          </p:nvSpPr>
          <p:spPr>
            <a:xfrm>
              <a:off x="2731008" y="5531358"/>
              <a:ext cx="9525" cy="75438"/>
            </a:xfrm>
            <a:custGeom>
              <a:avLst/>
              <a:gdLst/>
              <a:ahLst/>
              <a:cxnLst/>
              <a:rect l="l" t="t" r="r" b="b"/>
              <a:pathLst>
                <a:path w="9525" h="75438">
                  <a:moveTo>
                    <a:pt x="0" y="0"/>
                  </a:moveTo>
                  <a:lnTo>
                    <a:pt x="0" y="75438"/>
                  </a:lnTo>
                </a:path>
              </a:pathLst>
            </a:custGeom>
            <a:noFill/>
            <a:ln w="28575" cap="rnd">
              <a:solidFill>
                <a:schemeClr val="accent6"/>
              </a:solidFill>
            </a:ln>
          </p:spPr>
        </p:sp>
        <p:sp>
          <p:nvSpPr>
            <p:cNvPr id="12" name="Rectangle 12"/>
            <p:cNvSpPr/>
            <p:nvPr/>
          </p:nvSpPr>
          <p:spPr>
            <a:xfrm>
              <a:off x="2381250" y="5620512"/>
              <a:ext cx="130302" cy="109728"/>
            </a:xfrm>
            <a:prstGeom prst="roundRect">
              <a:avLst>
                <a:gd name="adj" fmla="val 25000"/>
              </a:avLst>
            </a:prstGeom>
            <a:noFill/>
            <a:ln w="28575">
              <a:solidFill>
                <a:schemeClr val="accent6"/>
              </a:solidFill>
            </a:ln>
          </p:spPr>
        </p:sp>
        <p:sp>
          <p:nvSpPr>
            <p:cNvPr id="13" name="Rectangle 13"/>
            <p:cNvSpPr/>
            <p:nvPr/>
          </p:nvSpPr>
          <p:spPr>
            <a:xfrm>
              <a:off x="2669286" y="5620512"/>
              <a:ext cx="130302" cy="109728"/>
            </a:xfrm>
            <a:prstGeom prst="roundRect">
              <a:avLst>
                <a:gd name="adj" fmla="val 25000"/>
              </a:avLst>
            </a:prstGeom>
            <a:noFill/>
            <a:ln w="28575">
              <a:solidFill>
                <a:schemeClr val="accent6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2983992" y="5454650"/>
              <a:ext cx="192770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GB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Stratified randomisation</a:t>
              </a:r>
            </a:p>
          </p:txBody>
        </p:sp>
      </p:grpSp>
      <p:grpSp>
        <p:nvGrpSpPr>
          <p:cNvPr id="22" name="!!concealment"/>
          <p:cNvGrpSpPr/>
          <p:nvPr/>
        </p:nvGrpSpPr>
        <p:grpSpPr>
          <a:xfrm>
            <a:off x="7524750" y="5353050"/>
            <a:ext cx="2308877" cy="365633"/>
            <a:chOff x="7524750" y="5353050"/>
            <a:chExt cx="2308877" cy="365633"/>
          </a:xfrm>
        </p:grpSpPr>
        <p:sp>
          <p:nvSpPr>
            <p:cNvPr id="16" name="Rectangle 16"/>
            <p:cNvSpPr/>
            <p:nvPr/>
          </p:nvSpPr>
          <p:spPr>
            <a:xfrm>
              <a:off x="7524750" y="5353050"/>
              <a:ext cx="411480" cy="274320"/>
            </a:xfrm>
            <a:prstGeom prst="roundRect">
              <a:avLst>
                <a:gd name="adj" fmla="val 12500"/>
              </a:avLst>
            </a:prstGeom>
            <a:noFill/>
            <a:ln w="28575">
              <a:solidFill>
                <a:schemeClr val="accent6"/>
              </a:solidFill>
            </a:ln>
          </p:spPr>
        </p:sp>
        <p:sp>
          <p:nvSpPr>
            <p:cNvPr id="17" name="Line 17"/>
            <p:cNvSpPr/>
            <p:nvPr/>
          </p:nvSpPr>
          <p:spPr>
            <a:xfrm>
              <a:off x="7538466" y="5373624"/>
              <a:ext cx="192024" cy="133731"/>
            </a:xfrm>
            <a:custGeom>
              <a:avLst/>
              <a:gdLst/>
              <a:ahLst/>
              <a:cxnLst/>
              <a:rect l="l" t="t" r="r" b="b"/>
              <a:pathLst>
                <a:path w="192024" h="133731">
                  <a:moveTo>
                    <a:pt x="0" y="0"/>
                  </a:moveTo>
                  <a:lnTo>
                    <a:pt x="192024" y="133731"/>
                  </a:lnTo>
                </a:path>
              </a:pathLst>
            </a:custGeom>
            <a:noFill/>
            <a:ln w="28575" cap="rnd">
              <a:solidFill>
                <a:schemeClr val="accent6"/>
              </a:solidFill>
            </a:ln>
          </p:spPr>
        </p:sp>
        <p:sp>
          <p:nvSpPr>
            <p:cNvPr id="18" name="Line 18"/>
            <p:cNvSpPr/>
            <p:nvPr/>
          </p:nvSpPr>
          <p:spPr>
            <a:xfrm>
              <a:off x="7730490" y="5373624"/>
              <a:ext cx="192024" cy="133731"/>
            </a:xfrm>
            <a:custGeom>
              <a:avLst/>
              <a:gdLst/>
              <a:ahLst/>
              <a:cxnLst/>
              <a:rect l="l" t="t" r="r" b="b"/>
              <a:pathLst>
                <a:path w="192024" h="133731">
                  <a:moveTo>
                    <a:pt x="0" y="133731"/>
                  </a:moveTo>
                  <a:lnTo>
                    <a:pt x="192024" y="0"/>
                  </a:lnTo>
                </a:path>
              </a:pathLst>
            </a:custGeom>
            <a:noFill/>
            <a:ln w="28575" cap="rnd">
              <a:solidFill>
                <a:schemeClr val="accent6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7826502" y="5524500"/>
              <a:ext cx="130302" cy="123444"/>
            </a:xfrm>
            <a:prstGeom prst="roundRect">
              <a:avLst>
                <a:gd name="adj" fmla="val 16667"/>
              </a:avLst>
            </a:prstGeom>
            <a:solidFill>
              <a:schemeClr val="lt1"/>
            </a:solidFill>
            <a:ln w="19050">
              <a:solidFill>
                <a:schemeClr val="accent6"/>
              </a:solidFill>
            </a:ln>
          </p:spPr>
        </p:sp>
        <p:sp>
          <p:nvSpPr>
            <p:cNvPr id="20" name="Freeform 20"/>
            <p:cNvSpPr/>
            <p:nvPr/>
          </p:nvSpPr>
          <p:spPr>
            <a:xfrm>
              <a:off x="7850505" y="5459349"/>
              <a:ext cx="85725" cy="68580"/>
            </a:xfrm>
            <a:custGeom>
              <a:avLst/>
              <a:gdLst/>
              <a:ahLst/>
              <a:cxnLst/>
              <a:rect l="l" t="t" r="r" b="b"/>
              <a:pathLst>
                <a:path w="85725" h="68580">
                  <a:moveTo>
                    <a:pt x="0" y="68580"/>
                  </a:moveTo>
                  <a:lnTo>
                    <a:pt x="0" y="41148"/>
                  </a:lnTo>
                  <a:cubicBezTo>
                    <a:pt x="27432" y="0"/>
                    <a:pt x="56007" y="0"/>
                    <a:pt x="85725" y="41148"/>
                  </a:cubicBezTo>
                  <a:lnTo>
                    <a:pt x="85725" y="68580"/>
                  </a:lnTo>
                </a:path>
              </a:pathLst>
            </a:custGeom>
            <a:noFill/>
            <a:ln w="19050" cap="rnd">
              <a:solidFill>
                <a:schemeClr val="accent6"/>
              </a:solidFill>
              <a:round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8127492" y="5454650"/>
              <a:ext cx="170613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GB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Concealed allocation</a:t>
              </a:r>
            </a:p>
          </p:txBody>
        </p:sp>
      </p:grpSp>
      <p:grpSp>
        <p:nvGrpSpPr>
          <p:cNvPr id="36" name="!!support"/>
          <p:cNvGrpSpPr/>
          <p:nvPr/>
        </p:nvGrpSpPr>
        <p:grpSpPr>
          <a:xfrm>
            <a:off x="1917154" y="2162175"/>
            <a:ext cx="2509342" cy="2599944"/>
            <a:chOff x="1917154" y="2162175"/>
            <a:chExt cx="2509342" cy="2599944"/>
          </a:xfrm>
        </p:grpSpPr>
        <p:sp>
          <p:nvSpPr>
            <p:cNvPr id="23" name="Rectangle 23"/>
            <p:cNvSpPr/>
            <p:nvPr/>
          </p:nvSpPr>
          <p:spPr>
            <a:xfrm>
              <a:off x="3000375" y="2162175"/>
              <a:ext cx="487680" cy="838200"/>
            </a:xfrm>
            <a:prstGeom prst="roundRect">
              <a:avLst>
                <a:gd name="adj" fmla="val 21875"/>
              </a:avLst>
            </a:prstGeom>
            <a:noFill/>
            <a:ln w="28575">
              <a:solidFill>
                <a:schemeClr val="accent3"/>
              </a:solidFill>
            </a:ln>
          </p:spPr>
        </p:sp>
        <p:sp>
          <p:nvSpPr>
            <p:cNvPr id="24" name="Line 24"/>
            <p:cNvSpPr/>
            <p:nvPr/>
          </p:nvSpPr>
          <p:spPr>
            <a:xfrm>
              <a:off x="3175635" y="2238375"/>
              <a:ext cx="137160" cy="9525"/>
            </a:xfrm>
            <a:custGeom>
              <a:avLst/>
              <a:gdLst/>
              <a:ahLst/>
              <a:cxnLst/>
              <a:rect l="l" t="t" r="r" b="b"/>
              <a:pathLst>
                <a:path w="137160" h="9525">
                  <a:moveTo>
                    <a:pt x="0" y="0"/>
                  </a:moveTo>
                  <a:lnTo>
                    <a:pt x="137160" y="0"/>
                  </a:lnTo>
                </a:path>
              </a:pathLst>
            </a:custGeom>
            <a:noFill/>
            <a:ln w="28575" cap="rnd">
              <a:solidFill>
                <a:schemeClr val="accent3"/>
              </a:solidFill>
            </a:ln>
          </p:spPr>
        </p:sp>
        <p:sp>
          <p:nvSpPr>
            <p:cNvPr id="25" name="Line 25"/>
            <p:cNvSpPr/>
            <p:nvPr/>
          </p:nvSpPr>
          <p:spPr>
            <a:xfrm>
              <a:off x="3190875" y="2893695"/>
              <a:ext cx="106680" cy="9525"/>
            </a:xfrm>
            <a:custGeom>
              <a:avLst/>
              <a:gdLst/>
              <a:ahLst/>
              <a:cxnLst/>
              <a:rect l="l" t="t" r="r" b="b"/>
              <a:pathLst>
                <a:path w="106680" h="9525">
                  <a:moveTo>
                    <a:pt x="0" y="0"/>
                  </a:moveTo>
                  <a:lnTo>
                    <a:pt x="106680" y="0"/>
                  </a:lnTo>
                </a:path>
              </a:pathLst>
            </a:custGeom>
            <a:noFill/>
            <a:ln w="28575" cap="rnd">
              <a:solidFill>
                <a:schemeClr val="accent3"/>
              </a:solidFill>
            </a:ln>
          </p:spPr>
        </p:sp>
        <p:sp>
          <p:nvSpPr>
            <p:cNvPr id="26" name="Ellipse 26"/>
            <p:cNvSpPr/>
            <p:nvPr/>
          </p:nvSpPr>
          <p:spPr>
            <a:xfrm>
              <a:off x="3168015" y="2436495"/>
              <a:ext cx="152400" cy="152400"/>
            </a:xfrm>
            <a:prstGeom prst="ellipse">
              <a:avLst/>
            </a:prstGeom>
            <a:noFill/>
            <a:ln w="19050">
              <a:solidFill>
                <a:schemeClr val="accent3"/>
              </a:solidFill>
            </a:ln>
          </p:spPr>
        </p:sp>
        <p:sp>
          <p:nvSpPr>
            <p:cNvPr id="27" name="Freeform 27"/>
            <p:cNvSpPr/>
            <p:nvPr/>
          </p:nvSpPr>
          <p:spPr>
            <a:xfrm>
              <a:off x="3122295" y="2619375"/>
              <a:ext cx="243840" cy="121920"/>
            </a:xfrm>
            <a:custGeom>
              <a:avLst/>
              <a:gdLst/>
              <a:ahLst/>
              <a:cxnLst/>
              <a:rect l="l" t="t" r="r" b="b"/>
              <a:pathLst>
                <a:path w="243840" h="121920">
                  <a:moveTo>
                    <a:pt x="0" y="121920"/>
                  </a:moveTo>
                  <a:cubicBezTo>
                    <a:pt x="81280" y="0"/>
                    <a:pt x="162560" y="0"/>
                    <a:pt x="243840" y="121920"/>
                  </a:cubicBezTo>
                </a:path>
              </a:pathLst>
            </a:custGeom>
            <a:noFill/>
            <a:ln w="19050" cap="rnd">
              <a:solidFill>
                <a:schemeClr val="accent3"/>
              </a:solidFill>
              <a:round/>
            </a:ln>
          </p:spPr>
        </p:sp>
        <p:sp>
          <p:nvSpPr>
            <p:cNvPr id="28" name="Ellipse 28"/>
            <p:cNvSpPr/>
            <p:nvPr/>
          </p:nvSpPr>
          <p:spPr>
            <a:xfrm>
              <a:off x="2613660" y="2408396"/>
              <a:ext cx="97155" cy="97155"/>
            </a:xfrm>
            <a:prstGeom prst="ellipse">
              <a:avLst/>
            </a:prstGeom>
            <a:solidFill>
              <a:schemeClr val="accent3"/>
            </a:solidFill>
            <a:ln w="13335">
              <a:solidFill>
                <a:schemeClr val="accent3"/>
              </a:solidFill>
            </a:ln>
          </p:spPr>
        </p:sp>
        <p:sp>
          <p:nvSpPr>
            <p:cNvPr id="29" name="Rectangle 29"/>
            <p:cNvSpPr/>
            <p:nvPr/>
          </p:nvSpPr>
          <p:spPr>
            <a:xfrm>
              <a:off x="2605564" y="2546032"/>
              <a:ext cx="113348" cy="194310"/>
            </a:xfrm>
            <a:prstGeom prst="roundRect">
              <a:avLst>
                <a:gd name="adj" fmla="val 42857"/>
              </a:avLst>
            </a:prstGeom>
            <a:solidFill>
              <a:schemeClr val="accent3"/>
            </a:solidFill>
            <a:ln w="13335">
              <a:solidFill>
                <a:schemeClr val="accent3"/>
              </a:solidFill>
            </a:ln>
          </p:spPr>
        </p:sp>
        <p:sp>
          <p:nvSpPr>
            <p:cNvPr id="30" name="Ellipse 30"/>
            <p:cNvSpPr/>
            <p:nvPr/>
          </p:nvSpPr>
          <p:spPr>
            <a:xfrm>
              <a:off x="3661410" y="2408396"/>
              <a:ext cx="97155" cy="97155"/>
            </a:xfrm>
            <a:prstGeom prst="ellipse">
              <a:avLst/>
            </a:prstGeom>
            <a:solidFill>
              <a:schemeClr val="accent3"/>
            </a:solidFill>
            <a:ln w="13335">
              <a:solidFill>
                <a:schemeClr val="accent3"/>
              </a:solidFill>
            </a:ln>
          </p:spPr>
        </p:sp>
        <p:sp>
          <p:nvSpPr>
            <p:cNvPr id="31" name="Rectangle 31"/>
            <p:cNvSpPr/>
            <p:nvPr/>
          </p:nvSpPr>
          <p:spPr>
            <a:xfrm>
              <a:off x="3653314" y="2546032"/>
              <a:ext cx="113348" cy="194310"/>
            </a:xfrm>
            <a:prstGeom prst="roundRect">
              <a:avLst>
                <a:gd name="adj" fmla="val 42857"/>
              </a:avLst>
            </a:prstGeom>
            <a:solidFill>
              <a:schemeClr val="accent3"/>
            </a:solidFill>
            <a:ln w="13335">
              <a:solidFill>
                <a:schemeClr val="accent3"/>
              </a:solidFill>
            </a:ln>
          </p:spPr>
        </p:sp>
        <p:sp>
          <p:nvSpPr>
            <p:cNvPr id="32" name="Line 32"/>
            <p:cNvSpPr/>
            <p:nvPr/>
          </p:nvSpPr>
          <p:spPr>
            <a:xfrm>
              <a:off x="2819400" y="2705100"/>
              <a:ext cx="123825" cy="9525"/>
            </a:xfrm>
            <a:custGeom>
              <a:avLst/>
              <a:gdLst/>
              <a:ahLst/>
              <a:cxnLst/>
              <a:rect l="l" t="t" r="r" b="b"/>
              <a:pathLst>
                <a:path w="123825" h="9525">
                  <a:moveTo>
                    <a:pt x="0" y="0"/>
                  </a:moveTo>
                  <a:lnTo>
                    <a:pt x="123825" y="0"/>
                  </a:lnTo>
                </a:path>
              </a:pathLst>
            </a:custGeom>
            <a:noFill/>
            <a:ln w="19050" cap="rnd">
              <a:solidFill>
                <a:schemeClr val="accent3"/>
              </a:solidFill>
            </a:ln>
          </p:spPr>
        </p:sp>
        <p:sp>
          <p:nvSpPr>
            <p:cNvPr id="33" name="Line 33"/>
            <p:cNvSpPr/>
            <p:nvPr/>
          </p:nvSpPr>
          <p:spPr>
            <a:xfrm>
              <a:off x="3533775" y="2705100"/>
              <a:ext cx="57150" cy="9525"/>
            </a:xfrm>
            <a:custGeom>
              <a:avLst/>
              <a:gdLst/>
              <a:ahLst/>
              <a:cxnLst/>
              <a:rect l="l" t="t" r="r" b="b"/>
              <a:pathLst>
                <a:path w="57150" h="9525">
                  <a:moveTo>
                    <a:pt x="0" y="0"/>
                  </a:moveTo>
                  <a:lnTo>
                    <a:pt x="57150" y="0"/>
                  </a:lnTo>
                </a:path>
              </a:pathLst>
            </a:custGeom>
            <a:noFill/>
            <a:ln w="19050" cap="rnd">
              <a:solidFill>
                <a:schemeClr val="accent3"/>
              </a:solidFill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2036386" y="3597275"/>
              <a:ext cx="2270879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GB" sz="22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Shared support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1917154" y="4105275"/>
              <a:ext cx="2509342" cy="6568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2400"/>
                </a:lnSpc>
              </a:pPr>
              <a:r>
                <a:rPr lang="en-GB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Makes unequal attention</a:t>
              </a:r>
              <a:br>
                <a:rPr lang="en-GB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</a:br>
              <a:r>
                <a:rPr lang="en-GB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a less likely explanation.</a:t>
              </a:r>
            </a:p>
          </p:txBody>
        </p:sp>
      </p:grpSp>
      <p:grpSp>
        <p:nvGrpSpPr>
          <p:cNvPr id="43" name="!!measurement"/>
          <p:cNvGrpSpPr/>
          <p:nvPr/>
        </p:nvGrpSpPr>
        <p:grpSpPr>
          <a:xfrm>
            <a:off x="7562233" y="2162175"/>
            <a:ext cx="3030184" cy="2599944"/>
            <a:chOff x="7562233" y="2162175"/>
            <a:chExt cx="3030184" cy="2599944"/>
          </a:xfrm>
        </p:grpSpPr>
        <p:sp>
          <p:nvSpPr>
            <p:cNvPr id="37" name="Rectangle 37"/>
            <p:cNvSpPr/>
            <p:nvPr/>
          </p:nvSpPr>
          <p:spPr>
            <a:xfrm>
              <a:off x="8486775" y="2162175"/>
              <a:ext cx="952500" cy="952500"/>
            </a:xfrm>
            <a:prstGeom prst="roundRect">
              <a:avLst>
                <a:gd name="adj" fmla="val 24000"/>
              </a:avLst>
            </a:prstGeom>
            <a:noFill/>
            <a:ln w="28575">
              <a:solidFill>
                <a:schemeClr val="accent3"/>
              </a:solidFill>
            </a:ln>
          </p:spPr>
        </p:sp>
        <p:sp>
          <p:nvSpPr>
            <p:cNvPr id="38" name="Rectangle 38"/>
            <p:cNvSpPr/>
            <p:nvPr/>
          </p:nvSpPr>
          <p:spPr>
            <a:xfrm>
              <a:off x="8715375" y="2333625"/>
              <a:ext cx="495300" cy="238125"/>
            </a:xfrm>
            <a:prstGeom prst="roundRect">
              <a:avLst>
                <a:gd name="adj" fmla="val 24000"/>
              </a:avLst>
            </a:prstGeom>
            <a:noFill/>
            <a:ln w="19050">
              <a:solidFill>
                <a:schemeClr val="accent3"/>
              </a:solidFill>
            </a:ln>
          </p:spPr>
        </p:sp>
        <p:sp>
          <p:nvSpPr>
            <p:cNvPr id="39" name="Line 39"/>
            <p:cNvSpPr/>
            <p:nvPr/>
          </p:nvSpPr>
          <p:spPr>
            <a:xfrm>
              <a:off x="8734425" y="2876550"/>
              <a:ext cx="457200" cy="9525"/>
            </a:xfrm>
            <a:custGeom>
              <a:avLst/>
              <a:gdLst/>
              <a:ahLst/>
              <a:cxnLst/>
              <a:rect l="l" t="t" r="r" b="b"/>
              <a:pathLst>
                <a:path w="457200" h="9525">
                  <a:moveTo>
                    <a:pt x="0" y="0"/>
                  </a:moveTo>
                  <a:lnTo>
                    <a:pt x="457200" y="0"/>
                  </a:lnTo>
                </a:path>
              </a:pathLst>
            </a:custGeom>
            <a:noFill/>
            <a:ln w="28575" cap="rnd">
              <a:solidFill>
                <a:schemeClr val="accent3"/>
              </a:solidFill>
            </a:ln>
          </p:spPr>
        </p:sp>
        <p:sp>
          <p:nvSpPr>
            <p:cNvPr id="40" name="Line 40"/>
            <p:cNvSpPr/>
            <p:nvPr/>
          </p:nvSpPr>
          <p:spPr>
            <a:xfrm>
              <a:off x="8963025" y="2400300"/>
              <a:ext cx="104775" cy="85725"/>
            </a:xfrm>
            <a:custGeom>
              <a:avLst/>
              <a:gdLst/>
              <a:ahLst/>
              <a:cxnLst/>
              <a:rect l="l" t="t" r="r" b="b"/>
              <a:pathLst>
                <a:path w="104775" h="85725">
                  <a:moveTo>
                    <a:pt x="0" y="85725"/>
                  </a:moveTo>
                  <a:lnTo>
                    <a:pt x="104775" y="0"/>
                  </a:lnTo>
                </a:path>
              </a:pathLst>
            </a:custGeom>
            <a:noFill/>
            <a:ln w="19050" cap="rnd">
              <a:solidFill>
                <a:schemeClr val="accent3"/>
              </a:solidFill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7622498" y="3597275"/>
              <a:ext cx="290965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GB" sz="22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Calibrated weighing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7562233" y="4105275"/>
              <a:ext cx="3030184" cy="6568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2400"/>
                </a:lnSpc>
              </a:pPr>
              <a:r>
                <a:rPr lang="en-GB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Makes weight less dependent</a:t>
              </a:r>
              <a:br>
                <a:rPr lang="en-GB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</a:br>
              <a:r>
                <a:rPr lang="en-GB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on participants’ self-report.</a:t>
              </a:r>
            </a:p>
          </p:txBody>
        </p:sp>
      </p:grpSp>
      <p:sp>
        <p:nvSpPr>
          <p:cNvPr id="44" name="TextBox 44"/>
          <p:cNvSpPr txBox="1"/>
          <p:nvPr/>
        </p:nvSpPr>
        <p:spPr>
          <a:xfrm>
            <a:off x="603504" y="6467475"/>
            <a:ext cx="6845863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GB" sz="120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Lim et al. 2024 · Methods 2.4–2.7 · Each feature strengthens a different part of the comparison.</a:t>
            </a:r>
          </a:p>
        </p:txBody>
      </p:sp>
    </p:spTree>
  </p:cSld>
  <p:clrMapOvr>
    <a:masterClrMapping/>
  </p:clrMapOvr>
  <mc:AlternateContent>
    <mc:Choice Requires="p159">
      <p:transition p14:dur="1150">
        <p159:morph option="byObject"/>
      </p:transition>
    </mc:Choice>
    <mc:Fallback>
      <p:transition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chapter-chrome"/>
          <p:cNvGrpSpPr/>
          <p:nvPr/>
        </p:nvGrpSpPr>
        <p:grpSpPr>
          <a:xfrm>
            <a:off x="602742" y="301625"/>
            <a:ext cx="10985754" cy="264033"/>
            <a:chOff x="602742" y="301625"/>
            <a:chExt cx="10985754" cy="264033"/>
          </a:xfrm>
        </p:grpSpPr>
        <p:sp>
          <p:nvSpPr>
            <p:cNvPr id="2" name="TextBox 2"/>
            <p:cNvSpPr txBox="1"/>
            <p:nvPr/>
          </p:nvSpPr>
          <p:spPr>
            <a:xfrm>
              <a:off x="602742" y="301625"/>
              <a:ext cx="157149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GB" sz="1350" b="1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01 / MECHANISM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11082270" y="314325"/>
              <a:ext cx="50622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GB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03 / 17</a:t>
              </a:r>
            </a:p>
          </p:txBody>
        </p:sp>
      </p:grpSp>
      <p:grpSp>
        <p:nvGrpSpPr>
          <p:cNvPr id="6" name="weight-result"/>
          <p:cNvGrpSpPr/>
          <p:nvPr/>
        </p:nvGrpSpPr>
        <p:grpSpPr>
          <a:xfrm>
            <a:off x="2674865" y="1987550"/>
            <a:ext cx="6842270" cy="1162050"/>
            <a:chOff x="2674865" y="1987550"/>
            <a:chExt cx="6842270" cy="1162050"/>
          </a:xfrm>
        </p:grpSpPr>
        <p:sp>
          <p:nvSpPr>
            <p:cNvPr id="5" name="TextBox 5"/>
            <p:cNvSpPr txBox="1"/>
            <p:nvPr/>
          </p:nvSpPr>
          <p:spPr>
            <a:xfrm>
              <a:off x="2674865" y="1987550"/>
              <a:ext cx="6842270" cy="1162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GB" sz="60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More weight loss.</a:t>
              </a:r>
            </a:p>
          </p:txBody>
        </p:sp>
      </p:grpSp>
      <p:grpSp>
        <p:nvGrpSpPr>
          <p:cNvPr id="8" name="mechanism-question"/>
          <p:cNvGrpSpPr/>
          <p:nvPr/>
        </p:nvGrpSpPr>
        <p:grpSpPr>
          <a:xfrm>
            <a:off x="3142117" y="3152775"/>
            <a:ext cx="5907765" cy="1847850"/>
            <a:chOff x="3142117" y="3152775"/>
            <a:chExt cx="5907765" cy="1847850"/>
          </a:xfrm>
        </p:grpSpPr>
        <p:sp>
          <p:nvSpPr>
            <p:cNvPr id="7" name="TextBox 7"/>
            <p:cNvSpPr txBox="1"/>
            <p:nvPr/>
          </p:nvSpPr>
          <p:spPr>
            <a:xfrm>
              <a:off x="3142117" y="3152775"/>
              <a:ext cx="5907765" cy="18478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GB" sz="9600" b="1" dirty="0">
                  <a:gradFill>
                    <a:gsLst>
                      <a:gs pos="0">
                        <a:schemeClr val="accent3"/>
                      </a:gs>
                      <a:gs pos="100000">
                        <a:schemeClr val="accent2"/>
                      </a:gs>
                    </a:gsLst>
                    <a:lin ang="0" scaled="1"/>
                  </a:gradFill>
                  <a:latin typeface="+mn-lt"/>
                  <a:ea typeface="+mn-ea"/>
                  <a:cs typeface="+mn-cs"/>
                </a:rPr>
                <a:t>But why?</a:t>
              </a:r>
            </a:p>
          </p:txBody>
        </p:sp>
      </p:grpSp>
      <p:grpSp>
        <p:nvGrpSpPr>
          <p:cNvPr id="10" name="question-subtitle"/>
          <p:cNvGrpSpPr/>
          <p:nvPr/>
        </p:nvGrpSpPr>
        <p:grpSpPr>
          <a:xfrm>
            <a:off x="3832075" y="5178425"/>
            <a:ext cx="4527850" cy="440055"/>
            <a:chOff x="3832075" y="5178425"/>
            <a:chExt cx="4527850" cy="440055"/>
          </a:xfrm>
        </p:grpSpPr>
        <p:sp>
          <p:nvSpPr>
            <p:cNvPr id="9" name="TextBox 9"/>
            <p:cNvSpPr txBox="1"/>
            <p:nvPr/>
          </p:nvSpPr>
          <p:spPr>
            <a:xfrm>
              <a:off x="3832075" y="5178425"/>
              <a:ext cx="4527850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GB" sz="22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The mechanism was not isolated.</a:t>
              </a:r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603504" y="6467475"/>
            <a:ext cx="785261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GB" sz="120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Lim et al. 2024 · Table 2, Table 5 and Discussion · Programme effect and mechanism are different questions.</a:t>
            </a:r>
          </a:p>
        </p:txBody>
      </p:sp>
    </p:spTree>
  </p:cSld>
  <p:clrMapOvr>
    <a:masterClrMapping/>
  </p:clrMapOvr>
  <p:transition xmlns:p14="http://schemas.microsoft.com/office/powerpoint/2010/main" p14:dur="55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53" presetClass="entr" presetSubtype="16" fill="hold" grpId="0" nodeType="withEffect" decel="50000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300"/>
                            </p:stCondLst>
                            <p:childTnLst>
                              <p:par>
                                <p:cTn xmlns:p="http://schemas.openxmlformats.org/presentationml/2006/main" id="11" presetID="10" presetClass="entr" presetSubtype="0" fill="hold" grpId="0" nodeType="withEffect">
                                  <p:stCondLst>
                                    <p:cond delay="85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6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chapter-chrome"/>
          <p:cNvGrpSpPr/>
          <p:nvPr/>
        </p:nvGrpSpPr>
        <p:grpSpPr>
          <a:xfrm>
            <a:off x="602742" y="301625"/>
            <a:ext cx="10985754" cy="264033"/>
            <a:chOff x="602742" y="301625"/>
            <a:chExt cx="10985754" cy="264033"/>
          </a:xfrm>
        </p:grpSpPr>
        <p:sp>
          <p:nvSpPr>
            <p:cNvPr id="2" name="TextBox 2"/>
            <p:cNvSpPr txBox="1"/>
            <p:nvPr/>
          </p:nvSpPr>
          <p:spPr>
            <a:xfrm>
              <a:off x="602742" y="301625"/>
              <a:ext cx="358782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GB" sz="1350" b="1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01 / MECHANISM · THE OBSERVATION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11082270" y="314325"/>
              <a:ext cx="50622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GB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04 / 17</a:t>
              </a:r>
            </a:p>
          </p:txBody>
        </p:sp>
      </p:grpSp>
      <p:grpSp>
        <p:nvGrpSpPr>
          <p:cNvPr id="6" name="scene-heading"/>
          <p:cNvGrpSpPr/>
          <p:nvPr/>
        </p:nvGrpSpPr>
        <p:grpSpPr>
          <a:xfrm>
            <a:off x="590550" y="841375"/>
            <a:ext cx="9736081" cy="933450"/>
            <a:chOff x="590550" y="841375"/>
            <a:chExt cx="9736081" cy="933450"/>
          </a:xfrm>
        </p:grpSpPr>
        <p:sp>
          <p:nvSpPr>
            <p:cNvPr id="5" name="TextBox 5"/>
            <p:cNvSpPr txBox="1"/>
            <p:nvPr/>
          </p:nvSpPr>
          <p:spPr>
            <a:xfrm>
              <a:off x="590550" y="841375"/>
              <a:ext cx="9736081" cy="9334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GB" sz="4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Two diets. Different reductions.</a:t>
              </a:r>
            </a:p>
          </p:txBody>
        </p:sp>
      </p:grpSp>
      <p:grpSp>
        <p:nvGrpSpPr>
          <p:cNvPr id="10" name="hkd-intake"/>
          <p:cNvGrpSpPr/>
          <p:nvPr/>
        </p:nvGrpSpPr>
        <p:grpSpPr>
          <a:xfrm>
            <a:off x="590550" y="2168525"/>
            <a:ext cx="3677040" cy="2622550"/>
            <a:chOff x="590550" y="2168525"/>
            <a:chExt cx="3677040" cy="2622550"/>
          </a:xfrm>
        </p:grpSpPr>
        <p:sp>
          <p:nvSpPr>
            <p:cNvPr id="7" name="TextBox 7"/>
            <p:cNvSpPr txBox="1"/>
            <p:nvPr/>
          </p:nvSpPr>
          <p:spPr>
            <a:xfrm>
              <a:off x="655320" y="2168525"/>
              <a:ext cx="716259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GB" sz="225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HKD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590550" y="2486025"/>
              <a:ext cx="3677040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GB" sz="1200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−704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693420" y="4321175"/>
              <a:ext cx="1134061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GB" sz="22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kcal/day</a:t>
              </a:r>
            </a:p>
          </p:txBody>
        </p:sp>
      </p:grpSp>
      <p:grpSp>
        <p:nvGrpSpPr>
          <p:cNvPr id="14" name="erd-intake"/>
          <p:cNvGrpSpPr/>
          <p:nvPr/>
        </p:nvGrpSpPr>
        <p:grpSpPr>
          <a:xfrm>
            <a:off x="6686550" y="2168525"/>
            <a:ext cx="3677040" cy="2622550"/>
            <a:chOff x="6686550" y="2168525"/>
            <a:chExt cx="3677040" cy="2622550"/>
          </a:xfrm>
        </p:grpSpPr>
        <p:sp>
          <p:nvSpPr>
            <p:cNvPr id="11" name="TextBox 11"/>
            <p:cNvSpPr txBox="1"/>
            <p:nvPr/>
          </p:nvSpPr>
          <p:spPr>
            <a:xfrm>
              <a:off x="6751320" y="2168525"/>
              <a:ext cx="698592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GB" sz="22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ERD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6686550" y="2486025"/>
              <a:ext cx="3677040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GB" sz="120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−423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789420" y="4321175"/>
              <a:ext cx="1134061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GB" sz="22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kcal/day</a:t>
              </a:r>
            </a:p>
          </p:txBody>
        </p:sp>
      </p:grpSp>
      <p:grpSp>
        <p:nvGrpSpPr>
          <p:cNvPr id="17" name="calorie-context"/>
          <p:cNvGrpSpPr/>
          <p:nvPr/>
        </p:nvGrpSpPr>
        <p:grpSpPr>
          <a:xfrm>
            <a:off x="2564099" y="5245100"/>
            <a:ext cx="7063801" cy="860044"/>
            <a:chOff x="2564099" y="5245100"/>
            <a:chExt cx="7063801" cy="860044"/>
          </a:xfrm>
        </p:grpSpPr>
        <p:sp>
          <p:nvSpPr>
            <p:cNvPr id="15" name="TextBox 15"/>
            <p:cNvSpPr txBox="1"/>
            <p:nvPr/>
          </p:nvSpPr>
          <p:spPr>
            <a:xfrm>
              <a:off x="3132981" y="5245100"/>
              <a:ext cx="5926039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GB" sz="22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Reported change from baseline at 6 months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2564099" y="5753100"/>
              <a:ext cx="706380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GB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Both advised energy restriction. Actual intakes were not matched.</a:t>
              </a:r>
            </a:p>
          </p:txBody>
        </p:sp>
      </p:grpSp>
      <p:sp>
        <p:nvSpPr>
          <p:cNvPr id="18" name="TextBox 18"/>
          <p:cNvSpPr txBox="1"/>
          <p:nvPr/>
        </p:nvSpPr>
        <p:spPr>
          <a:xfrm>
            <a:off x="603504" y="6467475"/>
            <a:ext cx="695220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GB" sz="120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Lim et al. 2024 · Table 5 · Self-reported intake changes, not assigned or absolute calorie intakes.</a:t>
            </a:r>
          </a:p>
        </p:txBody>
      </p:sp>
    </p:spTree>
  </p:cSld>
  <p:clrMapOvr>
    <a:masterClrMapping/>
  </p:clrMapOvr>
  <p:transition xmlns:p14="http://schemas.microsoft.com/office/powerpoint/2010/main" p14:dur="55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53" presetClass="entr" presetSubtype="16" fill="hold" grpId="0" nodeType="withEffect" decel="50000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8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8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8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"/>
                            </p:stCondLst>
                            <p:childTnLst>
                              <p:par>
                                <p:cTn xmlns:p="http://schemas.openxmlformats.org/presentationml/2006/main" id="11" presetID="53" presetClass="entr" presetSubtype="16" fill="hold" grpId="0" nodeType="withEffect" decel="50000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8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8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8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400"/>
                            </p:stCondLst>
                            <p:childTnLst>
                              <p:par>
                                <p:cTn xmlns:p="http://schemas.openxmlformats.org/presentationml/2006/main" id="17" presetID="10" presetClass="entr" presetSubtype="0" fill="hold" grpId="0" nodeType="withEffect">
                                  <p:stCondLst>
                                    <p:cond delay="95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6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p14="http://schemas.microsoft.com/office/powerpoint/2010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chapter-chrome"/>
          <p:cNvGrpSpPr/>
          <p:nvPr/>
        </p:nvGrpSpPr>
        <p:grpSpPr>
          <a:xfrm>
            <a:off x="602742" y="301625"/>
            <a:ext cx="10985754" cy="264033"/>
            <a:chOff x="602742" y="301625"/>
            <a:chExt cx="10985754" cy="264033"/>
          </a:xfrm>
        </p:grpSpPr>
        <p:sp>
          <p:nvSpPr>
            <p:cNvPr id="2" name="TextBox 2"/>
            <p:cNvSpPr txBox="1"/>
            <p:nvPr/>
          </p:nvSpPr>
          <p:spPr>
            <a:xfrm>
              <a:off x="602742" y="301625"/>
              <a:ext cx="355575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GB" sz="1350" b="1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01 / MECHANISM · THE EXPLANATION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11082270" y="314325"/>
              <a:ext cx="50622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GB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05 / 17</a:t>
              </a:r>
            </a:p>
          </p:txBody>
        </p:sp>
      </p:grpSp>
      <p:grpSp>
        <p:nvGrpSpPr>
          <p:cNvPr id="6" name="scene-heading"/>
          <p:cNvGrpSpPr/>
          <p:nvPr/>
        </p:nvGrpSpPr>
        <p:grpSpPr>
          <a:xfrm>
            <a:off x="590550" y="841375"/>
            <a:ext cx="10365049" cy="933450"/>
            <a:chOff x="590550" y="841375"/>
            <a:chExt cx="10365049" cy="933450"/>
          </a:xfrm>
        </p:grpSpPr>
        <p:sp>
          <p:nvSpPr>
            <p:cNvPr id="5" name="TextBox 5"/>
            <p:cNvSpPr txBox="1"/>
            <p:nvPr/>
          </p:nvSpPr>
          <p:spPr>
            <a:xfrm>
              <a:off x="590550" y="841375"/>
              <a:ext cx="10365049" cy="9334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GB" sz="4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Assigned does not mean verified.</a:t>
              </a:r>
            </a:p>
          </p:txBody>
        </p:sp>
      </p:grpSp>
      <p:grpSp>
        <p:nvGrpSpPr>
          <p:cNvPr id="12" name="!!carbohydrate-node"/>
          <p:cNvGrpSpPr/>
          <p:nvPr/>
        </p:nvGrpSpPr>
        <p:grpSpPr>
          <a:xfrm>
            <a:off x="778821" y="2619375"/>
            <a:ext cx="1833258" cy="2118233"/>
            <a:chOff x="778821" y="2619375"/>
            <a:chExt cx="1833258" cy="2118233"/>
          </a:xfrm>
        </p:grpSpPr>
        <p:sp>
          <p:nvSpPr>
            <p:cNvPr id="7" name="Ellipse 7"/>
            <p:cNvSpPr/>
            <p:nvPr/>
          </p:nvSpPr>
          <p:spPr>
            <a:xfrm>
              <a:off x="1266825" y="2619375"/>
              <a:ext cx="857250" cy="857250"/>
            </a:xfrm>
            <a:prstGeom prst="ellipse">
              <a:avLst/>
            </a:prstGeom>
            <a:noFill/>
            <a:ln w="28575">
              <a:solidFill>
                <a:schemeClr val="accent3"/>
              </a:solidFill>
            </a:ln>
          </p:spPr>
        </p:sp>
        <p:sp>
          <p:nvSpPr>
            <p:cNvPr id="8" name="Ellipse 8"/>
            <p:cNvSpPr/>
            <p:nvPr/>
          </p:nvSpPr>
          <p:spPr>
            <a:xfrm>
              <a:off x="1409700" y="2762250"/>
              <a:ext cx="571500" cy="571500"/>
            </a:xfrm>
            <a:prstGeom prst="ellipse">
              <a:avLst/>
            </a:prstGeom>
            <a:noFill/>
            <a:ln w="19050">
              <a:solidFill>
                <a:schemeClr val="accent3"/>
              </a:solidFill>
            </a:ln>
          </p:spPr>
        </p:sp>
        <p:sp>
          <p:nvSpPr>
            <p:cNvPr id="9" name="Line 9"/>
            <p:cNvSpPr/>
            <p:nvPr/>
          </p:nvSpPr>
          <p:spPr>
            <a:xfrm>
              <a:off x="1562100" y="3048000"/>
              <a:ext cx="257175" cy="9525"/>
            </a:xfrm>
            <a:custGeom>
              <a:avLst/>
              <a:gdLst/>
              <a:ahLst/>
              <a:cxnLst/>
              <a:rect l="l" t="t" r="r" b="b"/>
              <a:pathLst>
                <a:path w="257175" h="9525">
                  <a:moveTo>
                    <a:pt x="0" y="0"/>
                  </a:moveTo>
                  <a:lnTo>
                    <a:pt x="257175" y="0"/>
                  </a:lnTo>
                </a:path>
              </a:pathLst>
            </a:custGeom>
            <a:noFill/>
            <a:ln w="38100" cap="rnd">
              <a:solidFill>
                <a:schemeClr val="accent3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778821" y="3578225"/>
              <a:ext cx="1833258" cy="81153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2925"/>
                </a:lnSpc>
              </a:pPr>
              <a:r>
                <a:rPr lang="en-GB" sz="22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Lower</a:t>
              </a:r>
              <a:br>
                <a:rPr lang="en-GB" sz="22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</a:br>
              <a:r>
                <a:rPr lang="en-GB" sz="22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carbohydrate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872158" y="4473575"/>
              <a:ext cx="164658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GB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Net carbs ≤50 g/day</a:t>
              </a:r>
            </a:p>
          </p:txBody>
        </p:sp>
      </p:grpSp>
      <p:grpSp>
        <p:nvGrpSpPr>
          <p:cNvPr id="18" name="!!weight-result"/>
          <p:cNvGrpSpPr/>
          <p:nvPr/>
        </p:nvGrpSpPr>
        <p:grpSpPr>
          <a:xfrm>
            <a:off x="9678562" y="2581275"/>
            <a:ext cx="1578826" cy="1903730"/>
            <a:chOff x="9678562" y="2581275"/>
            <a:chExt cx="1578826" cy="1903730"/>
          </a:xfrm>
        </p:grpSpPr>
        <p:sp>
          <p:nvSpPr>
            <p:cNvPr id="13" name="Rectangle 13"/>
            <p:cNvSpPr/>
            <p:nvPr/>
          </p:nvSpPr>
          <p:spPr>
            <a:xfrm>
              <a:off x="9991725" y="2581275"/>
              <a:ext cx="904875" cy="904875"/>
            </a:xfrm>
            <a:prstGeom prst="roundRect">
              <a:avLst>
                <a:gd name="adj" fmla="val 24000"/>
              </a:avLst>
            </a:prstGeom>
            <a:noFill/>
            <a:ln w="28575">
              <a:solidFill>
                <a:schemeClr val="accent1"/>
              </a:solidFill>
            </a:ln>
          </p:spPr>
        </p:sp>
        <p:sp>
          <p:nvSpPr>
            <p:cNvPr id="14" name="Rectangle 14"/>
            <p:cNvSpPr/>
            <p:nvPr/>
          </p:nvSpPr>
          <p:spPr>
            <a:xfrm>
              <a:off x="10208895" y="2744152"/>
              <a:ext cx="470535" cy="226219"/>
            </a:xfrm>
            <a:prstGeom prst="roundRect">
              <a:avLst>
                <a:gd name="adj" fmla="val 24000"/>
              </a:avLst>
            </a:prstGeom>
            <a:noFill/>
            <a:ln w="19050">
              <a:solidFill>
                <a:schemeClr val="accent1"/>
              </a:solidFill>
            </a:ln>
          </p:spPr>
        </p:sp>
        <p:sp>
          <p:nvSpPr>
            <p:cNvPr id="15" name="Line 15"/>
            <p:cNvSpPr/>
            <p:nvPr/>
          </p:nvSpPr>
          <p:spPr>
            <a:xfrm>
              <a:off x="10226992" y="3259931"/>
              <a:ext cx="434340" cy="9525"/>
            </a:xfrm>
            <a:custGeom>
              <a:avLst/>
              <a:gdLst/>
              <a:ahLst/>
              <a:cxnLst/>
              <a:rect l="l" t="t" r="r" b="b"/>
              <a:pathLst>
                <a:path w="434340" h="9525">
                  <a:moveTo>
                    <a:pt x="0" y="0"/>
                  </a:moveTo>
                  <a:lnTo>
                    <a:pt x="434340" y="0"/>
                  </a:lnTo>
                </a:path>
              </a:pathLst>
            </a:custGeom>
            <a:noFill/>
            <a:ln w="28575" cap="rnd">
              <a:solidFill>
                <a:schemeClr val="accent1"/>
              </a:solidFill>
            </a:ln>
          </p:spPr>
        </p:sp>
        <p:sp>
          <p:nvSpPr>
            <p:cNvPr id="16" name="Line 16"/>
            <p:cNvSpPr/>
            <p:nvPr/>
          </p:nvSpPr>
          <p:spPr>
            <a:xfrm>
              <a:off x="10444162" y="2807494"/>
              <a:ext cx="99536" cy="81439"/>
            </a:xfrm>
            <a:custGeom>
              <a:avLst/>
              <a:gdLst/>
              <a:ahLst/>
              <a:cxnLst/>
              <a:rect l="l" t="t" r="r" b="b"/>
              <a:pathLst>
                <a:path w="99536" h="81439">
                  <a:moveTo>
                    <a:pt x="0" y="81439"/>
                  </a:moveTo>
                  <a:lnTo>
                    <a:pt x="99536" y="0"/>
                  </a:lnTo>
                </a:path>
              </a:pathLst>
            </a:custGeom>
            <a:noFill/>
            <a:ln w="19050" cap="rnd">
              <a:solidFill>
                <a:schemeClr val="accent1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678562" y="3673475"/>
              <a:ext cx="1578826" cy="81153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2925"/>
                </a:lnSpc>
              </a:pPr>
              <a:r>
                <a:rPr lang="en-GB" sz="22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More</a:t>
              </a:r>
              <a:br>
                <a:rPr lang="en-GB" sz="22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</a:br>
              <a:r>
                <a:rPr lang="en-GB" sz="22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weight loss</a:t>
              </a:r>
            </a:p>
          </p:txBody>
        </p:sp>
      </p:grpSp>
      <p:grpSp>
        <p:nvGrpSpPr>
          <p:cNvPr id="27" name="!!ketosis-route"/>
          <p:cNvGrpSpPr/>
          <p:nvPr/>
        </p:nvGrpSpPr>
        <p:grpSpPr>
          <a:xfrm>
            <a:off x="3000375" y="2683764"/>
            <a:ext cx="6134100" cy="1135380"/>
            <a:chOff x="3000375" y="2683764"/>
            <a:chExt cx="6134100" cy="1135380"/>
          </a:xfrm>
        </p:grpSpPr>
        <p:sp>
          <p:nvSpPr>
            <p:cNvPr id="19" name="Line 19"/>
            <p:cNvSpPr/>
            <p:nvPr/>
          </p:nvSpPr>
          <p:spPr>
            <a:xfrm>
              <a:off x="3000375" y="3171825"/>
              <a:ext cx="1190625" cy="1"/>
            </a:xfrm>
            <a:prstGeom prst="line">
              <a:avLst/>
            </a:prstGeom>
            <a:noFill/>
            <a:ln w="28575" cap="rnd">
              <a:solidFill>
                <a:schemeClr val="accent2"/>
              </a:solidFill>
              <a:custDash>
                <a:ds d="200000" sp="166667"/>
              </a:custDash>
              <a:tailEnd type="triangle" w="lg" len="lg"/>
            </a:ln>
          </p:spPr>
        </p:sp>
        <p:sp>
          <p:nvSpPr>
            <p:cNvPr id="20" name="Line 20"/>
            <p:cNvSpPr/>
            <p:nvPr/>
          </p:nvSpPr>
          <p:spPr>
            <a:xfrm>
              <a:off x="7867650" y="3171825"/>
              <a:ext cx="1266825" cy="1"/>
            </a:xfrm>
            <a:prstGeom prst="line">
              <a:avLst/>
            </a:prstGeom>
            <a:noFill/>
            <a:ln w="28575" cap="rnd">
              <a:solidFill>
                <a:schemeClr val="accent2"/>
              </a:solidFill>
              <a:custDash>
                <a:ds d="200000" sp="166667"/>
              </a:custDash>
              <a:tailEnd type="triangle" w="lg" len="lg"/>
            </a:ln>
          </p:spPr>
        </p:sp>
        <p:sp>
          <p:nvSpPr>
            <p:cNvPr id="21" name="Rectangle 21"/>
            <p:cNvSpPr/>
            <p:nvPr/>
          </p:nvSpPr>
          <p:spPr>
            <a:xfrm>
              <a:off x="4505325" y="2705100"/>
              <a:ext cx="213360" cy="597408"/>
            </a:xfrm>
            <a:prstGeom prst="roundRect">
              <a:avLst>
                <a:gd name="adj" fmla="val 45000"/>
              </a:avLst>
            </a:prstGeom>
            <a:noFill/>
            <a:ln w="28575">
              <a:solidFill>
                <a:schemeClr val="accent2"/>
              </a:solidFill>
            </a:ln>
          </p:spPr>
        </p:sp>
        <p:sp>
          <p:nvSpPr>
            <p:cNvPr id="22" name="Rectangle 22"/>
            <p:cNvSpPr/>
            <p:nvPr/>
          </p:nvSpPr>
          <p:spPr>
            <a:xfrm>
              <a:off x="4478655" y="2683764"/>
              <a:ext cx="266700" cy="69342"/>
            </a:xfrm>
            <a:prstGeom prst="roundRect">
              <a:avLst>
                <a:gd name="adj" fmla="val 23077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3" name="Rectangle 23"/>
            <p:cNvSpPr/>
            <p:nvPr/>
          </p:nvSpPr>
          <p:spPr>
            <a:xfrm>
              <a:off x="4542663" y="3051810"/>
              <a:ext cx="138684" cy="202692"/>
            </a:xfrm>
            <a:prstGeom prst="roundRect">
              <a:avLst>
                <a:gd name="adj" fmla="val 38462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4" name="Line 24"/>
            <p:cNvSpPr/>
            <p:nvPr/>
          </p:nvSpPr>
          <p:spPr>
            <a:xfrm>
              <a:off x="4558665" y="2865120"/>
              <a:ext cx="69342" cy="9525"/>
            </a:xfrm>
            <a:custGeom>
              <a:avLst/>
              <a:gdLst/>
              <a:ahLst/>
              <a:cxnLst/>
              <a:rect l="l" t="t" r="r" b="b"/>
              <a:pathLst>
                <a:path w="69342" h="9525">
                  <a:moveTo>
                    <a:pt x="0" y="0"/>
                  </a:moveTo>
                  <a:lnTo>
                    <a:pt x="69342" y="0"/>
                  </a:lnTo>
                </a:path>
              </a:pathLst>
            </a:custGeom>
            <a:noFill/>
            <a:ln w="19050" cap="rnd">
              <a:solidFill>
                <a:schemeClr val="accent2"/>
              </a:solidFill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5173448" y="2832100"/>
              <a:ext cx="1749853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GB" sz="30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Ketosis?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4985876" y="3467100"/>
              <a:ext cx="244884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GB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Not objectively verified</a:t>
              </a:r>
            </a:p>
          </p:txBody>
        </p:sp>
      </p:grpSp>
      <p:grpSp>
        <p:nvGrpSpPr>
          <p:cNvPr id="29" name="scene-conclusion"/>
          <p:cNvGrpSpPr/>
          <p:nvPr/>
        </p:nvGrpSpPr>
        <p:grpSpPr>
          <a:xfrm>
            <a:off x="2979885" y="5457825"/>
            <a:ext cx="6232230" cy="656844"/>
            <a:chOff x="2979885" y="5457825"/>
            <a:chExt cx="6232230" cy="656844"/>
          </a:xfrm>
        </p:grpSpPr>
        <p:sp>
          <p:nvSpPr>
            <p:cNvPr id="28" name="TextBox 28"/>
            <p:cNvSpPr txBox="1"/>
            <p:nvPr/>
          </p:nvSpPr>
          <p:spPr>
            <a:xfrm>
              <a:off x="2979885" y="5457825"/>
              <a:ext cx="6232230" cy="6568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2400"/>
                </a:lnSpc>
              </a:pPr>
              <a:r>
                <a:rPr lang="en-GB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Diet advice and food diaries do not confirm sustained ketosis.</a:t>
              </a:r>
              <a:br>
                <a:rPr lang="en-GB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</a:br>
              <a:r>
                <a:rPr lang="en-GB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Dashed arrows = a possible pathway.</a:t>
              </a:r>
            </a:p>
          </p:txBody>
        </p:sp>
      </p:grpSp>
      <p:sp>
        <p:nvSpPr>
          <p:cNvPr id="30" name="TextBox 30"/>
          <p:cNvSpPr txBox="1"/>
          <p:nvPr/>
        </p:nvSpPr>
        <p:spPr>
          <a:xfrm>
            <a:off x="603504" y="6467475"/>
            <a:ext cx="6338073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GB" sz="120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Lim et al. 2024 · Methods 2.3, 2.7; Table 5; Discussion · No ketone verification reported.</a:t>
            </a:r>
          </a:p>
        </p:txBody>
      </p:sp>
    </p:spTree>
  </p:cSld>
  <p:clrMapOvr>
    <a:masterClrMapping/>
  </p:clrMapOvr>
  <p:transition p14:dur="55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10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50"/>
                            </p:stCondLst>
                            <p:childTnLst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11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6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mc="http://schemas.openxmlformats.org/markup-compatibility/2006" xmlns:p="http://schemas.openxmlformats.org/presentationml/2006/main" xmlns:p14="http://schemas.microsoft.com/office/powerpoint/2010/main" xmlns:p159="http://schemas.microsoft.com/office/powerpoint/2015/09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chapter-chrome"/>
          <p:cNvGrpSpPr/>
          <p:nvPr/>
        </p:nvGrpSpPr>
        <p:grpSpPr>
          <a:xfrm>
            <a:off x="602742" y="301625"/>
            <a:ext cx="10985754" cy="264033"/>
            <a:chOff x="602742" y="301625"/>
            <a:chExt cx="10985754" cy="264033"/>
          </a:xfrm>
        </p:grpSpPr>
        <p:sp>
          <p:nvSpPr>
            <p:cNvPr id="2" name="TextBox 2"/>
            <p:cNvSpPr txBox="1"/>
            <p:nvPr/>
          </p:nvSpPr>
          <p:spPr>
            <a:xfrm>
              <a:off x="602742" y="301625"/>
              <a:ext cx="355575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GB" sz="1350" b="1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01 / MECHANISM · THE EXPLANATION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11082270" y="314325"/>
              <a:ext cx="50622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GB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06 / 17</a:t>
              </a:r>
            </a:p>
          </p:txBody>
        </p:sp>
      </p:grpSp>
      <p:grpSp>
        <p:nvGrpSpPr>
          <p:cNvPr id="6" name="scene-heading"/>
          <p:cNvGrpSpPr/>
          <p:nvPr/>
        </p:nvGrpSpPr>
        <p:grpSpPr>
          <a:xfrm>
            <a:off x="590550" y="841375"/>
            <a:ext cx="10063041" cy="933450"/>
            <a:chOff x="590550" y="841375"/>
            <a:chExt cx="10063041" cy="933450"/>
          </a:xfrm>
        </p:grpSpPr>
        <p:sp>
          <p:nvSpPr>
            <p:cNvPr id="5" name="TextBox 5"/>
            <p:cNvSpPr txBox="1"/>
            <p:nvPr/>
          </p:nvSpPr>
          <p:spPr>
            <a:xfrm>
              <a:off x="590550" y="841375"/>
              <a:ext cx="10063041" cy="9334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GB" sz="4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Two possible routes. One result.</a:t>
              </a:r>
            </a:p>
          </p:txBody>
        </p:sp>
      </p:grpSp>
      <p:grpSp>
        <p:nvGrpSpPr>
          <p:cNvPr id="12" name="!!carbohydrate-node"/>
          <p:cNvGrpSpPr/>
          <p:nvPr/>
        </p:nvGrpSpPr>
        <p:grpSpPr>
          <a:xfrm>
            <a:off x="778821" y="2619375"/>
            <a:ext cx="1833258" cy="2118233"/>
            <a:chOff x="778821" y="2619375"/>
            <a:chExt cx="1833258" cy="2118233"/>
          </a:xfrm>
        </p:grpSpPr>
        <p:sp>
          <p:nvSpPr>
            <p:cNvPr id="7" name="Ellipse 7"/>
            <p:cNvSpPr/>
            <p:nvPr/>
          </p:nvSpPr>
          <p:spPr>
            <a:xfrm>
              <a:off x="1266825" y="2619375"/>
              <a:ext cx="857250" cy="857250"/>
            </a:xfrm>
            <a:prstGeom prst="ellipse">
              <a:avLst/>
            </a:prstGeom>
            <a:noFill/>
            <a:ln w="28575">
              <a:solidFill>
                <a:schemeClr val="accent3"/>
              </a:solidFill>
            </a:ln>
          </p:spPr>
        </p:sp>
        <p:sp>
          <p:nvSpPr>
            <p:cNvPr id="8" name="Ellipse 8"/>
            <p:cNvSpPr/>
            <p:nvPr/>
          </p:nvSpPr>
          <p:spPr>
            <a:xfrm>
              <a:off x="1409700" y="2762250"/>
              <a:ext cx="571500" cy="571500"/>
            </a:xfrm>
            <a:prstGeom prst="ellipse">
              <a:avLst/>
            </a:prstGeom>
            <a:noFill/>
            <a:ln w="19050">
              <a:solidFill>
                <a:schemeClr val="accent3"/>
              </a:solidFill>
            </a:ln>
          </p:spPr>
        </p:sp>
        <p:sp>
          <p:nvSpPr>
            <p:cNvPr id="9" name="Line 9"/>
            <p:cNvSpPr/>
            <p:nvPr/>
          </p:nvSpPr>
          <p:spPr>
            <a:xfrm>
              <a:off x="1562100" y="3048000"/>
              <a:ext cx="257175" cy="9525"/>
            </a:xfrm>
            <a:custGeom>
              <a:avLst/>
              <a:gdLst/>
              <a:ahLst/>
              <a:cxnLst/>
              <a:rect l="l" t="t" r="r" b="b"/>
              <a:pathLst>
                <a:path w="257175" h="9525">
                  <a:moveTo>
                    <a:pt x="0" y="0"/>
                  </a:moveTo>
                  <a:lnTo>
                    <a:pt x="257175" y="0"/>
                  </a:lnTo>
                </a:path>
              </a:pathLst>
            </a:custGeom>
            <a:noFill/>
            <a:ln w="38100" cap="rnd">
              <a:solidFill>
                <a:schemeClr val="accent3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778821" y="3578225"/>
              <a:ext cx="1833258" cy="81153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2925"/>
                </a:lnSpc>
              </a:pPr>
              <a:r>
                <a:rPr lang="en-GB" sz="22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Lower</a:t>
              </a:r>
              <a:br>
                <a:rPr lang="en-GB" sz="22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</a:br>
              <a:r>
                <a:rPr lang="en-GB" sz="22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carbohydrate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872158" y="4473575"/>
              <a:ext cx="164658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GB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Net carbs ≤50 g/day</a:t>
              </a:r>
            </a:p>
          </p:txBody>
        </p:sp>
      </p:grpSp>
      <p:grpSp>
        <p:nvGrpSpPr>
          <p:cNvPr id="18" name="!!weight-result"/>
          <p:cNvGrpSpPr/>
          <p:nvPr/>
        </p:nvGrpSpPr>
        <p:grpSpPr>
          <a:xfrm>
            <a:off x="9678562" y="2581275"/>
            <a:ext cx="1578826" cy="1903730"/>
            <a:chOff x="9678562" y="2581275"/>
            <a:chExt cx="1578826" cy="1903730"/>
          </a:xfrm>
        </p:grpSpPr>
        <p:sp>
          <p:nvSpPr>
            <p:cNvPr id="13" name="Rectangle 13"/>
            <p:cNvSpPr/>
            <p:nvPr/>
          </p:nvSpPr>
          <p:spPr>
            <a:xfrm>
              <a:off x="9991725" y="2581275"/>
              <a:ext cx="904875" cy="904875"/>
            </a:xfrm>
            <a:prstGeom prst="roundRect">
              <a:avLst>
                <a:gd name="adj" fmla="val 24000"/>
              </a:avLst>
            </a:prstGeom>
            <a:noFill/>
            <a:ln w="28575">
              <a:solidFill>
                <a:schemeClr val="accent1"/>
              </a:solidFill>
            </a:ln>
          </p:spPr>
        </p:sp>
        <p:sp>
          <p:nvSpPr>
            <p:cNvPr id="14" name="Rectangle 14"/>
            <p:cNvSpPr/>
            <p:nvPr/>
          </p:nvSpPr>
          <p:spPr>
            <a:xfrm>
              <a:off x="10208895" y="2744152"/>
              <a:ext cx="470535" cy="226219"/>
            </a:xfrm>
            <a:prstGeom prst="roundRect">
              <a:avLst>
                <a:gd name="adj" fmla="val 24000"/>
              </a:avLst>
            </a:prstGeom>
            <a:noFill/>
            <a:ln w="19050">
              <a:solidFill>
                <a:schemeClr val="accent1"/>
              </a:solidFill>
            </a:ln>
          </p:spPr>
        </p:sp>
        <p:sp>
          <p:nvSpPr>
            <p:cNvPr id="15" name="Line 15"/>
            <p:cNvSpPr/>
            <p:nvPr/>
          </p:nvSpPr>
          <p:spPr>
            <a:xfrm>
              <a:off x="10226992" y="3259931"/>
              <a:ext cx="434340" cy="9525"/>
            </a:xfrm>
            <a:custGeom>
              <a:avLst/>
              <a:gdLst/>
              <a:ahLst/>
              <a:cxnLst/>
              <a:rect l="l" t="t" r="r" b="b"/>
              <a:pathLst>
                <a:path w="434340" h="9525">
                  <a:moveTo>
                    <a:pt x="0" y="0"/>
                  </a:moveTo>
                  <a:lnTo>
                    <a:pt x="434340" y="0"/>
                  </a:lnTo>
                </a:path>
              </a:pathLst>
            </a:custGeom>
            <a:noFill/>
            <a:ln w="28575" cap="rnd">
              <a:solidFill>
                <a:schemeClr val="accent1"/>
              </a:solidFill>
            </a:ln>
          </p:spPr>
        </p:sp>
        <p:sp>
          <p:nvSpPr>
            <p:cNvPr id="16" name="Line 16"/>
            <p:cNvSpPr/>
            <p:nvPr/>
          </p:nvSpPr>
          <p:spPr>
            <a:xfrm>
              <a:off x="10444162" y="2807494"/>
              <a:ext cx="99536" cy="81439"/>
            </a:xfrm>
            <a:custGeom>
              <a:avLst/>
              <a:gdLst/>
              <a:ahLst/>
              <a:cxnLst/>
              <a:rect l="l" t="t" r="r" b="b"/>
              <a:pathLst>
                <a:path w="99536" h="81439">
                  <a:moveTo>
                    <a:pt x="0" y="81439"/>
                  </a:moveTo>
                  <a:lnTo>
                    <a:pt x="99536" y="0"/>
                  </a:lnTo>
                </a:path>
              </a:pathLst>
            </a:custGeom>
            <a:noFill/>
            <a:ln w="19050" cap="rnd">
              <a:solidFill>
                <a:schemeClr val="accent1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678562" y="3673475"/>
              <a:ext cx="1578826" cy="81153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2925"/>
                </a:lnSpc>
              </a:pPr>
              <a:r>
                <a:rPr lang="en-GB" sz="22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More</a:t>
              </a:r>
              <a:br>
                <a:rPr lang="en-GB" sz="22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</a:br>
              <a:r>
                <a:rPr lang="en-GB" sz="22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weight loss</a:t>
              </a:r>
            </a:p>
          </p:txBody>
        </p:sp>
      </p:grpSp>
      <p:grpSp>
        <p:nvGrpSpPr>
          <p:cNvPr id="31" name="!!ketosis-route"/>
          <p:cNvGrpSpPr/>
          <p:nvPr/>
        </p:nvGrpSpPr>
        <p:grpSpPr>
          <a:xfrm>
            <a:off x="3000375" y="1797939"/>
            <a:ext cx="6134100" cy="1431036"/>
            <a:chOff x="3000375" y="1797939"/>
            <a:chExt cx="6134100" cy="1431036"/>
          </a:xfrm>
        </p:grpSpPr>
        <p:sp>
          <p:nvSpPr>
            <p:cNvPr id="19" name="Line 19"/>
            <p:cNvSpPr/>
            <p:nvPr/>
          </p:nvSpPr>
          <p:spPr>
            <a:xfrm>
              <a:off x="3000375" y="3219450"/>
              <a:ext cx="523875" cy="9525"/>
            </a:xfrm>
            <a:custGeom>
              <a:avLst/>
              <a:gdLst/>
              <a:ahLst/>
              <a:cxnLst/>
              <a:rect l="l" t="t" r="r" b="b"/>
              <a:pathLst>
                <a:path w="523875" h="9525">
                  <a:moveTo>
                    <a:pt x="0" y="0"/>
                  </a:moveTo>
                  <a:lnTo>
                    <a:pt x="523875" y="0"/>
                  </a:lnTo>
                </a:path>
              </a:pathLst>
            </a:custGeom>
            <a:noFill/>
            <a:ln w="28575" cap="rnd">
              <a:solidFill>
                <a:schemeClr val="accent2"/>
              </a:solidFill>
              <a:custDash>
                <a:ds d="200000" sp="166667"/>
              </a:custDash>
            </a:ln>
          </p:spPr>
        </p:sp>
        <p:sp>
          <p:nvSpPr>
            <p:cNvPr id="20" name="Line 20"/>
            <p:cNvSpPr/>
            <p:nvPr/>
          </p:nvSpPr>
          <p:spPr>
            <a:xfrm>
              <a:off x="3524250" y="2286000"/>
              <a:ext cx="9525" cy="933450"/>
            </a:xfrm>
            <a:custGeom>
              <a:avLst/>
              <a:gdLst/>
              <a:ahLst/>
              <a:cxnLst/>
              <a:rect l="l" t="t" r="r" b="b"/>
              <a:pathLst>
                <a:path w="9525" h="933450">
                  <a:moveTo>
                    <a:pt x="0" y="933450"/>
                  </a:moveTo>
                  <a:lnTo>
                    <a:pt x="0" y="0"/>
                  </a:lnTo>
                </a:path>
              </a:pathLst>
            </a:custGeom>
            <a:noFill/>
            <a:ln w="28575" cap="rnd">
              <a:solidFill>
                <a:schemeClr val="accent2"/>
              </a:solidFill>
              <a:custDash>
                <a:ds d="200000" sp="166667"/>
              </a:custDash>
            </a:ln>
          </p:spPr>
        </p:sp>
        <p:sp>
          <p:nvSpPr>
            <p:cNvPr id="21" name="Line 21"/>
            <p:cNvSpPr/>
            <p:nvPr/>
          </p:nvSpPr>
          <p:spPr>
            <a:xfrm>
              <a:off x="3524250" y="2286000"/>
              <a:ext cx="666750" cy="1"/>
            </a:xfrm>
            <a:prstGeom prst="line">
              <a:avLst/>
            </a:prstGeom>
            <a:noFill/>
            <a:ln w="28575" cap="rnd">
              <a:solidFill>
                <a:schemeClr val="accent2"/>
              </a:solidFill>
              <a:custDash>
                <a:ds d="200000" sp="166667"/>
              </a:custDash>
              <a:tailEnd type="triangle" w="lg" len="lg"/>
            </a:ln>
          </p:spPr>
        </p:sp>
        <p:sp>
          <p:nvSpPr>
            <p:cNvPr id="22" name="Line 22"/>
            <p:cNvSpPr/>
            <p:nvPr/>
          </p:nvSpPr>
          <p:spPr>
            <a:xfrm>
              <a:off x="7867650" y="2286000"/>
              <a:ext cx="762000" cy="9525"/>
            </a:xfrm>
            <a:custGeom>
              <a:avLst/>
              <a:gdLst/>
              <a:ahLst/>
              <a:cxnLst/>
              <a:rect l="l" t="t" r="r" b="b"/>
              <a:pathLst>
                <a:path w="762000" h="9525">
                  <a:moveTo>
                    <a:pt x="0" y="0"/>
                  </a:moveTo>
                  <a:lnTo>
                    <a:pt x="762000" y="0"/>
                  </a:lnTo>
                </a:path>
              </a:pathLst>
            </a:custGeom>
            <a:noFill/>
            <a:ln w="28575" cap="rnd">
              <a:solidFill>
                <a:schemeClr val="accent2"/>
              </a:solidFill>
              <a:custDash>
                <a:ds d="200000" sp="166667"/>
              </a:custDash>
            </a:ln>
          </p:spPr>
        </p:sp>
        <p:sp>
          <p:nvSpPr>
            <p:cNvPr id="23" name="Line 23"/>
            <p:cNvSpPr/>
            <p:nvPr/>
          </p:nvSpPr>
          <p:spPr>
            <a:xfrm>
              <a:off x="8629650" y="2286000"/>
              <a:ext cx="9525" cy="933450"/>
            </a:xfrm>
            <a:custGeom>
              <a:avLst/>
              <a:gdLst/>
              <a:ahLst/>
              <a:cxnLst/>
              <a:rect l="l" t="t" r="r" b="b"/>
              <a:pathLst>
                <a:path w="9525" h="933450">
                  <a:moveTo>
                    <a:pt x="0" y="0"/>
                  </a:moveTo>
                  <a:lnTo>
                    <a:pt x="0" y="933450"/>
                  </a:lnTo>
                </a:path>
              </a:pathLst>
            </a:custGeom>
            <a:noFill/>
            <a:ln w="28575" cap="rnd">
              <a:solidFill>
                <a:schemeClr val="accent2"/>
              </a:solidFill>
              <a:custDash>
                <a:ds d="200000" sp="166667"/>
              </a:custDash>
            </a:ln>
          </p:spPr>
        </p:sp>
        <p:sp>
          <p:nvSpPr>
            <p:cNvPr id="24" name="Line 24"/>
            <p:cNvSpPr/>
            <p:nvPr/>
          </p:nvSpPr>
          <p:spPr>
            <a:xfrm>
              <a:off x="8629650" y="3219450"/>
              <a:ext cx="504825" cy="1"/>
            </a:xfrm>
            <a:prstGeom prst="line">
              <a:avLst/>
            </a:prstGeom>
            <a:noFill/>
            <a:ln w="28575" cap="rnd">
              <a:solidFill>
                <a:schemeClr val="accent2"/>
              </a:solidFill>
              <a:custDash>
                <a:ds d="200000" sp="166667"/>
              </a:custDash>
              <a:tailEnd type="triangle" w="lg" len="lg"/>
            </a:ln>
          </p:spPr>
        </p:sp>
        <p:sp>
          <p:nvSpPr>
            <p:cNvPr id="25" name="Rectangle 25"/>
            <p:cNvSpPr/>
            <p:nvPr/>
          </p:nvSpPr>
          <p:spPr>
            <a:xfrm>
              <a:off x="4505325" y="1819275"/>
              <a:ext cx="213360" cy="597408"/>
            </a:xfrm>
            <a:prstGeom prst="roundRect">
              <a:avLst>
                <a:gd name="adj" fmla="val 45000"/>
              </a:avLst>
            </a:prstGeom>
            <a:noFill/>
            <a:ln w="28575">
              <a:solidFill>
                <a:schemeClr val="accent2"/>
              </a:solidFill>
            </a:ln>
          </p:spPr>
        </p:sp>
        <p:sp>
          <p:nvSpPr>
            <p:cNvPr id="26" name="Rectangle 26"/>
            <p:cNvSpPr/>
            <p:nvPr/>
          </p:nvSpPr>
          <p:spPr>
            <a:xfrm>
              <a:off x="4478655" y="1797939"/>
              <a:ext cx="266700" cy="69342"/>
            </a:xfrm>
            <a:prstGeom prst="roundRect">
              <a:avLst>
                <a:gd name="adj" fmla="val 23077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7" name="Rectangle 27"/>
            <p:cNvSpPr/>
            <p:nvPr/>
          </p:nvSpPr>
          <p:spPr>
            <a:xfrm>
              <a:off x="4542663" y="2165985"/>
              <a:ext cx="138684" cy="202692"/>
            </a:xfrm>
            <a:prstGeom prst="roundRect">
              <a:avLst>
                <a:gd name="adj" fmla="val 38462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8" name="Line 28"/>
            <p:cNvSpPr/>
            <p:nvPr/>
          </p:nvSpPr>
          <p:spPr>
            <a:xfrm>
              <a:off x="4558665" y="1979295"/>
              <a:ext cx="69342" cy="9525"/>
            </a:xfrm>
            <a:custGeom>
              <a:avLst/>
              <a:gdLst/>
              <a:ahLst/>
              <a:cxnLst/>
              <a:rect l="l" t="t" r="r" b="b"/>
              <a:pathLst>
                <a:path w="69342" h="9525">
                  <a:moveTo>
                    <a:pt x="0" y="0"/>
                  </a:moveTo>
                  <a:lnTo>
                    <a:pt x="69342" y="0"/>
                  </a:lnTo>
                </a:path>
              </a:pathLst>
            </a:custGeom>
            <a:noFill/>
            <a:ln w="19050" cap="rnd">
              <a:solidFill>
                <a:schemeClr val="accent2"/>
              </a:solidFill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5173448" y="1946275"/>
              <a:ext cx="1749853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GB" sz="30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Ketosis?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4985876" y="2581275"/>
              <a:ext cx="244884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GB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Not objectively verified</a:t>
              </a:r>
            </a:p>
          </p:txBody>
        </p:sp>
      </p:grpSp>
      <p:grpSp>
        <p:nvGrpSpPr>
          <p:cNvPr id="40" name="!!energy-route"/>
          <p:cNvGrpSpPr/>
          <p:nvPr/>
        </p:nvGrpSpPr>
        <p:grpSpPr>
          <a:xfrm>
            <a:off x="3000375" y="3714750"/>
            <a:ext cx="6134100" cy="1237869"/>
            <a:chOff x="3000375" y="3714750"/>
            <a:chExt cx="6134100" cy="1237869"/>
          </a:xfrm>
        </p:grpSpPr>
        <p:sp>
          <p:nvSpPr>
            <p:cNvPr id="32" name="Line 32"/>
            <p:cNvSpPr/>
            <p:nvPr/>
          </p:nvSpPr>
          <p:spPr>
            <a:xfrm>
              <a:off x="3000375" y="3714750"/>
              <a:ext cx="523875" cy="9525"/>
            </a:xfrm>
            <a:custGeom>
              <a:avLst/>
              <a:gdLst/>
              <a:ahLst/>
              <a:cxnLst/>
              <a:rect l="l" t="t" r="r" b="b"/>
              <a:pathLst>
                <a:path w="523875" h="9525">
                  <a:moveTo>
                    <a:pt x="0" y="0"/>
                  </a:moveTo>
                  <a:lnTo>
                    <a:pt x="523875" y="0"/>
                  </a:lnTo>
                </a:path>
              </a:pathLst>
            </a:custGeom>
            <a:noFill/>
            <a:ln w="28575" cap="rnd">
              <a:solidFill>
                <a:schemeClr val="accent3"/>
              </a:solidFill>
              <a:custDash>
                <a:ds d="200000" sp="166667"/>
              </a:custDash>
            </a:ln>
          </p:spPr>
        </p:sp>
        <p:sp>
          <p:nvSpPr>
            <p:cNvPr id="33" name="Line 33"/>
            <p:cNvSpPr/>
            <p:nvPr/>
          </p:nvSpPr>
          <p:spPr>
            <a:xfrm>
              <a:off x="3524250" y="3714750"/>
              <a:ext cx="9525" cy="714375"/>
            </a:xfrm>
            <a:custGeom>
              <a:avLst/>
              <a:gdLst/>
              <a:ahLst/>
              <a:cxnLst/>
              <a:rect l="l" t="t" r="r" b="b"/>
              <a:pathLst>
                <a:path w="9525" h="714375">
                  <a:moveTo>
                    <a:pt x="0" y="0"/>
                  </a:moveTo>
                  <a:lnTo>
                    <a:pt x="0" y="714375"/>
                  </a:lnTo>
                </a:path>
              </a:pathLst>
            </a:custGeom>
            <a:noFill/>
            <a:ln w="28575" cap="rnd">
              <a:solidFill>
                <a:schemeClr val="accent3"/>
              </a:solidFill>
              <a:custDash>
                <a:ds d="200000" sp="166667"/>
              </a:custDash>
            </a:ln>
          </p:spPr>
        </p:sp>
        <p:sp>
          <p:nvSpPr>
            <p:cNvPr id="34" name="Line 34"/>
            <p:cNvSpPr/>
            <p:nvPr/>
          </p:nvSpPr>
          <p:spPr>
            <a:xfrm>
              <a:off x="3524250" y="4429125"/>
              <a:ext cx="666750" cy="1"/>
            </a:xfrm>
            <a:prstGeom prst="line">
              <a:avLst/>
            </a:prstGeom>
            <a:noFill/>
            <a:ln w="28575" cap="rnd">
              <a:solidFill>
                <a:schemeClr val="accent3"/>
              </a:solidFill>
              <a:custDash>
                <a:ds d="200000" sp="166667"/>
              </a:custDash>
              <a:tailEnd type="triangle" w="lg" len="lg"/>
            </a:ln>
          </p:spPr>
        </p:sp>
        <p:sp>
          <p:nvSpPr>
            <p:cNvPr id="35" name="Line 35"/>
            <p:cNvSpPr/>
            <p:nvPr/>
          </p:nvSpPr>
          <p:spPr>
            <a:xfrm>
              <a:off x="7867650" y="4429125"/>
              <a:ext cx="762000" cy="9525"/>
            </a:xfrm>
            <a:custGeom>
              <a:avLst/>
              <a:gdLst/>
              <a:ahLst/>
              <a:cxnLst/>
              <a:rect l="l" t="t" r="r" b="b"/>
              <a:pathLst>
                <a:path w="762000" h="9525">
                  <a:moveTo>
                    <a:pt x="0" y="0"/>
                  </a:moveTo>
                  <a:lnTo>
                    <a:pt x="762000" y="0"/>
                  </a:lnTo>
                </a:path>
              </a:pathLst>
            </a:custGeom>
            <a:noFill/>
            <a:ln w="28575" cap="rnd">
              <a:solidFill>
                <a:schemeClr val="accent3"/>
              </a:solidFill>
              <a:custDash>
                <a:ds d="200000" sp="166667"/>
              </a:custDash>
            </a:ln>
          </p:spPr>
        </p:sp>
        <p:sp>
          <p:nvSpPr>
            <p:cNvPr id="36" name="Line 36"/>
            <p:cNvSpPr/>
            <p:nvPr/>
          </p:nvSpPr>
          <p:spPr>
            <a:xfrm>
              <a:off x="8629650" y="3714750"/>
              <a:ext cx="9525" cy="714375"/>
            </a:xfrm>
            <a:custGeom>
              <a:avLst/>
              <a:gdLst/>
              <a:ahLst/>
              <a:cxnLst/>
              <a:rect l="l" t="t" r="r" b="b"/>
              <a:pathLst>
                <a:path w="9525" h="714375">
                  <a:moveTo>
                    <a:pt x="0" y="714375"/>
                  </a:moveTo>
                  <a:lnTo>
                    <a:pt x="0" y="0"/>
                  </a:lnTo>
                </a:path>
              </a:pathLst>
            </a:custGeom>
            <a:noFill/>
            <a:ln w="28575" cap="rnd">
              <a:solidFill>
                <a:schemeClr val="accent3"/>
              </a:solidFill>
              <a:custDash>
                <a:ds d="200000" sp="166667"/>
              </a:custDash>
            </a:ln>
          </p:spPr>
        </p:sp>
        <p:sp>
          <p:nvSpPr>
            <p:cNvPr id="37" name="Line 37"/>
            <p:cNvSpPr/>
            <p:nvPr/>
          </p:nvSpPr>
          <p:spPr>
            <a:xfrm>
              <a:off x="8629650" y="3714750"/>
              <a:ext cx="504825" cy="1"/>
            </a:xfrm>
            <a:prstGeom prst="line">
              <a:avLst/>
            </a:prstGeom>
            <a:noFill/>
            <a:ln w="28575" cap="rnd">
              <a:solidFill>
                <a:schemeClr val="accent3"/>
              </a:solidFill>
              <a:custDash>
                <a:ds d="200000" sp="166667"/>
              </a:custDash>
              <a:tailEnd type="triangle" w="lg" len="lg"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4567571" y="4111625"/>
              <a:ext cx="2961607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GB" sz="225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Lower energy intake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4850442" y="4600575"/>
              <a:ext cx="239586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GB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Possible contribution?</a:t>
              </a:r>
            </a:p>
          </p:txBody>
        </p:sp>
      </p:grpSp>
      <p:grpSp>
        <p:nvGrpSpPr>
          <p:cNvPr id="42" name="scene-conclusion"/>
          <p:cNvGrpSpPr/>
          <p:nvPr/>
        </p:nvGrpSpPr>
        <p:grpSpPr>
          <a:xfrm>
            <a:off x="2789278" y="5457825"/>
            <a:ext cx="6613444" cy="656844"/>
            <a:chOff x="2789278" y="5457825"/>
            <a:chExt cx="6613444" cy="656844"/>
          </a:xfrm>
        </p:grpSpPr>
        <p:sp>
          <p:nvSpPr>
            <p:cNvPr id="41" name="TextBox 41"/>
            <p:cNvSpPr txBox="1"/>
            <p:nvPr/>
          </p:nvSpPr>
          <p:spPr>
            <a:xfrm>
              <a:off x="2789278" y="5457825"/>
              <a:ext cx="6613444" cy="6568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2400"/>
                </a:lnSpc>
              </a:pPr>
              <a:r>
                <a:rPr lang="en-GB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Possible paths can overlap. Their contributions were not isolated.</a:t>
              </a:r>
              <a:br>
                <a:rPr lang="en-GB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</a:br>
              <a:r>
                <a:rPr lang="en-GB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Dashed arrows = hypotheses, not demonstrated mediation.</a:t>
              </a:r>
            </a:p>
          </p:txBody>
        </p:sp>
      </p:grpSp>
      <p:sp>
        <p:nvSpPr>
          <p:cNvPr id="43" name="TextBox 43"/>
          <p:cNvSpPr txBox="1"/>
          <p:nvPr/>
        </p:nvSpPr>
        <p:spPr>
          <a:xfrm>
            <a:off x="603504" y="6467475"/>
            <a:ext cx="6338073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GB" sz="120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Lim et al. 2024 · Methods 2.3, 2.7; Table 5; Discussion · No ketone verification reported.</a:t>
            </a:r>
          </a:p>
        </p:txBody>
      </p:sp>
    </p:spTree>
  </p:cSld>
  <p:clrMapOvr>
    <a:masterClrMapping/>
  </p:clrMapOvr>
  <mc:AlternateContent>
    <mc:Choice Requires="p159">
      <p:transition p14:dur="1200">
        <p159:morph option="byObject"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105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mc="http://schemas.openxmlformats.org/markup-compatibility/2006" xmlns:p="http://schemas.openxmlformats.org/presentationml/2006/main" xmlns:p14="http://schemas.microsoft.com/office/powerpoint/2010/main" xmlns:p159="http://schemas.microsoft.com/office/powerpoint/2015/09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chapter-chrome"/>
          <p:cNvGrpSpPr/>
          <p:nvPr/>
        </p:nvGrpSpPr>
        <p:grpSpPr>
          <a:xfrm>
            <a:off x="602742" y="301625"/>
            <a:ext cx="10985754" cy="264033"/>
            <a:chOff x="602742" y="301625"/>
            <a:chExt cx="10985754" cy="264033"/>
          </a:xfrm>
        </p:grpSpPr>
        <p:sp>
          <p:nvSpPr>
            <p:cNvPr id="2" name="TextBox 2"/>
            <p:cNvSpPr txBox="1"/>
            <p:nvPr/>
          </p:nvSpPr>
          <p:spPr>
            <a:xfrm>
              <a:off x="602742" y="301625"/>
              <a:ext cx="34913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GB" sz="1350" b="1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01 / MECHANISM · WHAT THIS LIMITS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11082270" y="314325"/>
              <a:ext cx="50622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GB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07 / 17</a:t>
              </a:r>
            </a:p>
          </p:txBody>
        </p:sp>
      </p:grpSp>
      <p:grpSp>
        <p:nvGrpSpPr>
          <p:cNvPr id="6" name="!!weight-result"/>
          <p:cNvGrpSpPr/>
          <p:nvPr/>
        </p:nvGrpSpPr>
        <p:grpSpPr>
          <a:xfrm>
            <a:off x="2529733" y="1346200"/>
            <a:ext cx="7132534" cy="1047750"/>
            <a:chOff x="2529733" y="1346200"/>
            <a:chExt cx="7132534" cy="1047750"/>
          </a:xfrm>
        </p:grpSpPr>
        <p:sp>
          <p:nvSpPr>
            <p:cNvPr id="5" name="TextBox 5"/>
            <p:cNvSpPr txBox="1"/>
            <p:nvPr/>
          </p:nvSpPr>
          <p:spPr>
            <a:xfrm>
              <a:off x="2529733" y="1346200"/>
              <a:ext cx="7132534" cy="10477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GB" sz="54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 programme effect.</a:t>
              </a:r>
            </a:p>
          </p:txBody>
        </p:sp>
      </p:grpSp>
      <p:grpSp>
        <p:nvGrpSpPr>
          <p:cNvPr id="8" name="mechanism-question"/>
          <p:cNvGrpSpPr/>
          <p:nvPr/>
        </p:nvGrpSpPr>
        <p:grpSpPr>
          <a:xfrm>
            <a:off x="3695235" y="2305050"/>
            <a:ext cx="4801530" cy="1847850"/>
            <a:chOff x="3695235" y="2305050"/>
            <a:chExt cx="4801530" cy="1847850"/>
          </a:xfrm>
        </p:grpSpPr>
        <p:sp>
          <p:nvSpPr>
            <p:cNvPr id="7" name="TextBox 7"/>
            <p:cNvSpPr txBox="1"/>
            <p:nvPr/>
          </p:nvSpPr>
          <p:spPr>
            <a:xfrm>
              <a:off x="3695235" y="2305050"/>
              <a:ext cx="4801530" cy="18478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6300"/>
                </a:lnSpc>
              </a:pPr>
              <a:r>
                <a:rPr lang="en-GB" sz="5400" b="1" dirty="0">
                  <a:gradFill>
                    <a:gsLst>
                      <a:gs pos="0">
                        <a:schemeClr val="accent3"/>
                      </a:gs>
                      <a:gs pos="100000">
                        <a:schemeClr val="accent2"/>
                      </a:gs>
                    </a:gsLst>
                    <a:lin ang="0" scaled="1"/>
                  </a:gradFill>
                  <a:latin typeface="+mn-lt"/>
                  <a:ea typeface="+mn-ea"/>
                  <a:cs typeface="+mn-cs"/>
                </a:rPr>
                <a:t>An unresolved</a:t>
              </a:r>
              <a:br>
                <a:rPr lang="en-GB" sz="5400" b="1" dirty="0">
                  <a:gradFill>
                    <a:gsLst>
                      <a:gs pos="0">
                        <a:schemeClr val="accent3"/>
                      </a:gs>
                      <a:gs pos="100000">
                        <a:schemeClr val="accent2"/>
                      </a:gs>
                    </a:gsLst>
                    <a:lin ang="0" scaled="1"/>
                  </a:gradFill>
                  <a:latin typeface="+mn-lt"/>
                  <a:ea typeface="+mn-ea"/>
                  <a:cs typeface="+mn-cs"/>
                </a:rPr>
              </a:br>
              <a:r>
                <a:rPr lang="en-GB" sz="5400" b="1" dirty="0">
                  <a:gradFill>
                    <a:gsLst>
                      <a:gs pos="0">
                        <a:schemeClr val="accent3"/>
                      </a:gs>
                      <a:gs pos="100000">
                        <a:schemeClr val="accent2"/>
                      </a:gs>
                    </a:gsLst>
                    <a:lin ang="0" scaled="1"/>
                  </a:gradFill>
                  <a:latin typeface="+mn-lt"/>
                  <a:ea typeface="+mn-ea"/>
                  <a:cs typeface="+mn-cs"/>
                </a:rPr>
                <a:t>mechanism.</a:t>
              </a:r>
            </a:p>
          </p:txBody>
        </p:sp>
      </p:grpSp>
      <p:grpSp>
        <p:nvGrpSpPr>
          <p:cNvPr id="11" name="!!ketosis-route"/>
          <p:cNvGrpSpPr/>
          <p:nvPr/>
        </p:nvGrpSpPr>
        <p:grpSpPr>
          <a:xfrm>
            <a:off x="1965277" y="4435475"/>
            <a:ext cx="2679796" cy="793369"/>
            <a:chOff x="1965277" y="4435475"/>
            <a:chExt cx="2679796" cy="793369"/>
          </a:xfrm>
        </p:grpSpPr>
        <p:sp>
          <p:nvSpPr>
            <p:cNvPr id="9" name="TextBox 9"/>
            <p:cNvSpPr txBox="1"/>
            <p:nvPr/>
          </p:nvSpPr>
          <p:spPr>
            <a:xfrm>
              <a:off x="1976475" y="4435475"/>
              <a:ext cx="2657400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GB" sz="22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Ketosis unverified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965277" y="4876800"/>
              <a:ext cx="267979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GB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Was the state achieved?</a:t>
              </a:r>
            </a:p>
          </p:txBody>
        </p:sp>
      </p:grpSp>
      <p:grpSp>
        <p:nvGrpSpPr>
          <p:cNvPr id="14" name="!!energy-route"/>
          <p:cNvGrpSpPr/>
          <p:nvPr/>
        </p:nvGrpSpPr>
        <p:grpSpPr>
          <a:xfrm>
            <a:off x="7413485" y="4435475"/>
            <a:ext cx="2927631" cy="793369"/>
            <a:chOff x="7413485" y="4435475"/>
            <a:chExt cx="2927631" cy="793369"/>
          </a:xfrm>
        </p:grpSpPr>
        <p:sp>
          <p:nvSpPr>
            <p:cNvPr id="12" name="TextBox 12"/>
            <p:cNvSpPr txBox="1"/>
            <p:nvPr/>
          </p:nvSpPr>
          <p:spPr>
            <a:xfrm>
              <a:off x="7413485" y="4435475"/>
              <a:ext cx="2927631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GB" sz="225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Calories unmatched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511028" y="4876800"/>
              <a:ext cx="273254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GB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Would extra loss persist?</a:t>
              </a:r>
            </a:p>
          </p:txBody>
        </p:sp>
      </p:grpSp>
      <p:grpSp>
        <p:nvGrpSpPr>
          <p:cNvPr id="16" name="scene-conclusion"/>
          <p:cNvGrpSpPr/>
          <p:nvPr/>
        </p:nvGrpSpPr>
        <p:grpSpPr>
          <a:xfrm>
            <a:off x="3308386" y="5743575"/>
            <a:ext cx="5575228" cy="352044"/>
            <a:chOff x="3308386" y="5743575"/>
            <a:chExt cx="5575228" cy="352044"/>
          </a:xfrm>
        </p:grpSpPr>
        <p:sp>
          <p:nvSpPr>
            <p:cNvPr id="15" name="TextBox 15"/>
            <p:cNvSpPr txBox="1"/>
            <p:nvPr/>
          </p:nvSpPr>
          <p:spPr>
            <a:xfrm>
              <a:off x="3308386" y="5743575"/>
              <a:ext cx="557522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GB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Eating less may be part of the programme’s benefit.</a:t>
              </a:r>
            </a:p>
          </p:txBody>
        </p:sp>
      </p:grpSp>
      <p:sp>
        <p:nvSpPr>
          <p:cNvPr id="17" name="TextBox 17"/>
          <p:cNvSpPr txBox="1"/>
          <p:nvPr/>
        </p:nvSpPr>
        <p:spPr>
          <a:xfrm>
            <a:off x="603504" y="6467475"/>
            <a:ext cx="758298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GB" sz="120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A calorie-independent ketosis benefit was not established. The programme comparison can still be useful.</a:t>
            </a:r>
          </a:p>
        </p:txBody>
      </p:sp>
    </p:spTree>
  </p:cSld>
  <p:clrMapOvr>
    <a:masterClrMapping/>
  </p:clrMapOvr>
  <mc:AlternateContent>
    <mc:Choice Requires="p159">
      <p:transition p14:dur="1200">
        <p159:morph option="byObject"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8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8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8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p14="http://schemas.microsoft.com/office/powerpoint/2010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chapter-chrome"/>
          <p:cNvGrpSpPr/>
          <p:nvPr/>
        </p:nvGrpSpPr>
        <p:grpSpPr>
          <a:xfrm>
            <a:off x="602742" y="301625"/>
            <a:ext cx="10985754" cy="264033"/>
            <a:chOff x="602742" y="301625"/>
            <a:chExt cx="10985754" cy="264033"/>
          </a:xfrm>
        </p:grpSpPr>
        <p:sp>
          <p:nvSpPr>
            <p:cNvPr id="2" name="TextBox 2"/>
            <p:cNvSpPr txBox="1"/>
            <p:nvPr/>
          </p:nvSpPr>
          <p:spPr>
            <a:xfrm>
              <a:off x="602742" y="301625"/>
              <a:ext cx="236101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GB" sz="1350" b="1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02 / MISSING OUTCOMES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11082270" y="314325"/>
              <a:ext cx="50622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GB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08 / 17</a:t>
              </a:r>
            </a:p>
          </p:txBody>
        </p:sp>
      </p:grpSp>
      <p:grpSp>
        <p:nvGrpSpPr>
          <p:cNvPr id="6" name="!!cohort-number"/>
          <p:cNvGrpSpPr/>
          <p:nvPr/>
        </p:nvGrpSpPr>
        <p:grpSpPr>
          <a:xfrm>
            <a:off x="590550" y="1549400"/>
            <a:ext cx="2553922" cy="3219450"/>
            <a:chOff x="590550" y="1549400"/>
            <a:chExt cx="2553922" cy="3219450"/>
          </a:xfrm>
        </p:grpSpPr>
        <p:sp>
          <p:nvSpPr>
            <p:cNvPr id="5" name="TextBox 5"/>
            <p:cNvSpPr txBox="1"/>
            <p:nvPr/>
          </p:nvSpPr>
          <p:spPr>
            <a:xfrm>
              <a:off x="590550" y="1549400"/>
              <a:ext cx="2553922" cy="32194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GB" sz="16800" b="1" dirty="0">
                  <a:gradFill>
                    <a:gsLst>
                      <a:gs pos="0">
                        <a:schemeClr val="accent3"/>
                      </a:gs>
                      <a:gs pos="100000">
                        <a:schemeClr val="accent2"/>
                      </a:gs>
                    </a:gsLst>
                    <a:lin ang="0" scaled="1"/>
                  </a:gradFill>
                  <a:latin typeface="+mn-lt"/>
                  <a:ea typeface="+mn-ea"/>
                  <a:cs typeface="+mn-cs"/>
                </a:rPr>
                <a:t>80</a:t>
              </a:r>
            </a:p>
          </p:txBody>
        </p:sp>
      </p:grpSp>
      <p:grpSp>
        <p:nvGrpSpPr>
          <p:cNvPr id="8" name="!!cohort-label"/>
          <p:cNvGrpSpPr/>
          <p:nvPr/>
        </p:nvGrpSpPr>
        <p:grpSpPr>
          <a:xfrm>
            <a:off x="594360" y="4584700"/>
            <a:ext cx="2189988" cy="1043940"/>
            <a:chOff x="594360" y="4584700"/>
            <a:chExt cx="2189988" cy="1043940"/>
          </a:xfrm>
        </p:grpSpPr>
        <p:sp>
          <p:nvSpPr>
            <p:cNvPr id="7" name="TextBox 7"/>
            <p:cNvSpPr txBox="1"/>
            <p:nvPr/>
          </p:nvSpPr>
          <p:spPr>
            <a:xfrm>
              <a:off x="594360" y="4584700"/>
              <a:ext cx="2189988" cy="10439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3600"/>
                </a:lnSpc>
              </a:pPr>
              <a:r>
                <a:rPr lang="en-GB" sz="30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people</a:t>
              </a:r>
              <a:br>
                <a:rPr lang="en-GB" sz="30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</a:br>
              <a:r>
                <a:rPr lang="en-GB" sz="30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randomised</a:t>
              </a:r>
            </a:p>
          </p:txBody>
        </p:sp>
      </p:grpSp>
      <p:grpSp>
        <p:nvGrpSpPr>
          <p:cNvPr id="11" name="!!hkd-label"/>
          <p:cNvGrpSpPr/>
          <p:nvPr/>
        </p:nvGrpSpPr>
        <p:grpSpPr>
          <a:xfrm>
            <a:off x="4905756" y="1514475"/>
            <a:ext cx="6647688" cy="352044"/>
            <a:chOff x="4905756" y="1514475"/>
            <a:chExt cx="6647688" cy="352044"/>
          </a:xfrm>
        </p:grpSpPr>
        <p:sp>
          <p:nvSpPr>
            <p:cNvPr id="9" name="TextBox 9"/>
            <p:cNvSpPr txBox="1"/>
            <p:nvPr/>
          </p:nvSpPr>
          <p:spPr>
            <a:xfrm>
              <a:off x="4905756" y="1514475"/>
              <a:ext cx="57300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GB" sz="180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HKD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0228249" y="1514475"/>
              <a:ext cx="132519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GB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41 assigned</a:t>
              </a:r>
            </a:p>
          </p:txBody>
        </p:sp>
      </p:grpSp>
      <p:grpSp>
        <p:nvGrpSpPr>
          <p:cNvPr id="14" name="!!erd-label"/>
          <p:cNvGrpSpPr/>
          <p:nvPr/>
        </p:nvGrpSpPr>
        <p:grpSpPr>
          <a:xfrm>
            <a:off x="4905756" y="3629025"/>
            <a:ext cx="6647688" cy="352044"/>
            <a:chOff x="4905756" y="3629025"/>
            <a:chExt cx="6647688" cy="352044"/>
          </a:xfrm>
        </p:grpSpPr>
        <p:sp>
          <p:nvSpPr>
            <p:cNvPr id="12" name="TextBox 12"/>
            <p:cNvSpPr txBox="1"/>
            <p:nvPr/>
          </p:nvSpPr>
          <p:spPr>
            <a:xfrm>
              <a:off x="4905756" y="3629025"/>
              <a:ext cx="55887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GB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ERD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0228249" y="3629025"/>
              <a:ext cx="132519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GB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39 assigned</a:t>
              </a:r>
            </a:p>
          </p:txBody>
        </p:sp>
      </p:grpSp>
      <p:grpSp>
        <p:nvGrpSpPr>
          <p:cNvPr id="17" name="!!participant-00"/>
          <p:cNvGrpSpPr/>
          <p:nvPr/>
        </p:nvGrpSpPr>
        <p:grpSpPr>
          <a:xfrm>
            <a:off x="4938332" y="2008061"/>
            <a:ext cx="109347" cy="320230"/>
            <a:chOff x="4938332" y="2008061"/>
            <a:chExt cx="109347" cy="320230"/>
          </a:xfrm>
        </p:grpSpPr>
        <p:sp>
          <p:nvSpPr>
            <p:cNvPr id="15" name="Ellipse 15"/>
            <p:cNvSpPr/>
            <p:nvPr/>
          </p:nvSpPr>
          <p:spPr>
            <a:xfrm>
              <a:off x="4946142" y="2008061"/>
              <a:ext cx="93726" cy="93726"/>
            </a:xfrm>
            <a:prstGeom prst="ellipse">
              <a:avLst/>
            </a:prstGeom>
            <a:solidFill>
              <a:schemeClr val="accent3"/>
            </a:solidFill>
            <a:ln w="13335">
              <a:solidFill>
                <a:schemeClr val="accent3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4938332" y="2140839"/>
              <a:ext cx="109347" cy="187452"/>
            </a:xfrm>
            <a:prstGeom prst="roundRect">
              <a:avLst>
                <a:gd name="adj" fmla="val 42857"/>
              </a:avLst>
            </a:prstGeom>
            <a:solidFill>
              <a:schemeClr val="accent3"/>
            </a:solidFill>
            <a:ln w="13335">
              <a:solidFill>
                <a:schemeClr val="accent3"/>
              </a:solidFill>
            </a:ln>
          </p:spPr>
        </p:sp>
      </p:grpSp>
      <p:grpSp>
        <p:nvGrpSpPr>
          <p:cNvPr id="20" name="!!participant-01"/>
          <p:cNvGrpSpPr/>
          <p:nvPr/>
        </p:nvGrpSpPr>
        <p:grpSpPr>
          <a:xfrm>
            <a:off x="5405056" y="2008061"/>
            <a:ext cx="109347" cy="320230"/>
            <a:chOff x="5405056" y="2008061"/>
            <a:chExt cx="109347" cy="320230"/>
          </a:xfrm>
        </p:grpSpPr>
        <p:sp>
          <p:nvSpPr>
            <p:cNvPr id="18" name="Ellipse 18"/>
            <p:cNvSpPr/>
            <p:nvPr/>
          </p:nvSpPr>
          <p:spPr>
            <a:xfrm>
              <a:off x="5412867" y="2008061"/>
              <a:ext cx="93726" cy="93726"/>
            </a:xfrm>
            <a:prstGeom prst="ellipse">
              <a:avLst/>
            </a:prstGeom>
            <a:solidFill>
              <a:schemeClr val="accent3"/>
            </a:solidFill>
            <a:ln w="13335">
              <a:solidFill>
                <a:schemeClr val="accent3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5405056" y="2140839"/>
              <a:ext cx="109347" cy="187452"/>
            </a:xfrm>
            <a:prstGeom prst="roundRect">
              <a:avLst>
                <a:gd name="adj" fmla="val 42857"/>
              </a:avLst>
            </a:prstGeom>
            <a:solidFill>
              <a:schemeClr val="accent3"/>
            </a:solidFill>
            <a:ln w="13335">
              <a:solidFill>
                <a:schemeClr val="accent3"/>
              </a:solidFill>
            </a:ln>
          </p:spPr>
        </p:sp>
      </p:grpSp>
      <p:grpSp>
        <p:nvGrpSpPr>
          <p:cNvPr id="23" name="!!participant-02"/>
          <p:cNvGrpSpPr/>
          <p:nvPr/>
        </p:nvGrpSpPr>
        <p:grpSpPr>
          <a:xfrm>
            <a:off x="5871782" y="2008061"/>
            <a:ext cx="109347" cy="320230"/>
            <a:chOff x="5871782" y="2008061"/>
            <a:chExt cx="109347" cy="320230"/>
          </a:xfrm>
        </p:grpSpPr>
        <p:sp>
          <p:nvSpPr>
            <p:cNvPr id="21" name="Ellipse 21"/>
            <p:cNvSpPr/>
            <p:nvPr/>
          </p:nvSpPr>
          <p:spPr>
            <a:xfrm>
              <a:off x="5879592" y="2008061"/>
              <a:ext cx="93726" cy="93726"/>
            </a:xfrm>
            <a:prstGeom prst="ellipse">
              <a:avLst/>
            </a:prstGeom>
            <a:solidFill>
              <a:schemeClr val="accent3"/>
            </a:solidFill>
            <a:ln w="13335">
              <a:solidFill>
                <a:schemeClr val="accent3"/>
              </a:solidFill>
            </a:ln>
          </p:spPr>
        </p:sp>
        <p:sp>
          <p:nvSpPr>
            <p:cNvPr id="22" name="Rectangle 22"/>
            <p:cNvSpPr/>
            <p:nvPr/>
          </p:nvSpPr>
          <p:spPr>
            <a:xfrm>
              <a:off x="5871782" y="2140839"/>
              <a:ext cx="109347" cy="187452"/>
            </a:xfrm>
            <a:prstGeom prst="roundRect">
              <a:avLst>
                <a:gd name="adj" fmla="val 42857"/>
              </a:avLst>
            </a:prstGeom>
            <a:solidFill>
              <a:schemeClr val="accent3"/>
            </a:solidFill>
            <a:ln w="13335">
              <a:solidFill>
                <a:schemeClr val="accent3"/>
              </a:solidFill>
            </a:ln>
          </p:spPr>
        </p:sp>
      </p:grpSp>
      <p:grpSp>
        <p:nvGrpSpPr>
          <p:cNvPr id="26" name="!!participant-03"/>
          <p:cNvGrpSpPr/>
          <p:nvPr/>
        </p:nvGrpSpPr>
        <p:grpSpPr>
          <a:xfrm>
            <a:off x="6338506" y="2008061"/>
            <a:ext cx="109347" cy="320230"/>
            <a:chOff x="6338506" y="2008061"/>
            <a:chExt cx="109347" cy="320230"/>
          </a:xfrm>
        </p:grpSpPr>
        <p:sp>
          <p:nvSpPr>
            <p:cNvPr id="24" name="Ellipse 24"/>
            <p:cNvSpPr/>
            <p:nvPr/>
          </p:nvSpPr>
          <p:spPr>
            <a:xfrm>
              <a:off x="6346317" y="2008061"/>
              <a:ext cx="93726" cy="93726"/>
            </a:xfrm>
            <a:prstGeom prst="ellipse">
              <a:avLst/>
            </a:prstGeom>
            <a:solidFill>
              <a:schemeClr val="accent3"/>
            </a:solidFill>
            <a:ln w="13335">
              <a:solidFill>
                <a:schemeClr val="accent3"/>
              </a:solidFill>
            </a:ln>
          </p:spPr>
        </p:sp>
        <p:sp>
          <p:nvSpPr>
            <p:cNvPr id="25" name="Rectangle 25"/>
            <p:cNvSpPr/>
            <p:nvPr/>
          </p:nvSpPr>
          <p:spPr>
            <a:xfrm>
              <a:off x="6338506" y="2140839"/>
              <a:ext cx="109347" cy="187452"/>
            </a:xfrm>
            <a:prstGeom prst="roundRect">
              <a:avLst>
                <a:gd name="adj" fmla="val 42857"/>
              </a:avLst>
            </a:prstGeom>
            <a:solidFill>
              <a:schemeClr val="accent3"/>
            </a:solidFill>
            <a:ln w="13335">
              <a:solidFill>
                <a:schemeClr val="accent3"/>
              </a:solidFill>
            </a:ln>
          </p:spPr>
        </p:sp>
      </p:grpSp>
      <p:grpSp>
        <p:nvGrpSpPr>
          <p:cNvPr id="29" name="!!participant-04"/>
          <p:cNvGrpSpPr/>
          <p:nvPr/>
        </p:nvGrpSpPr>
        <p:grpSpPr>
          <a:xfrm>
            <a:off x="6805232" y="2008061"/>
            <a:ext cx="109347" cy="320230"/>
            <a:chOff x="6805232" y="2008061"/>
            <a:chExt cx="109347" cy="320230"/>
          </a:xfrm>
        </p:grpSpPr>
        <p:sp>
          <p:nvSpPr>
            <p:cNvPr id="27" name="Ellipse 27"/>
            <p:cNvSpPr/>
            <p:nvPr/>
          </p:nvSpPr>
          <p:spPr>
            <a:xfrm>
              <a:off x="6813042" y="2008061"/>
              <a:ext cx="93726" cy="93726"/>
            </a:xfrm>
            <a:prstGeom prst="ellipse">
              <a:avLst/>
            </a:prstGeom>
            <a:solidFill>
              <a:schemeClr val="accent3"/>
            </a:solidFill>
            <a:ln w="13335">
              <a:solidFill>
                <a:schemeClr val="accent3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6805232" y="2140839"/>
              <a:ext cx="109347" cy="187452"/>
            </a:xfrm>
            <a:prstGeom prst="roundRect">
              <a:avLst>
                <a:gd name="adj" fmla="val 42857"/>
              </a:avLst>
            </a:prstGeom>
            <a:solidFill>
              <a:schemeClr val="accent3"/>
            </a:solidFill>
            <a:ln w="13335">
              <a:solidFill>
                <a:schemeClr val="accent3"/>
              </a:solidFill>
            </a:ln>
          </p:spPr>
        </p:sp>
      </p:grpSp>
      <p:grpSp>
        <p:nvGrpSpPr>
          <p:cNvPr id="32" name="!!participant-05"/>
          <p:cNvGrpSpPr/>
          <p:nvPr/>
        </p:nvGrpSpPr>
        <p:grpSpPr>
          <a:xfrm>
            <a:off x="7271956" y="2008061"/>
            <a:ext cx="109347" cy="320230"/>
            <a:chOff x="7271956" y="2008061"/>
            <a:chExt cx="109347" cy="320230"/>
          </a:xfrm>
        </p:grpSpPr>
        <p:sp>
          <p:nvSpPr>
            <p:cNvPr id="30" name="Ellipse 30"/>
            <p:cNvSpPr/>
            <p:nvPr/>
          </p:nvSpPr>
          <p:spPr>
            <a:xfrm>
              <a:off x="7279767" y="2008061"/>
              <a:ext cx="93726" cy="93726"/>
            </a:xfrm>
            <a:prstGeom prst="ellipse">
              <a:avLst/>
            </a:prstGeom>
            <a:solidFill>
              <a:schemeClr val="accent3"/>
            </a:solidFill>
            <a:ln w="13335">
              <a:solidFill>
                <a:schemeClr val="accent3"/>
              </a:solidFill>
            </a:ln>
          </p:spPr>
        </p:sp>
        <p:sp>
          <p:nvSpPr>
            <p:cNvPr id="31" name="Rectangle 31"/>
            <p:cNvSpPr/>
            <p:nvPr/>
          </p:nvSpPr>
          <p:spPr>
            <a:xfrm>
              <a:off x="7271956" y="2140839"/>
              <a:ext cx="109347" cy="187452"/>
            </a:xfrm>
            <a:prstGeom prst="roundRect">
              <a:avLst>
                <a:gd name="adj" fmla="val 42857"/>
              </a:avLst>
            </a:prstGeom>
            <a:solidFill>
              <a:schemeClr val="accent3"/>
            </a:solidFill>
            <a:ln w="13335">
              <a:solidFill>
                <a:schemeClr val="accent3"/>
              </a:solidFill>
            </a:ln>
          </p:spPr>
        </p:sp>
      </p:grpSp>
      <p:grpSp>
        <p:nvGrpSpPr>
          <p:cNvPr id="35" name="!!participant-06"/>
          <p:cNvGrpSpPr/>
          <p:nvPr/>
        </p:nvGrpSpPr>
        <p:grpSpPr>
          <a:xfrm>
            <a:off x="7738682" y="2008061"/>
            <a:ext cx="109347" cy="320230"/>
            <a:chOff x="7738682" y="2008061"/>
            <a:chExt cx="109347" cy="320230"/>
          </a:xfrm>
        </p:grpSpPr>
        <p:sp>
          <p:nvSpPr>
            <p:cNvPr id="33" name="Ellipse 33"/>
            <p:cNvSpPr/>
            <p:nvPr/>
          </p:nvSpPr>
          <p:spPr>
            <a:xfrm>
              <a:off x="7746492" y="2008061"/>
              <a:ext cx="93726" cy="93726"/>
            </a:xfrm>
            <a:prstGeom prst="ellipse">
              <a:avLst/>
            </a:prstGeom>
            <a:solidFill>
              <a:schemeClr val="accent3"/>
            </a:solidFill>
            <a:ln w="13335">
              <a:solidFill>
                <a:schemeClr val="accent3"/>
              </a:solidFill>
            </a:ln>
          </p:spPr>
        </p:sp>
        <p:sp>
          <p:nvSpPr>
            <p:cNvPr id="34" name="Rectangle 34"/>
            <p:cNvSpPr/>
            <p:nvPr/>
          </p:nvSpPr>
          <p:spPr>
            <a:xfrm>
              <a:off x="7738682" y="2140839"/>
              <a:ext cx="109347" cy="187452"/>
            </a:xfrm>
            <a:prstGeom prst="roundRect">
              <a:avLst>
                <a:gd name="adj" fmla="val 42857"/>
              </a:avLst>
            </a:prstGeom>
            <a:solidFill>
              <a:schemeClr val="accent3"/>
            </a:solidFill>
            <a:ln w="13335">
              <a:solidFill>
                <a:schemeClr val="accent3"/>
              </a:solidFill>
            </a:ln>
          </p:spPr>
        </p:sp>
      </p:grpSp>
      <p:grpSp>
        <p:nvGrpSpPr>
          <p:cNvPr id="38" name="!!participant-07"/>
          <p:cNvGrpSpPr/>
          <p:nvPr/>
        </p:nvGrpSpPr>
        <p:grpSpPr>
          <a:xfrm>
            <a:off x="8205406" y="2008061"/>
            <a:ext cx="109347" cy="320230"/>
            <a:chOff x="8205406" y="2008061"/>
            <a:chExt cx="109347" cy="320230"/>
          </a:xfrm>
        </p:grpSpPr>
        <p:sp>
          <p:nvSpPr>
            <p:cNvPr id="36" name="Ellipse 36"/>
            <p:cNvSpPr/>
            <p:nvPr/>
          </p:nvSpPr>
          <p:spPr>
            <a:xfrm>
              <a:off x="8213217" y="2008061"/>
              <a:ext cx="93726" cy="93726"/>
            </a:xfrm>
            <a:prstGeom prst="ellipse">
              <a:avLst/>
            </a:prstGeom>
            <a:solidFill>
              <a:schemeClr val="accent3"/>
            </a:solidFill>
            <a:ln w="13335">
              <a:solidFill>
                <a:schemeClr val="accent3"/>
              </a:solidFill>
            </a:ln>
          </p:spPr>
        </p:sp>
        <p:sp>
          <p:nvSpPr>
            <p:cNvPr id="37" name="Rectangle 37"/>
            <p:cNvSpPr/>
            <p:nvPr/>
          </p:nvSpPr>
          <p:spPr>
            <a:xfrm>
              <a:off x="8205406" y="2140839"/>
              <a:ext cx="109347" cy="187452"/>
            </a:xfrm>
            <a:prstGeom prst="roundRect">
              <a:avLst>
                <a:gd name="adj" fmla="val 42857"/>
              </a:avLst>
            </a:prstGeom>
            <a:solidFill>
              <a:schemeClr val="accent3"/>
            </a:solidFill>
            <a:ln w="13335">
              <a:solidFill>
                <a:schemeClr val="accent3"/>
              </a:solidFill>
            </a:ln>
          </p:spPr>
        </p:sp>
      </p:grpSp>
      <p:grpSp>
        <p:nvGrpSpPr>
          <p:cNvPr id="41" name="!!participant-08"/>
          <p:cNvGrpSpPr/>
          <p:nvPr/>
        </p:nvGrpSpPr>
        <p:grpSpPr>
          <a:xfrm>
            <a:off x="8672132" y="2008061"/>
            <a:ext cx="109347" cy="320230"/>
            <a:chOff x="8672132" y="2008061"/>
            <a:chExt cx="109347" cy="320230"/>
          </a:xfrm>
        </p:grpSpPr>
        <p:sp>
          <p:nvSpPr>
            <p:cNvPr id="39" name="Ellipse 39"/>
            <p:cNvSpPr/>
            <p:nvPr/>
          </p:nvSpPr>
          <p:spPr>
            <a:xfrm>
              <a:off x="8679942" y="2008061"/>
              <a:ext cx="93726" cy="93726"/>
            </a:xfrm>
            <a:prstGeom prst="ellipse">
              <a:avLst/>
            </a:prstGeom>
            <a:solidFill>
              <a:schemeClr val="accent3"/>
            </a:solidFill>
            <a:ln w="13335">
              <a:solidFill>
                <a:schemeClr val="accent3"/>
              </a:solidFill>
            </a:ln>
          </p:spPr>
        </p:sp>
        <p:sp>
          <p:nvSpPr>
            <p:cNvPr id="40" name="Rectangle 40"/>
            <p:cNvSpPr/>
            <p:nvPr/>
          </p:nvSpPr>
          <p:spPr>
            <a:xfrm>
              <a:off x="8672132" y="2140839"/>
              <a:ext cx="109347" cy="187452"/>
            </a:xfrm>
            <a:prstGeom prst="roundRect">
              <a:avLst>
                <a:gd name="adj" fmla="val 42857"/>
              </a:avLst>
            </a:prstGeom>
            <a:solidFill>
              <a:schemeClr val="accent3"/>
            </a:solidFill>
            <a:ln w="13335">
              <a:solidFill>
                <a:schemeClr val="accent3"/>
              </a:solidFill>
            </a:ln>
          </p:spPr>
        </p:sp>
      </p:grpSp>
      <p:grpSp>
        <p:nvGrpSpPr>
          <p:cNvPr id="44" name="!!participant-09"/>
          <p:cNvGrpSpPr/>
          <p:nvPr/>
        </p:nvGrpSpPr>
        <p:grpSpPr>
          <a:xfrm>
            <a:off x="9138856" y="2008061"/>
            <a:ext cx="109347" cy="320230"/>
            <a:chOff x="9138856" y="2008061"/>
            <a:chExt cx="109347" cy="320230"/>
          </a:xfrm>
        </p:grpSpPr>
        <p:sp>
          <p:nvSpPr>
            <p:cNvPr id="42" name="Ellipse 42"/>
            <p:cNvSpPr/>
            <p:nvPr/>
          </p:nvSpPr>
          <p:spPr>
            <a:xfrm>
              <a:off x="9146667" y="2008061"/>
              <a:ext cx="93726" cy="93726"/>
            </a:xfrm>
            <a:prstGeom prst="ellipse">
              <a:avLst/>
            </a:prstGeom>
            <a:solidFill>
              <a:schemeClr val="accent3"/>
            </a:solidFill>
            <a:ln w="13335">
              <a:solidFill>
                <a:schemeClr val="accent3"/>
              </a:solidFill>
            </a:ln>
          </p:spPr>
        </p:sp>
        <p:sp>
          <p:nvSpPr>
            <p:cNvPr id="43" name="Rectangle 43"/>
            <p:cNvSpPr/>
            <p:nvPr/>
          </p:nvSpPr>
          <p:spPr>
            <a:xfrm>
              <a:off x="9138856" y="2140839"/>
              <a:ext cx="109347" cy="187452"/>
            </a:xfrm>
            <a:prstGeom prst="roundRect">
              <a:avLst>
                <a:gd name="adj" fmla="val 42857"/>
              </a:avLst>
            </a:prstGeom>
            <a:solidFill>
              <a:schemeClr val="accent3"/>
            </a:solidFill>
            <a:ln w="13335">
              <a:solidFill>
                <a:schemeClr val="accent3"/>
              </a:solidFill>
            </a:ln>
          </p:spPr>
        </p:sp>
      </p:grpSp>
      <p:grpSp>
        <p:nvGrpSpPr>
          <p:cNvPr id="47" name="!!participant-10"/>
          <p:cNvGrpSpPr/>
          <p:nvPr/>
        </p:nvGrpSpPr>
        <p:grpSpPr>
          <a:xfrm>
            <a:off x="9605582" y="2008061"/>
            <a:ext cx="109347" cy="320230"/>
            <a:chOff x="9605582" y="2008061"/>
            <a:chExt cx="109347" cy="320230"/>
          </a:xfrm>
        </p:grpSpPr>
        <p:sp>
          <p:nvSpPr>
            <p:cNvPr id="45" name="Ellipse 45"/>
            <p:cNvSpPr/>
            <p:nvPr/>
          </p:nvSpPr>
          <p:spPr>
            <a:xfrm>
              <a:off x="9613392" y="2008061"/>
              <a:ext cx="93726" cy="93726"/>
            </a:xfrm>
            <a:prstGeom prst="ellipse">
              <a:avLst/>
            </a:prstGeom>
            <a:solidFill>
              <a:schemeClr val="accent3"/>
            </a:solidFill>
            <a:ln w="13335">
              <a:solidFill>
                <a:schemeClr val="accent3"/>
              </a:solidFill>
            </a:ln>
          </p:spPr>
        </p:sp>
        <p:sp>
          <p:nvSpPr>
            <p:cNvPr id="46" name="Rectangle 46"/>
            <p:cNvSpPr/>
            <p:nvPr/>
          </p:nvSpPr>
          <p:spPr>
            <a:xfrm>
              <a:off x="9605582" y="2140839"/>
              <a:ext cx="109347" cy="187452"/>
            </a:xfrm>
            <a:prstGeom prst="roundRect">
              <a:avLst>
                <a:gd name="adj" fmla="val 42857"/>
              </a:avLst>
            </a:prstGeom>
            <a:solidFill>
              <a:schemeClr val="accent3"/>
            </a:solidFill>
            <a:ln w="13335">
              <a:solidFill>
                <a:schemeClr val="accent3"/>
              </a:solidFill>
            </a:ln>
          </p:spPr>
        </p:sp>
      </p:grpSp>
      <p:grpSp>
        <p:nvGrpSpPr>
          <p:cNvPr id="50" name="!!participant-11"/>
          <p:cNvGrpSpPr/>
          <p:nvPr/>
        </p:nvGrpSpPr>
        <p:grpSpPr>
          <a:xfrm>
            <a:off x="10072306" y="2008061"/>
            <a:ext cx="109347" cy="320230"/>
            <a:chOff x="10072306" y="2008061"/>
            <a:chExt cx="109347" cy="320230"/>
          </a:xfrm>
        </p:grpSpPr>
        <p:sp>
          <p:nvSpPr>
            <p:cNvPr id="48" name="Ellipse 48"/>
            <p:cNvSpPr/>
            <p:nvPr/>
          </p:nvSpPr>
          <p:spPr>
            <a:xfrm>
              <a:off x="10080117" y="2008061"/>
              <a:ext cx="93726" cy="93726"/>
            </a:xfrm>
            <a:prstGeom prst="ellipse">
              <a:avLst/>
            </a:prstGeom>
            <a:solidFill>
              <a:schemeClr val="accent3"/>
            </a:solidFill>
            <a:ln w="13335">
              <a:solidFill>
                <a:schemeClr val="accent3"/>
              </a:solidFill>
            </a:ln>
          </p:spPr>
        </p:sp>
        <p:sp>
          <p:nvSpPr>
            <p:cNvPr id="49" name="Rectangle 49"/>
            <p:cNvSpPr/>
            <p:nvPr/>
          </p:nvSpPr>
          <p:spPr>
            <a:xfrm>
              <a:off x="10072306" y="2140839"/>
              <a:ext cx="109347" cy="187452"/>
            </a:xfrm>
            <a:prstGeom prst="roundRect">
              <a:avLst>
                <a:gd name="adj" fmla="val 42857"/>
              </a:avLst>
            </a:prstGeom>
            <a:solidFill>
              <a:schemeClr val="accent3"/>
            </a:solidFill>
            <a:ln w="13335">
              <a:solidFill>
                <a:schemeClr val="accent3"/>
              </a:solidFill>
            </a:ln>
          </p:spPr>
        </p:sp>
      </p:grpSp>
      <p:grpSp>
        <p:nvGrpSpPr>
          <p:cNvPr id="53" name="!!participant-12"/>
          <p:cNvGrpSpPr/>
          <p:nvPr/>
        </p:nvGrpSpPr>
        <p:grpSpPr>
          <a:xfrm>
            <a:off x="10539032" y="2008061"/>
            <a:ext cx="109347" cy="320230"/>
            <a:chOff x="10539032" y="2008061"/>
            <a:chExt cx="109347" cy="320230"/>
          </a:xfrm>
        </p:grpSpPr>
        <p:sp>
          <p:nvSpPr>
            <p:cNvPr id="51" name="Ellipse 51"/>
            <p:cNvSpPr/>
            <p:nvPr/>
          </p:nvSpPr>
          <p:spPr>
            <a:xfrm>
              <a:off x="10546842" y="2008061"/>
              <a:ext cx="93726" cy="93726"/>
            </a:xfrm>
            <a:prstGeom prst="ellipse">
              <a:avLst/>
            </a:prstGeom>
            <a:solidFill>
              <a:schemeClr val="accent3"/>
            </a:solidFill>
            <a:ln w="13335">
              <a:solidFill>
                <a:schemeClr val="accent3"/>
              </a:solidFill>
            </a:ln>
          </p:spPr>
        </p:sp>
        <p:sp>
          <p:nvSpPr>
            <p:cNvPr id="52" name="Rectangle 52"/>
            <p:cNvSpPr/>
            <p:nvPr/>
          </p:nvSpPr>
          <p:spPr>
            <a:xfrm>
              <a:off x="10539032" y="2140839"/>
              <a:ext cx="109347" cy="187452"/>
            </a:xfrm>
            <a:prstGeom prst="roundRect">
              <a:avLst>
                <a:gd name="adj" fmla="val 42857"/>
              </a:avLst>
            </a:prstGeom>
            <a:solidFill>
              <a:schemeClr val="accent3"/>
            </a:solidFill>
            <a:ln w="13335">
              <a:solidFill>
                <a:schemeClr val="accent3"/>
              </a:solidFill>
            </a:ln>
          </p:spPr>
        </p:sp>
      </p:grpSp>
      <p:grpSp>
        <p:nvGrpSpPr>
          <p:cNvPr id="56" name="!!participant-13"/>
          <p:cNvGrpSpPr/>
          <p:nvPr/>
        </p:nvGrpSpPr>
        <p:grpSpPr>
          <a:xfrm>
            <a:off x="11005756" y="2008061"/>
            <a:ext cx="109347" cy="320230"/>
            <a:chOff x="11005756" y="2008061"/>
            <a:chExt cx="109347" cy="320230"/>
          </a:xfrm>
        </p:grpSpPr>
        <p:sp>
          <p:nvSpPr>
            <p:cNvPr id="54" name="Ellipse 54"/>
            <p:cNvSpPr/>
            <p:nvPr/>
          </p:nvSpPr>
          <p:spPr>
            <a:xfrm>
              <a:off x="11013567" y="2008061"/>
              <a:ext cx="93726" cy="93726"/>
            </a:xfrm>
            <a:prstGeom prst="ellipse">
              <a:avLst/>
            </a:prstGeom>
            <a:solidFill>
              <a:schemeClr val="accent3"/>
            </a:solidFill>
            <a:ln w="13335">
              <a:solidFill>
                <a:schemeClr val="accent3"/>
              </a:solidFill>
            </a:ln>
          </p:spPr>
        </p:sp>
        <p:sp>
          <p:nvSpPr>
            <p:cNvPr id="55" name="Rectangle 55"/>
            <p:cNvSpPr/>
            <p:nvPr/>
          </p:nvSpPr>
          <p:spPr>
            <a:xfrm>
              <a:off x="11005756" y="2140839"/>
              <a:ext cx="109347" cy="187452"/>
            </a:xfrm>
            <a:prstGeom prst="roundRect">
              <a:avLst>
                <a:gd name="adj" fmla="val 42857"/>
              </a:avLst>
            </a:prstGeom>
            <a:solidFill>
              <a:schemeClr val="accent3"/>
            </a:solidFill>
            <a:ln w="13335">
              <a:solidFill>
                <a:schemeClr val="accent3"/>
              </a:solidFill>
            </a:ln>
          </p:spPr>
        </p:sp>
      </p:grpSp>
      <p:grpSp>
        <p:nvGrpSpPr>
          <p:cNvPr id="59" name="!!participant-14"/>
          <p:cNvGrpSpPr/>
          <p:nvPr/>
        </p:nvGrpSpPr>
        <p:grpSpPr>
          <a:xfrm>
            <a:off x="4938332" y="2503360"/>
            <a:ext cx="109347" cy="320231"/>
            <a:chOff x="4938332" y="2503360"/>
            <a:chExt cx="109347" cy="320231"/>
          </a:xfrm>
        </p:grpSpPr>
        <p:sp>
          <p:nvSpPr>
            <p:cNvPr id="57" name="Ellipse 57"/>
            <p:cNvSpPr/>
            <p:nvPr/>
          </p:nvSpPr>
          <p:spPr>
            <a:xfrm>
              <a:off x="4946142" y="2503360"/>
              <a:ext cx="93726" cy="93726"/>
            </a:xfrm>
            <a:prstGeom prst="ellipse">
              <a:avLst/>
            </a:prstGeom>
            <a:solidFill>
              <a:schemeClr val="accent3"/>
            </a:solidFill>
            <a:ln w="13335">
              <a:solidFill>
                <a:schemeClr val="accent3"/>
              </a:solidFill>
            </a:ln>
          </p:spPr>
        </p:sp>
        <p:sp>
          <p:nvSpPr>
            <p:cNvPr id="58" name="Rectangle 58"/>
            <p:cNvSpPr/>
            <p:nvPr/>
          </p:nvSpPr>
          <p:spPr>
            <a:xfrm>
              <a:off x="4938332" y="2636139"/>
              <a:ext cx="109347" cy="187452"/>
            </a:xfrm>
            <a:prstGeom prst="roundRect">
              <a:avLst>
                <a:gd name="adj" fmla="val 42857"/>
              </a:avLst>
            </a:prstGeom>
            <a:solidFill>
              <a:schemeClr val="accent3"/>
            </a:solidFill>
            <a:ln w="13335">
              <a:solidFill>
                <a:schemeClr val="accent3"/>
              </a:solidFill>
            </a:ln>
          </p:spPr>
        </p:sp>
      </p:grpSp>
      <p:grpSp>
        <p:nvGrpSpPr>
          <p:cNvPr id="62" name="!!participant-15"/>
          <p:cNvGrpSpPr/>
          <p:nvPr/>
        </p:nvGrpSpPr>
        <p:grpSpPr>
          <a:xfrm>
            <a:off x="5405056" y="2503360"/>
            <a:ext cx="109347" cy="320231"/>
            <a:chOff x="5405056" y="2503360"/>
            <a:chExt cx="109347" cy="320231"/>
          </a:xfrm>
        </p:grpSpPr>
        <p:sp>
          <p:nvSpPr>
            <p:cNvPr id="60" name="Ellipse 60"/>
            <p:cNvSpPr/>
            <p:nvPr/>
          </p:nvSpPr>
          <p:spPr>
            <a:xfrm>
              <a:off x="5412867" y="2503360"/>
              <a:ext cx="93726" cy="93726"/>
            </a:xfrm>
            <a:prstGeom prst="ellipse">
              <a:avLst/>
            </a:prstGeom>
            <a:solidFill>
              <a:schemeClr val="accent3"/>
            </a:solidFill>
            <a:ln w="13335">
              <a:solidFill>
                <a:schemeClr val="accent3"/>
              </a:solidFill>
            </a:ln>
          </p:spPr>
        </p:sp>
        <p:sp>
          <p:nvSpPr>
            <p:cNvPr id="61" name="Rectangle 61"/>
            <p:cNvSpPr/>
            <p:nvPr/>
          </p:nvSpPr>
          <p:spPr>
            <a:xfrm>
              <a:off x="5405056" y="2636139"/>
              <a:ext cx="109347" cy="187452"/>
            </a:xfrm>
            <a:prstGeom prst="roundRect">
              <a:avLst>
                <a:gd name="adj" fmla="val 42857"/>
              </a:avLst>
            </a:prstGeom>
            <a:solidFill>
              <a:schemeClr val="accent3"/>
            </a:solidFill>
            <a:ln w="13335">
              <a:solidFill>
                <a:schemeClr val="accent3"/>
              </a:solidFill>
            </a:ln>
          </p:spPr>
        </p:sp>
      </p:grpSp>
      <p:grpSp>
        <p:nvGrpSpPr>
          <p:cNvPr id="65" name="!!participant-16"/>
          <p:cNvGrpSpPr/>
          <p:nvPr/>
        </p:nvGrpSpPr>
        <p:grpSpPr>
          <a:xfrm>
            <a:off x="5871782" y="2503360"/>
            <a:ext cx="109347" cy="320231"/>
            <a:chOff x="5871782" y="2503360"/>
            <a:chExt cx="109347" cy="320231"/>
          </a:xfrm>
        </p:grpSpPr>
        <p:sp>
          <p:nvSpPr>
            <p:cNvPr id="63" name="Ellipse 63"/>
            <p:cNvSpPr/>
            <p:nvPr/>
          </p:nvSpPr>
          <p:spPr>
            <a:xfrm>
              <a:off x="5879592" y="2503360"/>
              <a:ext cx="93726" cy="93726"/>
            </a:xfrm>
            <a:prstGeom prst="ellipse">
              <a:avLst/>
            </a:prstGeom>
            <a:solidFill>
              <a:schemeClr val="accent3"/>
            </a:solidFill>
            <a:ln w="13335">
              <a:solidFill>
                <a:schemeClr val="accent3"/>
              </a:solidFill>
            </a:ln>
          </p:spPr>
        </p:sp>
        <p:sp>
          <p:nvSpPr>
            <p:cNvPr id="64" name="Rectangle 64"/>
            <p:cNvSpPr/>
            <p:nvPr/>
          </p:nvSpPr>
          <p:spPr>
            <a:xfrm>
              <a:off x="5871782" y="2636139"/>
              <a:ext cx="109347" cy="187452"/>
            </a:xfrm>
            <a:prstGeom prst="roundRect">
              <a:avLst>
                <a:gd name="adj" fmla="val 42857"/>
              </a:avLst>
            </a:prstGeom>
            <a:solidFill>
              <a:schemeClr val="accent3"/>
            </a:solidFill>
            <a:ln w="13335">
              <a:solidFill>
                <a:schemeClr val="accent3"/>
              </a:solidFill>
            </a:ln>
          </p:spPr>
        </p:sp>
      </p:grpSp>
      <p:grpSp>
        <p:nvGrpSpPr>
          <p:cNvPr id="68" name="!!participant-17"/>
          <p:cNvGrpSpPr/>
          <p:nvPr/>
        </p:nvGrpSpPr>
        <p:grpSpPr>
          <a:xfrm>
            <a:off x="6338506" y="2503360"/>
            <a:ext cx="109347" cy="320231"/>
            <a:chOff x="6338506" y="2503360"/>
            <a:chExt cx="109347" cy="320231"/>
          </a:xfrm>
        </p:grpSpPr>
        <p:sp>
          <p:nvSpPr>
            <p:cNvPr id="66" name="Ellipse 66"/>
            <p:cNvSpPr/>
            <p:nvPr/>
          </p:nvSpPr>
          <p:spPr>
            <a:xfrm>
              <a:off x="6346317" y="2503360"/>
              <a:ext cx="93726" cy="93726"/>
            </a:xfrm>
            <a:prstGeom prst="ellipse">
              <a:avLst/>
            </a:prstGeom>
            <a:solidFill>
              <a:schemeClr val="accent3"/>
            </a:solidFill>
            <a:ln w="13335">
              <a:solidFill>
                <a:schemeClr val="accent3"/>
              </a:solidFill>
            </a:ln>
          </p:spPr>
        </p:sp>
        <p:sp>
          <p:nvSpPr>
            <p:cNvPr id="67" name="Rectangle 67"/>
            <p:cNvSpPr/>
            <p:nvPr/>
          </p:nvSpPr>
          <p:spPr>
            <a:xfrm>
              <a:off x="6338506" y="2636139"/>
              <a:ext cx="109347" cy="187452"/>
            </a:xfrm>
            <a:prstGeom prst="roundRect">
              <a:avLst>
                <a:gd name="adj" fmla="val 42857"/>
              </a:avLst>
            </a:prstGeom>
            <a:solidFill>
              <a:schemeClr val="accent3"/>
            </a:solidFill>
            <a:ln w="13335">
              <a:solidFill>
                <a:schemeClr val="accent3"/>
              </a:solidFill>
            </a:ln>
          </p:spPr>
        </p:sp>
      </p:grpSp>
      <p:grpSp>
        <p:nvGrpSpPr>
          <p:cNvPr id="71" name="!!participant-18"/>
          <p:cNvGrpSpPr/>
          <p:nvPr/>
        </p:nvGrpSpPr>
        <p:grpSpPr>
          <a:xfrm>
            <a:off x="6805232" y="2503360"/>
            <a:ext cx="109347" cy="320231"/>
            <a:chOff x="6805232" y="2503360"/>
            <a:chExt cx="109347" cy="320231"/>
          </a:xfrm>
        </p:grpSpPr>
        <p:sp>
          <p:nvSpPr>
            <p:cNvPr id="69" name="Ellipse 69"/>
            <p:cNvSpPr/>
            <p:nvPr/>
          </p:nvSpPr>
          <p:spPr>
            <a:xfrm>
              <a:off x="6813042" y="2503360"/>
              <a:ext cx="93726" cy="93726"/>
            </a:xfrm>
            <a:prstGeom prst="ellipse">
              <a:avLst/>
            </a:prstGeom>
            <a:solidFill>
              <a:schemeClr val="accent3"/>
            </a:solidFill>
            <a:ln w="13335">
              <a:solidFill>
                <a:schemeClr val="accent3"/>
              </a:solidFill>
            </a:ln>
          </p:spPr>
        </p:sp>
        <p:sp>
          <p:nvSpPr>
            <p:cNvPr id="70" name="Rectangle 70"/>
            <p:cNvSpPr/>
            <p:nvPr/>
          </p:nvSpPr>
          <p:spPr>
            <a:xfrm>
              <a:off x="6805232" y="2636139"/>
              <a:ext cx="109347" cy="187452"/>
            </a:xfrm>
            <a:prstGeom prst="roundRect">
              <a:avLst>
                <a:gd name="adj" fmla="val 42857"/>
              </a:avLst>
            </a:prstGeom>
            <a:solidFill>
              <a:schemeClr val="accent3"/>
            </a:solidFill>
            <a:ln w="13335">
              <a:solidFill>
                <a:schemeClr val="accent3"/>
              </a:solidFill>
            </a:ln>
          </p:spPr>
        </p:sp>
      </p:grpSp>
      <p:grpSp>
        <p:nvGrpSpPr>
          <p:cNvPr id="74" name="!!participant-19"/>
          <p:cNvGrpSpPr/>
          <p:nvPr/>
        </p:nvGrpSpPr>
        <p:grpSpPr>
          <a:xfrm>
            <a:off x="7271956" y="2503360"/>
            <a:ext cx="109347" cy="320231"/>
            <a:chOff x="7271956" y="2503360"/>
            <a:chExt cx="109347" cy="320231"/>
          </a:xfrm>
        </p:grpSpPr>
        <p:sp>
          <p:nvSpPr>
            <p:cNvPr id="72" name="Ellipse 72"/>
            <p:cNvSpPr/>
            <p:nvPr/>
          </p:nvSpPr>
          <p:spPr>
            <a:xfrm>
              <a:off x="7279767" y="2503360"/>
              <a:ext cx="93726" cy="93726"/>
            </a:xfrm>
            <a:prstGeom prst="ellipse">
              <a:avLst/>
            </a:prstGeom>
            <a:solidFill>
              <a:schemeClr val="accent3"/>
            </a:solidFill>
            <a:ln w="13335">
              <a:solidFill>
                <a:schemeClr val="accent3"/>
              </a:solidFill>
            </a:ln>
          </p:spPr>
        </p:sp>
        <p:sp>
          <p:nvSpPr>
            <p:cNvPr id="73" name="Rectangle 73"/>
            <p:cNvSpPr/>
            <p:nvPr/>
          </p:nvSpPr>
          <p:spPr>
            <a:xfrm>
              <a:off x="7271956" y="2636139"/>
              <a:ext cx="109347" cy="187452"/>
            </a:xfrm>
            <a:prstGeom prst="roundRect">
              <a:avLst>
                <a:gd name="adj" fmla="val 42857"/>
              </a:avLst>
            </a:prstGeom>
            <a:solidFill>
              <a:schemeClr val="accent3"/>
            </a:solidFill>
            <a:ln w="13335">
              <a:solidFill>
                <a:schemeClr val="accent3"/>
              </a:solidFill>
            </a:ln>
          </p:spPr>
        </p:sp>
      </p:grpSp>
      <p:grpSp>
        <p:nvGrpSpPr>
          <p:cNvPr id="77" name="!!participant-20"/>
          <p:cNvGrpSpPr/>
          <p:nvPr/>
        </p:nvGrpSpPr>
        <p:grpSpPr>
          <a:xfrm>
            <a:off x="7738682" y="2503360"/>
            <a:ext cx="109347" cy="320231"/>
            <a:chOff x="7738682" y="2503360"/>
            <a:chExt cx="109347" cy="320231"/>
          </a:xfrm>
        </p:grpSpPr>
        <p:sp>
          <p:nvSpPr>
            <p:cNvPr id="75" name="Ellipse 75"/>
            <p:cNvSpPr/>
            <p:nvPr/>
          </p:nvSpPr>
          <p:spPr>
            <a:xfrm>
              <a:off x="7746492" y="2503360"/>
              <a:ext cx="93726" cy="93726"/>
            </a:xfrm>
            <a:prstGeom prst="ellipse">
              <a:avLst/>
            </a:prstGeom>
            <a:solidFill>
              <a:schemeClr val="accent3"/>
            </a:solidFill>
            <a:ln w="13335">
              <a:solidFill>
                <a:schemeClr val="accent3"/>
              </a:solidFill>
            </a:ln>
          </p:spPr>
        </p:sp>
        <p:sp>
          <p:nvSpPr>
            <p:cNvPr id="76" name="Rectangle 76"/>
            <p:cNvSpPr/>
            <p:nvPr/>
          </p:nvSpPr>
          <p:spPr>
            <a:xfrm>
              <a:off x="7738682" y="2636139"/>
              <a:ext cx="109347" cy="187452"/>
            </a:xfrm>
            <a:prstGeom prst="roundRect">
              <a:avLst>
                <a:gd name="adj" fmla="val 42857"/>
              </a:avLst>
            </a:prstGeom>
            <a:solidFill>
              <a:schemeClr val="accent3"/>
            </a:solidFill>
            <a:ln w="13335">
              <a:solidFill>
                <a:schemeClr val="accent3"/>
              </a:solidFill>
            </a:ln>
          </p:spPr>
        </p:sp>
      </p:grpSp>
      <p:grpSp>
        <p:nvGrpSpPr>
          <p:cNvPr id="80" name="!!participant-21"/>
          <p:cNvGrpSpPr/>
          <p:nvPr/>
        </p:nvGrpSpPr>
        <p:grpSpPr>
          <a:xfrm>
            <a:off x="8205406" y="2503360"/>
            <a:ext cx="109347" cy="320231"/>
            <a:chOff x="8205406" y="2503360"/>
            <a:chExt cx="109347" cy="320231"/>
          </a:xfrm>
        </p:grpSpPr>
        <p:sp>
          <p:nvSpPr>
            <p:cNvPr id="78" name="Ellipse 78"/>
            <p:cNvSpPr/>
            <p:nvPr/>
          </p:nvSpPr>
          <p:spPr>
            <a:xfrm>
              <a:off x="8213217" y="2503360"/>
              <a:ext cx="93726" cy="93726"/>
            </a:xfrm>
            <a:prstGeom prst="ellipse">
              <a:avLst/>
            </a:prstGeom>
            <a:solidFill>
              <a:schemeClr val="accent3"/>
            </a:solidFill>
            <a:ln w="13335">
              <a:solidFill>
                <a:schemeClr val="accent3"/>
              </a:solidFill>
            </a:ln>
          </p:spPr>
        </p:sp>
        <p:sp>
          <p:nvSpPr>
            <p:cNvPr id="79" name="Rectangle 79"/>
            <p:cNvSpPr/>
            <p:nvPr/>
          </p:nvSpPr>
          <p:spPr>
            <a:xfrm>
              <a:off x="8205406" y="2636139"/>
              <a:ext cx="109347" cy="187452"/>
            </a:xfrm>
            <a:prstGeom prst="roundRect">
              <a:avLst>
                <a:gd name="adj" fmla="val 42857"/>
              </a:avLst>
            </a:prstGeom>
            <a:solidFill>
              <a:schemeClr val="accent3"/>
            </a:solidFill>
            <a:ln w="13335">
              <a:solidFill>
                <a:schemeClr val="accent3"/>
              </a:solidFill>
            </a:ln>
          </p:spPr>
        </p:sp>
      </p:grpSp>
      <p:grpSp>
        <p:nvGrpSpPr>
          <p:cNvPr id="83" name="!!participant-22"/>
          <p:cNvGrpSpPr/>
          <p:nvPr/>
        </p:nvGrpSpPr>
        <p:grpSpPr>
          <a:xfrm>
            <a:off x="8672132" y="2503360"/>
            <a:ext cx="109347" cy="320231"/>
            <a:chOff x="8672132" y="2503360"/>
            <a:chExt cx="109347" cy="320231"/>
          </a:xfrm>
        </p:grpSpPr>
        <p:sp>
          <p:nvSpPr>
            <p:cNvPr id="81" name="Ellipse 81"/>
            <p:cNvSpPr/>
            <p:nvPr/>
          </p:nvSpPr>
          <p:spPr>
            <a:xfrm>
              <a:off x="8679942" y="2503360"/>
              <a:ext cx="93726" cy="93726"/>
            </a:xfrm>
            <a:prstGeom prst="ellipse">
              <a:avLst/>
            </a:prstGeom>
            <a:solidFill>
              <a:schemeClr val="accent3"/>
            </a:solidFill>
            <a:ln w="13335">
              <a:solidFill>
                <a:schemeClr val="accent3"/>
              </a:solidFill>
            </a:ln>
          </p:spPr>
        </p:sp>
        <p:sp>
          <p:nvSpPr>
            <p:cNvPr id="82" name="Rectangle 82"/>
            <p:cNvSpPr/>
            <p:nvPr/>
          </p:nvSpPr>
          <p:spPr>
            <a:xfrm>
              <a:off x="8672132" y="2636139"/>
              <a:ext cx="109347" cy="187452"/>
            </a:xfrm>
            <a:prstGeom prst="roundRect">
              <a:avLst>
                <a:gd name="adj" fmla="val 42857"/>
              </a:avLst>
            </a:prstGeom>
            <a:solidFill>
              <a:schemeClr val="accent3"/>
            </a:solidFill>
            <a:ln w="13335">
              <a:solidFill>
                <a:schemeClr val="accent3"/>
              </a:solidFill>
            </a:ln>
          </p:spPr>
        </p:sp>
      </p:grpSp>
      <p:grpSp>
        <p:nvGrpSpPr>
          <p:cNvPr id="86" name="!!participant-23"/>
          <p:cNvGrpSpPr/>
          <p:nvPr/>
        </p:nvGrpSpPr>
        <p:grpSpPr>
          <a:xfrm>
            <a:off x="9138856" y="2503360"/>
            <a:ext cx="109347" cy="320231"/>
            <a:chOff x="9138856" y="2503360"/>
            <a:chExt cx="109347" cy="320231"/>
          </a:xfrm>
        </p:grpSpPr>
        <p:sp>
          <p:nvSpPr>
            <p:cNvPr id="84" name="Ellipse 84"/>
            <p:cNvSpPr/>
            <p:nvPr/>
          </p:nvSpPr>
          <p:spPr>
            <a:xfrm>
              <a:off x="9146667" y="2503360"/>
              <a:ext cx="93726" cy="93726"/>
            </a:xfrm>
            <a:prstGeom prst="ellipse">
              <a:avLst/>
            </a:prstGeom>
            <a:solidFill>
              <a:schemeClr val="accent3"/>
            </a:solidFill>
            <a:ln w="13335">
              <a:solidFill>
                <a:schemeClr val="accent3"/>
              </a:solidFill>
            </a:ln>
          </p:spPr>
        </p:sp>
        <p:sp>
          <p:nvSpPr>
            <p:cNvPr id="85" name="Rectangle 85"/>
            <p:cNvSpPr/>
            <p:nvPr/>
          </p:nvSpPr>
          <p:spPr>
            <a:xfrm>
              <a:off x="9138856" y="2636139"/>
              <a:ext cx="109347" cy="187452"/>
            </a:xfrm>
            <a:prstGeom prst="roundRect">
              <a:avLst>
                <a:gd name="adj" fmla="val 42857"/>
              </a:avLst>
            </a:prstGeom>
            <a:solidFill>
              <a:schemeClr val="accent3"/>
            </a:solidFill>
            <a:ln w="13335">
              <a:solidFill>
                <a:schemeClr val="accent3"/>
              </a:solidFill>
            </a:ln>
          </p:spPr>
        </p:sp>
      </p:grpSp>
      <p:grpSp>
        <p:nvGrpSpPr>
          <p:cNvPr id="89" name="!!participant-24"/>
          <p:cNvGrpSpPr/>
          <p:nvPr/>
        </p:nvGrpSpPr>
        <p:grpSpPr>
          <a:xfrm>
            <a:off x="9605582" y="2503360"/>
            <a:ext cx="109347" cy="320231"/>
            <a:chOff x="9605582" y="2503360"/>
            <a:chExt cx="109347" cy="320231"/>
          </a:xfrm>
        </p:grpSpPr>
        <p:sp>
          <p:nvSpPr>
            <p:cNvPr id="87" name="Ellipse 87"/>
            <p:cNvSpPr/>
            <p:nvPr/>
          </p:nvSpPr>
          <p:spPr>
            <a:xfrm>
              <a:off x="9613392" y="2503360"/>
              <a:ext cx="93726" cy="93726"/>
            </a:xfrm>
            <a:prstGeom prst="ellipse">
              <a:avLst/>
            </a:prstGeom>
            <a:solidFill>
              <a:schemeClr val="accent3"/>
            </a:solidFill>
            <a:ln w="13335">
              <a:solidFill>
                <a:schemeClr val="accent3"/>
              </a:solidFill>
            </a:ln>
          </p:spPr>
        </p:sp>
        <p:sp>
          <p:nvSpPr>
            <p:cNvPr id="88" name="Rectangle 88"/>
            <p:cNvSpPr/>
            <p:nvPr/>
          </p:nvSpPr>
          <p:spPr>
            <a:xfrm>
              <a:off x="9605582" y="2636139"/>
              <a:ext cx="109347" cy="187452"/>
            </a:xfrm>
            <a:prstGeom prst="roundRect">
              <a:avLst>
                <a:gd name="adj" fmla="val 42857"/>
              </a:avLst>
            </a:prstGeom>
            <a:solidFill>
              <a:schemeClr val="accent3"/>
            </a:solidFill>
            <a:ln w="13335">
              <a:solidFill>
                <a:schemeClr val="accent3"/>
              </a:solidFill>
            </a:ln>
          </p:spPr>
        </p:sp>
      </p:grpSp>
      <p:grpSp>
        <p:nvGrpSpPr>
          <p:cNvPr id="92" name="!!participant-25"/>
          <p:cNvGrpSpPr/>
          <p:nvPr/>
        </p:nvGrpSpPr>
        <p:grpSpPr>
          <a:xfrm>
            <a:off x="10072306" y="2503360"/>
            <a:ext cx="109347" cy="320231"/>
            <a:chOff x="10072306" y="2503360"/>
            <a:chExt cx="109347" cy="320231"/>
          </a:xfrm>
        </p:grpSpPr>
        <p:sp>
          <p:nvSpPr>
            <p:cNvPr id="90" name="Ellipse 90"/>
            <p:cNvSpPr/>
            <p:nvPr/>
          </p:nvSpPr>
          <p:spPr>
            <a:xfrm>
              <a:off x="10080117" y="2503360"/>
              <a:ext cx="93726" cy="93726"/>
            </a:xfrm>
            <a:prstGeom prst="ellipse">
              <a:avLst/>
            </a:prstGeom>
            <a:solidFill>
              <a:schemeClr val="accent3"/>
            </a:solidFill>
            <a:ln w="13335">
              <a:solidFill>
                <a:schemeClr val="accent3"/>
              </a:solidFill>
            </a:ln>
          </p:spPr>
        </p:sp>
        <p:sp>
          <p:nvSpPr>
            <p:cNvPr id="91" name="Rectangle 91"/>
            <p:cNvSpPr/>
            <p:nvPr/>
          </p:nvSpPr>
          <p:spPr>
            <a:xfrm>
              <a:off x="10072306" y="2636139"/>
              <a:ext cx="109347" cy="187452"/>
            </a:xfrm>
            <a:prstGeom prst="roundRect">
              <a:avLst>
                <a:gd name="adj" fmla="val 42857"/>
              </a:avLst>
            </a:prstGeom>
            <a:solidFill>
              <a:schemeClr val="accent3"/>
            </a:solidFill>
            <a:ln w="13335">
              <a:solidFill>
                <a:schemeClr val="accent3"/>
              </a:solidFill>
            </a:ln>
          </p:spPr>
        </p:sp>
      </p:grpSp>
      <p:grpSp>
        <p:nvGrpSpPr>
          <p:cNvPr id="95" name="!!participant-26"/>
          <p:cNvGrpSpPr/>
          <p:nvPr/>
        </p:nvGrpSpPr>
        <p:grpSpPr>
          <a:xfrm>
            <a:off x="10539032" y="2503360"/>
            <a:ext cx="109347" cy="320231"/>
            <a:chOff x="10539032" y="2503360"/>
            <a:chExt cx="109347" cy="320231"/>
          </a:xfrm>
        </p:grpSpPr>
        <p:sp>
          <p:nvSpPr>
            <p:cNvPr id="93" name="Ellipse 93"/>
            <p:cNvSpPr/>
            <p:nvPr/>
          </p:nvSpPr>
          <p:spPr>
            <a:xfrm>
              <a:off x="10546842" y="2503360"/>
              <a:ext cx="93726" cy="93726"/>
            </a:xfrm>
            <a:prstGeom prst="ellipse">
              <a:avLst/>
            </a:prstGeom>
            <a:solidFill>
              <a:schemeClr val="accent3"/>
            </a:solidFill>
            <a:ln w="13335">
              <a:solidFill>
                <a:schemeClr val="accent3"/>
              </a:solidFill>
            </a:ln>
          </p:spPr>
        </p:sp>
        <p:sp>
          <p:nvSpPr>
            <p:cNvPr id="94" name="Rectangle 94"/>
            <p:cNvSpPr/>
            <p:nvPr/>
          </p:nvSpPr>
          <p:spPr>
            <a:xfrm>
              <a:off x="10539032" y="2636139"/>
              <a:ext cx="109347" cy="187452"/>
            </a:xfrm>
            <a:prstGeom prst="roundRect">
              <a:avLst>
                <a:gd name="adj" fmla="val 42857"/>
              </a:avLst>
            </a:prstGeom>
            <a:solidFill>
              <a:schemeClr val="accent3"/>
            </a:solidFill>
            <a:ln w="13335">
              <a:solidFill>
                <a:schemeClr val="accent3"/>
              </a:solidFill>
            </a:ln>
          </p:spPr>
        </p:sp>
      </p:grpSp>
      <p:grpSp>
        <p:nvGrpSpPr>
          <p:cNvPr id="98" name="!!participant-27"/>
          <p:cNvGrpSpPr/>
          <p:nvPr/>
        </p:nvGrpSpPr>
        <p:grpSpPr>
          <a:xfrm>
            <a:off x="11005756" y="2503360"/>
            <a:ext cx="109347" cy="320231"/>
            <a:chOff x="11005756" y="2503360"/>
            <a:chExt cx="109347" cy="320231"/>
          </a:xfrm>
        </p:grpSpPr>
        <p:sp>
          <p:nvSpPr>
            <p:cNvPr id="96" name="Ellipse 96"/>
            <p:cNvSpPr/>
            <p:nvPr/>
          </p:nvSpPr>
          <p:spPr>
            <a:xfrm>
              <a:off x="11013567" y="2503360"/>
              <a:ext cx="93726" cy="93726"/>
            </a:xfrm>
            <a:prstGeom prst="ellipse">
              <a:avLst/>
            </a:prstGeom>
            <a:solidFill>
              <a:schemeClr val="accent3"/>
            </a:solidFill>
            <a:ln w="13335">
              <a:solidFill>
                <a:schemeClr val="accent3"/>
              </a:solidFill>
            </a:ln>
          </p:spPr>
        </p:sp>
        <p:sp>
          <p:nvSpPr>
            <p:cNvPr id="97" name="Rectangle 97"/>
            <p:cNvSpPr/>
            <p:nvPr/>
          </p:nvSpPr>
          <p:spPr>
            <a:xfrm>
              <a:off x="11005756" y="2636139"/>
              <a:ext cx="109347" cy="187452"/>
            </a:xfrm>
            <a:prstGeom prst="roundRect">
              <a:avLst>
                <a:gd name="adj" fmla="val 42857"/>
              </a:avLst>
            </a:prstGeom>
            <a:solidFill>
              <a:schemeClr val="accent3"/>
            </a:solidFill>
            <a:ln w="13335">
              <a:solidFill>
                <a:schemeClr val="accent3"/>
              </a:solidFill>
            </a:ln>
          </p:spPr>
        </p:sp>
      </p:grpSp>
      <p:grpSp>
        <p:nvGrpSpPr>
          <p:cNvPr id="101" name="!!participant-28"/>
          <p:cNvGrpSpPr/>
          <p:nvPr/>
        </p:nvGrpSpPr>
        <p:grpSpPr>
          <a:xfrm>
            <a:off x="4938332" y="2998660"/>
            <a:ext cx="109347" cy="320231"/>
            <a:chOff x="4938332" y="2998660"/>
            <a:chExt cx="109347" cy="320231"/>
          </a:xfrm>
        </p:grpSpPr>
        <p:sp>
          <p:nvSpPr>
            <p:cNvPr id="99" name="Ellipse 99"/>
            <p:cNvSpPr/>
            <p:nvPr/>
          </p:nvSpPr>
          <p:spPr>
            <a:xfrm>
              <a:off x="4946142" y="2998660"/>
              <a:ext cx="93726" cy="93726"/>
            </a:xfrm>
            <a:prstGeom prst="ellipse">
              <a:avLst/>
            </a:prstGeom>
            <a:solidFill>
              <a:schemeClr val="accent3"/>
            </a:solidFill>
            <a:ln w="13335">
              <a:solidFill>
                <a:schemeClr val="accent3"/>
              </a:solidFill>
            </a:ln>
          </p:spPr>
        </p:sp>
        <p:sp>
          <p:nvSpPr>
            <p:cNvPr id="100" name="Rectangle 100"/>
            <p:cNvSpPr/>
            <p:nvPr/>
          </p:nvSpPr>
          <p:spPr>
            <a:xfrm>
              <a:off x="4938332" y="3131439"/>
              <a:ext cx="109347" cy="187452"/>
            </a:xfrm>
            <a:prstGeom prst="roundRect">
              <a:avLst>
                <a:gd name="adj" fmla="val 42857"/>
              </a:avLst>
            </a:prstGeom>
            <a:solidFill>
              <a:schemeClr val="accent3"/>
            </a:solidFill>
            <a:ln w="13335">
              <a:solidFill>
                <a:schemeClr val="accent3"/>
              </a:solidFill>
            </a:ln>
          </p:spPr>
        </p:sp>
      </p:grpSp>
      <p:grpSp>
        <p:nvGrpSpPr>
          <p:cNvPr id="104" name="!!participant-29"/>
          <p:cNvGrpSpPr/>
          <p:nvPr/>
        </p:nvGrpSpPr>
        <p:grpSpPr>
          <a:xfrm>
            <a:off x="5405056" y="2998660"/>
            <a:ext cx="109347" cy="320231"/>
            <a:chOff x="5405056" y="2998660"/>
            <a:chExt cx="109347" cy="320231"/>
          </a:xfrm>
        </p:grpSpPr>
        <p:sp>
          <p:nvSpPr>
            <p:cNvPr id="102" name="Ellipse 102"/>
            <p:cNvSpPr/>
            <p:nvPr/>
          </p:nvSpPr>
          <p:spPr>
            <a:xfrm>
              <a:off x="5412867" y="2998660"/>
              <a:ext cx="93726" cy="93726"/>
            </a:xfrm>
            <a:prstGeom prst="ellipse">
              <a:avLst/>
            </a:prstGeom>
            <a:solidFill>
              <a:schemeClr val="accent3"/>
            </a:solidFill>
            <a:ln w="13335">
              <a:solidFill>
                <a:schemeClr val="accent3"/>
              </a:solidFill>
            </a:ln>
          </p:spPr>
        </p:sp>
        <p:sp>
          <p:nvSpPr>
            <p:cNvPr id="103" name="Rectangle 103"/>
            <p:cNvSpPr/>
            <p:nvPr/>
          </p:nvSpPr>
          <p:spPr>
            <a:xfrm>
              <a:off x="5405056" y="3131439"/>
              <a:ext cx="109347" cy="187452"/>
            </a:xfrm>
            <a:prstGeom prst="roundRect">
              <a:avLst>
                <a:gd name="adj" fmla="val 42857"/>
              </a:avLst>
            </a:prstGeom>
            <a:solidFill>
              <a:schemeClr val="accent3"/>
            </a:solidFill>
            <a:ln w="13335">
              <a:solidFill>
                <a:schemeClr val="accent3"/>
              </a:solidFill>
            </a:ln>
          </p:spPr>
        </p:sp>
      </p:grpSp>
      <p:grpSp>
        <p:nvGrpSpPr>
          <p:cNvPr id="107" name="!!participant-30"/>
          <p:cNvGrpSpPr/>
          <p:nvPr/>
        </p:nvGrpSpPr>
        <p:grpSpPr>
          <a:xfrm>
            <a:off x="5871782" y="2998660"/>
            <a:ext cx="109347" cy="320231"/>
            <a:chOff x="5871782" y="2998660"/>
            <a:chExt cx="109347" cy="320231"/>
          </a:xfrm>
        </p:grpSpPr>
        <p:sp>
          <p:nvSpPr>
            <p:cNvPr id="105" name="Ellipse 105"/>
            <p:cNvSpPr/>
            <p:nvPr/>
          </p:nvSpPr>
          <p:spPr>
            <a:xfrm>
              <a:off x="5879592" y="2998660"/>
              <a:ext cx="93726" cy="93726"/>
            </a:xfrm>
            <a:prstGeom prst="ellipse">
              <a:avLst/>
            </a:prstGeom>
            <a:solidFill>
              <a:schemeClr val="accent3"/>
            </a:solidFill>
            <a:ln w="13335">
              <a:solidFill>
                <a:schemeClr val="accent3"/>
              </a:solidFill>
            </a:ln>
          </p:spPr>
        </p:sp>
        <p:sp>
          <p:nvSpPr>
            <p:cNvPr id="106" name="Rectangle 106"/>
            <p:cNvSpPr/>
            <p:nvPr/>
          </p:nvSpPr>
          <p:spPr>
            <a:xfrm>
              <a:off x="5871782" y="3131439"/>
              <a:ext cx="109347" cy="187452"/>
            </a:xfrm>
            <a:prstGeom prst="roundRect">
              <a:avLst>
                <a:gd name="adj" fmla="val 42857"/>
              </a:avLst>
            </a:prstGeom>
            <a:solidFill>
              <a:schemeClr val="accent3"/>
            </a:solidFill>
            <a:ln w="13335">
              <a:solidFill>
                <a:schemeClr val="accent3"/>
              </a:solidFill>
            </a:ln>
          </p:spPr>
        </p:sp>
      </p:grpSp>
      <p:grpSp>
        <p:nvGrpSpPr>
          <p:cNvPr id="110" name="!!participant-31"/>
          <p:cNvGrpSpPr/>
          <p:nvPr/>
        </p:nvGrpSpPr>
        <p:grpSpPr>
          <a:xfrm>
            <a:off x="6338506" y="2998660"/>
            <a:ext cx="109347" cy="320231"/>
            <a:chOff x="6338506" y="2998660"/>
            <a:chExt cx="109347" cy="320231"/>
          </a:xfrm>
        </p:grpSpPr>
        <p:sp>
          <p:nvSpPr>
            <p:cNvPr id="108" name="Ellipse 108"/>
            <p:cNvSpPr/>
            <p:nvPr/>
          </p:nvSpPr>
          <p:spPr>
            <a:xfrm>
              <a:off x="6346317" y="2998660"/>
              <a:ext cx="93726" cy="93726"/>
            </a:xfrm>
            <a:prstGeom prst="ellipse">
              <a:avLst/>
            </a:prstGeom>
            <a:solidFill>
              <a:schemeClr val="accent3"/>
            </a:solidFill>
            <a:ln w="13335">
              <a:solidFill>
                <a:schemeClr val="accent3"/>
              </a:solidFill>
            </a:ln>
          </p:spPr>
        </p:sp>
        <p:sp>
          <p:nvSpPr>
            <p:cNvPr id="109" name="Rectangle 109"/>
            <p:cNvSpPr/>
            <p:nvPr/>
          </p:nvSpPr>
          <p:spPr>
            <a:xfrm>
              <a:off x="6338506" y="3131439"/>
              <a:ext cx="109347" cy="187452"/>
            </a:xfrm>
            <a:prstGeom prst="roundRect">
              <a:avLst>
                <a:gd name="adj" fmla="val 42857"/>
              </a:avLst>
            </a:prstGeom>
            <a:solidFill>
              <a:schemeClr val="accent3"/>
            </a:solidFill>
            <a:ln w="13335">
              <a:solidFill>
                <a:schemeClr val="accent3"/>
              </a:solidFill>
            </a:ln>
          </p:spPr>
        </p:sp>
      </p:grpSp>
      <p:grpSp>
        <p:nvGrpSpPr>
          <p:cNvPr id="113" name="!!participant-32"/>
          <p:cNvGrpSpPr/>
          <p:nvPr/>
        </p:nvGrpSpPr>
        <p:grpSpPr>
          <a:xfrm>
            <a:off x="6805232" y="2998660"/>
            <a:ext cx="109347" cy="320231"/>
            <a:chOff x="6805232" y="2998660"/>
            <a:chExt cx="109347" cy="320231"/>
          </a:xfrm>
        </p:grpSpPr>
        <p:sp>
          <p:nvSpPr>
            <p:cNvPr id="111" name="Ellipse 111"/>
            <p:cNvSpPr/>
            <p:nvPr/>
          </p:nvSpPr>
          <p:spPr>
            <a:xfrm>
              <a:off x="6813042" y="2998660"/>
              <a:ext cx="93726" cy="93726"/>
            </a:xfrm>
            <a:prstGeom prst="ellipse">
              <a:avLst/>
            </a:prstGeom>
            <a:solidFill>
              <a:schemeClr val="accent3"/>
            </a:solidFill>
            <a:ln w="13335">
              <a:solidFill>
                <a:schemeClr val="accent3"/>
              </a:solidFill>
            </a:ln>
          </p:spPr>
        </p:sp>
        <p:sp>
          <p:nvSpPr>
            <p:cNvPr id="112" name="Rectangle 112"/>
            <p:cNvSpPr/>
            <p:nvPr/>
          </p:nvSpPr>
          <p:spPr>
            <a:xfrm>
              <a:off x="6805232" y="3131439"/>
              <a:ext cx="109347" cy="187452"/>
            </a:xfrm>
            <a:prstGeom prst="roundRect">
              <a:avLst>
                <a:gd name="adj" fmla="val 42857"/>
              </a:avLst>
            </a:prstGeom>
            <a:solidFill>
              <a:schemeClr val="accent3"/>
            </a:solidFill>
            <a:ln w="13335">
              <a:solidFill>
                <a:schemeClr val="accent3"/>
              </a:solidFill>
            </a:ln>
          </p:spPr>
        </p:sp>
      </p:grpSp>
      <p:grpSp>
        <p:nvGrpSpPr>
          <p:cNvPr id="116" name="!!participant-33"/>
          <p:cNvGrpSpPr/>
          <p:nvPr/>
        </p:nvGrpSpPr>
        <p:grpSpPr>
          <a:xfrm>
            <a:off x="7271956" y="2998660"/>
            <a:ext cx="109347" cy="320231"/>
            <a:chOff x="7271956" y="2998660"/>
            <a:chExt cx="109347" cy="320231"/>
          </a:xfrm>
        </p:grpSpPr>
        <p:sp>
          <p:nvSpPr>
            <p:cNvPr id="114" name="Ellipse 114"/>
            <p:cNvSpPr/>
            <p:nvPr/>
          </p:nvSpPr>
          <p:spPr>
            <a:xfrm>
              <a:off x="7279767" y="2998660"/>
              <a:ext cx="93726" cy="93726"/>
            </a:xfrm>
            <a:prstGeom prst="ellipse">
              <a:avLst/>
            </a:prstGeom>
            <a:solidFill>
              <a:schemeClr val="accent3"/>
            </a:solidFill>
            <a:ln w="13335">
              <a:solidFill>
                <a:schemeClr val="accent3"/>
              </a:solidFill>
            </a:ln>
          </p:spPr>
        </p:sp>
        <p:sp>
          <p:nvSpPr>
            <p:cNvPr id="115" name="Rectangle 115"/>
            <p:cNvSpPr/>
            <p:nvPr/>
          </p:nvSpPr>
          <p:spPr>
            <a:xfrm>
              <a:off x="7271956" y="3131439"/>
              <a:ext cx="109347" cy="187452"/>
            </a:xfrm>
            <a:prstGeom prst="roundRect">
              <a:avLst>
                <a:gd name="adj" fmla="val 42857"/>
              </a:avLst>
            </a:prstGeom>
            <a:solidFill>
              <a:schemeClr val="accent3"/>
            </a:solidFill>
            <a:ln w="13335">
              <a:solidFill>
                <a:schemeClr val="accent3"/>
              </a:solidFill>
            </a:ln>
          </p:spPr>
        </p:sp>
      </p:grpSp>
      <p:grpSp>
        <p:nvGrpSpPr>
          <p:cNvPr id="119" name="!!participant-34"/>
          <p:cNvGrpSpPr/>
          <p:nvPr/>
        </p:nvGrpSpPr>
        <p:grpSpPr>
          <a:xfrm>
            <a:off x="7738682" y="2998660"/>
            <a:ext cx="109347" cy="320231"/>
            <a:chOff x="7738682" y="2998660"/>
            <a:chExt cx="109347" cy="320231"/>
          </a:xfrm>
        </p:grpSpPr>
        <p:sp>
          <p:nvSpPr>
            <p:cNvPr id="117" name="Ellipse 117"/>
            <p:cNvSpPr/>
            <p:nvPr/>
          </p:nvSpPr>
          <p:spPr>
            <a:xfrm>
              <a:off x="7746492" y="2998660"/>
              <a:ext cx="93726" cy="93726"/>
            </a:xfrm>
            <a:prstGeom prst="ellipse">
              <a:avLst/>
            </a:prstGeom>
            <a:solidFill>
              <a:schemeClr val="accent3"/>
            </a:solidFill>
            <a:ln w="13335">
              <a:solidFill>
                <a:schemeClr val="accent3"/>
              </a:solidFill>
            </a:ln>
          </p:spPr>
        </p:sp>
        <p:sp>
          <p:nvSpPr>
            <p:cNvPr id="118" name="Rectangle 118"/>
            <p:cNvSpPr/>
            <p:nvPr/>
          </p:nvSpPr>
          <p:spPr>
            <a:xfrm>
              <a:off x="7738682" y="3131439"/>
              <a:ext cx="109347" cy="187452"/>
            </a:xfrm>
            <a:prstGeom prst="roundRect">
              <a:avLst>
                <a:gd name="adj" fmla="val 42857"/>
              </a:avLst>
            </a:prstGeom>
            <a:solidFill>
              <a:schemeClr val="accent3"/>
            </a:solidFill>
            <a:ln w="13335">
              <a:solidFill>
                <a:schemeClr val="accent3"/>
              </a:solidFill>
            </a:ln>
          </p:spPr>
        </p:sp>
      </p:grpSp>
      <p:grpSp>
        <p:nvGrpSpPr>
          <p:cNvPr id="122" name="!!participant-35"/>
          <p:cNvGrpSpPr/>
          <p:nvPr/>
        </p:nvGrpSpPr>
        <p:grpSpPr>
          <a:xfrm>
            <a:off x="8205406" y="2998660"/>
            <a:ext cx="109347" cy="320231"/>
            <a:chOff x="8205406" y="2998660"/>
            <a:chExt cx="109347" cy="320231"/>
          </a:xfrm>
        </p:grpSpPr>
        <p:sp>
          <p:nvSpPr>
            <p:cNvPr id="120" name="Ellipse 120"/>
            <p:cNvSpPr/>
            <p:nvPr/>
          </p:nvSpPr>
          <p:spPr>
            <a:xfrm>
              <a:off x="8213217" y="2998660"/>
              <a:ext cx="93726" cy="93726"/>
            </a:xfrm>
            <a:prstGeom prst="ellipse">
              <a:avLst/>
            </a:prstGeom>
            <a:solidFill>
              <a:schemeClr val="accent3"/>
            </a:solidFill>
            <a:ln w="13335">
              <a:solidFill>
                <a:schemeClr val="accent3"/>
              </a:solidFill>
            </a:ln>
          </p:spPr>
        </p:sp>
        <p:sp>
          <p:nvSpPr>
            <p:cNvPr id="121" name="Rectangle 121"/>
            <p:cNvSpPr/>
            <p:nvPr/>
          </p:nvSpPr>
          <p:spPr>
            <a:xfrm>
              <a:off x="8205406" y="3131439"/>
              <a:ext cx="109347" cy="187452"/>
            </a:xfrm>
            <a:prstGeom prst="roundRect">
              <a:avLst>
                <a:gd name="adj" fmla="val 42857"/>
              </a:avLst>
            </a:prstGeom>
            <a:solidFill>
              <a:schemeClr val="accent3"/>
            </a:solidFill>
            <a:ln w="13335">
              <a:solidFill>
                <a:schemeClr val="accent3"/>
              </a:solidFill>
            </a:ln>
          </p:spPr>
        </p:sp>
      </p:grpSp>
      <p:grpSp>
        <p:nvGrpSpPr>
          <p:cNvPr id="125" name="!!participant-36"/>
          <p:cNvGrpSpPr/>
          <p:nvPr/>
        </p:nvGrpSpPr>
        <p:grpSpPr>
          <a:xfrm>
            <a:off x="8672132" y="2998660"/>
            <a:ext cx="109347" cy="320231"/>
            <a:chOff x="8672132" y="2998660"/>
            <a:chExt cx="109347" cy="320231"/>
          </a:xfrm>
        </p:grpSpPr>
        <p:sp>
          <p:nvSpPr>
            <p:cNvPr id="123" name="Ellipse 123"/>
            <p:cNvSpPr/>
            <p:nvPr/>
          </p:nvSpPr>
          <p:spPr>
            <a:xfrm>
              <a:off x="8679942" y="2998660"/>
              <a:ext cx="93726" cy="93726"/>
            </a:xfrm>
            <a:prstGeom prst="ellipse">
              <a:avLst/>
            </a:prstGeom>
            <a:solidFill>
              <a:schemeClr val="accent3"/>
            </a:solidFill>
            <a:ln w="13335">
              <a:solidFill>
                <a:schemeClr val="accent3"/>
              </a:solidFill>
            </a:ln>
          </p:spPr>
        </p:sp>
        <p:sp>
          <p:nvSpPr>
            <p:cNvPr id="124" name="Rectangle 124"/>
            <p:cNvSpPr/>
            <p:nvPr/>
          </p:nvSpPr>
          <p:spPr>
            <a:xfrm>
              <a:off x="8672132" y="3131439"/>
              <a:ext cx="109347" cy="187452"/>
            </a:xfrm>
            <a:prstGeom prst="roundRect">
              <a:avLst>
                <a:gd name="adj" fmla="val 42857"/>
              </a:avLst>
            </a:prstGeom>
            <a:solidFill>
              <a:schemeClr val="accent3"/>
            </a:solidFill>
            <a:ln w="13335">
              <a:solidFill>
                <a:schemeClr val="accent3"/>
              </a:solidFill>
            </a:ln>
          </p:spPr>
        </p:sp>
      </p:grpSp>
      <p:grpSp>
        <p:nvGrpSpPr>
          <p:cNvPr id="128" name="!!participant-37"/>
          <p:cNvGrpSpPr/>
          <p:nvPr/>
        </p:nvGrpSpPr>
        <p:grpSpPr>
          <a:xfrm>
            <a:off x="9138856" y="2998660"/>
            <a:ext cx="109347" cy="320231"/>
            <a:chOff x="9138856" y="2998660"/>
            <a:chExt cx="109347" cy="320231"/>
          </a:xfrm>
        </p:grpSpPr>
        <p:sp>
          <p:nvSpPr>
            <p:cNvPr id="126" name="Ellipse 126"/>
            <p:cNvSpPr/>
            <p:nvPr/>
          </p:nvSpPr>
          <p:spPr>
            <a:xfrm>
              <a:off x="9146667" y="2998660"/>
              <a:ext cx="93726" cy="93726"/>
            </a:xfrm>
            <a:prstGeom prst="ellipse">
              <a:avLst/>
            </a:prstGeom>
            <a:solidFill>
              <a:schemeClr val="accent3"/>
            </a:solidFill>
            <a:ln w="13335">
              <a:solidFill>
                <a:schemeClr val="accent3"/>
              </a:solidFill>
            </a:ln>
          </p:spPr>
        </p:sp>
        <p:sp>
          <p:nvSpPr>
            <p:cNvPr id="127" name="Rectangle 127"/>
            <p:cNvSpPr/>
            <p:nvPr/>
          </p:nvSpPr>
          <p:spPr>
            <a:xfrm>
              <a:off x="9138856" y="3131439"/>
              <a:ext cx="109347" cy="187452"/>
            </a:xfrm>
            <a:prstGeom prst="roundRect">
              <a:avLst>
                <a:gd name="adj" fmla="val 42857"/>
              </a:avLst>
            </a:prstGeom>
            <a:solidFill>
              <a:schemeClr val="accent3"/>
            </a:solidFill>
            <a:ln w="13335">
              <a:solidFill>
                <a:schemeClr val="accent3"/>
              </a:solidFill>
            </a:ln>
          </p:spPr>
        </p:sp>
      </p:grpSp>
      <p:grpSp>
        <p:nvGrpSpPr>
          <p:cNvPr id="131" name="!!participant-38"/>
          <p:cNvGrpSpPr/>
          <p:nvPr/>
        </p:nvGrpSpPr>
        <p:grpSpPr>
          <a:xfrm>
            <a:off x="9605582" y="2998660"/>
            <a:ext cx="109347" cy="320231"/>
            <a:chOff x="9605582" y="2998660"/>
            <a:chExt cx="109347" cy="320231"/>
          </a:xfrm>
        </p:grpSpPr>
        <p:sp>
          <p:nvSpPr>
            <p:cNvPr id="129" name="Ellipse 129"/>
            <p:cNvSpPr/>
            <p:nvPr/>
          </p:nvSpPr>
          <p:spPr>
            <a:xfrm>
              <a:off x="9613392" y="2998660"/>
              <a:ext cx="93726" cy="93726"/>
            </a:xfrm>
            <a:prstGeom prst="ellipse">
              <a:avLst/>
            </a:prstGeom>
            <a:solidFill>
              <a:schemeClr val="accent3"/>
            </a:solidFill>
            <a:ln w="13335">
              <a:solidFill>
                <a:schemeClr val="accent3"/>
              </a:solidFill>
            </a:ln>
          </p:spPr>
        </p:sp>
        <p:sp>
          <p:nvSpPr>
            <p:cNvPr id="130" name="Rectangle 130"/>
            <p:cNvSpPr/>
            <p:nvPr/>
          </p:nvSpPr>
          <p:spPr>
            <a:xfrm>
              <a:off x="9605582" y="3131439"/>
              <a:ext cx="109347" cy="187452"/>
            </a:xfrm>
            <a:prstGeom prst="roundRect">
              <a:avLst>
                <a:gd name="adj" fmla="val 42857"/>
              </a:avLst>
            </a:prstGeom>
            <a:solidFill>
              <a:schemeClr val="accent3"/>
            </a:solidFill>
            <a:ln w="13335">
              <a:solidFill>
                <a:schemeClr val="accent3"/>
              </a:solidFill>
            </a:ln>
          </p:spPr>
        </p:sp>
      </p:grpSp>
      <p:grpSp>
        <p:nvGrpSpPr>
          <p:cNvPr id="134" name="!!participant-39"/>
          <p:cNvGrpSpPr/>
          <p:nvPr/>
        </p:nvGrpSpPr>
        <p:grpSpPr>
          <a:xfrm>
            <a:off x="10072306" y="2998660"/>
            <a:ext cx="109347" cy="320231"/>
            <a:chOff x="10072306" y="2998660"/>
            <a:chExt cx="109347" cy="320231"/>
          </a:xfrm>
        </p:grpSpPr>
        <p:sp>
          <p:nvSpPr>
            <p:cNvPr id="132" name="Ellipse 132"/>
            <p:cNvSpPr/>
            <p:nvPr/>
          </p:nvSpPr>
          <p:spPr>
            <a:xfrm>
              <a:off x="10080117" y="2998660"/>
              <a:ext cx="93726" cy="93726"/>
            </a:xfrm>
            <a:prstGeom prst="ellipse">
              <a:avLst/>
            </a:prstGeom>
            <a:solidFill>
              <a:schemeClr val="accent3"/>
            </a:solidFill>
            <a:ln w="13335">
              <a:solidFill>
                <a:schemeClr val="accent3"/>
              </a:solidFill>
            </a:ln>
          </p:spPr>
        </p:sp>
        <p:sp>
          <p:nvSpPr>
            <p:cNvPr id="133" name="Rectangle 133"/>
            <p:cNvSpPr/>
            <p:nvPr/>
          </p:nvSpPr>
          <p:spPr>
            <a:xfrm>
              <a:off x="10072306" y="3131439"/>
              <a:ext cx="109347" cy="187452"/>
            </a:xfrm>
            <a:prstGeom prst="roundRect">
              <a:avLst>
                <a:gd name="adj" fmla="val 42857"/>
              </a:avLst>
            </a:prstGeom>
            <a:solidFill>
              <a:schemeClr val="accent3"/>
            </a:solidFill>
            <a:ln w="13335">
              <a:solidFill>
                <a:schemeClr val="accent3"/>
              </a:solidFill>
            </a:ln>
          </p:spPr>
        </p:sp>
      </p:grpSp>
      <p:grpSp>
        <p:nvGrpSpPr>
          <p:cNvPr id="137" name="!!participant-40"/>
          <p:cNvGrpSpPr/>
          <p:nvPr/>
        </p:nvGrpSpPr>
        <p:grpSpPr>
          <a:xfrm>
            <a:off x="10539032" y="2998660"/>
            <a:ext cx="109347" cy="320231"/>
            <a:chOff x="10539032" y="2998660"/>
            <a:chExt cx="109347" cy="320231"/>
          </a:xfrm>
        </p:grpSpPr>
        <p:sp>
          <p:nvSpPr>
            <p:cNvPr id="135" name="Ellipse 135"/>
            <p:cNvSpPr/>
            <p:nvPr/>
          </p:nvSpPr>
          <p:spPr>
            <a:xfrm>
              <a:off x="10546842" y="2998660"/>
              <a:ext cx="93726" cy="93726"/>
            </a:xfrm>
            <a:prstGeom prst="ellipse">
              <a:avLst/>
            </a:prstGeom>
            <a:solidFill>
              <a:schemeClr val="accent3"/>
            </a:solidFill>
            <a:ln w="13335">
              <a:solidFill>
                <a:schemeClr val="accent3"/>
              </a:solidFill>
            </a:ln>
          </p:spPr>
        </p:sp>
        <p:sp>
          <p:nvSpPr>
            <p:cNvPr id="136" name="Rectangle 136"/>
            <p:cNvSpPr/>
            <p:nvPr/>
          </p:nvSpPr>
          <p:spPr>
            <a:xfrm>
              <a:off x="10539032" y="3131439"/>
              <a:ext cx="109347" cy="187452"/>
            </a:xfrm>
            <a:prstGeom prst="roundRect">
              <a:avLst>
                <a:gd name="adj" fmla="val 42857"/>
              </a:avLst>
            </a:prstGeom>
            <a:solidFill>
              <a:schemeClr val="accent3"/>
            </a:solidFill>
            <a:ln w="13335">
              <a:solidFill>
                <a:schemeClr val="accent3"/>
              </a:solidFill>
            </a:ln>
          </p:spPr>
        </p:sp>
      </p:grpSp>
      <p:grpSp>
        <p:nvGrpSpPr>
          <p:cNvPr id="140" name="!!participant-41"/>
          <p:cNvGrpSpPr/>
          <p:nvPr/>
        </p:nvGrpSpPr>
        <p:grpSpPr>
          <a:xfrm>
            <a:off x="4938332" y="4122610"/>
            <a:ext cx="109347" cy="320231"/>
            <a:chOff x="4938332" y="4122610"/>
            <a:chExt cx="109347" cy="320231"/>
          </a:xfrm>
        </p:grpSpPr>
        <p:sp>
          <p:nvSpPr>
            <p:cNvPr id="138" name="Ellipse 138"/>
            <p:cNvSpPr/>
            <p:nvPr/>
          </p:nvSpPr>
          <p:spPr>
            <a:xfrm>
              <a:off x="4946142" y="4122610"/>
              <a:ext cx="93726" cy="93726"/>
            </a:xfrm>
            <a:prstGeom prst="ellipse">
              <a:avLst/>
            </a:prstGeom>
            <a:solidFill>
              <a:schemeClr val="accent1"/>
            </a:solidFill>
            <a:ln w="13335">
              <a:solidFill>
                <a:schemeClr val="accent1"/>
              </a:solidFill>
            </a:ln>
          </p:spPr>
        </p:sp>
        <p:sp>
          <p:nvSpPr>
            <p:cNvPr id="139" name="Rectangle 139"/>
            <p:cNvSpPr/>
            <p:nvPr/>
          </p:nvSpPr>
          <p:spPr>
            <a:xfrm>
              <a:off x="4938332" y="4255389"/>
              <a:ext cx="109347" cy="187452"/>
            </a:xfrm>
            <a:prstGeom prst="roundRect">
              <a:avLst>
                <a:gd name="adj" fmla="val 42857"/>
              </a:avLst>
            </a:prstGeom>
            <a:solidFill>
              <a:schemeClr val="accent1"/>
            </a:solidFill>
            <a:ln w="13335">
              <a:solidFill>
                <a:schemeClr val="accent1"/>
              </a:solidFill>
            </a:ln>
          </p:spPr>
        </p:sp>
      </p:grpSp>
      <p:grpSp>
        <p:nvGrpSpPr>
          <p:cNvPr id="143" name="!!participant-42"/>
          <p:cNvGrpSpPr/>
          <p:nvPr/>
        </p:nvGrpSpPr>
        <p:grpSpPr>
          <a:xfrm>
            <a:off x="5405056" y="4122610"/>
            <a:ext cx="109347" cy="320231"/>
            <a:chOff x="5405056" y="4122610"/>
            <a:chExt cx="109347" cy="320231"/>
          </a:xfrm>
        </p:grpSpPr>
        <p:sp>
          <p:nvSpPr>
            <p:cNvPr id="141" name="Ellipse 141"/>
            <p:cNvSpPr/>
            <p:nvPr/>
          </p:nvSpPr>
          <p:spPr>
            <a:xfrm>
              <a:off x="5412867" y="4122610"/>
              <a:ext cx="93726" cy="93726"/>
            </a:xfrm>
            <a:prstGeom prst="ellipse">
              <a:avLst/>
            </a:prstGeom>
            <a:solidFill>
              <a:schemeClr val="accent1"/>
            </a:solidFill>
            <a:ln w="13335">
              <a:solidFill>
                <a:schemeClr val="accent1"/>
              </a:solidFill>
            </a:ln>
          </p:spPr>
        </p:sp>
        <p:sp>
          <p:nvSpPr>
            <p:cNvPr id="142" name="Rectangle 142"/>
            <p:cNvSpPr/>
            <p:nvPr/>
          </p:nvSpPr>
          <p:spPr>
            <a:xfrm>
              <a:off x="5405056" y="4255389"/>
              <a:ext cx="109347" cy="187452"/>
            </a:xfrm>
            <a:prstGeom prst="roundRect">
              <a:avLst>
                <a:gd name="adj" fmla="val 42857"/>
              </a:avLst>
            </a:prstGeom>
            <a:solidFill>
              <a:schemeClr val="accent1"/>
            </a:solidFill>
            <a:ln w="13335">
              <a:solidFill>
                <a:schemeClr val="accent1"/>
              </a:solidFill>
            </a:ln>
          </p:spPr>
        </p:sp>
      </p:grpSp>
      <p:grpSp>
        <p:nvGrpSpPr>
          <p:cNvPr id="146" name="!!participant-43"/>
          <p:cNvGrpSpPr/>
          <p:nvPr/>
        </p:nvGrpSpPr>
        <p:grpSpPr>
          <a:xfrm>
            <a:off x="5871782" y="4122610"/>
            <a:ext cx="109347" cy="320231"/>
            <a:chOff x="5871782" y="4122610"/>
            <a:chExt cx="109347" cy="320231"/>
          </a:xfrm>
        </p:grpSpPr>
        <p:sp>
          <p:nvSpPr>
            <p:cNvPr id="144" name="Ellipse 144"/>
            <p:cNvSpPr/>
            <p:nvPr/>
          </p:nvSpPr>
          <p:spPr>
            <a:xfrm>
              <a:off x="5879592" y="4122610"/>
              <a:ext cx="93726" cy="93726"/>
            </a:xfrm>
            <a:prstGeom prst="ellipse">
              <a:avLst/>
            </a:prstGeom>
            <a:solidFill>
              <a:schemeClr val="accent1"/>
            </a:solidFill>
            <a:ln w="13335">
              <a:solidFill>
                <a:schemeClr val="accent1"/>
              </a:solidFill>
            </a:ln>
          </p:spPr>
        </p:sp>
        <p:sp>
          <p:nvSpPr>
            <p:cNvPr id="145" name="Rectangle 145"/>
            <p:cNvSpPr/>
            <p:nvPr/>
          </p:nvSpPr>
          <p:spPr>
            <a:xfrm>
              <a:off x="5871782" y="4255389"/>
              <a:ext cx="109347" cy="187452"/>
            </a:xfrm>
            <a:prstGeom prst="roundRect">
              <a:avLst>
                <a:gd name="adj" fmla="val 42857"/>
              </a:avLst>
            </a:prstGeom>
            <a:solidFill>
              <a:schemeClr val="accent1"/>
            </a:solidFill>
            <a:ln w="13335">
              <a:solidFill>
                <a:schemeClr val="accent1"/>
              </a:solidFill>
            </a:ln>
          </p:spPr>
        </p:sp>
      </p:grpSp>
      <p:grpSp>
        <p:nvGrpSpPr>
          <p:cNvPr id="149" name="!!participant-44"/>
          <p:cNvGrpSpPr/>
          <p:nvPr/>
        </p:nvGrpSpPr>
        <p:grpSpPr>
          <a:xfrm>
            <a:off x="6338506" y="4122610"/>
            <a:ext cx="109347" cy="320231"/>
            <a:chOff x="6338506" y="4122610"/>
            <a:chExt cx="109347" cy="320231"/>
          </a:xfrm>
        </p:grpSpPr>
        <p:sp>
          <p:nvSpPr>
            <p:cNvPr id="147" name="Ellipse 147"/>
            <p:cNvSpPr/>
            <p:nvPr/>
          </p:nvSpPr>
          <p:spPr>
            <a:xfrm>
              <a:off x="6346317" y="4122610"/>
              <a:ext cx="93726" cy="93726"/>
            </a:xfrm>
            <a:prstGeom prst="ellipse">
              <a:avLst/>
            </a:prstGeom>
            <a:solidFill>
              <a:schemeClr val="accent1"/>
            </a:solidFill>
            <a:ln w="13335">
              <a:solidFill>
                <a:schemeClr val="accent1"/>
              </a:solidFill>
            </a:ln>
          </p:spPr>
        </p:sp>
        <p:sp>
          <p:nvSpPr>
            <p:cNvPr id="148" name="Rectangle 148"/>
            <p:cNvSpPr/>
            <p:nvPr/>
          </p:nvSpPr>
          <p:spPr>
            <a:xfrm>
              <a:off x="6338506" y="4255389"/>
              <a:ext cx="109347" cy="187452"/>
            </a:xfrm>
            <a:prstGeom prst="roundRect">
              <a:avLst>
                <a:gd name="adj" fmla="val 42857"/>
              </a:avLst>
            </a:prstGeom>
            <a:solidFill>
              <a:schemeClr val="accent1"/>
            </a:solidFill>
            <a:ln w="13335">
              <a:solidFill>
                <a:schemeClr val="accent1"/>
              </a:solidFill>
            </a:ln>
          </p:spPr>
        </p:sp>
      </p:grpSp>
      <p:grpSp>
        <p:nvGrpSpPr>
          <p:cNvPr id="152" name="!!participant-45"/>
          <p:cNvGrpSpPr/>
          <p:nvPr/>
        </p:nvGrpSpPr>
        <p:grpSpPr>
          <a:xfrm>
            <a:off x="6805232" y="4122610"/>
            <a:ext cx="109347" cy="320231"/>
            <a:chOff x="6805232" y="4122610"/>
            <a:chExt cx="109347" cy="320231"/>
          </a:xfrm>
        </p:grpSpPr>
        <p:sp>
          <p:nvSpPr>
            <p:cNvPr id="150" name="Ellipse 150"/>
            <p:cNvSpPr/>
            <p:nvPr/>
          </p:nvSpPr>
          <p:spPr>
            <a:xfrm>
              <a:off x="6813042" y="4122610"/>
              <a:ext cx="93726" cy="93726"/>
            </a:xfrm>
            <a:prstGeom prst="ellipse">
              <a:avLst/>
            </a:prstGeom>
            <a:solidFill>
              <a:schemeClr val="accent1"/>
            </a:solidFill>
            <a:ln w="13335">
              <a:solidFill>
                <a:schemeClr val="accent1"/>
              </a:solidFill>
            </a:ln>
          </p:spPr>
        </p:sp>
        <p:sp>
          <p:nvSpPr>
            <p:cNvPr id="151" name="Rectangle 151"/>
            <p:cNvSpPr/>
            <p:nvPr/>
          </p:nvSpPr>
          <p:spPr>
            <a:xfrm>
              <a:off x="6805232" y="4255389"/>
              <a:ext cx="109347" cy="187452"/>
            </a:xfrm>
            <a:prstGeom prst="roundRect">
              <a:avLst>
                <a:gd name="adj" fmla="val 42857"/>
              </a:avLst>
            </a:prstGeom>
            <a:solidFill>
              <a:schemeClr val="accent1"/>
            </a:solidFill>
            <a:ln w="13335">
              <a:solidFill>
                <a:schemeClr val="accent1"/>
              </a:solidFill>
            </a:ln>
          </p:spPr>
        </p:sp>
      </p:grpSp>
      <p:grpSp>
        <p:nvGrpSpPr>
          <p:cNvPr id="155" name="!!participant-46"/>
          <p:cNvGrpSpPr/>
          <p:nvPr/>
        </p:nvGrpSpPr>
        <p:grpSpPr>
          <a:xfrm>
            <a:off x="7271956" y="4122610"/>
            <a:ext cx="109347" cy="320231"/>
            <a:chOff x="7271956" y="4122610"/>
            <a:chExt cx="109347" cy="320231"/>
          </a:xfrm>
        </p:grpSpPr>
        <p:sp>
          <p:nvSpPr>
            <p:cNvPr id="153" name="Ellipse 153"/>
            <p:cNvSpPr/>
            <p:nvPr/>
          </p:nvSpPr>
          <p:spPr>
            <a:xfrm>
              <a:off x="7279767" y="4122610"/>
              <a:ext cx="93726" cy="93726"/>
            </a:xfrm>
            <a:prstGeom prst="ellipse">
              <a:avLst/>
            </a:prstGeom>
            <a:solidFill>
              <a:schemeClr val="accent1"/>
            </a:solidFill>
            <a:ln w="13335">
              <a:solidFill>
                <a:schemeClr val="accent1"/>
              </a:solidFill>
            </a:ln>
          </p:spPr>
        </p:sp>
        <p:sp>
          <p:nvSpPr>
            <p:cNvPr id="154" name="Rectangle 154"/>
            <p:cNvSpPr/>
            <p:nvPr/>
          </p:nvSpPr>
          <p:spPr>
            <a:xfrm>
              <a:off x="7271956" y="4255389"/>
              <a:ext cx="109347" cy="187452"/>
            </a:xfrm>
            <a:prstGeom prst="roundRect">
              <a:avLst>
                <a:gd name="adj" fmla="val 42857"/>
              </a:avLst>
            </a:prstGeom>
            <a:solidFill>
              <a:schemeClr val="accent1"/>
            </a:solidFill>
            <a:ln w="13335">
              <a:solidFill>
                <a:schemeClr val="accent1"/>
              </a:solidFill>
            </a:ln>
          </p:spPr>
        </p:sp>
      </p:grpSp>
      <p:grpSp>
        <p:nvGrpSpPr>
          <p:cNvPr id="158" name="!!participant-47"/>
          <p:cNvGrpSpPr/>
          <p:nvPr/>
        </p:nvGrpSpPr>
        <p:grpSpPr>
          <a:xfrm>
            <a:off x="7738682" y="4122610"/>
            <a:ext cx="109347" cy="320231"/>
            <a:chOff x="7738682" y="4122610"/>
            <a:chExt cx="109347" cy="320231"/>
          </a:xfrm>
        </p:grpSpPr>
        <p:sp>
          <p:nvSpPr>
            <p:cNvPr id="156" name="Ellipse 156"/>
            <p:cNvSpPr/>
            <p:nvPr/>
          </p:nvSpPr>
          <p:spPr>
            <a:xfrm>
              <a:off x="7746492" y="4122610"/>
              <a:ext cx="93726" cy="93726"/>
            </a:xfrm>
            <a:prstGeom prst="ellipse">
              <a:avLst/>
            </a:prstGeom>
            <a:solidFill>
              <a:schemeClr val="accent1"/>
            </a:solidFill>
            <a:ln w="13335">
              <a:solidFill>
                <a:schemeClr val="accent1"/>
              </a:solidFill>
            </a:ln>
          </p:spPr>
        </p:sp>
        <p:sp>
          <p:nvSpPr>
            <p:cNvPr id="157" name="Rectangle 157"/>
            <p:cNvSpPr/>
            <p:nvPr/>
          </p:nvSpPr>
          <p:spPr>
            <a:xfrm>
              <a:off x="7738682" y="4255389"/>
              <a:ext cx="109347" cy="187452"/>
            </a:xfrm>
            <a:prstGeom prst="roundRect">
              <a:avLst>
                <a:gd name="adj" fmla="val 42857"/>
              </a:avLst>
            </a:prstGeom>
            <a:solidFill>
              <a:schemeClr val="accent1"/>
            </a:solidFill>
            <a:ln w="13335">
              <a:solidFill>
                <a:schemeClr val="accent1"/>
              </a:solidFill>
            </a:ln>
          </p:spPr>
        </p:sp>
      </p:grpSp>
      <p:grpSp>
        <p:nvGrpSpPr>
          <p:cNvPr id="161" name="!!participant-48"/>
          <p:cNvGrpSpPr/>
          <p:nvPr/>
        </p:nvGrpSpPr>
        <p:grpSpPr>
          <a:xfrm>
            <a:off x="8205406" y="4122610"/>
            <a:ext cx="109347" cy="320231"/>
            <a:chOff x="8205406" y="4122610"/>
            <a:chExt cx="109347" cy="320231"/>
          </a:xfrm>
        </p:grpSpPr>
        <p:sp>
          <p:nvSpPr>
            <p:cNvPr id="159" name="Ellipse 159"/>
            <p:cNvSpPr/>
            <p:nvPr/>
          </p:nvSpPr>
          <p:spPr>
            <a:xfrm>
              <a:off x="8213217" y="4122610"/>
              <a:ext cx="93726" cy="93726"/>
            </a:xfrm>
            <a:prstGeom prst="ellipse">
              <a:avLst/>
            </a:prstGeom>
            <a:solidFill>
              <a:schemeClr val="accent1"/>
            </a:solidFill>
            <a:ln w="13335">
              <a:solidFill>
                <a:schemeClr val="accent1"/>
              </a:solidFill>
            </a:ln>
          </p:spPr>
        </p:sp>
        <p:sp>
          <p:nvSpPr>
            <p:cNvPr id="160" name="Rectangle 160"/>
            <p:cNvSpPr/>
            <p:nvPr/>
          </p:nvSpPr>
          <p:spPr>
            <a:xfrm>
              <a:off x="8205406" y="4255389"/>
              <a:ext cx="109347" cy="187452"/>
            </a:xfrm>
            <a:prstGeom prst="roundRect">
              <a:avLst>
                <a:gd name="adj" fmla="val 42857"/>
              </a:avLst>
            </a:prstGeom>
            <a:solidFill>
              <a:schemeClr val="accent1"/>
            </a:solidFill>
            <a:ln w="13335">
              <a:solidFill>
                <a:schemeClr val="accent1"/>
              </a:solidFill>
            </a:ln>
          </p:spPr>
        </p:sp>
      </p:grpSp>
      <p:grpSp>
        <p:nvGrpSpPr>
          <p:cNvPr id="164" name="!!participant-49"/>
          <p:cNvGrpSpPr/>
          <p:nvPr/>
        </p:nvGrpSpPr>
        <p:grpSpPr>
          <a:xfrm>
            <a:off x="8672132" y="4122610"/>
            <a:ext cx="109347" cy="320231"/>
            <a:chOff x="8672132" y="4122610"/>
            <a:chExt cx="109347" cy="320231"/>
          </a:xfrm>
        </p:grpSpPr>
        <p:sp>
          <p:nvSpPr>
            <p:cNvPr id="162" name="Ellipse 162"/>
            <p:cNvSpPr/>
            <p:nvPr/>
          </p:nvSpPr>
          <p:spPr>
            <a:xfrm>
              <a:off x="8679942" y="4122610"/>
              <a:ext cx="93726" cy="93726"/>
            </a:xfrm>
            <a:prstGeom prst="ellipse">
              <a:avLst/>
            </a:prstGeom>
            <a:solidFill>
              <a:schemeClr val="accent1"/>
            </a:solidFill>
            <a:ln w="13335">
              <a:solidFill>
                <a:schemeClr val="accent1"/>
              </a:solidFill>
            </a:ln>
          </p:spPr>
        </p:sp>
        <p:sp>
          <p:nvSpPr>
            <p:cNvPr id="163" name="Rectangle 163"/>
            <p:cNvSpPr/>
            <p:nvPr/>
          </p:nvSpPr>
          <p:spPr>
            <a:xfrm>
              <a:off x="8672132" y="4255389"/>
              <a:ext cx="109347" cy="187452"/>
            </a:xfrm>
            <a:prstGeom prst="roundRect">
              <a:avLst>
                <a:gd name="adj" fmla="val 42857"/>
              </a:avLst>
            </a:prstGeom>
            <a:solidFill>
              <a:schemeClr val="accent1"/>
            </a:solidFill>
            <a:ln w="13335">
              <a:solidFill>
                <a:schemeClr val="accent1"/>
              </a:solidFill>
            </a:ln>
          </p:spPr>
        </p:sp>
      </p:grpSp>
      <p:grpSp>
        <p:nvGrpSpPr>
          <p:cNvPr id="167" name="!!participant-50"/>
          <p:cNvGrpSpPr/>
          <p:nvPr/>
        </p:nvGrpSpPr>
        <p:grpSpPr>
          <a:xfrm>
            <a:off x="9138856" y="4122610"/>
            <a:ext cx="109347" cy="320231"/>
            <a:chOff x="9138856" y="4122610"/>
            <a:chExt cx="109347" cy="320231"/>
          </a:xfrm>
        </p:grpSpPr>
        <p:sp>
          <p:nvSpPr>
            <p:cNvPr id="165" name="Ellipse 165"/>
            <p:cNvSpPr/>
            <p:nvPr/>
          </p:nvSpPr>
          <p:spPr>
            <a:xfrm>
              <a:off x="9146667" y="4122610"/>
              <a:ext cx="93726" cy="93726"/>
            </a:xfrm>
            <a:prstGeom prst="ellipse">
              <a:avLst/>
            </a:prstGeom>
            <a:solidFill>
              <a:schemeClr val="accent1"/>
            </a:solidFill>
            <a:ln w="13335">
              <a:solidFill>
                <a:schemeClr val="accent1"/>
              </a:solidFill>
            </a:ln>
          </p:spPr>
        </p:sp>
        <p:sp>
          <p:nvSpPr>
            <p:cNvPr id="166" name="Rectangle 166"/>
            <p:cNvSpPr/>
            <p:nvPr/>
          </p:nvSpPr>
          <p:spPr>
            <a:xfrm>
              <a:off x="9138856" y="4255389"/>
              <a:ext cx="109347" cy="187452"/>
            </a:xfrm>
            <a:prstGeom prst="roundRect">
              <a:avLst>
                <a:gd name="adj" fmla="val 42857"/>
              </a:avLst>
            </a:prstGeom>
            <a:solidFill>
              <a:schemeClr val="accent1"/>
            </a:solidFill>
            <a:ln w="13335">
              <a:solidFill>
                <a:schemeClr val="accent1"/>
              </a:solidFill>
            </a:ln>
          </p:spPr>
        </p:sp>
      </p:grpSp>
      <p:grpSp>
        <p:nvGrpSpPr>
          <p:cNvPr id="170" name="!!participant-51"/>
          <p:cNvGrpSpPr/>
          <p:nvPr/>
        </p:nvGrpSpPr>
        <p:grpSpPr>
          <a:xfrm>
            <a:off x="9605582" y="4122610"/>
            <a:ext cx="109347" cy="320231"/>
            <a:chOff x="9605582" y="4122610"/>
            <a:chExt cx="109347" cy="320231"/>
          </a:xfrm>
        </p:grpSpPr>
        <p:sp>
          <p:nvSpPr>
            <p:cNvPr id="168" name="Ellipse 168"/>
            <p:cNvSpPr/>
            <p:nvPr/>
          </p:nvSpPr>
          <p:spPr>
            <a:xfrm>
              <a:off x="9613392" y="4122610"/>
              <a:ext cx="93726" cy="93726"/>
            </a:xfrm>
            <a:prstGeom prst="ellipse">
              <a:avLst/>
            </a:prstGeom>
            <a:solidFill>
              <a:schemeClr val="accent1"/>
            </a:solidFill>
            <a:ln w="13335">
              <a:solidFill>
                <a:schemeClr val="accent1"/>
              </a:solidFill>
            </a:ln>
          </p:spPr>
        </p:sp>
        <p:sp>
          <p:nvSpPr>
            <p:cNvPr id="169" name="Rectangle 169"/>
            <p:cNvSpPr/>
            <p:nvPr/>
          </p:nvSpPr>
          <p:spPr>
            <a:xfrm>
              <a:off x="9605582" y="4255389"/>
              <a:ext cx="109347" cy="187452"/>
            </a:xfrm>
            <a:prstGeom prst="roundRect">
              <a:avLst>
                <a:gd name="adj" fmla="val 42857"/>
              </a:avLst>
            </a:prstGeom>
            <a:solidFill>
              <a:schemeClr val="accent1"/>
            </a:solidFill>
            <a:ln w="13335">
              <a:solidFill>
                <a:schemeClr val="accent1"/>
              </a:solidFill>
            </a:ln>
          </p:spPr>
        </p:sp>
      </p:grpSp>
      <p:grpSp>
        <p:nvGrpSpPr>
          <p:cNvPr id="173" name="!!participant-52"/>
          <p:cNvGrpSpPr/>
          <p:nvPr/>
        </p:nvGrpSpPr>
        <p:grpSpPr>
          <a:xfrm>
            <a:off x="10072306" y="4122610"/>
            <a:ext cx="109347" cy="320231"/>
            <a:chOff x="10072306" y="4122610"/>
            <a:chExt cx="109347" cy="320231"/>
          </a:xfrm>
        </p:grpSpPr>
        <p:sp>
          <p:nvSpPr>
            <p:cNvPr id="171" name="Ellipse 171"/>
            <p:cNvSpPr/>
            <p:nvPr/>
          </p:nvSpPr>
          <p:spPr>
            <a:xfrm>
              <a:off x="10080117" y="4122610"/>
              <a:ext cx="93726" cy="93726"/>
            </a:xfrm>
            <a:prstGeom prst="ellipse">
              <a:avLst/>
            </a:prstGeom>
            <a:solidFill>
              <a:schemeClr val="accent1"/>
            </a:solidFill>
            <a:ln w="13335">
              <a:solidFill>
                <a:schemeClr val="accent1"/>
              </a:solidFill>
            </a:ln>
          </p:spPr>
        </p:sp>
        <p:sp>
          <p:nvSpPr>
            <p:cNvPr id="172" name="Rectangle 172"/>
            <p:cNvSpPr/>
            <p:nvPr/>
          </p:nvSpPr>
          <p:spPr>
            <a:xfrm>
              <a:off x="10072306" y="4255389"/>
              <a:ext cx="109347" cy="187452"/>
            </a:xfrm>
            <a:prstGeom prst="roundRect">
              <a:avLst>
                <a:gd name="adj" fmla="val 42857"/>
              </a:avLst>
            </a:prstGeom>
            <a:solidFill>
              <a:schemeClr val="accent1"/>
            </a:solidFill>
            <a:ln w="13335">
              <a:solidFill>
                <a:schemeClr val="accent1"/>
              </a:solidFill>
            </a:ln>
          </p:spPr>
        </p:sp>
      </p:grpSp>
      <p:grpSp>
        <p:nvGrpSpPr>
          <p:cNvPr id="176" name="!!participant-53"/>
          <p:cNvGrpSpPr/>
          <p:nvPr/>
        </p:nvGrpSpPr>
        <p:grpSpPr>
          <a:xfrm>
            <a:off x="10539032" y="4122610"/>
            <a:ext cx="109347" cy="320231"/>
            <a:chOff x="10539032" y="4122610"/>
            <a:chExt cx="109347" cy="320231"/>
          </a:xfrm>
        </p:grpSpPr>
        <p:sp>
          <p:nvSpPr>
            <p:cNvPr id="174" name="Ellipse 174"/>
            <p:cNvSpPr/>
            <p:nvPr/>
          </p:nvSpPr>
          <p:spPr>
            <a:xfrm>
              <a:off x="10546842" y="4122610"/>
              <a:ext cx="93726" cy="93726"/>
            </a:xfrm>
            <a:prstGeom prst="ellipse">
              <a:avLst/>
            </a:prstGeom>
            <a:solidFill>
              <a:schemeClr val="accent1"/>
            </a:solidFill>
            <a:ln w="13335">
              <a:solidFill>
                <a:schemeClr val="accent1"/>
              </a:solidFill>
            </a:ln>
          </p:spPr>
        </p:sp>
        <p:sp>
          <p:nvSpPr>
            <p:cNvPr id="175" name="Rectangle 175"/>
            <p:cNvSpPr/>
            <p:nvPr/>
          </p:nvSpPr>
          <p:spPr>
            <a:xfrm>
              <a:off x="10539032" y="4255389"/>
              <a:ext cx="109347" cy="187452"/>
            </a:xfrm>
            <a:prstGeom prst="roundRect">
              <a:avLst>
                <a:gd name="adj" fmla="val 42857"/>
              </a:avLst>
            </a:prstGeom>
            <a:solidFill>
              <a:schemeClr val="accent1"/>
            </a:solidFill>
            <a:ln w="13335">
              <a:solidFill>
                <a:schemeClr val="accent1"/>
              </a:solidFill>
            </a:ln>
          </p:spPr>
        </p:sp>
      </p:grpSp>
      <p:grpSp>
        <p:nvGrpSpPr>
          <p:cNvPr id="179" name="!!participant-54"/>
          <p:cNvGrpSpPr/>
          <p:nvPr/>
        </p:nvGrpSpPr>
        <p:grpSpPr>
          <a:xfrm>
            <a:off x="11005756" y="4122610"/>
            <a:ext cx="109347" cy="320231"/>
            <a:chOff x="11005756" y="4122610"/>
            <a:chExt cx="109347" cy="320231"/>
          </a:xfrm>
        </p:grpSpPr>
        <p:sp>
          <p:nvSpPr>
            <p:cNvPr id="177" name="Ellipse 177"/>
            <p:cNvSpPr/>
            <p:nvPr/>
          </p:nvSpPr>
          <p:spPr>
            <a:xfrm>
              <a:off x="11013567" y="4122610"/>
              <a:ext cx="93726" cy="93726"/>
            </a:xfrm>
            <a:prstGeom prst="ellipse">
              <a:avLst/>
            </a:prstGeom>
            <a:solidFill>
              <a:schemeClr val="accent1"/>
            </a:solidFill>
            <a:ln w="13335">
              <a:solidFill>
                <a:schemeClr val="accent1"/>
              </a:solidFill>
            </a:ln>
          </p:spPr>
        </p:sp>
        <p:sp>
          <p:nvSpPr>
            <p:cNvPr id="178" name="Rectangle 178"/>
            <p:cNvSpPr/>
            <p:nvPr/>
          </p:nvSpPr>
          <p:spPr>
            <a:xfrm>
              <a:off x="11005756" y="4255389"/>
              <a:ext cx="109347" cy="187452"/>
            </a:xfrm>
            <a:prstGeom prst="roundRect">
              <a:avLst>
                <a:gd name="adj" fmla="val 42857"/>
              </a:avLst>
            </a:prstGeom>
            <a:solidFill>
              <a:schemeClr val="accent1"/>
            </a:solidFill>
            <a:ln w="13335">
              <a:solidFill>
                <a:schemeClr val="accent1"/>
              </a:solidFill>
            </a:ln>
          </p:spPr>
        </p:sp>
      </p:grpSp>
      <p:grpSp>
        <p:nvGrpSpPr>
          <p:cNvPr id="182" name="!!participant-55"/>
          <p:cNvGrpSpPr/>
          <p:nvPr/>
        </p:nvGrpSpPr>
        <p:grpSpPr>
          <a:xfrm>
            <a:off x="4938332" y="4617910"/>
            <a:ext cx="109347" cy="320231"/>
            <a:chOff x="4938332" y="4617910"/>
            <a:chExt cx="109347" cy="320231"/>
          </a:xfrm>
        </p:grpSpPr>
        <p:sp>
          <p:nvSpPr>
            <p:cNvPr id="180" name="Ellipse 180"/>
            <p:cNvSpPr/>
            <p:nvPr/>
          </p:nvSpPr>
          <p:spPr>
            <a:xfrm>
              <a:off x="4946142" y="4617910"/>
              <a:ext cx="93726" cy="93726"/>
            </a:xfrm>
            <a:prstGeom prst="ellipse">
              <a:avLst/>
            </a:prstGeom>
            <a:solidFill>
              <a:schemeClr val="accent1"/>
            </a:solidFill>
            <a:ln w="13335">
              <a:solidFill>
                <a:schemeClr val="accent1"/>
              </a:solidFill>
            </a:ln>
          </p:spPr>
        </p:sp>
        <p:sp>
          <p:nvSpPr>
            <p:cNvPr id="181" name="Rectangle 181"/>
            <p:cNvSpPr/>
            <p:nvPr/>
          </p:nvSpPr>
          <p:spPr>
            <a:xfrm>
              <a:off x="4938332" y="4750689"/>
              <a:ext cx="109347" cy="187452"/>
            </a:xfrm>
            <a:prstGeom prst="roundRect">
              <a:avLst>
                <a:gd name="adj" fmla="val 42857"/>
              </a:avLst>
            </a:prstGeom>
            <a:solidFill>
              <a:schemeClr val="accent1"/>
            </a:solidFill>
            <a:ln w="13335">
              <a:solidFill>
                <a:schemeClr val="accent1"/>
              </a:solidFill>
            </a:ln>
          </p:spPr>
        </p:sp>
      </p:grpSp>
      <p:grpSp>
        <p:nvGrpSpPr>
          <p:cNvPr id="185" name="!!participant-56"/>
          <p:cNvGrpSpPr/>
          <p:nvPr/>
        </p:nvGrpSpPr>
        <p:grpSpPr>
          <a:xfrm>
            <a:off x="5405056" y="4617910"/>
            <a:ext cx="109347" cy="320231"/>
            <a:chOff x="5405056" y="4617910"/>
            <a:chExt cx="109347" cy="320231"/>
          </a:xfrm>
        </p:grpSpPr>
        <p:sp>
          <p:nvSpPr>
            <p:cNvPr id="183" name="Ellipse 183"/>
            <p:cNvSpPr/>
            <p:nvPr/>
          </p:nvSpPr>
          <p:spPr>
            <a:xfrm>
              <a:off x="5412867" y="4617910"/>
              <a:ext cx="93726" cy="93726"/>
            </a:xfrm>
            <a:prstGeom prst="ellipse">
              <a:avLst/>
            </a:prstGeom>
            <a:solidFill>
              <a:schemeClr val="accent1"/>
            </a:solidFill>
            <a:ln w="13335">
              <a:solidFill>
                <a:schemeClr val="accent1"/>
              </a:solidFill>
            </a:ln>
          </p:spPr>
        </p:sp>
        <p:sp>
          <p:nvSpPr>
            <p:cNvPr id="184" name="Rectangle 184"/>
            <p:cNvSpPr/>
            <p:nvPr/>
          </p:nvSpPr>
          <p:spPr>
            <a:xfrm>
              <a:off x="5405056" y="4750689"/>
              <a:ext cx="109347" cy="187452"/>
            </a:xfrm>
            <a:prstGeom prst="roundRect">
              <a:avLst>
                <a:gd name="adj" fmla="val 42857"/>
              </a:avLst>
            </a:prstGeom>
            <a:solidFill>
              <a:schemeClr val="accent1"/>
            </a:solidFill>
            <a:ln w="13335">
              <a:solidFill>
                <a:schemeClr val="accent1"/>
              </a:solidFill>
            </a:ln>
          </p:spPr>
        </p:sp>
      </p:grpSp>
      <p:grpSp>
        <p:nvGrpSpPr>
          <p:cNvPr id="188" name="!!participant-57"/>
          <p:cNvGrpSpPr/>
          <p:nvPr/>
        </p:nvGrpSpPr>
        <p:grpSpPr>
          <a:xfrm>
            <a:off x="5871782" y="4617910"/>
            <a:ext cx="109347" cy="320231"/>
            <a:chOff x="5871782" y="4617910"/>
            <a:chExt cx="109347" cy="320231"/>
          </a:xfrm>
        </p:grpSpPr>
        <p:sp>
          <p:nvSpPr>
            <p:cNvPr id="186" name="Ellipse 186"/>
            <p:cNvSpPr/>
            <p:nvPr/>
          </p:nvSpPr>
          <p:spPr>
            <a:xfrm>
              <a:off x="5879592" y="4617910"/>
              <a:ext cx="93726" cy="93726"/>
            </a:xfrm>
            <a:prstGeom prst="ellipse">
              <a:avLst/>
            </a:prstGeom>
            <a:solidFill>
              <a:schemeClr val="accent1"/>
            </a:solidFill>
            <a:ln w="13335">
              <a:solidFill>
                <a:schemeClr val="accent1"/>
              </a:solidFill>
            </a:ln>
          </p:spPr>
        </p:sp>
        <p:sp>
          <p:nvSpPr>
            <p:cNvPr id="187" name="Rectangle 187"/>
            <p:cNvSpPr/>
            <p:nvPr/>
          </p:nvSpPr>
          <p:spPr>
            <a:xfrm>
              <a:off x="5871782" y="4750689"/>
              <a:ext cx="109347" cy="187452"/>
            </a:xfrm>
            <a:prstGeom prst="roundRect">
              <a:avLst>
                <a:gd name="adj" fmla="val 42857"/>
              </a:avLst>
            </a:prstGeom>
            <a:solidFill>
              <a:schemeClr val="accent1"/>
            </a:solidFill>
            <a:ln w="13335">
              <a:solidFill>
                <a:schemeClr val="accent1"/>
              </a:solidFill>
            </a:ln>
          </p:spPr>
        </p:sp>
      </p:grpSp>
      <p:grpSp>
        <p:nvGrpSpPr>
          <p:cNvPr id="191" name="!!participant-58"/>
          <p:cNvGrpSpPr/>
          <p:nvPr/>
        </p:nvGrpSpPr>
        <p:grpSpPr>
          <a:xfrm>
            <a:off x="6338506" y="4617910"/>
            <a:ext cx="109347" cy="320231"/>
            <a:chOff x="6338506" y="4617910"/>
            <a:chExt cx="109347" cy="320231"/>
          </a:xfrm>
        </p:grpSpPr>
        <p:sp>
          <p:nvSpPr>
            <p:cNvPr id="189" name="Ellipse 189"/>
            <p:cNvSpPr/>
            <p:nvPr/>
          </p:nvSpPr>
          <p:spPr>
            <a:xfrm>
              <a:off x="6346317" y="4617910"/>
              <a:ext cx="93726" cy="93726"/>
            </a:xfrm>
            <a:prstGeom prst="ellipse">
              <a:avLst/>
            </a:prstGeom>
            <a:solidFill>
              <a:schemeClr val="accent1"/>
            </a:solidFill>
            <a:ln w="13335">
              <a:solidFill>
                <a:schemeClr val="accent1"/>
              </a:solidFill>
            </a:ln>
          </p:spPr>
        </p:sp>
        <p:sp>
          <p:nvSpPr>
            <p:cNvPr id="190" name="Rectangle 190"/>
            <p:cNvSpPr/>
            <p:nvPr/>
          </p:nvSpPr>
          <p:spPr>
            <a:xfrm>
              <a:off x="6338506" y="4750689"/>
              <a:ext cx="109347" cy="187452"/>
            </a:xfrm>
            <a:prstGeom prst="roundRect">
              <a:avLst>
                <a:gd name="adj" fmla="val 42857"/>
              </a:avLst>
            </a:prstGeom>
            <a:solidFill>
              <a:schemeClr val="accent1"/>
            </a:solidFill>
            <a:ln w="13335">
              <a:solidFill>
                <a:schemeClr val="accent1"/>
              </a:solidFill>
            </a:ln>
          </p:spPr>
        </p:sp>
      </p:grpSp>
      <p:grpSp>
        <p:nvGrpSpPr>
          <p:cNvPr id="194" name="!!participant-59"/>
          <p:cNvGrpSpPr/>
          <p:nvPr/>
        </p:nvGrpSpPr>
        <p:grpSpPr>
          <a:xfrm>
            <a:off x="6805232" y="4617910"/>
            <a:ext cx="109347" cy="320231"/>
            <a:chOff x="6805232" y="4617910"/>
            <a:chExt cx="109347" cy="320231"/>
          </a:xfrm>
        </p:grpSpPr>
        <p:sp>
          <p:nvSpPr>
            <p:cNvPr id="192" name="Ellipse 192"/>
            <p:cNvSpPr/>
            <p:nvPr/>
          </p:nvSpPr>
          <p:spPr>
            <a:xfrm>
              <a:off x="6813042" y="4617910"/>
              <a:ext cx="93726" cy="93726"/>
            </a:xfrm>
            <a:prstGeom prst="ellipse">
              <a:avLst/>
            </a:prstGeom>
            <a:solidFill>
              <a:schemeClr val="accent1"/>
            </a:solidFill>
            <a:ln w="13335">
              <a:solidFill>
                <a:schemeClr val="accent1"/>
              </a:solidFill>
            </a:ln>
          </p:spPr>
        </p:sp>
        <p:sp>
          <p:nvSpPr>
            <p:cNvPr id="193" name="Rectangle 193"/>
            <p:cNvSpPr/>
            <p:nvPr/>
          </p:nvSpPr>
          <p:spPr>
            <a:xfrm>
              <a:off x="6805232" y="4750689"/>
              <a:ext cx="109347" cy="187452"/>
            </a:xfrm>
            <a:prstGeom prst="roundRect">
              <a:avLst>
                <a:gd name="adj" fmla="val 42857"/>
              </a:avLst>
            </a:prstGeom>
            <a:solidFill>
              <a:schemeClr val="accent1"/>
            </a:solidFill>
            <a:ln w="13335">
              <a:solidFill>
                <a:schemeClr val="accent1"/>
              </a:solidFill>
            </a:ln>
          </p:spPr>
        </p:sp>
      </p:grpSp>
      <p:grpSp>
        <p:nvGrpSpPr>
          <p:cNvPr id="197" name="!!participant-60"/>
          <p:cNvGrpSpPr/>
          <p:nvPr/>
        </p:nvGrpSpPr>
        <p:grpSpPr>
          <a:xfrm>
            <a:off x="7271956" y="4617910"/>
            <a:ext cx="109347" cy="320231"/>
            <a:chOff x="7271956" y="4617910"/>
            <a:chExt cx="109347" cy="320231"/>
          </a:xfrm>
        </p:grpSpPr>
        <p:sp>
          <p:nvSpPr>
            <p:cNvPr id="195" name="Ellipse 195"/>
            <p:cNvSpPr/>
            <p:nvPr/>
          </p:nvSpPr>
          <p:spPr>
            <a:xfrm>
              <a:off x="7279767" y="4617910"/>
              <a:ext cx="93726" cy="93726"/>
            </a:xfrm>
            <a:prstGeom prst="ellipse">
              <a:avLst/>
            </a:prstGeom>
            <a:solidFill>
              <a:schemeClr val="accent1"/>
            </a:solidFill>
            <a:ln w="13335">
              <a:solidFill>
                <a:schemeClr val="accent1"/>
              </a:solidFill>
            </a:ln>
          </p:spPr>
        </p:sp>
        <p:sp>
          <p:nvSpPr>
            <p:cNvPr id="196" name="Rectangle 196"/>
            <p:cNvSpPr/>
            <p:nvPr/>
          </p:nvSpPr>
          <p:spPr>
            <a:xfrm>
              <a:off x="7271956" y="4750689"/>
              <a:ext cx="109347" cy="187452"/>
            </a:xfrm>
            <a:prstGeom prst="roundRect">
              <a:avLst>
                <a:gd name="adj" fmla="val 42857"/>
              </a:avLst>
            </a:prstGeom>
            <a:solidFill>
              <a:schemeClr val="accent1"/>
            </a:solidFill>
            <a:ln w="13335">
              <a:solidFill>
                <a:schemeClr val="accent1"/>
              </a:solidFill>
            </a:ln>
          </p:spPr>
        </p:sp>
      </p:grpSp>
      <p:grpSp>
        <p:nvGrpSpPr>
          <p:cNvPr id="200" name="!!participant-61"/>
          <p:cNvGrpSpPr/>
          <p:nvPr/>
        </p:nvGrpSpPr>
        <p:grpSpPr>
          <a:xfrm>
            <a:off x="7738682" y="4617910"/>
            <a:ext cx="109347" cy="320231"/>
            <a:chOff x="7738682" y="4617910"/>
            <a:chExt cx="109347" cy="320231"/>
          </a:xfrm>
        </p:grpSpPr>
        <p:sp>
          <p:nvSpPr>
            <p:cNvPr id="198" name="Ellipse 198"/>
            <p:cNvSpPr/>
            <p:nvPr/>
          </p:nvSpPr>
          <p:spPr>
            <a:xfrm>
              <a:off x="7746492" y="4617910"/>
              <a:ext cx="93726" cy="93726"/>
            </a:xfrm>
            <a:prstGeom prst="ellipse">
              <a:avLst/>
            </a:prstGeom>
            <a:solidFill>
              <a:schemeClr val="accent1"/>
            </a:solidFill>
            <a:ln w="13335">
              <a:solidFill>
                <a:schemeClr val="accent1"/>
              </a:solidFill>
            </a:ln>
          </p:spPr>
        </p:sp>
        <p:sp>
          <p:nvSpPr>
            <p:cNvPr id="199" name="Rectangle 199"/>
            <p:cNvSpPr/>
            <p:nvPr/>
          </p:nvSpPr>
          <p:spPr>
            <a:xfrm>
              <a:off x="7738682" y="4750689"/>
              <a:ext cx="109347" cy="187452"/>
            </a:xfrm>
            <a:prstGeom prst="roundRect">
              <a:avLst>
                <a:gd name="adj" fmla="val 42857"/>
              </a:avLst>
            </a:prstGeom>
            <a:solidFill>
              <a:schemeClr val="accent1"/>
            </a:solidFill>
            <a:ln w="13335">
              <a:solidFill>
                <a:schemeClr val="accent1"/>
              </a:solidFill>
            </a:ln>
          </p:spPr>
        </p:sp>
      </p:grpSp>
      <p:grpSp>
        <p:nvGrpSpPr>
          <p:cNvPr id="203" name="!!participant-62"/>
          <p:cNvGrpSpPr/>
          <p:nvPr/>
        </p:nvGrpSpPr>
        <p:grpSpPr>
          <a:xfrm>
            <a:off x="8205406" y="4617910"/>
            <a:ext cx="109347" cy="320231"/>
            <a:chOff x="8205406" y="4617910"/>
            <a:chExt cx="109347" cy="320231"/>
          </a:xfrm>
        </p:grpSpPr>
        <p:sp>
          <p:nvSpPr>
            <p:cNvPr id="201" name="Ellipse 201"/>
            <p:cNvSpPr/>
            <p:nvPr/>
          </p:nvSpPr>
          <p:spPr>
            <a:xfrm>
              <a:off x="8213217" y="4617910"/>
              <a:ext cx="93726" cy="93726"/>
            </a:xfrm>
            <a:prstGeom prst="ellipse">
              <a:avLst/>
            </a:prstGeom>
            <a:solidFill>
              <a:schemeClr val="accent1"/>
            </a:solidFill>
            <a:ln w="13335">
              <a:solidFill>
                <a:schemeClr val="accent1"/>
              </a:solidFill>
            </a:ln>
          </p:spPr>
        </p:sp>
        <p:sp>
          <p:nvSpPr>
            <p:cNvPr id="202" name="Rectangle 202"/>
            <p:cNvSpPr/>
            <p:nvPr/>
          </p:nvSpPr>
          <p:spPr>
            <a:xfrm>
              <a:off x="8205406" y="4750689"/>
              <a:ext cx="109347" cy="187452"/>
            </a:xfrm>
            <a:prstGeom prst="roundRect">
              <a:avLst>
                <a:gd name="adj" fmla="val 42857"/>
              </a:avLst>
            </a:prstGeom>
            <a:solidFill>
              <a:schemeClr val="accent1"/>
            </a:solidFill>
            <a:ln w="13335">
              <a:solidFill>
                <a:schemeClr val="accent1"/>
              </a:solidFill>
            </a:ln>
          </p:spPr>
        </p:sp>
      </p:grpSp>
      <p:grpSp>
        <p:nvGrpSpPr>
          <p:cNvPr id="206" name="!!participant-63"/>
          <p:cNvGrpSpPr/>
          <p:nvPr/>
        </p:nvGrpSpPr>
        <p:grpSpPr>
          <a:xfrm>
            <a:off x="8672132" y="4617910"/>
            <a:ext cx="109347" cy="320231"/>
            <a:chOff x="8672132" y="4617910"/>
            <a:chExt cx="109347" cy="320231"/>
          </a:xfrm>
        </p:grpSpPr>
        <p:sp>
          <p:nvSpPr>
            <p:cNvPr id="204" name="Ellipse 204"/>
            <p:cNvSpPr/>
            <p:nvPr/>
          </p:nvSpPr>
          <p:spPr>
            <a:xfrm>
              <a:off x="8679942" y="4617910"/>
              <a:ext cx="93726" cy="93726"/>
            </a:xfrm>
            <a:prstGeom prst="ellipse">
              <a:avLst/>
            </a:prstGeom>
            <a:solidFill>
              <a:schemeClr val="accent1"/>
            </a:solidFill>
            <a:ln w="13335">
              <a:solidFill>
                <a:schemeClr val="accent1"/>
              </a:solidFill>
            </a:ln>
          </p:spPr>
        </p:sp>
        <p:sp>
          <p:nvSpPr>
            <p:cNvPr id="205" name="Rectangle 205"/>
            <p:cNvSpPr/>
            <p:nvPr/>
          </p:nvSpPr>
          <p:spPr>
            <a:xfrm>
              <a:off x="8672132" y="4750689"/>
              <a:ext cx="109347" cy="187452"/>
            </a:xfrm>
            <a:prstGeom prst="roundRect">
              <a:avLst>
                <a:gd name="adj" fmla="val 42857"/>
              </a:avLst>
            </a:prstGeom>
            <a:solidFill>
              <a:schemeClr val="accent1"/>
            </a:solidFill>
            <a:ln w="13335">
              <a:solidFill>
                <a:schemeClr val="accent1"/>
              </a:solidFill>
            </a:ln>
          </p:spPr>
        </p:sp>
      </p:grpSp>
      <p:grpSp>
        <p:nvGrpSpPr>
          <p:cNvPr id="209" name="!!participant-64"/>
          <p:cNvGrpSpPr/>
          <p:nvPr/>
        </p:nvGrpSpPr>
        <p:grpSpPr>
          <a:xfrm>
            <a:off x="9138856" y="4617910"/>
            <a:ext cx="109347" cy="320231"/>
            <a:chOff x="9138856" y="4617910"/>
            <a:chExt cx="109347" cy="320231"/>
          </a:xfrm>
        </p:grpSpPr>
        <p:sp>
          <p:nvSpPr>
            <p:cNvPr id="207" name="Ellipse 207"/>
            <p:cNvSpPr/>
            <p:nvPr/>
          </p:nvSpPr>
          <p:spPr>
            <a:xfrm>
              <a:off x="9146667" y="4617910"/>
              <a:ext cx="93726" cy="93726"/>
            </a:xfrm>
            <a:prstGeom prst="ellipse">
              <a:avLst/>
            </a:prstGeom>
            <a:solidFill>
              <a:schemeClr val="accent1"/>
            </a:solidFill>
            <a:ln w="13335">
              <a:solidFill>
                <a:schemeClr val="accent1"/>
              </a:solidFill>
            </a:ln>
          </p:spPr>
        </p:sp>
        <p:sp>
          <p:nvSpPr>
            <p:cNvPr id="208" name="Rectangle 208"/>
            <p:cNvSpPr/>
            <p:nvPr/>
          </p:nvSpPr>
          <p:spPr>
            <a:xfrm>
              <a:off x="9138856" y="4750689"/>
              <a:ext cx="109347" cy="187452"/>
            </a:xfrm>
            <a:prstGeom prst="roundRect">
              <a:avLst>
                <a:gd name="adj" fmla="val 42857"/>
              </a:avLst>
            </a:prstGeom>
            <a:solidFill>
              <a:schemeClr val="accent1"/>
            </a:solidFill>
            <a:ln w="13335">
              <a:solidFill>
                <a:schemeClr val="accent1"/>
              </a:solidFill>
            </a:ln>
          </p:spPr>
        </p:sp>
      </p:grpSp>
      <p:grpSp>
        <p:nvGrpSpPr>
          <p:cNvPr id="212" name="!!participant-65"/>
          <p:cNvGrpSpPr/>
          <p:nvPr/>
        </p:nvGrpSpPr>
        <p:grpSpPr>
          <a:xfrm>
            <a:off x="9605582" y="4617910"/>
            <a:ext cx="109347" cy="320231"/>
            <a:chOff x="9605582" y="4617910"/>
            <a:chExt cx="109347" cy="320231"/>
          </a:xfrm>
        </p:grpSpPr>
        <p:sp>
          <p:nvSpPr>
            <p:cNvPr id="210" name="Ellipse 210"/>
            <p:cNvSpPr/>
            <p:nvPr/>
          </p:nvSpPr>
          <p:spPr>
            <a:xfrm>
              <a:off x="9613392" y="4617910"/>
              <a:ext cx="93726" cy="93726"/>
            </a:xfrm>
            <a:prstGeom prst="ellipse">
              <a:avLst/>
            </a:prstGeom>
            <a:solidFill>
              <a:schemeClr val="accent1"/>
            </a:solidFill>
            <a:ln w="13335">
              <a:solidFill>
                <a:schemeClr val="accent1"/>
              </a:solidFill>
            </a:ln>
          </p:spPr>
        </p:sp>
        <p:sp>
          <p:nvSpPr>
            <p:cNvPr id="211" name="Rectangle 211"/>
            <p:cNvSpPr/>
            <p:nvPr/>
          </p:nvSpPr>
          <p:spPr>
            <a:xfrm>
              <a:off x="9605582" y="4750689"/>
              <a:ext cx="109347" cy="187452"/>
            </a:xfrm>
            <a:prstGeom prst="roundRect">
              <a:avLst>
                <a:gd name="adj" fmla="val 42857"/>
              </a:avLst>
            </a:prstGeom>
            <a:solidFill>
              <a:schemeClr val="accent1"/>
            </a:solidFill>
            <a:ln w="13335">
              <a:solidFill>
                <a:schemeClr val="accent1"/>
              </a:solidFill>
            </a:ln>
          </p:spPr>
        </p:sp>
      </p:grpSp>
      <p:grpSp>
        <p:nvGrpSpPr>
          <p:cNvPr id="215" name="!!participant-66"/>
          <p:cNvGrpSpPr/>
          <p:nvPr/>
        </p:nvGrpSpPr>
        <p:grpSpPr>
          <a:xfrm>
            <a:off x="10072306" y="4617910"/>
            <a:ext cx="109347" cy="320231"/>
            <a:chOff x="10072306" y="4617910"/>
            <a:chExt cx="109347" cy="320231"/>
          </a:xfrm>
        </p:grpSpPr>
        <p:sp>
          <p:nvSpPr>
            <p:cNvPr id="213" name="Ellipse 213"/>
            <p:cNvSpPr/>
            <p:nvPr/>
          </p:nvSpPr>
          <p:spPr>
            <a:xfrm>
              <a:off x="10080117" y="4617910"/>
              <a:ext cx="93726" cy="93726"/>
            </a:xfrm>
            <a:prstGeom prst="ellipse">
              <a:avLst/>
            </a:prstGeom>
            <a:solidFill>
              <a:schemeClr val="accent1"/>
            </a:solidFill>
            <a:ln w="13335">
              <a:solidFill>
                <a:schemeClr val="accent1"/>
              </a:solidFill>
            </a:ln>
          </p:spPr>
        </p:sp>
        <p:sp>
          <p:nvSpPr>
            <p:cNvPr id="214" name="Rectangle 214"/>
            <p:cNvSpPr/>
            <p:nvPr/>
          </p:nvSpPr>
          <p:spPr>
            <a:xfrm>
              <a:off x="10072306" y="4750689"/>
              <a:ext cx="109347" cy="187452"/>
            </a:xfrm>
            <a:prstGeom prst="roundRect">
              <a:avLst>
                <a:gd name="adj" fmla="val 42857"/>
              </a:avLst>
            </a:prstGeom>
            <a:solidFill>
              <a:schemeClr val="accent1"/>
            </a:solidFill>
            <a:ln w="13335">
              <a:solidFill>
                <a:schemeClr val="accent1"/>
              </a:solidFill>
            </a:ln>
          </p:spPr>
        </p:sp>
      </p:grpSp>
      <p:grpSp>
        <p:nvGrpSpPr>
          <p:cNvPr id="218" name="!!participant-67"/>
          <p:cNvGrpSpPr/>
          <p:nvPr/>
        </p:nvGrpSpPr>
        <p:grpSpPr>
          <a:xfrm>
            <a:off x="10539032" y="4617910"/>
            <a:ext cx="109347" cy="320231"/>
            <a:chOff x="10539032" y="4617910"/>
            <a:chExt cx="109347" cy="320231"/>
          </a:xfrm>
        </p:grpSpPr>
        <p:sp>
          <p:nvSpPr>
            <p:cNvPr id="216" name="Ellipse 216"/>
            <p:cNvSpPr/>
            <p:nvPr/>
          </p:nvSpPr>
          <p:spPr>
            <a:xfrm>
              <a:off x="10546842" y="4617910"/>
              <a:ext cx="93726" cy="93726"/>
            </a:xfrm>
            <a:prstGeom prst="ellipse">
              <a:avLst/>
            </a:prstGeom>
            <a:solidFill>
              <a:schemeClr val="accent1"/>
            </a:solidFill>
            <a:ln w="13335">
              <a:solidFill>
                <a:schemeClr val="accent1"/>
              </a:solidFill>
            </a:ln>
          </p:spPr>
        </p:sp>
        <p:sp>
          <p:nvSpPr>
            <p:cNvPr id="217" name="Rectangle 217"/>
            <p:cNvSpPr/>
            <p:nvPr/>
          </p:nvSpPr>
          <p:spPr>
            <a:xfrm>
              <a:off x="10539032" y="4750689"/>
              <a:ext cx="109347" cy="187452"/>
            </a:xfrm>
            <a:prstGeom prst="roundRect">
              <a:avLst>
                <a:gd name="adj" fmla="val 42857"/>
              </a:avLst>
            </a:prstGeom>
            <a:solidFill>
              <a:schemeClr val="accent1"/>
            </a:solidFill>
            <a:ln w="13335">
              <a:solidFill>
                <a:schemeClr val="accent1"/>
              </a:solidFill>
            </a:ln>
          </p:spPr>
        </p:sp>
      </p:grpSp>
      <p:grpSp>
        <p:nvGrpSpPr>
          <p:cNvPr id="221" name="!!participant-68"/>
          <p:cNvGrpSpPr/>
          <p:nvPr/>
        </p:nvGrpSpPr>
        <p:grpSpPr>
          <a:xfrm>
            <a:off x="11005756" y="4617910"/>
            <a:ext cx="109347" cy="320231"/>
            <a:chOff x="11005756" y="4617910"/>
            <a:chExt cx="109347" cy="320231"/>
          </a:xfrm>
        </p:grpSpPr>
        <p:sp>
          <p:nvSpPr>
            <p:cNvPr id="219" name="Ellipse 219"/>
            <p:cNvSpPr/>
            <p:nvPr/>
          </p:nvSpPr>
          <p:spPr>
            <a:xfrm>
              <a:off x="11013567" y="4617910"/>
              <a:ext cx="93726" cy="93726"/>
            </a:xfrm>
            <a:prstGeom prst="ellipse">
              <a:avLst/>
            </a:prstGeom>
            <a:solidFill>
              <a:schemeClr val="accent1"/>
            </a:solidFill>
            <a:ln w="13335">
              <a:solidFill>
                <a:schemeClr val="accent1"/>
              </a:solidFill>
            </a:ln>
          </p:spPr>
        </p:sp>
        <p:sp>
          <p:nvSpPr>
            <p:cNvPr id="220" name="Rectangle 220"/>
            <p:cNvSpPr/>
            <p:nvPr/>
          </p:nvSpPr>
          <p:spPr>
            <a:xfrm>
              <a:off x="11005756" y="4750689"/>
              <a:ext cx="109347" cy="187452"/>
            </a:xfrm>
            <a:prstGeom prst="roundRect">
              <a:avLst>
                <a:gd name="adj" fmla="val 42857"/>
              </a:avLst>
            </a:prstGeom>
            <a:solidFill>
              <a:schemeClr val="accent1"/>
            </a:solidFill>
            <a:ln w="13335">
              <a:solidFill>
                <a:schemeClr val="accent1"/>
              </a:solidFill>
            </a:ln>
          </p:spPr>
        </p:sp>
      </p:grpSp>
      <p:grpSp>
        <p:nvGrpSpPr>
          <p:cNvPr id="224" name="!!participant-69"/>
          <p:cNvGrpSpPr/>
          <p:nvPr/>
        </p:nvGrpSpPr>
        <p:grpSpPr>
          <a:xfrm>
            <a:off x="4938332" y="5113211"/>
            <a:ext cx="109347" cy="320230"/>
            <a:chOff x="4938332" y="5113211"/>
            <a:chExt cx="109347" cy="320230"/>
          </a:xfrm>
        </p:grpSpPr>
        <p:sp>
          <p:nvSpPr>
            <p:cNvPr id="222" name="Ellipse 222"/>
            <p:cNvSpPr/>
            <p:nvPr/>
          </p:nvSpPr>
          <p:spPr>
            <a:xfrm>
              <a:off x="4946142" y="5113211"/>
              <a:ext cx="93726" cy="93726"/>
            </a:xfrm>
            <a:prstGeom prst="ellipse">
              <a:avLst/>
            </a:prstGeom>
            <a:solidFill>
              <a:schemeClr val="accent1"/>
            </a:solidFill>
            <a:ln w="13335">
              <a:solidFill>
                <a:schemeClr val="accent1"/>
              </a:solidFill>
            </a:ln>
          </p:spPr>
        </p:sp>
        <p:sp>
          <p:nvSpPr>
            <p:cNvPr id="223" name="Rectangle 223"/>
            <p:cNvSpPr/>
            <p:nvPr/>
          </p:nvSpPr>
          <p:spPr>
            <a:xfrm>
              <a:off x="4938332" y="5245989"/>
              <a:ext cx="109347" cy="187452"/>
            </a:xfrm>
            <a:prstGeom prst="roundRect">
              <a:avLst>
                <a:gd name="adj" fmla="val 42857"/>
              </a:avLst>
            </a:prstGeom>
            <a:solidFill>
              <a:schemeClr val="accent1"/>
            </a:solidFill>
            <a:ln w="13335">
              <a:solidFill>
                <a:schemeClr val="accent1"/>
              </a:solidFill>
            </a:ln>
          </p:spPr>
        </p:sp>
      </p:grpSp>
      <p:grpSp>
        <p:nvGrpSpPr>
          <p:cNvPr id="227" name="!!participant-70"/>
          <p:cNvGrpSpPr/>
          <p:nvPr/>
        </p:nvGrpSpPr>
        <p:grpSpPr>
          <a:xfrm>
            <a:off x="5405056" y="5113211"/>
            <a:ext cx="109347" cy="320230"/>
            <a:chOff x="5405056" y="5113211"/>
            <a:chExt cx="109347" cy="320230"/>
          </a:xfrm>
        </p:grpSpPr>
        <p:sp>
          <p:nvSpPr>
            <p:cNvPr id="225" name="Ellipse 225"/>
            <p:cNvSpPr/>
            <p:nvPr/>
          </p:nvSpPr>
          <p:spPr>
            <a:xfrm>
              <a:off x="5412867" y="5113211"/>
              <a:ext cx="93726" cy="93726"/>
            </a:xfrm>
            <a:prstGeom prst="ellipse">
              <a:avLst/>
            </a:prstGeom>
            <a:solidFill>
              <a:schemeClr val="accent1"/>
            </a:solidFill>
            <a:ln w="13335">
              <a:solidFill>
                <a:schemeClr val="accent1"/>
              </a:solidFill>
            </a:ln>
          </p:spPr>
        </p:sp>
        <p:sp>
          <p:nvSpPr>
            <p:cNvPr id="226" name="Rectangle 226"/>
            <p:cNvSpPr/>
            <p:nvPr/>
          </p:nvSpPr>
          <p:spPr>
            <a:xfrm>
              <a:off x="5405056" y="5245989"/>
              <a:ext cx="109347" cy="187452"/>
            </a:xfrm>
            <a:prstGeom prst="roundRect">
              <a:avLst>
                <a:gd name="adj" fmla="val 42857"/>
              </a:avLst>
            </a:prstGeom>
            <a:solidFill>
              <a:schemeClr val="accent1"/>
            </a:solidFill>
            <a:ln w="13335">
              <a:solidFill>
                <a:schemeClr val="accent1"/>
              </a:solidFill>
            </a:ln>
          </p:spPr>
        </p:sp>
      </p:grpSp>
      <p:grpSp>
        <p:nvGrpSpPr>
          <p:cNvPr id="230" name="!!participant-71"/>
          <p:cNvGrpSpPr/>
          <p:nvPr/>
        </p:nvGrpSpPr>
        <p:grpSpPr>
          <a:xfrm>
            <a:off x="5871782" y="5113211"/>
            <a:ext cx="109347" cy="320230"/>
            <a:chOff x="5871782" y="5113211"/>
            <a:chExt cx="109347" cy="320230"/>
          </a:xfrm>
        </p:grpSpPr>
        <p:sp>
          <p:nvSpPr>
            <p:cNvPr id="228" name="Ellipse 228"/>
            <p:cNvSpPr/>
            <p:nvPr/>
          </p:nvSpPr>
          <p:spPr>
            <a:xfrm>
              <a:off x="5879592" y="5113211"/>
              <a:ext cx="93726" cy="93726"/>
            </a:xfrm>
            <a:prstGeom prst="ellipse">
              <a:avLst/>
            </a:prstGeom>
            <a:solidFill>
              <a:schemeClr val="accent1"/>
            </a:solidFill>
            <a:ln w="13335">
              <a:solidFill>
                <a:schemeClr val="accent1"/>
              </a:solidFill>
            </a:ln>
          </p:spPr>
        </p:sp>
        <p:sp>
          <p:nvSpPr>
            <p:cNvPr id="229" name="Rectangle 229"/>
            <p:cNvSpPr/>
            <p:nvPr/>
          </p:nvSpPr>
          <p:spPr>
            <a:xfrm>
              <a:off x="5871782" y="5245989"/>
              <a:ext cx="109347" cy="187452"/>
            </a:xfrm>
            <a:prstGeom prst="roundRect">
              <a:avLst>
                <a:gd name="adj" fmla="val 42857"/>
              </a:avLst>
            </a:prstGeom>
            <a:solidFill>
              <a:schemeClr val="accent1"/>
            </a:solidFill>
            <a:ln w="13335">
              <a:solidFill>
                <a:schemeClr val="accent1"/>
              </a:solidFill>
            </a:ln>
          </p:spPr>
        </p:sp>
      </p:grpSp>
      <p:grpSp>
        <p:nvGrpSpPr>
          <p:cNvPr id="233" name="!!participant-72"/>
          <p:cNvGrpSpPr/>
          <p:nvPr/>
        </p:nvGrpSpPr>
        <p:grpSpPr>
          <a:xfrm>
            <a:off x="6338506" y="5113211"/>
            <a:ext cx="109347" cy="320230"/>
            <a:chOff x="6338506" y="5113211"/>
            <a:chExt cx="109347" cy="320230"/>
          </a:xfrm>
        </p:grpSpPr>
        <p:sp>
          <p:nvSpPr>
            <p:cNvPr id="231" name="Ellipse 231"/>
            <p:cNvSpPr/>
            <p:nvPr/>
          </p:nvSpPr>
          <p:spPr>
            <a:xfrm>
              <a:off x="6346317" y="5113211"/>
              <a:ext cx="93726" cy="93726"/>
            </a:xfrm>
            <a:prstGeom prst="ellipse">
              <a:avLst/>
            </a:prstGeom>
            <a:solidFill>
              <a:schemeClr val="accent1"/>
            </a:solidFill>
            <a:ln w="13335">
              <a:solidFill>
                <a:schemeClr val="accent1"/>
              </a:solidFill>
            </a:ln>
          </p:spPr>
        </p:sp>
        <p:sp>
          <p:nvSpPr>
            <p:cNvPr id="232" name="Rectangle 232"/>
            <p:cNvSpPr/>
            <p:nvPr/>
          </p:nvSpPr>
          <p:spPr>
            <a:xfrm>
              <a:off x="6338506" y="5245989"/>
              <a:ext cx="109347" cy="187452"/>
            </a:xfrm>
            <a:prstGeom prst="roundRect">
              <a:avLst>
                <a:gd name="adj" fmla="val 42857"/>
              </a:avLst>
            </a:prstGeom>
            <a:solidFill>
              <a:schemeClr val="accent1"/>
            </a:solidFill>
            <a:ln w="13335">
              <a:solidFill>
                <a:schemeClr val="accent1"/>
              </a:solidFill>
            </a:ln>
          </p:spPr>
        </p:sp>
      </p:grpSp>
      <p:grpSp>
        <p:nvGrpSpPr>
          <p:cNvPr id="236" name="!!participant-73"/>
          <p:cNvGrpSpPr/>
          <p:nvPr/>
        </p:nvGrpSpPr>
        <p:grpSpPr>
          <a:xfrm>
            <a:off x="6805232" y="5113211"/>
            <a:ext cx="109347" cy="320230"/>
            <a:chOff x="6805232" y="5113211"/>
            <a:chExt cx="109347" cy="320230"/>
          </a:xfrm>
        </p:grpSpPr>
        <p:sp>
          <p:nvSpPr>
            <p:cNvPr id="234" name="Ellipse 234"/>
            <p:cNvSpPr/>
            <p:nvPr/>
          </p:nvSpPr>
          <p:spPr>
            <a:xfrm>
              <a:off x="6813042" y="5113211"/>
              <a:ext cx="93726" cy="93726"/>
            </a:xfrm>
            <a:prstGeom prst="ellipse">
              <a:avLst/>
            </a:prstGeom>
            <a:solidFill>
              <a:schemeClr val="accent1"/>
            </a:solidFill>
            <a:ln w="13335">
              <a:solidFill>
                <a:schemeClr val="accent1"/>
              </a:solidFill>
            </a:ln>
          </p:spPr>
        </p:sp>
        <p:sp>
          <p:nvSpPr>
            <p:cNvPr id="235" name="Rectangle 235"/>
            <p:cNvSpPr/>
            <p:nvPr/>
          </p:nvSpPr>
          <p:spPr>
            <a:xfrm>
              <a:off x="6805232" y="5245989"/>
              <a:ext cx="109347" cy="187452"/>
            </a:xfrm>
            <a:prstGeom prst="roundRect">
              <a:avLst>
                <a:gd name="adj" fmla="val 42857"/>
              </a:avLst>
            </a:prstGeom>
            <a:solidFill>
              <a:schemeClr val="accent1"/>
            </a:solidFill>
            <a:ln w="13335">
              <a:solidFill>
                <a:schemeClr val="accent1"/>
              </a:solidFill>
            </a:ln>
          </p:spPr>
        </p:sp>
      </p:grpSp>
      <p:grpSp>
        <p:nvGrpSpPr>
          <p:cNvPr id="239" name="!!participant-74"/>
          <p:cNvGrpSpPr/>
          <p:nvPr/>
        </p:nvGrpSpPr>
        <p:grpSpPr>
          <a:xfrm>
            <a:off x="7271956" y="5113211"/>
            <a:ext cx="109347" cy="320230"/>
            <a:chOff x="7271956" y="5113211"/>
            <a:chExt cx="109347" cy="320230"/>
          </a:xfrm>
        </p:grpSpPr>
        <p:sp>
          <p:nvSpPr>
            <p:cNvPr id="237" name="Ellipse 237"/>
            <p:cNvSpPr/>
            <p:nvPr/>
          </p:nvSpPr>
          <p:spPr>
            <a:xfrm>
              <a:off x="7279767" y="5113211"/>
              <a:ext cx="93726" cy="93726"/>
            </a:xfrm>
            <a:prstGeom prst="ellipse">
              <a:avLst/>
            </a:prstGeom>
            <a:solidFill>
              <a:schemeClr val="accent1"/>
            </a:solidFill>
            <a:ln w="13335">
              <a:solidFill>
                <a:schemeClr val="accent1"/>
              </a:solidFill>
            </a:ln>
          </p:spPr>
        </p:sp>
        <p:sp>
          <p:nvSpPr>
            <p:cNvPr id="238" name="Rectangle 238"/>
            <p:cNvSpPr/>
            <p:nvPr/>
          </p:nvSpPr>
          <p:spPr>
            <a:xfrm>
              <a:off x="7271956" y="5245989"/>
              <a:ext cx="109347" cy="187452"/>
            </a:xfrm>
            <a:prstGeom prst="roundRect">
              <a:avLst>
                <a:gd name="adj" fmla="val 42857"/>
              </a:avLst>
            </a:prstGeom>
            <a:solidFill>
              <a:schemeClr val="accent1"/>
            </a:solidFill>
            <a:ln w="13335">
              <a:solidFill>
                <a:schemeClr val="accent1"/>
              </a:solidFill>
            </a:ln>
          </p:spPr>
        </p:sp>
      </p:grpSp>
      <p:grpSp>
        <p:nvGrpSpPr>
          <p:cNvPr id="242" name="!!participant-75"/>
          <p:cNvGrpSpPr/>
          <p:nvPr/>
        </p:nvGrpSpPr>
        <p:grpSpPr>
          <a:xfrm>
            <a:off x="7738682" y="5113211"/>
            <a:ext cx="109347" cy="320230"/>
            <a:chOff x="7738682" y="5113211"/>
            <a:chExt cx="109347" cy="320230"/>
          </a:xfrm>
        </p:grpSpPr>
        <p:sp>
          <p:nvSpPr>
            <p:cNvPr id="240" name="Ellipse 240"/>
            <p:cNvSpPr/>
            <p:nvPr/>
          </p:nvSpPr>
          <p:spPr>
            <a:xfrm>
              <a:off x="7746492" y="5113211"/>
              <a:ext cx="93726" cy="93726"/>
            </a:xfrm>
            <a:prstGeom prst="ellipse">
              <a:avLst/>
            </a:prstGeom>
            <a:solidFill>
              <a:schemeClr val="accent1"/>
            </a:solidFill>
            <a:ln w="13335">
              <a:solidFill>
                <a:schemeClr val="accent1"/>
              </a:solidFill>
            </a:ln>
          </p:spPr>
        </p:sp>
        <p:sp>
          <p:nvSpPr>
            <p:cNvPr id="241" name="Rectangle 241"/>
            <p:cNvSpPr/>
            <p:nvPr/>
          </p:nvSpPr>
          <p:spPr>
            <a:xfrm>
              <a:off x="7738682" y="5245989"/>
              <a:ext cx="109347" cy="187452"/>
            </a:xfrm>
            <a:prstGeom prst="roundRect">
              <a:avLst>
                <a:gd name="adj" fmla="val 42857"/>
              </a:avLst>
            </a:prstGeom>
            <a:solidFill>
              <a:schemeClr val="accent1"/>
            </a:solidFill>
            <a:ln w="13335">
              <a:solidFill>
                <a:schemeClr val="accent1"/>
              </a:solidFill>
            </a:ln>
          </p:spPr>
        </p:sp>
      </p:grpSp>
      <p:grpSp>
        <p:nvGrpSpPr>
          <p:cNvPr id="245" name="!!participant-76"/>
          <p:cNvGrpSpPr/>
          <p:nvPr/>
        </p:nvGrpSpPr>
        <p:grpSpPr>
          <a:xfrm>
            <a:off x="8205406" y="5113211"/>
            <a:ext cx="109347" cy="320230"/>
            <a:chOff x="8205406" y="5113211"/>
            <a:chExt cx="109347" cy="320230"/>
          </a:xfrm>
        </p:grpSpPr>
        <p:sp>
          <p:nvSpPr>
            <p:cNvPr id="243" name="Ellipse 243"/>
            <p:cNvSpPr/>
            <p:nvPr/>
          </p:nvSpPr>
          <p:spPr>
            <a:xfrm>
              <a:off x="8213217" y="5113211"/>
              <a:ext cx="93726" cy="93726"/>
            </a:xfrm>
            <a:prstGeom prst="ellipse">
              <a:avLst/>
            </a:prstGeom>
            <a:solidFill>
              <a:schemeClr val="accent1"/>
            </a:solidFill>
            <a:ln w="13335">
              <a:solidFill>
                <a:schemeClr val="accent1"/>
              </a:solidFill>
            </a:ln>
          </p:spPr>
        </p:sp>
        <p:sp>
          <p:nvSpPr>
            <p:cNvPr id="244" name="Rectangle 244"/>
            <p:cNvSpPr/>
            <p:nvPr/>
          </p:nvSpPr>
          <p:spPr>
            <a:xfrm>
              <a:off x="8205406" y="5245989"/>
              <a:ext cx="109347" cy="187452"/>
            </a:xfrm>
            <a:prstGeom prst="roundRect">
              <a:avLst>
                <a:gd name="adj" fmla="val 42857"/>
              </a:avLst>
            </a:prstGeom>
            <a:solidFill>
              <a:schemeClr val="accent1"/>
            </a:solidFill>
            <a:ln w="13335">
              <a:solidFill>
                <a:schemeClr val="accent1"/>
              </a:solidFill>
            </a:ln>
          </p:spPr>
        </p:sp>
      </p:grpSp>
      <p:grpSp>
        <p:nvGrpSpPr>
          <p:cNvPr id="248" name="!!participant-77"/>
          <p:cNvGrpSpPr/>
          <p:nvPr/>
        </p:nvGrpSpPr>
        <p:grpSpPr>
          <a:xfrm>
            <a:off x="8672132" y="5113211"/>
            <a:ext cx="109347" cy="320230"/>
            <a:chOff x="8672132" y="5113211"/>
            <a:chExt cx="109347" cy="320230"/>
          </a:xfrm>
        </p:grpSpPr>
        <p:sp>
          <p:nvSpPr>
            <p:cNvPr id="246" name="Ellipse 246"/>
            <p:cNvSpPr/>
            <p:nvPr/>
          </p:nvSpPr>
          <p:spPr>
            <a:xfrm>
              <a:off x="8679942" y="5113211"/>
              <a:ext cx="93726" cy="93726"/>
            </a:xfrm>
            <a:prstGeom prst="ellipse">
              <a:avLst/>
            </a:prstGeom>
            <a:solidFill>
              <a:schemeClr val="accent1"/>
            </a:solidFill>
            <a:ln w="13335">
              <a:solidFill>
                <a:schemeClr val="accent1"/>
              </a:solidFill>
            </a:ln>
          </p:spPr>
        </p:sp>
        <p:sp>
          <p:nvSpPr>
            <p:cNvPr id="247" name="Rectangle 247"/>
            <p:cNvSpPr/>
            <p:nvPr/>
          </p:nvSpPr>
          <p:spPr>
            <a:xfrm>
              <a:off x="8672132" y="5245989"/>
              <a:ext cx="109347" cy="187452"/>
            </a:xfrm>
            <a:prstGeom prst="roundRect">
              <a:avLst>
                <a:gd name="adj" fmla="val 42857"/>
              </a:avLst>
            </a:prstGeom>
            <a:solidFill>
              <a:schemeClr val="accent1"/>
            </a:solidFill>
            <a:ln w="13335">
              <a:solidFill>
                <a:schemeClr val="accent1"/>
              </a:solidFill>
            </a:ln>
          </p:spPr>
        </p:sp>
      </p:grpSp>
      <p:grpSp>
        <p:nvGrpSpPr>
          <p:cNvPr id="251" name="!!participant-78"/>
          <p:cNvGrpSpPr/>
          <p:nvPr/>
        </p:nvGrpSpPr>
        <p:grpSpPr>
          <a:xfrm>
            <a:off x="9138856" y="5113211"/>
            <a:ext cx="109347" cy="320230"/>
            <a:chOff x="9138856" y="5113211"/>
            <a:chExt cx="109347" cy="320230"/>
          </a:xfrm>
        </p:grpSpPr>
        <p:sp>
          <p:nvSpPr>
            <p:cNvPr id="249" name="Ellipse 249"/>
            <p:cNvSpPr/>
            <p:nvPr/>
          </p:nvSpPr>
          <p:spPr>
            <a:xfrm>
              <a:off x="9146667" y="5113211"/>
              <a:ext cx="93726" cy="93726"/>
            </a:xfrm>
            <a:prstGeom prst="ellipse">
              <a:avLst/>
            </a:prstGeom>
            <a:solidFill>
              <a:schemeClr val="accent1"/>
            </a:solidFill>
            <a:ln w="13335">
              <a:solidFill>
                <a:schemeClr val="accent1"/>
              </a:solidFill>
            </a:ln>
          </p:spPr>
        </p:sp>
        <p:sp>
          <p:nvSpPr>
            <p:cNvPr id="250" name="Rectangle 250"/>
            <p:cNvSpPr/>
            <p:nvPr/>
          </p:nvSpPr>
          <p:spPr>
            <a:xfrm>
              <a:off x="9138856" y="5245989"/>
              <a:ext cx="109347" cy="187452"/>
            </a:xfrm>
            <a:prstGeom prst="roundRect">
              <a:avLst>
                <a:gd name="adj" fmla="val 42857"/>
              </a:avLst>
            </a:prstGeom>
            <a:solidFill>
              <a:schemeClr val="accent1"/>
            </a:solidFill>
            <a:ln w="13335">
              <a:solidFill>
                <a:schemeClr val="accent1"/>
              </a:solidFill>
            </a:ln>
          </p:spPr>
        </p:sp>
      </p:grpSp>
      <p:grpSp>
        <p:nvGrpSpPr>
          <p:cNvPr id="254" name="!!participant-79"/>
          <p:cNvGrpSpPr/>
          <p:nvPr/>
        </p:nvGrpSpPr>
        <p:grpSpPr>
          <a:xfrm>
            <a:off x="9605582" y="5113211"/>
            <a:ext cx="109347" cy="320230"/>
            <a:chOff x="9605582" y="5113211"/>
            <a:chExt cx="109347" cy="320230"/>
          </a:xfrm>
        </p:grpSpPr>
        <p:sp>
          <p:nvSpPr>
            <p:cNvPr id="252" name="Ellipse 252"/>
            <p:cNvSpPr/>
            <p:nvPr/>
          </p:nvSpPr>
          <p:spPr>
            <a:xfrm>
              <a:off x="9613392" y="5113211"/>
              <a:ext cx="93726" cy="93726"/>
            </a:xfrm>
            <a:prstGeom prst="ellipse">
              <a:avLst/>
            </a:prstGeom>
            <a:solidFill>
              <a:schemeClr val="accent1"/>
            </a:solidFill>
            <a:ln w="13335">
              <a:solidFill>
                <a:schemeClr val="accent1"/>
              </a:solidFill>
            </a:ln>
          </p:spPr>
        </p:sp>
        <p:sp>
          <p:nvSpPr>
            <p:cNvPr id="253" name="Rectangle 253"/>
            <p:cNvSpPr/>
            <p:nvPr/>
          </p:nvSpPr>
          <p:spPr>
            <a:xfrm>
              <a:off x="9605582" y="5245989"/>
              <a:ext cx="109347" cy="187452"/>
            </a:xfrm>
            <a:prstGeom prst="roundRect">
              <a:avLst>
                <a:gd name="adj" fmla="val 42857"/>
              </a:avLst>
            </a:prstGeom>
            <a:solidFill>
              <a:schemeClr val="accent1"/>
            </a:solidFill>
            <a:ln w="13335">
              <a:solidFill>
                <a:schemeClr val="accent1"/>
              </a:solidFill>
            </a:ln>
          </p:spPr>
        </p:sp>
      </p:grpSp>
      <p:grpSp>
        <p:nvGrpSpPr>
          <p:cNvPr id="256" name="scene-conclusion"/>
          <p:cNvGrpSpPr/>
          <p:nvPr/>
        </p:nvGrpSpPr>
        <p:grpSpPr>
          <a:xfrm>
            <a:off x="3847657" y="5715000"/>
            <a:ext cx="4496685" cy="352044"/>
            <a:chOff x="3847657" y="5715000"/>
            <a:chExt cx="4496685" cy="352044"/>
          </a:xfrm>
        </p:grpSpPr>
        <p:sp>
          <p:nvSpPr>
            <p:cNvPr id="255" name="TextBox 255"/>
            <p:cNvSpPr txBox="1"/>
            <p:nvPr/>
          </p:nvSpPr>
          <p:spPr>
            <a:xfrm>
              <a:off x="3847657" y="5715000"/>
              <a:ext cx="449668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GB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The same participants will remain in view.</a:t>
              </a:r>
            </a:p>
          </p:txBody>
        </p:sp>
      </p:grpSp>
      <p:sp>
        <p:nvSpPr>
          <p:cNvPr id="257" name="TextBox 257"/>
          <p:cNvSpPr txBox="1"/>
          <p:nvPr/>
        </p:nvSpPr>
        <p:spPr>
          <a:xfrm>
            <a:off x="603504" y="6467475"/>
            <a:ext cx="6294349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GB" sz="120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Lim et al. 2024 · Figure 1 and Table 2 · Each participant symbol represents one person.</a:t>
            </a:r>
          </a:p>
        </p:txBody>
      </p:sp>
    </p:spTree>
  </p:cSld>
  <p:clrMapOvr>
    <a:masterClrMapping/>
  </p:clrMapOvr>
  <p:transition p14:dur="550">
    <p:fade/>
  </p:transition>
</p:sld>
</file>

<file path=ppt/slides/slide9.xml><?xml version="1.0" encoding="utf-8"?>
<p:sld xmlns:a="http://schemas.openxmlformats.org/drawingml/2006/main" xmlns:mc="http://schemas.openxmlformats.org/markup-compatibility/2006" xmlns:p="http://schemas.openxmlformats.org/presentationml/2006/main" xmlns:p14="http://schemas.microsoft.com/office/powerpoint/2010/main" xmlns:p159="http://schemas.microsoft.com/office/powerpoint/2015/09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chapter-chrome"/>
          <p:cNvGrpSpPr/>
          <p:nvPr/>
        </p:nvGrpSpPr>
        <p:grpSpPr>
          <a:xfrm>
            <a:off x="602742" y="301625"/>
            <a:ext cx="10985754" cy="264033"/>
            <a:chOff x="602742" y="301625"/>
            <a:chExt cx="10985754" cy="264033"/>
          </a:xfrm>
        </p:grpSpPr>
        <p:sp>
          <p:nvSpPr>
            <p:cNvPr id="2" name="TextBox 2"/>
            <p:cNvSpPr txBox="1"/>
            <p:nvPr/>
          </p:nvSpPr>
          <p:spPr>
            <a:xfrm>
              <a:off x="602742" y="301625"/>
              <a:ext cx="236101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GB" sz="1350" b="1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02 / MISSING OUTCOMES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11082270" y="314325"/>
              <a:ext cx="50622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GB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09 / 17</a:t>
              </a:r>
            </a:p>
          </p:txBody>
        </p:sp>
      </p:grpSp>
      <p:grpSp>
        <p:nvGrpSpPr>
          <p:cNvPr id="6" name="!!cohort-number"/>
          <p:cNvGrpSpPr/>
          <p:nvPr/>
        </p:nvGrpSpPr>
        <p:grpSpPr>
          <a:xfrm>
            <a:off x="590550" y="1549400"/>
            <a:ext cx="2553922" cy="3219450"/>
            <a:chOff x="590550" y="1549400"/>
            <a:chExt cx="2553922" cy="3219450"/>
          </a:xfrm>
        </p:grpSpPr>
        <p:sp>
          <p:nvSpPr>
            <p:cNvPr id="5" name="TextBox 5"/>
            <p:cNvSpPr txBox="1"/>
            <p:nvPr/>
          </p:nvSpPr>
          <p:spPr>
            <a:xfrm>
              <a:off x="590550" y="1549400"/>
              <a:ext cx="2553922" cy="32194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GB" sz="16800" b="1" dirty="0">
                  <a:gradFill>
                    <a:gsLst>
                      <a:gs pos="0">
                        <a:schemeClr val="accent3"/>
                      </a:gs>
                      <a:gs pos="100000">
                        <a:schemeClr val="accent2"/>
                      </a:gs>
                    </a:gsLst>
                    <a:lin ang="0" scaled="1"/>
                  </a:gradFill>
                  <a:latin typeface="+mn-lt"/>
                  <a:ea typeface="+mn-ea"/>
                  <a:cs typeface="+mn-cs"/>
                </a:rPr>
                <a:t>59</a:t>
              </a:r>
            </a:p>
          </p:txBody>
        </p:sp>
      </p:grpSp>
      <p:grpSp>
        <p:nvGrpSpPr>
          <p:cNvPr id="8" name="!!cohort-label"/>
          <p:cNvGrpSpPr/>
          <p:nvPr/>
        </p:nvGrpSpPr>
        <p:grpSpPr>
          <a:xfrm>
            <a:off x="594360" y="4584700"/>
            <a:ext cx="3164434" cy="1043940"/>
            <a:chOff x="594360" y="4584700"/>
            <a:chExt cx="3164434" cy="1043940"/>
          </a:xfrm>
        </p:grpSpPr>
        <p:sp>
          <p:nvSpPr>
            <p:cNvPr id="7" name="TextBox 7"/>
            <p:cNvSpPr txBox="1"/>
            <p:nvPr/>
          </p:nvSpPr>
          <p:spPr>
            <a:xfrm>
              <a:off x="594360" y="4584700"/>
              <a:ext cx="3164434" cy="10439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3600"/>
                </a:lnSpc>
              </a:pPr>
              <a:r>
                <a:rPr lang="en-GB" sz="30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weights available</a:t>
              </a:r>
              <a:br>
                <a:rPr lang="en-GB" sz="30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</a:br>
              <a:r>
                <a:rPr lang="en-GB" sz="30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at 6 months</a:t>
              </a:r>
            </a:p>
          </p:txBody>
        </p:sp>
      </p:grpSp>
      <p:grpSp>
        <p:nvGrpSpPr>
          <p:cNvPr id="11" name="!!hkd-label"/>
          <p:cNvGrpSpPr/>
          <p:nvPr/>
        </p:nvGrpSpPr>
        <p:grpSpPr>
          <a:xfrm>
            <a:off x="4905756" y="1514475"/>
            <a:ext cx="6647688" cy="352044"/>
            <a:chOff x="4905756" y="1514475"/>
            <a:chExt cx="6647688" cy="352044"/>
          </a:xfrm>
        </p:grpSpPr>
        <p:sp>
          <p:nvSpPr>
            <p:cNvPr id="9" name="TextBox 9"/>
            <p:cNvSpPr txBox="1"/>
            <p:nvPr/>
          </p:nvSpPr>
          <p:spPr>
            <a:xfrm>
              <a:off x="4905756" y="1514475"/>
              <a:ext cx="57300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GB" sz="180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HKD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9649211" y="1514475"/>
              <a:ext cx="190423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GB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29 / 41 measured</a:t>
              </a:r>
            </a:p>
          </p:txBody>
        </p:sp>
      </p:grpSp>
      <p:grpSp>
        <p:nvGrpSpPr>
          <p:cNvPr id="14" name="!!erd-label"/>
          <p:cNvGrpSpPr/>
          <p:nvPr/>
        </p:nvGrpSpPr>
        <p:grpSpPr>
          <a:xfrm>
            <a:off x="4905756" y="3629025"/>
            <a:ext cx="6647688" cy="352044"/>
            <a:chOff x="4905756" y="3629025"/>
            <a:chExt cx="6647688" cy="352044"/>
          </a:xfrm>
        </p:grpSpPr>
        <p:sp>
          <p:nvSpPr>
            <p:cNvPr id="12" name="TextBox 12"/>
            <p:cNvSpPr txBox="1"/>
            <p:nvPr/>
          </p:nvSpPr>
          <p:spPr>
            <a:xfrm>
              <a:off x="4905756" y="3629025"/>
              <a:ext cx="55887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GB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ERD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9649211" y="3629025"/>
              <a:ext cx="190423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GB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30 / 39 measured</a:t>
              </a:r>
            </a:p>
          </p:txBody>
        </p:sp>
      </p:grpSp>
      <p:grpSp>
        <p:nvGrpSpPr>
          <p:cNvPr id="17" name="!!participant-00"/>
          <p:cNvGrpSpPr/>
          <p:nvPr/>
        </p:nvGrpSpPr>
        <p:grpSpPr>
          <a:xfrm>
            <a:off x="4938332" y="2008061"/>
            <a:ext cx="109347" cy="320230"/>
            <a:chOff x="4938332" y="2008061"/>
            <a:chExt cx="109347" cy="320230"/>
          </a:xfrm>
        </p:grpSpPr>
        <p:sp>
          <p:nvSpPr>
            <p:cNvPr id="15" name="Ellipse 15"/>
            <p:cNvSpPr/>
            <p:nvPr/>
          </p:nvSpPr>
          <p:spPr>
            <a:xfrm>
              <a:off x="4946142" y="2008061"/>
              <a:ext cx="93726" cy="93726"/>
            </a:xfrm>
            <a:prstGeom prst="ellipse">
              <a:avLst/>
            </a:prstGeom>
            <a:solidFill>
              <a:schemeClr val="accent3"/>
            </a:solidFill>
            <a:ln w="13335">
              <a:solidFill>
                <a:schemeClr val="accent3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4938332" y="2140839"/>
              <a:ext cx="109347" cy="187452"/>
            </a:xfrm>
            <a:prstGeom prst="roundRect">
              <a:avLst>
                <a:gd name="adj" fmla="val 42857"/>
              </a:avLst>
            </a:prstGeom>
            <a:solidFill>
              <a:schemeClr val="accent3"/>
            </a:solidFill>
            <a:ln w="13335">
              <a:solidFill>
                <a:schemeClr val="accent3"/>
              </a:solidFill>
            </a:ln>
          </p:spPr>
        </p:sp>
      </p:grpSp>
      <p:grpSp>
        <p:nvGrpSpPr>
          <p:cNvPr id="20" name="!!participant-01"/>
          <p:cNvGrpSpPr/>
          <p:nvPr/>
        </p:nvGrpSpPr>
        <p:grpSpPr>
          <a:xfrm>
            <a:off x="5405056" y="2008061"/>
            <a:ext cx="109347" cy="320230"/>
            <a:chOff x="5405056" y="2008061"/>
            <a:chExt cx="109347" cy="320230"/>
          </a:xfrm>
        </p:grpSpPr>
        <p:sp>
          <p:nvSpPr>
            <p:cNvPr id="18" name="Ellipse 18"/>
            <p:cNvSpPr/>
            <p:nvPr/>
          </p:nvSpPr>
          <p:spPr>
            <a:xfrm>
              <a:off x="5412867" y="2008061"/>
              <a:ext cx="93726" cy="93726"/>
            </a:xfrm>
            <a:prstGeom prst="ellipse">
              <a:avLst/>
            </a:prstGeom>
            <a:solidFill>
              <a:schemeClr val="accent3"/>
            </a:solidFill>
            <a:ln w="13335">
              <a:solidFill>
                <a:schemeClr val="accent3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5405056" y="2140839"/>
              <a:ext cx="109347" cy="187452"/>
            </a:xfrm>
            <a:prstGeom prst="roundRect">
              <a:avLst>
                <a:gd name="adj" fmla="val 42857"/>
              </a:avLst>
            </a:prstGeom>
            <a:solidFill>
              <a:schemeClr val="accent3"/>
            </a:solidFill>
            <a:ln w="13335">
              <a:solidFill>
                <a:schemeClr val="accent3"/>
              </a:solidFill>
            </a:ln>
          </p:spPr>
        </p:sp>
      </p:grpSp>
      <p:grpSp>
        <p:nvGrpSpPr>
          <p:cNvPr id="23" name="!!participant-02"/>
          <p:cNvGrpSpPr/>
          <p:nvPr/>
        </p:nvGrpSpPr>
        <p:grpSpPr>
          <a:xfrm>
            <a:off x="5871782" y="2008061"/>
            <a:ext cx="109347" cy="320230"/>
            <a:chOff x="5871782" y="2008061"/>
            <a:chExt cx="109347" cy="320230"/>
          </a:xfrm>
        </p:grpSpPr>
        <p:sp>
          <p:nvSpPr>
            <p:cNvPr id="21" name="Ellipse 21"/>
            <p:cNvSpPr/>
            <p:nvPr/>
          </p:nvSpPr>
          <p:spPr>
            <a:xfrm>
              <a:off x="5879592" y="2008061"/>
              <a:ext cx="93726" cy="93726"/>
            </a:xfrm>
            <a:prstGeom prst="ellipse">
              <a:avLst/>
            </a:prstGeom>
            <a:solidFill>
              <a:schemeClr val="accent3"/>
            </a:solidFill>
            <a:ln w="13335">
              <a:solidFill>
                <a:schemeClr val="accent3"/>
              </a:solidFill>
            </a:ln>
          </p:spPr>
        </p:sp>
        <p:sp>
          <p:nvSpPr>
            <p:cNvPr id="22" name="Rectangle 22"/>
            <p:cNvSpPr/>
            <p:nvPr/>
          </p:nvSpPr>
          <p:spPr>
            <a:xfrm>
              <a:off x="5871782" y="2140839"/>
              <a:ext cx="109347" cy="187452"/>
            </a:xfrm>
            <a:prstGeom prst="roundRect">
              <a:avLst>
                <a:gd name="adj" fmla="val 42857"/>
              </a:avLst>
            </a:prstGeom>
            <a:solidFill>
              <a:schemeClr val="accent3"/>
            </a:solidFill>
            <a:ln w="13335">
              <a:solidFill>
                <a:schemeClr val="accent3"/>
              </a:solidFill>
            </a:ln>
          </p:spPr>
        </p:sp>
      </p:grpSp>
      <p:grpSp>
        <p:nvGrpSpPr>
          <p:cNvPr id="26" name="!!participant-03"/>
          <p:cNvGrpSpPr/>
          <p:nvPr/>
        </p:nvGrpSpPr>
        <p:grpSpPr>
          <a:xfrm>
            <a:off x="6338506" y="2008061"/>
            <a:ext cx="109347" cy="320230"/>
            <a:chOff x="6338506" y="2008061"/>
            <a:chExt cx="109347" cy="320230"/>
          </a:xfrm>
        </p:grpSpPr>
        <p:sp>
          <p:nvSpPr>
            <p:cNvPr id="24" name="Ellipse 24"/>
            <p:cNvSpPr/>
            <p:nvPr/>
          </p:nvSpPr>
          <p:spPr>
            <a:xfrm>
              <a:off x="6346317" y="2008061"/>
              <a:ext cx="93726" cy="93726"/>
            </a:xfrm>
            <a:prstGeom prst="ellipse">
              <a:avLst/>
            </a:prstGeom>
            <a:solidFill>
              <a:schemeClr val="accent3"/>
            </a:solidFill>
            <a:ln w="13335">
              <a:solidFill>
                <a:schemeClr val="accent3"/>
              </a:solidFill>
            </a:ln>
          </p:spPr>
        </p:sp>
        <p:sp>
          <p:nvSpPr>
            <p:cNvPr id="25" name="Rectangle 25"/>
            <p:cNvSpPr/>
            <p:nvPr/>
          </p:nvSpPr>
          <p:spPr>
            <a:xfrm>
              <a:off x="6338506" y="2140839"/>
              <a:ext cx="109347" cy="187452"/>
            </a:xfrm>
            <a:prstGeom prst="roundRect">
              <a:avLst>
                <a:gd name="adj" fmla="val 42857"/>
              </a:avLst>
            </a:prstGeom>
            <a:solidFill>
              <a:schemeClr val="accent3"/>
            </a:solidFill>
            <a:ln w="13335">
              <a:solidFill>
                <a:schemeClr val="accent3"/>
              </a:solidFill>
            </a:ln>
          </p:spPr>
        </p:sp>
      </p:grpSp>
      <p:grpSp>
        <p:nvGrpSpPr>
          <p:cNvPr id="29" name="!!participant-04"/>
          <p:cNvGrpSpPr/>
          <p:nvPr/>
        </p:nvGrpSpPr>
        <p:grpSpPr>
          <a:xfrm>
            <a:off x="6805232" y="2008061"/>
            <a:ext cx="109347" cy="320230"/>
            <a:chOff x="6805232" y="2008061"/>
            <a:chExt cx="109347" cy="320230"/>
          </a:xfrm>
        </p:grpSpPr>
        <p:sp>
          <p:nvSpPr>
            <p:cNvPr id="27" name="Ellipse 27"/>
            <p:cNvSpPr/>
            <p:nvPr/>
          </p:nvSpPr>
          <p:spPr>
            <a:xfrm>
              <a:off x="6813042" y="2008061"/>
              <a:ext cx="93726" cy="93726"/>
            </a:xfrm>
            <a:prstGeom prst="ellipse">
              <a:avLst/>
            </a:prstGeom>
            <a:solidFill>
              <a:schemeClr val="accent3"/>
            </a:solidFill>
            <a:ln w="13335">
              <a:solidFill>
                <a:schemeClr val="accent3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6805232" y="2140839"/>
              <a:ext cx="109347" cy="187452"/>
            </a:xfrm>
            <a:prstGeom prst="roundRect">
              <a:avLst>
                <a:gd name="adj" fmla="val 42857"/>
              </a:avLst>
            </a:prstGeom>
            <a:solidFill>
              <a:schemeClr val="accent3"/>
            </a:solidFill>
            <a:ln w="13335">
              <a:solidFill>
                <a:schemeClr val="accent3"/>
              </a:solidFill>
            </a:ln>
          </p:spPr>
        </p:sp>
      </p:grpSp>
      <p:grpSp>
        <p:nvGrpSpPr>
          <p:cNvPr id="32" name="!!participant-05"/>
          <p:cNvGrpSpPr/>
          <p:nvPr/>
        </p:nvGrpSpPr>
        <p:grpSpPr>
          <a:xfrm>
            <a:off x="7271956" y="2008061"/>
            <a:ext cx="109347" cy="320230"/>
            <a:chOff x="7271956" y="2008061"/>
            <a:chExt cx="109347" cy="320230"/>
          </a:xfrm>
        </p:grpSpPr>
        <p:sp>
          <p:nvSpPr>
            <p:cNvPr id="30" name="Ellipse 30"/>
            <p:cNvSpPr/>
            <p:nvPr/>
          </p:nvSpPr>
          <p:spPr>
            <a:xfrm>
              <a:off x="7279767" y="2008061"/>
              <a:ext cx="93726" cy="93726"/>
            </a:xfrm>
            <a:prstGeom prst="ellipse">
              <a:avLst/>
            </a:prstGeom>
            <a:solidFill>
              <a:schemeClr val="accent3"/>
            </a:solidFill>
            <a:ln w="13335">
              <a:solidFill>
                <a:schemeClr val="accent3"/>
              </a:solidFill>
            </a:ln>
          </p:spPr>
        </p:sp>
        <p:sp>
          <p:nvSpPr>
            <p:cNvPr id="31" name="Rectangle 31"/>
            <p:cNvSpPr/>
            <p:nvPr/>
          </p:nvSpPr>
          <p:spPr>
            <a:xfrm>
              <a:off x="7271956" y="2140839"/>
              <a:ext cx="109347" cy="187452"/>
            </a:xfrm>
            <a:prstGeom prst="roundRect">
              <a:avLst>
                <a:gd name="adj" fmla="val 42857"/>
              </a:avLst>
            </a:prstGeom>
            <a:solidFill>
              <a:schemeClr val="accent3"/>
            </a:solidFill>
            <a:ln w="13335">
              <a:solidFill>
                <a:schemeClr val="accent3"/>
              </a:solidFill>
            </a:ln>
          </p:spPr>
        </p:sp>
      </p:grpSp>
      <p:grpSp>
        <p:nvGrpSpPr>
          <p:cNvPr id="35" name="!!participant-06"/>
          <p:cNvGrpSpPr/>
          <p:nvPr/>
        </p:nvGrpSpPr>
        <p:grpSpPr>
          <a:xfrm>
            <a:off x="7738682" y="2008061"/>
            <a:ext cx="109347" cy="320230"/>
            <a:chOff x="7738682" y="2008061"/>
            <a:chExt cx="109347" cy="320230"/>
          </a:xfrm>
        </p:grpSpPr>
        <p:sp>
          <p:nvSpPr>
            <p:cNvPr id="33" name="Ellipse 33"/>
            <p:cNvSpPr/>
            <p:nvPr/>
          </p:nvSpPr>
          <p:spPr>
            <a:xfrm>
              <a:off x="7746492" y="2008061"/>
              <a:ext cx="93726" cy="93726"/>
            </a:xfrm>
            <a:prstGeom prst="ellipse">
              <a:avLst/>
            </a:prstGeom>
            <a:solidFill>
              <a:schemeClr val="accent3"/>
            </a:solidFill>
            <a:ln w="13335">
              <a:solidFill>
                <a:schemeClr val="accent3"/>
              </a:solidFill>
            </a:ln>
          </p:spPr>
        </p:sp>
        <p:sp>
          <p:nvSpPr>
            <p:cNvPr id="34" name="Rectangle 34"/>
            <p:cNvSpPr/>
            <p:nvPr/>
          </p:nvSpPr>
          <p:spPr>
            <a:xfrm>
              <a:off x="7738682" y="2140839"/>
              <a:ext cx="109347" cy="187452"/>
            </a:xfrm>
            <a:prstGeom prst="roundRect">
              <a:avLst>
                <a:gd name="adj" fmla="val 42857"/>
              </a:avLst>
            </a:prstGeom>
            <a:solidFill>
              <a:schemeClr val="accent3"/>
            </a:solidFill>
            <a:ln w="13335">
              <a:solidFill>
                <a:schemeClr val="accent3"/>
              </a:solidFill>
            </a:ln>
          </p:spPr>
        </p:sp>
      </p:grpSp>
      <p:grpSp>
        <p:nvGrpSpPr>
          <p:cNvPr id="38" name="!!participant-07"/>
          <p:cNvGrpSpPr/>
          <p:nvPr/>
        </p:nvGrpSpPr>
        <p:grpSpPr>
          <a:xfrm>
            <a:off x="8205406" y="2008061"/>
            <a:ext cx="109347" cy="320230"/>
            <a:chOff x="8205406" y="2008061"/>
            <a:chExt cx="109347" cy="320230"/>
          </a:xfrm>
        </p:grpSpPr>
        <p:sp>
          <p:nvSpPr>
            <p:cNvPr id="36" name="Ellipse 36"/>
            <p:cNvSpPr/>
            <p:nvPr/>
          </p:nvSpPr>
          <p:spPr>
            <a:xfrm>
              <a:off x="8213217" y="2008061"/>
              <a:ext cx="93726" cy="93726"/>
            </a:xfrm>
            <a:prstGeom prst="ellipse">
              <a:avLst/>
            </a:prstGeom>
            <a:solidFill>
              <a:schemeClr val="accent3"/>
            </a:solidFill>
            <a:ln w="13335">
              <a:solidFill>
                <a:schemeClr val="accent3"/>
              </a:solidFill>
            </a:ln>
          </p:spPr>
        </p:sp>
        <p:sp>
          <p:nvSpPr>
            <p:cNvPr id="37" name="Rectangle 37"/>
            <p:cNvSpPr/>
            <p:nvPr/>
          </p:nvSpPr>
          <p:spPr>
            <a:xfrm>
              <a:off x="8205406" y="2140839"/>
              <a:ext cx="109347" cy="187452"/>
            </a:xfrm>
            <a:prstGeom prst="roundRect">
              <a:avLst>
                <a:gd name="adj" fmla="val 42857"/>
              </a:avLst>
            </a:prstGeom>
            <a:solidFill>
              <a:schemeClr val="accent3"/>
            </a:solidFill>
            <a:ln w="13335">
              <a:solidFill>
                <a:schemeClr val="accent3"/>
              </a:solidFill>
            </a:ln>
          </p:spPr>
        </p:sp>
      </p:grpSp>
      <p:grpSp>
        <p:nvGrpSpPr>
          <p:cNvPr id="41" name="!!participant-08"/>
          <p:cNvGrpSpPr/>
          <p:nvPr/>
        </p:nvGrpSpPr>
        <p:grpSpPr>
          <a:xfrm>
            <a:off x="8672132" y="2008061"/>
            <a:ext cx="109347" cy="320230"/>
            <a:chOff x="8672132" y="2008061"/>
            <a:chExt cx="109347" cy="320230"/>
          </a:xfrm>
        </p:grpSpPr>
        <p:sp>
          <p:nvSpPr>
            <p:cNvPr id="39" name="Ellipse 39"/>
            <p:cNvSpPr/>
            <p:nvPr/>
          </p:nvSpPr>
          <p:spPr>
            <a:xfrm>
              <a:off x="8679942" y="2008061"/>
              <a:ext cx="93726" cy="93726"/>
            </a:xfrm>
            <a:prstGeom prst="ellipse">
              <a:avLst/>
            </a:prstGeom>
            <a:solidFill>
              <a:schemeClr val="accent3"/>
            </a:solidFill>
            <a:ln w="13335">
              <a:solidFill>
                <a:schemeClr val="accent3"/>
              </a:solidFill>
            </a:ln>
          </p:spPr>
        </p:sp>
        <p:sp>
          <p:nvSpPr>
            <p:cNvPr id="40" name="Rectangle 40"/>
            <p:cNvSpPr/>
            <p:nvPr/>
          </p:nvSpPr>
          <p:spPr>
            <a:xfrm>
              <a:off x="8672132" y="2140839"/>
              <a:ext cx="109347" cy="187452"/>
            </a:xfrm>
            <a:prstGeom prst="roundRect">
              <a:avLst>
                <a:gd name="adj" fmla="val 42857"/>
              </a:avLst>
            </a:prstGeom>
            <a:solidFill>
              <a:schemeClr val="accent3"/>
            </a:solidFill>
            <a:ln w="13335">
              <a:solidFill>
                <a:schemeClr val="accent3"/>
              </a:solidFill>
            </a:ln>
          </p:spPr>
        </p:sp>
      </p:grpSp>
      <p:grpSp>
        <p:nvGrpSpPr>
          <p:cNvPr id="44" name="!!participant-09"/>
          <p:cNvGrpSpPr/>
          <p:nvPr/>
        </p:nvGrpSpPr>
        <p:grpSpPr>
          <a:xfrm>
            <a:off x="9138856" y="2008061"/>
            <a:ext cx="109347" cy="320230"/>
            <a:chOff x="9138856" y="2008061"/>
            <a:chExt cx="109347" cy="320230"/>
          </a:xfrm>
        </p:grpSpPr>
        <p:sp>
          <p:nvSpPr>
            <p:cNvPr id="42" name="Ellipse 42"/>
            <p:cNvSpPr/>
            <p:nvPr/>
          </p:nvSpPr>
          <p:spPr>
            <a:xfrm>
              <a:off x="9146667" y="2008061"/>
              <a:ext cx="93726" cy="93726"/>
            </a:xfrm>
            <a:prstGeom prst="ellipse">
              <a:avLst/>
            </a:prstGeom>
            <a:solidFill>
              <a:schemeClr val="accent3"/>
            </a:solidFill>
            <a:ln w="13335">
              <a:solidFill>
                <a:schemeClr val="accent3"/>
              </a:solidFill>
            </a:ln>
          </p:spPr>
        </p:sp>
        <p:sp>
          <p:nvSpPr>
            <p:cNvPr id="43" name="Rectangle 43"/>
            <p:cNvSpPr/>
            <p:nvPr/>
          </p:nvSpPr>
          <p:spPr>
            <a:xfrm>
              <a:off x="9138856" y="2140839"/>
              <a:ext cx="109347" cy="187452"/>
            </a:xfrm>
            <a:prstGeom prst="roundRect">
              <a:avLst>
                <a:gd name="adj" fmla="val 42857"/>
              </a:avLst>
            </a:prstGeom>
            <a:solidFill>
              <a:schemeClr val="accent3"/>
            </a:solidFill>
            <a:ln w="13335">
              <a:solidFill>
                <a:schemeClr val="accent3"/>
              </a:solidFill>
            </a:ln>
          </p:spPr>
        </p:sp>
      </p:grpSp>
      <p:grpSp>
        <p:nvGrpSpPr>
          <p:cNvPr id="47" name="!!participant-10"/>
          <p:cNvGrpSpPr/>
          <p:nvPr/>
        </p:nvGrpSpPr>
        <p:grpSpPr>
          <a:xfrm>
            <a:off x="9605582" y="2008061"/>
            <a:ext cx="109347" cy="320230"/>
            <a:chOff x="9605582" y="2008061"/>
            <a:chExt cx="109347" cy="320230"/>
          </a:xfrm>
        </p:grpSpPr>
        <p:sp>
          <p:nvSpPr>
            <p:cNvPr id="45" name="Ellipse 45"/>
            <p:cNvSpPr/>
            <p:nvPr/>
          </p:nvSpPr>
          <p:spPr>
            <a:xfrm>
              <a:off x="9613392" y="2008061"/>
              <a:ext cx="93726" cy="93726"/>
            </a:xfrm>
            <a:prstGeom prst="ellipse">
              <a:avLst/>
            </a:prstGeom>
            <a:solidFill>
              <a:schemeClr val="accent3"/>
            </a:solidFill>
            <a:ln w="13335">
              <a:solidFill>
                <a:schemeClr val="accent3"/>
              </a:solidFill>
            </a:ln>
          </p:spPr>
        </p:sp>
        <p:sp>
          <p:nvSpPr>
            <p:cNvPr id="46" name="Rectangle 46"/>
            <p:cNvSpPr/>
            <p:nvPr/>
          </p:nvSpPr>
          <p:spPr>
            <a:xfrm>
              <a:off x="9605582" y="2140839"/>
              <a:ext cx="109347" cy="187452"/>
            </a:xfrm>
            <a:prstGeom prst="roundRect">
              <a:avLst>
                <a:gd name="adj" fmla="val 42857"/>
              </a:avLst>
            </a:prstGeom>
            <a:solidFill>
              <a:schemeClr val="accent3"/>
            </a:solidFill>
            <a:ln w="13335">
              <a:solidFill>
                <a:schemeClr val="accent3"/>
              </a:solidFill>
            </a:ln>
          </p:spPr>
        </p:sp>
      </p:grpSp>
      <p:grpSp>
        <p:nvGrpSpPr>
          <p:cNvPr id="50" name="!!participant-11"/>
          <p:cNvGrpSpPr/>
          <p:nvPr/>
        </p:nvGrpSpPr>
        <p:grpSpPr>
          <a:xfrm>
            <a:off x="10072306" y="2008061"/>
            <a:ext cx="109347" cy="320230"/>
            <a:chOff x="10072306" y="2008061"/>
            <a:chExt cx="109347" cy="320230"/>
          </a:xfrm>
        </p:grpSpPr>
        <p:sp>
          <p:nvSpPr>
            <p:cNvPr id="48" name="Ellipse 48"/>
            <p:cNvSpPr/>
            <p:nvPr/>
          </p:nvSpPr>
          <p:spPr>
            <a:xfrm>
              <a:off x="10080117" y="2008061"/>
              <a:ext cx="93726" cy="93726"/>
            </a:xfrm>
            <a:prstGeom prst="ellipse">
              <a:avLst/>
            </a:prstGeom>
            <a:solidFill>
              <a:schemeClr val="accent3"/>
            </a:solidFill>
            <a:ln w="13335">
              <a:solidFill>
                <a:schemeClr val="accent3"/>
              </a:solidFill>
            </a:ln>
          </p:spPr>
        </p:sp>
        <p:sp>
          <p:nvSpPr>
            <p:cNvPr id="49" name="Rectangle 49"/>
            <p:cNvSpPr/>
            <p:nvPr/>
          </p:nvSpPr>
          <p:spPr>
            <a:xfrm>
              <a:off x="10072306" y="2140839"/>
              <a:ext cx="109347" cy="187452"/>
            </a:xfrm>
            <a:prstGeom prst="roundRect">
              <a:avLst>
                <a:gd name="adj" fmla="val 42857"/>
              </a:avLst>
            </a:prstGeom>
            <a:solidFill>
              <a:schemeClr val="accent3"/>
            </a:solidFill>
            <a:ln w="13335">
              <a:solidFill>
                <a:schemeClr val="accent3"/>
              </a:solidFill>
            </a:ln>
          </p:spPr>
        </p:sp>
      </p:grpSp>
      <p:grpSp>
        <p:nvGrpSpPr>
          <p:cNvPr id="53" name="!!participant-12"/>
          <p:cNvGrpSpPr/>
          <p:nvPr/>
        </p:nvGrpSpPr>
        <p:grpSpPr>
          <a:xfrm>
            <a:off x="10539032" y="2008061"/>
            <a:ext cx="109347" cy="320230"/>
            <a:chOff x="10539032" y="2008061"/>
            <a:chExt cx="109347" cy="320230"/>
          </a:xfrm>
        </p:grpSpPr>
        <p:sp>
          <p:nvSpPr>
            <p:cNvPr id="51" name="Ellipse 51"/>
            <p:cNvSpPr/>
            <p:nvPr/>
          </p:nvSpPr>
          <p:spPr>
            <a:xfrm>
              <a:off x="10546842" y="2008061"/>
              <a:ext cx="93726" cy="93726"/>
            </a:xfrm>
            <a:prstGeom prst="ellipse">
              <a:avLst/>
            </a:prstGeom>
            <a:solidFill>
              <a:schemeClr val="accent3"/>
            </a:solidFill>
            <a:ln w="13335">
              <a:solidFill>
                <a:schemeClr val="accent3"/>
              </a:solidFill>
            </a:ln>
          </p:spPr>
        </p:sp>
        <p:sp>
          <p:nvSpPr>
            <p:cNvPr id="52" name="Rectangle 52"/>
            <p:cNvSpPr/>
            <p:nvPr/>
          </p:nvSpPr>
          <p:spPr>
            <a:xfrm>
              <a:off x="10539032" y="2140839"/>
              <a:ext cx="109347" cy="187452"/>
            </a:xfrm>
            <a:prstGeom prst="roundRect">
              <a:avLst>
                <a:gd name="adj" fmla="val 42857"/>
              </a:avLst>
            </a:prstGeom>
            <a:solidFill>
              <a:schemeClr val="accent3"/>
            </a:solidFill>
            <a:ln w="13335">
              <a:solidFill>
                <a:schemeClr val="accent3"/>
              </a:solidFill>
            </a:ln>
          </p:spPr>
        </p:sp>
      </p:grpSp>
      <p:grpSp>
        <p:nvGrpSpPr>
          <p:cNvPr id="56" name="!!participant-13"/>
          <p:cNvGrpSpPr/>
          <p:nvPr/>
        </p:nvGrpSpPr>
        <p:grpSpPr>
          <a:xfrm>
            <a:off x="11005756" y="2008061"/>
            <a:ext cx="109347" cy="320230"/>
            <a:chOff x="11005756" y="2008061"/>
            <a:chExt cx="109347" cy="320230"/>
          </a:xfrm>
        </p:grpSpPr>
        <p:sp>
          <p:nvSpPr>
            <p:cNvPr id="54" name="Ellipse 54"/>
            <p:cNvSpPr/>
            <p:nvPr/>
          </p:nvSpPr>
          <p:spPr>
            <a:xfrm>
              <a:off x="11013567" y="2008061"/>
              <a:ext cx="93726" cy="93726"/>
            </a:xfrm>
            <a:prstGeom prst="ellipse">
              <a:avLst/>
            </a:prstGeom>
            <a:solidFill>
              <a:schemeClr val="accent3"/>
            </a:solidFill>
            <a:ln w="13335">
              <a:solidFill>
                <a:schemeClr val="accent3"/>
              </a:solidFill>
            </a:ln>
          </p:spPr>
        </p:sp>
        <p:sp>
          <p:nvSpPr>
            <p:cNvPr id="55" name="Rectangle 55"/>
            <p:cNvSpPr/>
            <p:nvPr/>
          </p:nvSpPr>
          <p:spPr>
            <a:xfrm>
              <a:off x="11005756" y="2140839"/>
              <a:ext cx="109347" cy="187452"/>
            </a:xfrm>
            <a:prstGeom prst="roundRect">
              <a:avLst>
                <a:gd name="adj" fmla="val 42857"/>
              </a:avLst>
            </a:prstGeom>
            <a:solidFill>
              <a:schemeClr val="accent3"/>
            </a:solidFill>
            <a:ln w="13335">
              <a:solidFill>
                <a:schemeClr val="accent3"/>
              </a:solidFill>
            </a:ln>
          </p:spPr>
        </p:sp>
      </p:grpSp>
      <p:grpSp>
        <p:nvGrpSpPr>
          <p:cNvPr id="59" name="!!participant-14"/>
          <p:cNvGrpSpPr/>
          <p:nvPr/>
        </p:nvGrpSpPr>
        <p:grpSpPr>
          <a:xfrm>
            <a:off x="4938332" y="2503360"/>
            <a:ext cx="109347" cy="320231"/>
            <a:chOff x="4938332" y="2503360"/>
            <a:chExt cx="109347" cy="320231"/>
          </a:xfrm>
        </p:grpSpPr>
        <p:sp>
          <p:nvSpPr>
            <p:cNvPr id="57" name="Ellipse 57"/>
            <p:cNvSpPr/>
            <p:nvPr/>
          </p:nvSpPr>
          <p:spPr>
            <a:xfrm>
              <a:off x="4946142" y="2503360"/>
              <a:ext cx="93726" cy="93726"/>
            </a:xfrm>
            <a:prstGeom prst="ellipse">
              <a:avLst/>
            </a:prstGeom>
            <a:solidFill>
              <a:schemeClr val="accent3"/>
            </a:solidFill>
            <a:ln w="13335">
              <a:solidFill>
                <a:schemeClr val="accent3"/>
              </a:solidFill>
            </a:ln>
          </p:spPr>
        </p:sp>
        <p:sp>
          <p:nvSpPr>
            <p:cNvPr id="58" name="Rectangle 58"/>
            <p:cNvSpPr/>
            <p:nvPr/>
          </p:nvSpPr>
          <p:spPr>
            <a:xfrm>
              <a:off x="4938332" y="2636139"/>
              <a:ext cx="109347" cy="187452"/>
            </a:xfrm>
            <a:prstGeom prst="roundRect">
              <a:avLst>
                <a:gd name="adj" fmla="val 42857"/>
              </a:avLst>
            </a:prstGeom>
            <a:solidFill>
              <a:schemeClr val="accent3"/>
            </a:solidFill>
            <a:ln w="13335">
              <a:solidFill>
                <a:schemeClr val="accent3"/>
              </a:solidFill>
            </a:ln>
          </p:spPr>
        </p:sp>
      </p:grpSp>
      <p:grpSp>
        <p:nvGrpSpPr>
          <p:cNvPr id="62" name="!!participant-15"/>
          <p:cNvGrpSpPr/>
          <p:nvPr/>
        </p:nvGrpSpPr>
        <p:grpSpPr>
          <a:xfrm>
            <a:off x="5405056" y="2503360"/>
            <a:ext cx="109347" cy="320231"/>
            <a:chOff x="5405056" y="2503360"/>
            <a:chExt cx="109347" cy="320231"/>
          </a:xfrm>
        </p:grpSpPr>
        <p:sp>
          <p:nvSpPr>
            <p:cNvPr id="60" name="Ellipse 60"/>
            <p:cNvSpPr/>
            <p:nvPr/>
          </p:nvSpPr>
          <p:spPr>
            <a:xfrm>
              <a:off x="5412867" y="2503360"/>
              <a:ext cx="93726" cy="93726"/>
            </a:xfrm>
            <a:prstGeom prst="ellipse">
              <a:avLst/>
            </a:prstGeom>
            <a:solidFill>
              <a:schemeClr val="accent3"/>
            </a:solidFill>
            <a:ln w="13335">
              <a:solidFill>
                <a:schemeClr val="accent3"/>
              </a:solidFill>
            </a:ln>
          </p:spPr>
        </p:sp>
        <p:sp>
          <p:nvSpPr>
            <p:cNvPr id="61" name="Rectangle 61"/>
            <p:cNvSpPr/>
            <p:nvPr/>
          </p:nvSpPr>
          <p:spPr>
            <a:xfrm>
              <a:off x="5405056" y="2636139"/>
              <a:ext cx="109347" cy="187452"/>
            </a:xfrm>
            <a:prstGeom prst="roundRect">
              <a:avLst>
                <a:gd name="adj" fmla="val 42857"/>
              </a:avLst>
            </a:prstGeom>
            <a:solidFill>
              <a:schemeClr val="accent3"/>
            </a:solidFill>
            <a:ln w="13335">
              <a:solidFill>
                <a:schemeClr val="accent3"/>
              </a:solidFill>
            </a:ln>
          </p:spPr>
        </p:sp>
      </p:grpSp>
      <p:grpSp>
        <p:nvGrpSpPr>
          <p:cNvPr id="65" name="!!participant-16"/>
          <p:cNvGrpSpPr/>
          <p:nvPr/>
        </p:nvGrpSpPr>
        <p:grpSpPr>
          <a:xfrm>
            <a:off x="5871782" y="2503360"/>
            <a:ext cx="109347" cy="320231"/>
            <a:chOff x="5871782" y="2503360"/>
            <a:chExt cx="109347" cy="320231"/>
          </a:xfrm>
        </p:grpSpPr>
        <p:sp>
          <p:nvSpPr>
            <p:cNvPr id="63" name="Ellipse 63"/>
            <p:cNvSpPr/>
            <p:nvPr/>
          </p:nvSpPr>
          <p:spPr>
            <a:xfrm>
              <a:off x="5879592" y="2503360"/>
              <a:ext cx="93726" cy="93726"/>
            </a:xfrm>
            <a:prstGeom prst="ellipse">
              <a:avLst/>
            </a:prstGeom>
            <a:solidFill>
              <a:schemeClr val="accent3"/>
            </a:solidFill>
            <a:ln w="13335">
              <a:solidFill>
                <a:schemeClr val="accent3"/>
              </a:solidFill>
            </a:ln>
          </p:spPr>
        </p:sp>
        <p:sp>
          <p:nvSpPr>
            <p:cNvPr id="64" name="Rectangle 64"/>
            <p:cNvSpPr/>
            <p:nvPr/>
          </p:nvSpPr>
          <p:spPr>
            <a:xfrm>
              <a:off x="5871782" y="2636139"/>
              <a:ext cx="109347" cy="187452"/>
            </a:xfrm>
            <a:prstGeom prst="roundRect">
              <a:avLst>
                <a:gd name="adj" fmla="val 42857"/>
              </a:avLst>
            </a:prstGeom>
            <a:solidFill>
              <a:schemeClr val="accent3"/>
            </a:solidFill>
            <a:ln w="13335">
              <a:solidFill>
                <a:schemeClr val="accent3"/>
              </a:solidFill>
            </a:ln>
          </p:spPr>
        </p:sp>
      </p:grpSp>
      <p:grpSp>
        <p:nvGrpSpPr>
          <p:cNvPr id="68" name="!!participant-17"/>
          <p:cNvGrpSpPr/>
          <p:nvPr/>
        </p:nvGrpSpPr>
        <p:grpSpPr>
          <a:xfrm>
            <a:off x="6338506" y="2503360"/>
            <a:ext cx="109347" cy="320231"/>
            <a:chOff x="6338506" y="2503360"/>
            <a:chExt cx="109347" cy="320231"/>
          </a:xfrm>
        </p:grpSpPr>
        <p:sp>
          <p:nvSpPr>
            <p:cNvPr id="66" name="Ellipse 66"/>
            <p:cNvSpPr/>
            <p:nvPr/>
          </p:nvSpPr>
          <p:spPr>
            <a:xfrm>
              <a:off x="6346317" y="2503360"/>
              <a:ext cx="93726" cy="93726"/>
            </a:xfrm>
            <a:prstGeom prst="ellipse">
              <a:avLst/>
            </a:prstGeom>
            <a:solidFill>
              <a:schemeClr val="accent3"/>
            </a:solidFill>
            <a:ln w="13335">
              <a:solidFill>
                <a:schemeClr val="accent3"/>
              </a:solidFill>
            </a:ln>
          </p:spPr>
        </p:sp>
        <p:sp>
          <p:nvSpPr>
            <p:cNvPr id="67" name="Rectangle 67"/>
            <p:cNvSpPr/>
            <p:nvPr/>
          </p:nvSpPr>
          <p:spPr>
            <a:xfrm>
              <a:off x="6338506" y="2636139"/>
              <a:ext cx="109347" cy="187452"/>
            </a:xfrm>
            <a:prstGeom prst="roundRect">
              <a:avLst>
                <a:gd name="adj" fmla="val 42857"/>
              </a:avLst>
            </a:prstGeom>
            <a:solidFill>
              <a:schemeClr val="accent3"/>
            </a:solidFill>
            <a:ln w="13335">
              <a:solidFill>
                <a:schemeClr val="accent3"/>
              </a:solidFill>
            </a:ln>
          </p:spPr>
        </p:sp>
      </p:grpSp>
      <p:grpSp>
        <p:nvGrpSpPr>
          <p:cNvPr id="71" name="!!participant-18"/>
          <p:cNvGrpSpPr/>
          <p:nvPr/>
        </p:nvGrpSpPr>
        <p:grpSpPr>
          <a:xfrm>
            <a:off x="6805232" y="2503360"/>
            <a:ext cx="109347" cy="320231"/>
            <a:chOff x="6805232" y="2503360"/>
            <a:chExt cx="109347" cy="320231"/>
          </a:xfrm>
        </p:grpSpPr>
        <p:sp>
          <p:nvSpPr>
            <p:cNvPr id="69" name="Ellipse 69"/>
            <p:cNvSpPr/>
            <p:nvPr/>
          </p:nvSpPr>
          <p:spPr>
            <a:xfrm>
              <a:off x="6813042" y="2503360"/>
              <a:ext cx="93726" cy="93726"/>
            </a:xfrm>
            <a:prstGeom prst="ellipse">
              <a:avLst/>
            </a:prstGeom>
            <a:solidFill>
              <a:schemeClr val="accent3"/>
            </a:solidFill>
            <a:ln w="13335">
              <a:solidFill>
                <a:schemeClr val="accent3"/>
              </a:solidFill>
            </a:ln>
          </p:spPr>
        </p:sp>
        <p:sp>
          <p:nvSpPr>
            <p:cNvPr id="70" name="Rectangle 70"/>
            <p:cNvSpPr/>
            <p:nvPr/>
          </p:nvSpPr>
          <p:spPr>
            <a:xfrm>
              <a:off x="6805232" y="2636139"/>
              <a:ext cx="109347" cy="187452"/>
            </a:xfrm>
            <a:prstGeom prst="roundRect">
              <a:avLst>
                <a:gd name="adj" fmla="val 42857"/>
              </a:avLst>
            </a:prstGeom>
            <a:solidFill>
              <a:schemeClr val="accent3"/>
            </a:solidFill>
            <a:ln w="13335">
              <a:solidFill>
                <a:schemeClr val="accent3"/>
              </a:solidFill>
            </a:ln>
          </p:spPr>
        </p:sp>
      </p:grpSp>
      <p:grpSp>
        <p:nvGrpSpPr>
          <p:cNvPr id="74" name="!!participant-19"/>
          <p:cNvGrpSpPr/>
          <p:nvPr/>
        </p:nvGrpSpPr>
        <p:grpSpPr>
          <a:xfrm>
            <a:off x="7271956" y="2503360"/>
            <a:ext cx="109347" cy="320231"/>
            <a:chOff x="7271956" y="2503360"/>
            <a:chExt cx="109347" cy="320231"/>
          </a:xfrm>
        </p:grpSpPr>
        <p:sp>
          <p:nvSpPr>
            <p:cNvPr id="72" name="Ellipse 72"/>
            <p:cNvSpPr/>
            <p:nvPr/>
          </p:nvSpPr>
          <p:spPr>
            <a:xfrm>
              <a:off x="7279767" y="2503360"/>
              <a:ext cx="93726" cy="93726"/>
            </a:xfrm>
            <a:prstGeom prst="ellipse">
              <a:avLst/>
            </a:prstGeom>
            <a:solidFill>
              <a:schemeClr val="accent3"/>
            </a:solidFill>
            <a:ln w="13335">
              <a:solidFill>
                <a:schemeClr val="accent3"/>
              </a:solidFill>
            </a:ln>
          </p:spPr>
        </p:sp>
        <p:sp>
          <p:nvSpPr>
            <p:cNvPr id="73" name="Rectangle 73"/>
            <p:cNvSpPr/>
            <p:nvPr/>
          </p:nvSpPr>
          <p:spPr>
            <a:xfrm>
              <a:off x="7271956" y="2636139"/>
              <a:ext cx="109347" cy="187452"/>
            </a:xfrm>
            <a:prstGeom prst="roundRect">
              <a:avLst>
                <a:gd name="adj" fmla="val 42857"/>
              </a:avLst>
            </a:prstGeom>
            <a:solidFill>
              <a:schemeClr val="accent3"/>
            </a:solidFill>
            <a:ln w="13335">
              <a:solidFill>
                <a:schemeClr val="accent3"/>
              </a:solidFill>
            </a:ln>
          </p:spPr>
        </p:sp>
      </p:grpSp>
      <p:grpSp>
        <p:nvGrpSpPr>
          <p:cNvPr id="77" name="!!participant-20"/>
          <p:cNvGrpSpPr/>
          <p:nvPr/>
        </p:nvGrpSpPr>
        <p:grpSpPr>
          <a:xfrm>
            <a:off x="7738682" y="2503360"/>
            <a:ext cx="109347" cy="320231"/>
            <a:chOff x="7738682" y="2503360"/>
            <a:chExt cx="109347" cy="320231"/>
          </a:xfrm>
        </p:grpSpPr>
        <p:sp>
          <p:nvSpPr>
            <p:cNvPr id="75" name="Ellipse 75"/>
            <p:cNvSpPr/>
            <p:nvPr/>
          </p:nvSpPr>
          <p:spPr>
            <a:xfrm>
              <a:off x="7746492" y="2503360"/>
              <a:ext cx="93726" cy="93726"/>
            </a:xfrm>
            <a:prstGeom prst="ellipse">
              <a:avLst/>
            </a:prstGeom>
            <a:solidFill>
              <a:schemeClr val="accent3"/>
            </a:solidFill>
            <a:ln w="13335">
              <a:solidFill>
                <a:schemeClr val="accent3"/>
              </a:solidFill>
            </a:ln>
          </p:spPr>
        </p:sp>
        <p:sp>
          <p:nvSpPr>
            <p:cNvPr id="76" name="Rectangle 76"/>
            <p:cNvSpPr/>
            <p:nvPr/>
          </p:nvSpPr>
          <p:spPr>
            <a:xfrm>
              <a:off x="7738682" y="2636139"/>
              <a:ext cx="109347" cy="187452"/>
            </a:xfrm>
            <a:prstGeom prst="roundRect">
              <a:avLst>
                <a:gd name="adj" fmla="val 42857"/>
              </a:avLst>
            </a:prstGeom>
            <a:solidFill>
              <a:schemeClr val="accent3"/>
            </a:solidFill>
            <a:ln w="13335">
              <a:solidFill>
                <a:schemeClr val="accent3"/>
              </a:solidFill>
            </a:ln>
          </p:spPr>
        </p:sp>
      </p:grpSp>
      <p:grpSp>
        <p:nvGrpSpPr>
          <p:cNvPr id="80" name="!!participant-21"/>
          <p:cNvGrpSpPr/>
          <p:nvPr/>
        </p:nvGrpSpPr>
        <p:grpSpPr>
          <a:xfrm>
            <a:off x="8205406" y="2503360"/>
            <a:ext cx="109347" cy="320231"/>
            <a:chOff x="8205406" y="2503360"/>
            <a:chExt cx="109347" cy="320231"/>
          </a:xfrm>
        </p:grpSpPr>
        <p:sp>
          <p:nvSpPr>
            <p:cNvPr id="78" name="Ellipse 78"/>
            <p:cNvSpPr/>
            <p:nvPr/>
          </p:nvSpPr>
          <p:spPr>
            <a:xfrm>
              <a:off x="8213217" y="2503360"/>
              <a:ext cx="93726" cy="93726"/>
            </a:xfrm>
            <a:prstGeom prst="ellipse">
              <a:avLst/>
            </a:prstGeom>
            <a:solidFill>
              <a:schemeClr val="accent3"/>
            </a:solidFill>
            <a:ln w="13335">
              <a:solidFill>
                <a:schemeClr val="accent3"/>
              </a:solidFill>
            </a:ln>
          </p:spPr>
        </p:sp>
        <p:sp>
          <p:nvSpPr>
            <p:cNvPr id="79" name="Rectangle 79"/>
            <p:cNvSpPr/>
            <p:nvPr/>
          </p:nvSpPr>
          <p:spPr>
            <a:xfrm>
              <a:off x="8205406" y="2636139"/>
              <a:ext cx="109347" cy="187452"/>
            </a:xfrm>
            <a:prstGeom prst="roundRect">
              <a:avLst>
                <a:gd name="adj" fmla="val 42857"/>
              </a:avLst>
            </a:prstGeom>
            <a:solidFill>
              <a:schemeClr val="accent3"/>
            </a:solidFill>
            <a:ln w="13335">
              <a:solidFill>
                <a:schemeClr val="accent3"/>
              </a:solidFill>
            </a:ln>
          </p:spPr>
        </p:sp>
      </p:grpSp>
      <p:grpSp>
        <p:nvGrpSpPr>
          <p:cNvPr id="83" name="!!participant-22"/>
          <p:cNvGrpSpPr/>
          <p:nvPr/>
        </p:nvGrpSpPr>
        <p:grpSpPr>
          <a:xfrm>
            <a:off x="8672132" y="2503360"/>
            <a:ext cx="109347" cy="320231"/>
            <a:chOff x="8672132" y="2503360"/>
            <a:chExt cx="109347" cy="320231"/>
          </a:xfrm>
        </p:grpSpPr>
        <p:sp>
          <p:nvSpPr>
            <p:cNvPr id="81" name="Ellipse 81"/>
            <p:cNvSpPr/>
            <p:nvPr/>
          </p:nvSpPr>
          <p:spPr>
            <a:xfrm>
              <a:off x="8679942" y="2503360"/>
              <a:ext cx="93726" cy="93726"/>
            </a:xfrm>
            <a:prstGeom prst="ellipse">
              <a:avLst/>
            </a:prstGeom>
            <a:solidFill>
              <a:schemeClr val="accent3"/>
            </a:solidFill>
            <a:ln w="13335">
              <a:solidFill>
                <a:schemeClr val="accent3"/>
              </a:solidFill>
            </a:ln>
          </p:spPr>
        </p:sp>
        <p:sp>
          <p:nvSpPr>
            <p:cNvPr id="82" name="Rectangle 82"/>
            <p:cNvSpPr/>
            <p:nvPr/>
          </p:nvSpPr>
          <p:spPr>
            <a:xfrm>
              <a:off x="8672132" y="2636139"/>
              <a:ext cx="109347" cy="187452"/>
            </a:xfrm>
            <a:prstGeom prst="roundRect">
              <a:avLst>
                <a:gd name="adj" fmla="val 42857"/>
              </a:avLst>
            </a:prstGeom>
            <a:solidFill>
              <a:schemeClr val="accent3"/>
            </a:solidFill>
            <a:ln w="13335">
              <a:solidFill>
                <a:schemeClr val="accent3"/>
              </a:solidFill>
            </a:ln>
          </p:spPr>
        </p:sp>
      </p:grpSp>
      <p:grpSp>
        <p:nvGrpSpPr>
          <p:cNvPr id="86" name="!!participant-23"/>
          <p:cNvGrpSpPr/>
          <p:nvPr/>
        </p:nvGrpSpPr>
        <p:grpSpPr>
          <a:xfrm>
            <a:off x="9138856" y="2503360"/>
            <a:ext cx="109347" cy="320231"/>
            <a:chOff x="9138856" y="2503360"/>
            <a:chExt cx="109347" cy="320231"/>
          </a:xfrm>
        </p:grpSpPr>
        <p:sp>
          <p:nvSpPr>
            <p:cNvPr id="84" name="Ellipse 84"/>
            <p:cNvSpPr/>
            <p:nvPr/>
          </p:nvSpPr>
          <p:spPr>
            <a:xfrm>
              <a:off x="9146667" y="2503360"/>
              <a:ext cx="93726" cy="93726"/>
            </a:xfrm>
            <a:prstGeom prst="ellipse">
              <a:avLst/>
            </a:prstGeom>
            <a:solidFill>
              <a:schemeClr val="accent3"/>
            </a:solidFill>
            <a:ln w="13335">
              <a:solidFill>
                <a:schemeClr val="accent3"/>
              </a:solidFill>
            </a:ln>
          </p:spPr>
        </p:sp>
        <p:sp>
          <p:nvSpPr>
            <p:cNvPr id="85" name="Rectangle 85"/>
            <p:cNvSpPr/>
            <p:nvPr/>
          </p:nvSpPr>
          <p:spPr>
            <a:xfrm>
              <a:off x="9138856" y="2636139"/>
              <a:ext cx="109347" cy="187452"/>
            </a:xfrm>
            <a:prstGeom prst="roundRect">
              <a:avLst>
                <a:gd name="adj" fmla="val 42857"/>
              </a:avLst>
            </a:prstGeom>
            <a:solidFill>
              <a:schemeClr val="accent3"/>
            </a:solidFill>
            <a:ln w="13335">
              <a:solidFill>
                <a:schemeClr val="accent3"/>
              </a:solidFill>
            </a:ln>
          </p:spPr>
        </p:sp>
      </p:grpSp>
      <p:grpSp>
        <p:nvGrpSpPr>
          <p:cNvPr id="89" name="!!participant-24"/>
          <p:cNvGrpSpPr/>
          <p:nvPr/>
        </p:nvGrpSpPr>
        <p:grpSpPr>
          <a:xfrm>
            <a:off x="9605582" y="2503360"/>
            <a:ext cx="109347" cy="320231"/>
            <a:chOff x="9605582" y="2503360"/>
            <a:chExt cx="109347" cy="320231"/>
          </a:xfrm>
        </p:grpSpPr>
        <p:sp>
          <p:nvSpPr>
            <p:cNvPr id="87" name="Ellipse 87"/>
            <p:cNvSpPr/>
            <p:nvPr/>
          </p:nvSpPr>
          <p:spPr>
            <a:xfrm>
              <a:off x="9613392" y="2503360"/>
              <a:ext cx="93726" cy="93726"/>
            </a:xfrm>
            <a:prstGeom prst="ellipse">
              <a:avLst/>
            </a:prstGeom>
            <a:solidFill>
              <a:schemeClr val="accent3"/>
            </a:solidFill>
            <a:ln w="13335">
              <a:solidFill>
                <a:schemeClr val="accent3"/>
              </a:solidFill>
            </a:ln>
          </p:spPr>
        </p:sp>
        <p:sp>
          <p:nvSpPr>
            <p:cNvPr id="88" name="Rectangle 88"/>
            <p:cNvSpPr/>
            <p:nvPr/>
          </p:nvSpPr>
          <p:spPr>
            <a:xfrm>
              <a:off x="9605582" y="2636139"/>
              <a:ext cx="109347" cy="187452"/>
            </a:xfrm>
            <a:prstGeom prst="roundRect">
              <a:avLst>
                <a:gd name="adj" fmla="val 42857"/>
              </a:avLst>
            </a:prstGeom>
            <a:solidFill>
              <a:schemeClr val="accent3"/>
            </a:solidFill>
            <a:ln w="13335">
              <a:solidFill>
                <a:schemeClr val="accent3"/>
              </a:solidFill>
            </a:ln>
          </p:spPr>
        </p:sp>
      </p:grpSp>
      <p:grpSp>
        <p:nvGrpSpPr>
          <p:cNvPr id="92" name="!!participant-25"/>
          <p:cNvGrpSpPr/>
          <p:nvPr/>
        </p:nvGrpSpPr>
        <p:grpSpPr>
          <a:xfrm>
            <a:off x="10072306" y="2503360"/>
            <a:ext cx="109347" cy="320231"/>
            <a:chOff x="10072306" y="2503360"/>
            <a:chExt cx="109347" cy="320231"/>
          </a:xfrm>
        </p:grpSpPr>
        <p:sp>
          <p:nvSpPr>
            <p:cNvPr id="90" name="Ellipse 90"/>
            <p:cNvSpPr/>
            <p:nvPr/>
          </p:nvSpPr>
          <p:spPr>
            <a:xfrm>
              <a:off x="10080117" y="2503360"/>
              <a:ext cx="93726" cy="93726"/>
            </a:xfrm>
            <a:prstGeom prst="ellipse">
              <a:avLst/>
            </a:prstGeom>
            <a:solidFill>
              <a:schemeClr val="accent3"/>
            </a:solidFill>
            <a:ln w="13335">
              <a:solidFill>
                <a:schemeClr val="accent3"/>
              </a:solidFill>
            </a:ln>
          </p:spPr>
        </p:sp>
        <p:sp>
          <p:nvSpPr>
            <p:cNvPr id="91" name="Rectangle 91"/>
            <p:cNvSpPr/>
            <p:nvPr/>
          </p:nvSpPr>
          <p:spPr>
            <a:xfrm>
              <a:off x="10072306" y="2636139"/>
              <a:ext cx="109347" cy="187452"/>
            </a:xfrm>
            <a:prstGeom prst="roundRect">
              <a:avLst>
                <a:gd name="adj" fmla="val 42857"/>
              </a:avLst>
            </a:prstGeom>
            <a:solidFill>
              <a:schemeClr val="accent3"/>
            </a:solidFill>
            <a:ln w="13335">
              <a:solidFill>
                <a:schemeClr val="accent3"/>
              </a:solidFill>
            </a:ln>
          </p:spPr>
        </p:sp>
      </p:grpSp>
      <p:grpSp>
        <p:nvGrpSpPr>
          <p:cNvPr id="95" name="!!participant-26"/>
          <p:cNvGrpSpPr/>
          <p:nvPr/>
        </p:nvGrpSpPr>
        <p:grpSpPr>
          <a:xfrm>
            <a:off x="10539032" y="2503360"/>
            <a:ext cx="109347" cy="320231"/>
            <a:chOff x="10539032" y="2503360"/>
            <a:chExt cx="109347" cy="320231"/>
          </a:xfrm>
        </p:grpSpPr>
        <p:sp>
          <p:nvSpPr>
            <p:cNvPr id="93" name="Ellipse 93"/>
            <p:cNvSpPr/>
            <p:nvPr/>
          </p:nvSpPr>
          <p:spPr>
            <a:xfrm>
              <a:off x="10546842" y="2503360"/>
              <a:ext cx="93726" cy="93726"/>
            </a:xfrm>
            <a:prstGeom prst="ellipse">
              <a:avLst/>
            </a:prstGeom>
            <a:solidFill>
              <a:schemeClr val="accent3"/>
            </a:solidFill>
            <a:ln w="13335">
              <a:solidFill>
                <a:schemeClr val="accent3"/>
              </a:solidFill>
            </a:ln>
          </p:spPr>
        </p:sp>
        <p:sp>
          <p:nvSpPr>
            <p:cNvPr id="94" name="Rectangle 94"/>
            <p:cNvSpPr/>
            <p:nvPr/>
          </p:nvSpPr>
          <p:spPr>
            <a:xfrm>
              <a:off x="10539032" y="2636139"/>
              <a:ext cx="109347" cy="187452"/>
            </a:xfrm>
            <a:prstGeom prst="roundRect">
              <a:avLst>
                <a:gd name="adj" fmla="val 42857"/>
              </a:avLst>
            </a:prstGeom>
            <a:solidFill>
              <a:schemeClr val="accent3"/>
            </a:solidFill>
            <a:ln w="13335">
              <a:solidFill>
                <a:schemeClr val="accent3"/>
              </a:solidFill>
            </a:ln>
          </p:spPr>
        </p:sp>
      </p:grpSp>
      <p:grpSp>
        <p:nvGrpSpPr>
          <p:cNvPr id="98" name="!!participant-27"/>
          <p:cNvGrpSpPr/>
          <p:nvPr/>
        </p:nvGrpSpPr>
        <p:grpSpPr>
          <a:xfrm>
            <a:off x="11005756" y="2503360"/>
            <a:ext cx="109347" cy="320231"/>
            <a:chOff x="11005756" y="2503360"/>
            <a:chExt cx="109347" cy="320231"/>
          </a:xfrm>
        </p:grpSpPr>
        <p:sp>
          <p:nvSpPr>
            <p:cNvPr id="96" name="Ellipse 96"/>
            <p:cNvSpPr/>
            <p:nvPr/>
          </p:nvSpPr>
          <p:spPr>
            <a:xfrm>
              <a:off x="11013567" y="2503360"/>
              <a:ext cx="93726" cy="93726"/>
            </a:xfrm>
            <a:prstGeom prst="ellipse">
              <a:avLst/>
            </a:prstGeom>
            <a:solidFill>
              <a:schemeClr val="accent3"/>
            </a:solidFill>
            <a:ln w="13335">
              <a:solidFill>
                <a:schemeClr val="accent3"/>
              </a:solidFill>
            </a:ln>
          </p:spPr>
        </p:sp>
        <p:sp>
          <p:nvSpPr>
            <p:cNvPr id="97" name="Rectangle 97"/>
            <p:cNvSpPr/>
            <p:nvPr/>
          </p:nvSpPr>
          <p:spPr>
            <a:xfrm>
              <a:off x="11005756" y="2636139"/>
              <a:ext cx="109347" cy="187452"/>
            </a:xfrm>
            <a:prstGeom prst="roundRect">
              <a:avLst>
                <a:gd name="adj" fmla="val 42857"/>
              </a:avLst>
            </a:prstGeom>
            <a:solidFill>
              <a:schemeClr val="accent3"/>
            </a:solidFill>
            <a:ln w="13335">
              <a:solidFill>
                <a:schemeClr val="accent3"/>
              </a:solidFill>
            </a:ln>
          </p:spPr>
        </p:sp>
      </p:grpSp>
      <p:grpSp>
        <p:nvGrpSpPr>
          <p:cNvPr id="101" name="!!participant-28"/>
          <p:cNvGrpSpPr/>
          <p:nvPr/>
        </p:nvGrpSpPr>
        <p:grpSpPr>
          <a:xfrm>
            <a:off x="4938332" y="2998660"/>
            <a:ext cx="109347" cy="320231"/>
            <a:chOff x="4938332" y="2998660"/>
            <a:chExt cx="109347" cy="320231"/>
          </a:xfrm>
        </p:grpSpPr>
        <p:sp>
          <p:nvSpPr>
            <p:cNvPr id="99" name="Ellipse 99"/>
            <p:cNvSpPr/>
            <p:nvPr/>
          </p:nvSpPr>
          <p:spPr>
            <a:xfrm>
              <a:off x="4946142" y="2998660"/>
              <a:ext cx="93726" cy="93726"/>
            </a:xfrm>
            <a:prstGeom prst="ellipse">
              <a:avLst/>
            </a:prstGeom>
            <a:solidFill>
              <a:schemeClr val="accent3"/>
            </a:solidFill>
            <a:ln w="13335">
              <a:solidFill>
                <a:schemeClr val="accent3"/>
              </a:solidFill>
            </a:ln>
          </p:spPr>
        </p:sp>
        <p:sp>
          <p:nvSpPr>
            <p:cNvPr id="100" name="Rectangle 100"/>
            <p:cNvSpPr/>
            <p:nvPr/>
          </p:nvSpPr>
          <p:spPr>
            <a:xfrm>
              <a:off x="4938332" y="3131439"/>
              <a:ext cx="109347" cy="187452"/>
            </a:xfrm>
            <a:prstGeom prst="roundRect">
              <a:avLst>
                <a:gd name="adj" fmla="val 42857"/>
              </a:avLst>
            </a:prstGeom>
            <a:solidFill>
              <a:schemeClr val="accent3"/>
            </a:solidFill>
            <a:ln w="13335">
              <a:solidFill>
                <a:schemeClr val="accent3"/>
              </a:solidFill>
            </a:ln>
          </p:spPr>
        </p:sp>
      </p:grpSp>
      <p:grpSp>
        <p:nvGrpSpPr>
          <p:cNvPr id="104" name="!!participant-29"/>
          <p:cNvGrpSpPr/>
          <p:nvPr/>
        </p:nvGrpSpPr>
        <p:grpSpPr>
          <a:xfrm>
            <a:off x="5405056" y="2998660"/>
            <a:ext cx="109347" cy="320231"/>
            <a:chOff x="5405056" y="2998660"/>
            <a:chExt cx="109347" cy="320231"/>
          </a:xfrm>
        </p:grpSpPr>
        <p:sp>
          <p:nvSpPr>
            <p:cNvPr id="102" name="Ellipse 102"/>
            <p:cNvSpPr/>
            <p:nvPr/>
          </p:nvSpPr>
          <p:spPr>
            <a:xfrm>
              <a:off x="5412867" y="2998660"/>
              <a:ext cx="93726" cy="93726"/>
            </a:xfrm>
            <a:prstGeom prst="ellipse">
              <a:avLst/>
            </a:prstGeom>
            <a:noFill/>
            <a:ln w="13335">
              <a:solidFill>
                <a:schemeClr val="accent2"/>
              </a:solidFill>
            </a:ln>
          </p:spPr>
        </p:sp>
        <p:sp>
          <p:nvSpPr>
            <p:cNvPr id="103" name="Rectangle 103"/>
            <p:cNvSpPr/>
            <p:nvPr/>
          </p:nvSpPr>
          <p:spPr>
            <a:xfrm>
              <a:off x="5405056" y="3131439"/>
              <a:ext cx="109347" cy="187452"/>
            </a:xfrm>
            <a:prstGeom prst="roundRect">
              <a:avLst>
                <a:gd name="adj" fmla="val 42857"/>
              </a:avLst>
            </a:prstGeom>
            <a:noFill/>
            <a:ln w="13335">
              <a:solidFill>
                <a:schemeClr val="accent2"/>
              </a:solidFill>
            </a:ln>
          </p:spPr>
        </p:sp>
      </p:grpSp>
      <p:grpSp>
        <p:nvGrpSpPr>
          <p:cNvPr id="107" name="!!participant-30"/>
          <p:cNvGrpSpPr/>
          <p:nvPr/>
        </p:nvGrpSpPr>
        <p:grpSpPr>
          <a:xfrm>
            <a:off x="5871782" y="2998660"/>
            <a:ext cx="109347" cy="320231"/>
            <a:chOff x="5871782" y="2998660"/>
            <a:chExt cx="109347" cy="320231"/>
          </a:xfrm>
        </p:grpSpPr>
        <p:sp>
          <p:nvSpPr>
            <p:cNvPr id="105" name="Ellipse 105"/>
            <p:cNvSpPr/>
            <p:nvPr/>
          </p:nvSpPr>
          <p:spPr>
            <a:xfrm>
              <a:off x="5879592" y="2998660"/>
              <a:ext cx="93726" cy="93726"/>
            </a:xfrm>
            <a:prstGeom prst="ellipse">
              <a:avLst/>
            </a:prstGeom>
            <a:noFill/>
            <a:ln w="13335">
              <a:solidFill>
                <a:schemeClr val="accent2"/>
              </a:solidFill>
            </a:ln>
          </p:spPr>
        </p:sp>
        <p:sp>
          <p:nvSpPr>
            <p:cNvPr id="106" name="Rectangle 106"/>
            <p:cNvSpPr/>
            <p:nvPr/>
          </p:nvSpPr>
          <p:spPr>
            <a:xfrm>
              <a:off x="5871782" y="3131439"/>
              <a:ext cx="109347" cy="187452"/>
            </a:xfrm>
            <a:prstGeom prst="roundRect">
              <a:avLst>
                <a:gd name="adj" fmla="val 42857"/>
              </a:avLst>
            </a:prstGeom>
            <a:noFill/>
            <a:ln w="13335">
              <a:solidFill>
                <a:schemeClr val="accent2"/>
              </a:solidFill>
            </a:ln>
          </p:spPr>
        </p:sp>
      </p:grpSp>
      <p:grpSp>
        <p:nvGrpSpPr>
          <p:cNvPr id="110" name="!!participant-31"/>
          <p:cNvGrpSpPr/>
          <p:nvPr/>
        </p:nvGrpSpPr>
        <p:grpSpPr>
          <a:xfrm>
            <a:off x="6338506" y="2998660"/>
            <a:ext cx="109347" cy="320231"/>
            <a:chOff x="6338506" y="2998660"/>
            <a:chExt cx="109347" cy="320231"/>
          </a:xfrm>
        </p:grpSpPr>
        <p:sp>
          <p:nvSpPr>
            <p:cNvPr id="108" name="Ellipse 108"/>
            <p:cNvSpPr/>
            <p:nvPr/>
          </p:nvSpPr>
          <p:spPr>
            <a:xfrm>
              <a:off x="6346317" y="2998660"/>
              <a:ext cx="93726" cy="93726"/>
            </a:xfrm>
            <a:prstGeom prst="ellipse">
              <a:avLst/>
            </a:prstGeom>
            <a:noFill/>
            <a:ln w="13335">
              <a:solidFill>
                <a:schemeClr val="accent2"/>
              </a:solidFill>
            </a:ln>
          </p:spPr>
        </p:sp>
        <p:sp>
          <p:nvSpPr>
            <p:cNvPr id="109" name="Rectangle 109"/>
            <p:cNvSpPr/>
            <p:nvPr/>
          </p:nvSpPr>
          <p:spPr>
            <a:xfrm>
              <a:off x="6338506" y="3131439"/>
              <a:ext cx="109347" cy="187452"/>
            </a:xfrm>
            <a:prstGeom prst="roundRect">
              <a:avLst>
                <a:gd name="adj" fmla="val 42857"/>
              </a:avLst>
            </a:prstGeom>
            <a:noFill/>
            <a:ln w="13335">
              <a:solidFill>
                <a:schemeClr val="accent2"/>
              </a:solidFill>
            </a:ln>
          </p:spPr>
        </p:sp>
      </p:grpSp>
      <p:grpSp>
        <p:nvGrpSpPr>
          <p:cNvPr id="113" name="!!participant-32"/>
          <p:cNvGrpSpPr/>
          <p:nvPr/>
        </p:nvGrpSpPr>
        <p:grpSpPr>
          <a:xfrm>
            <a:off x="6805232" y="2998660"/>
            <a:ext cx="109347" cy="320231"/>
            <a:chOff x="6805232" y="2998660"/>
            <a:chExt cx="109347" cy="320231"/>
          </a:xfrm>
        </p:grpSpPr>
        <p:sp>
          <p:nvSpPr>
            <p:cNvPr id="111" name="Ellipse 111"/>
            <p:cNvSpPr/>
            <p:nvPr/>
          </p:nvSpPr>
          <p:spPr>
            <a:xfrm>
              <a:off x="6813042" y="2998660"/>
              <a:ext cx="93726" cy="93726"/>
            </a:xfrm>
            <a:prstGeom prst="ellipse">
              <a:avLst/>
            </a:prstGeom>
            <a:noFill/>
            <a:ln w="13335">
              <a:solidFill>
                <a:schemeClr val="accent2"/>
              </a:solidFill>
            </a:ln>
          </p:spPr>
        </p:sp>
        <p:sp>
          <p:nvSpPr>
            <p:cNvPr id="112" name="Rectangle 112"/>
            <p:cNvSpPr/>
            <p:nvPr/>
          </p:nvSpPr>
          <p:spPr>
            <a:xfrm>
              <a:off x="6805232" y="3131439"/>
              <a:ext cx="109347" cy="187452"/>
            </a:xfrm>
            <a:prstGeom prst="roundRect">
              <a:avLst>
                <a:gd name="adj" fmla="val 42857"/>
              </a:avLst>
            </a:prstGeom>
            <a:noFill/>
            <a:ln w="13335">
              <a:solidFill>
                <a:schemeClr val="accent2"/>
              </a:solidFill>
            </a:ln>
          </p:spPr>
        </p:sp>
      </p:grpSp>
      <p:grpSp>
        <p:nvGrpSpPr>
          <p:cNvPr id="116" name="!!participant-33"/>
          <p:cNvGrpSpPr/>
          <p:nvPr/>
        </p:nvGrpSpPr>
        <p:grpSpPr>
          <a:xfrm>
            <a:off x="7271956" y="2998660"/>
            <a:ext cx="109347" cy="320231"/>
            <a:chOff x="7271956" y="2998660"/>
            <a:chExt cx="109347" cy="320231"/>
          </a:xfrm>
        </p:grpSpPr>
        <p:sp>
          <p:nvSpPr>
            <p:cNvPr id="114" name="Ellipse 114"/>
            <p:cNvSpPr/>
            <p:nvPr/>
          </p:nvSpPr>
          <p:spPr>
            <a:xfrm>
              <a:off x="7279767" y="2998660"/>
              <a:ext cx="93726" cy="93726"/>
            </a:xfrm>
            <a:prstGeom prst="ellipse">
              <a:avLst/>
            </a:prstGeom>
            <a:noFill/>
            <a:ln w="13335">
              <a:solidFill>
                <a:schemeClr val="accent2"/>
              </a:solidFill>
            </a:ln>
          </p:spPr>
        </p:sp>
        <p:sp>
          <p:nvSpPr>
            <p:cNvPr id="115" name="Rectangle 115"/>
            <p:cNvSpPr/>
            <p:nvPr/>
          </p:nvSpPr>
          <p:spPr>
            <a:xfrm>
              <a:off x="7271956" y="3131439"/>
              <a:ext cx="109347" cy="187452"/>
            </a:xfrm>
            <a:prstGeom prst="roundRect">
              <a:avLst>
                <a:gd name="adj" fmla="val 42857"/>
              </a:avLst>
            </a:prstGeom>
            <a:noFill/>
            <a:ln w="13335">
              <a:solidFill>
                <a:schemeClr val="accent2"/>
              </a:solidFill>
            </a:ln>
          </p:spPr>
        </p:sp>
      </p:grpSp>
      <p:grpSp>
        <p:nvGrpSpPr>
          <p:cNvPr id="119" name="!!participant-34"/>
          <p:cNvGrpSpPr/>
          <p:nvPr/>
        </p:nvGrpSpPr>
        <p:grpSpPr>
          <a:xfrm>
            <a:off x="7738682" y="2998660"/>
            <a:ext cx="109347" cy="320231"/>
            <a:chOff x="7738682" y="2998660"/>
            <a:chExt cx="109347" cy="320231"/>
          </a:xfrm>
        </p:grpSpPr>
        <p:sp>
          <p:nvSpPr>
            <p:cNvPr id="117" name="Ellipse 117"/>
            <p:cNvSpPr/>
            <p:nvPr/>
          </p:nvSpPr>
          <p:spPr>
            <a:xfrm>
              <a:off x="7746492" y="2998660"/>
              <a:ext cx="93726" cy="93726"/>
            </a:xfrm>
            <a:prstGeom prst="ellipse">
              <a:avLst/>
            </a:prstGeom>
            <a:noFill/>
            <a:ln w="13335">
              <a:solidFill>
                <a:schemeClr val="accent2"/>
              </a:solidFill>
            </a:ln>
          </p:spPr>
        </p:sp>
        <p:sp>
          <p:nvSpPr>
            <p:cNvPr id="118" name="Rectangle 118"/>
            <p:cNvSpPr/>
            <p:nvPr/>
          </p:nvSpPr>
          <p:spPr>
            <a:xfrm>
              <a:off x="7738682" y="3131439"/>
              <a:ext cx="109347" cy="187452"/>
            </a:xfrm>
            <a:prstGeom prst="roundRect">
              <a:avLst>
                <a:gd name="adj" fmla="val 42857"/>
              </a:avLst>
            </a:prstGeom>
            <a:noFill/>
            <a:ln w="13335">
              <a:solidFill>
                <a:schemeClr val="accent2"/>
              </a:solidFill>
            </a:ln>
          </p:spPr>
        </p:sp>
      </p:grpSp>
      <p:grpSp>
        <p:nvGrpSpPr>
          <p:cNvPr id="122" name="!!participant-35"/>
          <p:cNvGrpSpPr/>
          <p:nvPr/>
        </p:nvGrpSpPr>
        <p:grpSpPr>
          <a:xfrm>
            <a:off x="8205406" y="2998660"/>
            <a:ext cx="109347" cy="320231"/>
            <a:chOff x="8205406" y="2998660"/>
            <a:chExt cx="109347" cy="320231"/>
          </a:xfrm>
        </p:grpSpPr>
        <p:sp>
          <p:nvSpPr>
            <p:cNvPr id="120" name="Ellipse 120"/>
            <p:cNvSpPr/>
            <p:nvPr/>
          </p:nvSpPr>
          <p:spPr>
            <a:xfrm>
              <a:off x="8213217" y="2998660"/>
              <a:ext cx="93726" cy="93726"/>
            </a:xfrm>
            <a:prstGeom prst="ellipse">
              <a:avLst/>
            </a:prstGeom>
            <a:noFill/>
            <a:ln w="13335">
              <a:solidFill>
                <a:schemeClr val="accent2"/>
              </a:solidFill>
            </a:ln>
          </p:spPr>
        </p:sp>
        <p:sp>
          <p:nvSpPr>
            <p:cNvPr id="121" name="Rectangle 121"/>
            <p:cNvSpPr/>
            <p:nvPr/>
          </p:nvSpPr>
          <p:spPr>
            <a:xfrm>
              <a:off x="8205406" y="3131439"/>
              <a:ext cx="109347" cy="187452"/>
            </a:xfrm>
            <a:prstGeom prst="roundRect">
              <a:avLst>
                <a:gd name="adj" fmla="val 42857"/>
              </a:avLst>
            </a:prstGeom>
            <a:noFill/>
            <a:ln w="13335">
              <a:solidFill>
                <a:schemeClr val="accent2"/>
              </a:solidFill>
            </a:ln>
          </p:spPr>
        </p:sp>
      </p:grpSp>
      <p:grpSp>
        <p:nvGrpSpPr>
          <p:cNvPr id="125" name="!!participant-36"/>
          <p:cNvGrpSpPr/>
          <p:nvPr/>
        </p:nvGrpSpPr>
        <p:grpSpPr>
          <a:xfrm>
            <a:off x="8672132" y="2998660"/>
            <a:ext cx="109347" cy="320231"/>
            <a:chOff x="8672132" y="2998660"/>
            <a:chExt cx="109347" cy="320231"/>
          </a:xfrm>
        </p:grpSpPr>
        <p:sp>
          <p:nvSpPr>
            <p:cNvPr id="123" name="Ellipse 123"/>
            <p:cNvSpPr/>
            <p:nvPr/>
          </p:nvSpPr>
          <p:spPr>
            <a:xfrm>
              <a:off x="8679942" y="2998660"/>
              <a:ext cx="93726" cy="93726"/>
            </a:xfrm>
            <a:prstGeom prst="ellipse">
              <a:avLst/>
            </a:prstGeom>
            <a:noFill/>
            <a:ln w="13335">
              <a:solidFill>
                <a:schemeClr val="accent2"/>
              </a:solidFill>
            </a:ln>
          </p:spPr>
        </p:sp>
        <p:sp>
          <p:nvSpPr>
            <p:cNvPr id="124" name="Rectangle 124"/>
            <p:cNvSpPr/>
            <p:nvPr/>
          </p:nvSpPr>
          <p:spPr>
            <a:xfrm>
              <a:off x="8672132" y="3131439"/>
              <a:ext cx="109347" cy="187452"/>
            </a:xfrm>
            <a:prstGeom prst="roundRect">
              <a:avLst>
                <a:gd name="adj" fmla="val 42857"/>
              </a:avLst>
            </a:prstGeom>
            <a:noFill/>
            <a:ln w="13335">
              <a:solidFill>
                <a:schemeClr val="accent2"/>
              </a:solidFill>
            </a:ln>
          </p:spPr>
        </p:sp>
      </p:grpSp>
      <p:grpSp>
        <p:nvGrpSpPr>
          <p:cNvPr id="128" name="!!participant-37"/>
          <p:cNvGrpSpPr/>
          <p:nvPr/>
        </p:nvGrpSpPr>
        <p:grpSpPr>
          <a:xfrm>
            <a:off x="9138856" y="2998660"/>
            <a:ext cx="109347" cy="320231"/>
            <a:chOff x="9138856" y="2998660"/>
            <a:chExt cx="109347" cy="320231"/>
          </a:xfrm>
        </p:grpSpPr>
        <p:sp>
          <p:nvSpPr>
            <p:cNvPr id="126" name="Ellipse 126"/>
            <p:cNvSpPr/>
            <p:nvPr/>
          </p:nvSpPr>
          <p:spPr>
            <a:xfrm>
              <a:off x="9146667" y="2998660"/>
              <a:ext cx="93726" cy="93726"/>
            </a:xfrm>
            <a:prstGeom prst="ellipse">
              <a:avLst/>
            </a:prstGeom>
            <a:noFill/>
            <a:ln w="13335">
              <a:solidFill>
                <a:schemeClr val="accent2"/>
              </a:solidFill>
            </a:ln>
          </p:spPr>
        </p:sp>
        <p:sp>
          <p:nvSpPr>
            <p:cNvPr id="127" name="Rectangle 127"/>
            <p:cNvSpPr/>
            <p:nvPr/>
          </p:nvSpPr>
          <p:spPr>
            <a:xfrm>
              <a:off x="9138856" y="3131439"/>
              <a:ext cx="109347" cy="187452"/>
            </a:xfrm>
            <a:prstGeom prst="roundRect">
              <a:avLst>
                <a:gd name="adj" fmla="val 42857"/>
              </a:avLst>
            </a:prstGeom>
            <a:noFill/>
            <a:ln w="13335">
              <a:solidFill>
                <a:schemeClr val="accent2"/>
              </a:solidFill>
            </a:ln>
          </p:spPr>
        </p:sp>
      </p:grpSp>
      <p:grpSp>
        <p:nvGrpSpPr>
          <p:cNvPr id="131" name="!!participant-38"/>
          <p:cNvGrpSpPr/>
          <p:nvPr/>
        </p:nvGrpSpPr>
        <p:grpSpPr>
          <a:xfrm>
            <a:off x="9605582" y="2998660"/>
            <a:ext cx="109347" cy="320231"/>
            <a:chOff x="9605582" y="2998660"/>
            <a:chExt cx="109347" cy="320231"/>
          </a:xfrm>
        </p:grpSpPr>
        <p:sp>
          <p:nvSpPr>
            <p:cNvPr id="129" name="Ellipse 129"/>
            <p:cNvSpPr/>
            <p:nvPr/>
          </p:nvSpPr>
          <p:spPr>
            <a:xfrm>
              <a:off x="9613392" y="2998660"/>
              <a:ext cx="93726" cy="93726"/>
            </a:xfrm>
            <a:prstGeom prst="ellipse">
              <a:avLst/>
            </a:prstGeom>
            <a:noFill/>
            <a:ln w="13335">
              <a:solidFill>
                <a:schemeClr val="accent2"/>
              </a:solidFill>
            </a:ln>
          </p:spPr>
        </p:sp>
        <p:sp>
          <p:nvSpPr>
            <p:cNvPr id="130" name="Rectangle 130"/>
            <p:cNvSpPr/>
            <p:nvPr/>
          </p:nvSpPr>
          <p:spPr>
            <a:xfrm>
              <a:off x="9605582" y="3131439"/>
              <a:ext cx="109347" cy="187452"/>
            </a:xfrm>
            <a:prstGeom prst="roundRect">
              <a:avLst>
                <a:gd name="adj" fmla="val 42857"/>
              </a:avLst>
            </a:prstGeom>
            <a:noFill/>
            <a:ln w="13335">
              <a:solidFill>
                <a:schemeClr val="accent2"/>
              </a:solidFill>
            </a:ln>
          </p:spPr>
        </p:sp>
      </p:grpSp>
      <p:grpSp>
        <p:nvGrpSpPr>
          <p:cNvPr id="134" name="!!participant-39"/>
          <p:cNvGrpSpPr/>
          <p:nvPr/>
        </p:nvGrpSpPr>
        <p:grpSpPr>
          <a:xfrm>
            <a:off x="10072306" y="2998660"/>
            <a:ext cx="109347" cy="320231"/>
            <a:chOff x="10072306" y="2998660"/>
            <a:chExt cx="109347" cy="320231"/>
          </a:xfrm>
        </p:grpSpPr>
        <p:sp>
          <p:nvSpPr>
            <p:cNvPr id="132" name="Ellipse 132"/>
            <p:cNvSpPr/>
            <p:nvPr/>
          </p:nvSpPr>
          <p:spPr>
            <a:xfrm>
              <a:off x="10080117" y="2998660"/>
              <a:ext cx="93726" cy="93726"/>
            </a:xfrm>
            <a:prstGeom prst="ellipse">
              <a:avLst/>
            </a:prstGeom>
            <a:noFill/>
            <a:ln w="13335">
              <a:solidFill>
                <a:schemeClr val="accent2"/>
              </a:solidFill>
            </a:ln>
          </p:spPr>
        </p:sp>
        <p:sp>
          <p:nvSpPr>
            <p:cNvPr id="133" name="Rectangle 133"/>
            <p:cNvSpPr/>
            <p:nvPr/>
          </p:nvSpPr>
          <p:spPr>
            <a:xfrm>
              <a:off x="10072306" y="3131439"/>
              <a:ext cx="109347" cy="187452"/>
            </a:xfrm>
            <a:prstGeom prst="roundRect">
              <a:avLst>
                <a:gd name="adj" fmla="val 42857"/>
              </a:avLst>
            </a:prstGeom>
            <a:noFill/>
            <a:ln w="13335">
              <a:solidFill>
                <a:schemeClr val="accent2"/>
              </a:solidFill>
            </a:ln>
          </p:spPr>
        </p:sp>
      </p:grpSp>
      <p:grpSp>
        <p:nvGrpSpPr>
          <p:cNvPr id="137" name="!!participant-40"/>
          <p:cNvGrpSpPr/>
          <p:nvPr/>
        </p:nvGrpSpPr>
        <p:grpSpPr>
          <a:xfrm>
            <a:off x="10539032" y="2998660"/>
            <a:ext cx="109347" cy="320231"/>
            <a:chOff x="10539032" y="2998660"/>
            <a:chExt cx="109347" cy="320231"/>
          </a:xfrm>
        </p:grpSpPr>
        <p:sp>
          <p:nvSpPr>
            <p:cNvPr id="135" name="Ellipse 135"/>
            <p:cNvSpPr/>
            <p:nvPr/>
          </p:nvSpPr>
          <p:spPr>
            <a:xfrm>
              <a:off x="10546842" y="2998660"/>
              <a:ext cx="93726" cy="93726"/>
            </a:xfrm>
            <a:prstGeom prst="ellipse">
              <a:avLst/>
            </a:prstGeom>
            <a:noFill/>
            <a:ln w="13335">
              <a:solidFill>
                <a:schemeClr val="accent2"/>
              </a:solidFill>
            </a:ln>
          </p:spPr>
        </p:sp>
        <p:sp>
          <p:nvSpPr>
            <p:cNvPr id="136" name="Rectangle 136"/>
            <p:cNvSpPr/>
            <p:nvPr/>
          </p:nvSpPr>
          <p:spPr>
            <a:xfrm>
              <a:off x="10539032" y="3131439"/>
              <a:ext cx="109347" cy="187452"/>
            </a:xfrm>
            <a:prstGeom prst="roundRect">
              <a:avLst>
                <a:gd name="adj" fmla="val 42857"/>
              </a:avLst>
            </a:prstGeom>
            <a:noFill/>
            <a:ln w="13335">
              <a:solidFill>
                <a:schemeClr val="accent2"/>
              </a:solidFill>
            </a:ln>
          </p:spPr>
        </p:sp>
      </p:grpSp>
      <p:grpSp>
        <p:nvGrpSpPr>
          <p:cNvPr id="140" name="!!participant-41"/>
          <p:cNvGrpSpPr/>
          <p:nvPr/>
        </p:nvGrpSpPr>
        <p:grpSpPr>
          <a:xfrm>
            <a:off x="4938332" y="4122610"/>
            <a:ext cx="109347" cy="320231"/>
            <a:chOff x="4938332" y="4122610"/>
            <a:chExt cx="109347" cy="320231"/>
          </a:xfrm>
        </p:grpSpPr>
        <p:sp>
          <p:nvSpPr>
            <p:cNvPr id="138" name="Ellipse 138"/>
            <p:cNvSpPr/>
            <p:nvPr/>
          </p:nvSpPr>
          <p:spPr>
            <a:xfrm>
              <a:off x="4946142" y="4122610"/>
              <a:ext cx="93726" cy="93726"/>
            </a:xfrm>
            <a:prstGeom prst="ellipse">
              <a:avLst/>
            </a:prstGeom>
            <a:solidFill>
              <a:schemeClr val="accent1"/>
            </a:solidFill>
            <a:ln w="13335">
              <a:solidFill>
                <a:schemeClr val="accent1"/>
              </a:solidFill>
            </a:ln>
          </p:spPr>
        </p:sp>
        <p:sp>
          <p:nvSpPr>
            <p:cNvPr id="139" name="Rectangle 139"/>
            <p:cNvSpPr/>
            <p:nvPr/>
          </p:nvSpPr>
          <p:spPr>
            <a:xfrm>
              <a:off x="4938332" y="4255389"/>
              <a:ext cx="109347" cy="187452"/>
            </a:xfrm>
            <a:prstGeom prst="roundRect">
              <a:avLst>
                <a:gd name="adj" fmla="val 42857"/>
              </a:avLst>
            </a:prstGeom>
            <a:solidFill>
              <a:schemeClr val="accent1"/>
            </a:solidFill>
            <a:ln w="13335">
              <a:solidFill>
                <a:schemeClr val="accent1"/>
              </a:solidFill>
            </a:ln>
          </p:spPr>
        </p:sp>
      </p:grpSp>
      <p:grpSp>
        <p:nvGrpSpPr>
          <p:cNvPr id="143" name="!!participant-42"/>
          <p:cNvGrpSpPr/>
          <p:nvPr/>
        </p:nvGrpSpPr>
        <p:grpSpPr>
          <a:xfrm>
            <a:off x="5405056" y="4122610"/>
            <a:ext cx="109347" cy="320231"/>
            <a:chOff x="5405056" y="4122610"/>
            <a:chExt cx="109347" cy="320231"/>
          </a:xfrm>
        </p:grpSpPr>
        <p:sp>
          <p:nvSpPr>
            <p:cNvPr id="141" name="Ellipse 141"/>
            <p:cNvSpPr/>
            <p:nvPr/>
          </p:nvSpPr>
          <p:spPr>
            <a:xfrm>
              <a:off x="5412867" y="4122610"/>
              <a:ext cx="93726" cy="93726"/>
            </a:xfrm>
            <a:prstGeom prst="ellipse">
              <a:avLst/>
            </a:prstGeom>
            <a:solidFill>
              <a:schemeClr val="accent1"/>
            </a:solidFill>
            <a:ln w="13335">
              <a:solidFill>
                <a:schemeClr val="accent1"/>
              </a:solidFill>
            </a:ln>
          </p:spPr>
        </p:sp>
        <p:sp>
          <p:nvSpPr>
            <p:cNvPr id="142" name="Rectangle 142"/>
            <p:cNvSpPr/>
            <p:nvPr/>
          </p:nvSpPr>
          <p:spPr>
            <a:xfrm>
              <a:off x="5405056" y="4255389"/>
              <a:ext cx="109347" cy="187452"/>
            </a:xfrm>
            <a:prstGeom prst="roundRect">
              <a:avLst>
                <a:gd name="adj" fmla="val 42857"/>
              </a:avLst>
            </a:prstGeom>
            <a:solidFill>
              <a:schemeClr val="accent1"/>
            </a:solidFill>
            <a:ln w="13335">
              <a:solidFill>
                <a:schemeClr val="accent1"/>
              </a:solidFill>
            </a:ln>
          </p:spPr>
        </p:sp>
      </p:grpSp>
      <p:grpSp>
        <p:nvGrpSpPr>
          <p:cNvPr id="146" name="!!participant-43"/>
          <p:cNvGrpSpPr/>
          <p:nvPr/>
        </p:nvGrpSpPr>
        <p:grpSpPr>
          <a:xfrm>
            <a:off x="5871782" y="4122610"/>
            <a:ext cx="109347" cy="320231"/>
            <a:chOff x="5871782" y="4122610"/>
            <a:chExt cx="109347" cy="320231"/>
          </a:xfrm>
        </p:grpSpPr>
        <p:sp>
          <p:nvSpPr>
            <p:cNvPr id="144" name="Ellipse 144"/>
            <p:cNvSpPr/>
            <p:nvPr/>
          </p:nvSpPr>
          <p:spPr>
            <a:xfrm>
              <a:off x="5879592" y="4122610"/>
              <a:ext cx="93726" cy="93726"/>
            </a:xfrm>
            <a:prstGeom prst="ellipse">
              <a:avLst/>
            </a:prstGeom>
            <a:solidFill>
              <a:schemeClr val="accent1"/>
            </a:solidFill>
            <a:ln w="13335">
              <a:solidFill>
                <a:schemeClr val="accent1"/>
              </a:solidFill>
            </a:ln>
          </p:spPr>
        </p:sp>
        <p:sp>
          <p:nvSpPr>
            <p:cNvPr id="145" name="Rectangle 145"/>
            <p:cNvSpPr/>
            <p:nvPr/>
          </p:nvSpPr>
          <p:spPr>
            <a:xfrm>
              <a:off x="5871782" y="4255389"/>
              <a:ext cx="109347" cy="187452"/>
            </a:xfrm>
            <a:prstGeom prst="roundRect">
              <a:avLst>
                <a:gd name="adj" fmla="val 42857"/>
              </a:avLst>
            </a:prstGeom>
            <a:solidFill>
              <a:schemeClr val="accent1"/>
            </a:solidFill>
            <a:ln w="13335">
              <a:solidFill>
                <a:schemeClr val="accent1"/>
              </a:solidFill>
            </a:ln>
          </p:spPr>
        </p:sp>
      </p:grpSp>
      <p:grpSp>
        <p:nvGrpSpPr>
          <p:cNvPr id="149" name="!!participant-44"/>
          <p:cNvGrpSpPr/>
          <p:nvPr/>
        </p:nvGrpSpPr>
        <p:grpSpPr>
          <a:xfrm>
            <a:off x="6338506" y="4122610"/>
            <a:ext cx="109347" cy="320231"/>
            <a:chOff x="6338506" y="4122610"/>
            <a:chExt cx="109347" cy="320231"/>
          </a:xfrm>
        </p:grpSpPr>
        <p:sp>
          <p:nvSpPr>
            <p:cNvPr id="147" name="Ellipse 147"/>
            <p:cNvSpPr/>
            <p:nvPr/>
          </p:nvSpPr>
          <p:spPr>
            <a:xfrm>
              <a:off x="6346317" y="4122610"/>
              <a:ext cx="93726" cy="93726"/>
            </a:xfrm>
            <a:prstGeom prst="ellipse">
              <a:avLst/>
            </a:prstGeom>
            <a:solidFill>
              <a:schemeClr val="accent1"/>
            </a:solidFill>
            <a:ln w="13335">
              <a:solidFill>
                <a:schemeClr val="accent1"/>
              </a:solidFill>
            </a:ln>
          </p:spPr>
        </p:sp>
        <p:sp>
          <p:nvSpPr>
            <p:cNvPr id="148" name="Rectangle 148"/>
            <p:cNvSpPr/>
            <p:nvPr/>
          </p:nvSpPr>
          <p:spPr>
            <a:xfrm>
              <a:off x="6338506" y="4255389"/>
              <a:ext cx="109347" cy="187452"/>
            </a:xfrm>
            <a:prstGeom prst="roundRect">
              <a:avLst>
                <a:gd name="adj" fmla="val 42857"/>
              </a:avLst>
            </a:prstGeom>
            <a:solidFill>
              <a:schemeClr val="accent1"/>
            </a:solidFill>
            <a:ln w="13335">
              <a:solidFill>
                <a:schemeClr val="accent1"/>
              </a:solidFill>
            </a:ln>
          </p:spPr>
        </p:sp>
      </p:grpSp>
      <p:grpSp>
        <p:nvGrpSpPr>
          <p:cNvPr id="152" name="!!participant-45"/>
          <p:cNvGrpSpPr/>
          <p:nvPr/>
        </p:nvGrpSpPr>
        <p:grpSpPr>
          <a:xfrm>
            <a:off x="6805232" y="4122610"/>
            <a:ext cx="109347" cy="320231"/>
            <a:chOff x="6805232" y="4122610"/>
            <a:chExt cx="109347" cy="320231"/>
          </a:xfrm>
        </p:grpSpPr>
        <p:sp>
          <p:nvSpPr>
            <p:cNvPr id="150" name="Ellipse 150"/>
            <p:cNvSpPr/>
            <p:nvPr/>
          </p:nvSpPr>
          <p:spPr>
            <a:xfrm>
              <a:off x="6813042" y="4122610"/>
              <a:ext cx="93726" cy="93726"/>
            </a:xfrm>
            <a:prstGeom prst="ellipse">
              <a:avLst/>
            </a:prstGeom>
            <a:solidFill>
              <a:schemeClr val="accent1"/>
            </a:solidFill>
            <a:ln w="13335">
              <a:solidFill>
                <a:schemeClr val="accent1"/>
              </a:solidFill>
            </a:ln>
          </p:spPr>
        </p:sp>
        <p:sp>
          <p:nvSpPr>
            <p:cNvPr id="151" name="Rectangle 151"/>
            <p:cNvSpPr/>
            <p:nvPr/>
          </p:nvSpPr>
          <p:spPr>
            <a:xfrm>
              <a:off x="6805232" y="4255389"/>
              <a:ext cx="109347" cy="187452"/>
            </a:xfrm>
            <a:prstGeom prst="roundRect">
              <a:avLst>
                <a:gd name="adj" fmla="val 42857"/>
              </a:avLst>
            </a:prstGeom>
            <a:solidFill>
              <a:schemeClr val="accent1"/>
            </a:solidFill>
            <a:ln w="13335">
              <a:solidFill>
                <a:schemeClr val="accent1"/>
              </a:solidFill>
            </a:ln>
          </p:spPr>
        </p:sp>
      </p:grpSp>
      <p:grpSp>
        <p:nvGrpSpPr>
          <p:cNvPr id="155" name="!!participant-46"/>
          <p:cNvGrpSpPr/>
          <p:nvPr/>
        </p:nvGrpSpPr>
        <p:grpSpPr>
          <a:xfrm>
            <a:off x="7271956" y="4122610"/>
            <a:ext cx="109347" cy="320231"/>
            <a:chOff x="7271956" y="4122610"/>
            <a:chExt cx="109347" cy="320231"/>
          </a:xfrm>
        </p:grpSpPr>
        <p:sp>
          <p:nvSpPr>
            <p:cNvPr id="153" name="Ellipse 153"/>
            <p:cNvSpPr/>
            <p:nvPr/>
          </p:nvSpPr>
          <p:spPr>
            <a:xfrm>
              <a:off x="7279767" y="4122610"/>
              <a:ext cx="93726" cy="93726"/>
            </a:xfrm>
            <a:prstGeom prst="ellipse">
              <a:avLst/>
            </a:prstGeom>
            <a:solidFill>
              <a:schemeClr val="accent1"/>
            </a:solidFill>
            <a:ln w="13335">
              <a:solidFill>
                <a:schemeClr val="accent1"/>
              </a:solidFill>
            </a:ln>
          </p:spPr>
        </p:sp>
        <p:sp>
          <p:nvSpPr>
            <p:cNvPr id="154" name="Rectangle 154"/>
            <p:cNvSpPr/>
            <p:nvPr/>
          </p:nvSpPr>
          <p:spPr>
            <a:xfrm>
              <a:off x="7271956" y="4255389"/>
              <a:ext cx="109347" cy="187452"/>
            </a:xfrm>
            <a:prstGeom prst="roundRect">
              <a:avLst>
                <a:gd name="adj" fmla="val 42857"/>
              </a:avLst>
            </a:prstGeom>
            <a:solidFill>
              <a:schemeClr val="accent1"/>
            </a:solidFill>
            <a:ln w="13335">
              <a:solidFill>
                <a:schemeClr val="accent1"/>
              </a:solidFill>
            </a:ln>
          </p:spPr>
        </p:sp>
      </p:grpSp>
      <p:grpSp>
        <p:nvGrpSpPr>
          <p:cNvPr id="158" name="!!participant-47"/>
          <p:cNvGrpSpPr/>
          <p:nvPr/>
        </p:nvGrpSpPr>
        <p:grpSpPr>
          <a:xfrm>
            <a:off x="7738682" y="4122610"/>
            <a:ext cx="109347" cy="320231"/>
            <a:chOff x="7738682" y="4122610"/>
            <a:chExt cx="109347" cy="320231"/>
          </a:xfrm>
        </p:grpSpPr>
        <p:sp>
          <p:nvSpPr>
            <p:cNvPr id="156" name="Ellipse 156"/>
            <p:cNvSpPr/>
            <p:nvPr/>
          </p:nvSpPr>
          <p:spPr>
            <a:xfrm>
              <a:off x="7746492" y="4122610"/>
              <a:ext cx="93726" cy="93726"/>
            </a:xfrm>
            <a:prstGeom prst="ellipse">
              <a:avLst/>
            </a:prstGeom>
            <a:solidFill>
              <a:schemeClr val="accent1"/>
            </a:solidFill>
            <a:ln w="13335">
              <a:solidFill>
                <a:schemeClr val="accent1"/>
              </a:solidFill>
            </a:ln>
          </p:spPr>
        </p:sp>
        <p:sp>
          <p:nvSpPr>
            <p:cNvPr id="157" name="Rectangle 157"/>
            <p:cNvSpPr/>
            <p:nvPr/>
          </p:nvSpPr>
          <p:spPr>
            <a:xfrm>
              <a:off x="7738682" y="4255389"/>
              <a:ext cx="109347" cy="187452"/>
            </a:xfrm>
            <a:prstGeom prst="roundRect">
              <a:avLst>
                <a:gd name="adj" fmla="val 42857"/>
              </a:avLst>
            </a:prstGeom>
            <a:solidFill>
              <a:schemeClr val="accent1"/>
            </a:solidFill>
            <a:ln w="13335">
              <a:solidFill>
                <a:schemeClr val="accent1"/>
              </a:solidFill>
            </a:ln>
          </p:spPr>
        </p:sp>
      </p:grpSp>
      <p:grpSp>
        <p:nvGrpSpPr>
          <p:cNvPr id="161" name="!!participant-48"/>
          <p:cNvGrpSpPr/>
          <p:nvPr/>
        </p:nvGrpSpPr>
        <p:grpSpPr>
          <a:xfrm>
            <a:off x="8205406" y="4122610"/>
            <a:ext cx="109347" cy="320231"/>
            <a:chOff x="8205406" y="4122610"/>
            <a:chExt cx="109347" cy="320231"/>
          </a:xfrm>
        </p:grpSpPr>
        <p:sp>
          <p:nvSpPr>
            <p:cNvPr id="159" name="Ellipse 159"/>
            <p:cNvSpPr/>
            <p:nvPr/>
          </p:nvSpPr>
          <p:spPr>
            <a:xfrm>
              <a:off x="8213217" y="4122610"/>
              <a:ext cx="93726" cy="93726"/>
            </a:xfrm>
            <a:prstGeom prst="ellipse">
              <a:avLst/>
            </a:prstGeom>
            <a:solidFill>
              <a:schemeClr val="accent1"/>
            </a:solidFill>
            <a:ln w="13335">
              <a:solidFill>
                <a:schemeClr val="accent1"/>
              </a:solidFill>
            </a:ln>
          </p:spPr>
        </p:sp>
        <p:sp>
          <p:nvSpPr>
            <p:cNvPr id="160" name="Rectangle 160"/>
            <p:cNvSpPr/>
            <p:nvPr/>
          </p:nvSpPr>
          <p:spPr>
            <a:xfrm>
              <a:off x="8205406" y="4255389"/>
              <a:ext cx="109347" cy="187452"/>
            </a:xfrm>
            <a:prstGeom prst="roundRect">
              <a:avLst>
                <a:gd name="adj" fmla="val 42857"/>
              </a:avLst>
            </a:prstGeom>
            <a:solidFill>
              <a:schemeClr val="accent1"/>
            </a:solidFill>
            <a:ln w="13335">
              <a:solidFill>
                <a:schemeClr val="accent1"/>
              </a:solidFill>
            </a:ln>
          </p:spPr>
        </p:sp>
      </p:grpSp>
      <p:grpSp>
        <p:nvGrpSpPr>
          <p:cNvPr id="164" name="!!participant-49"/>
          <p:cNvGrpSpPr/>
          <p:nvPr/>
        </p:nvGrpSpPr>
        <p:grpSpPr>
          <a:xfrm>
            <a:off x="8672132" y="4122610"/>
            <a:ext cx="109347" cy="320231"/>
            <a:chOff x="8672132" y="4122610"/>
            <a:chExt cx="109347" cy="320231"/>
          </a:xfrm>
        </p:grpSpPr>
        <p:sp>
          <p:nvSpPr>
            <p:cNvPr id="162" name="Ellipse 162"/>
            <p:cNvSpPr/>
            <p:nvPr/>
          </p:nvSpPr>
          <p:spPr>
            <a:xfrm>
              <a:off x="8679942" y="4122610"/>
              <a:ext cx="93726" cy="93726"/>
            </a:xfrm>
            <a:prstGeom prst="ellipse">
              <a:avLst/>
            </a:prstGeom>
            <a:solidFill>
              <a:schemeClr val="accent1"/>
            </a:solidFill>
            <a:ln w="13335">
              <a:solidFill>
                <a:schemeClr val="accent1"/>
              </a:solidFill>
            </a:ln>
          </p:spPr>
        </p:sp>
        <p:sp>
          <p:nvSpPr>
            <p:cNvPr id="163" name="Rectangle 163"/>
            <p:cNvSpPr/>
            <p:nvPr/>
          </p:nvSpPr>
          <p:spPr>
            <a:xfrm>
              <a:off x="8672132" y="4255389"/>
              <a:ext cx="109347" cy="187452"/>
            </a:xfrm>
            <a:prstGeom prst="roundRect">
              <a:avLst>
                <a:gd name="adj" fmla="val 42857"/>
              </a:avLst>
            </a:prstGeom>
            <a:solidFill>
              <a:schemeClr val="accent1"/>
            </a:solidFill>
            <a:ln w="13335">
              <a:solidFill>
                <a:schemeClr val="accent1"/>
              </a:solidFill>
            </a:ln>
          </p:spPr>
        </p:sp>
      </p:grpSp>
      <p:grpSp>
        <p:nvGrpSpPr>
          <p:cNvPr id="167" name="!!participant-50"/>
          <p:cNvGrpSpPr/>
          <p:nvPr/>
        </p:nvGrpSpPr>
        <p:grpSpPr>
          <a:xfrm>
            <a:off x="9138856" y="4122610"/>
            <a:ext cx="109347" cy="320231"/>
            <a:chOff x="9138856" y="4122610"/>
            <a:chExt cx="109347" cy="320231"/>
          </a:xfrm>
        </p:grpSpPr>
        <p:sp>
          <p:nvSpPr>
            <p:cNvPr id="165" name="Ellipse 165"/>
            <p:cNvSpPr/>
            <p:nvPr/>
          </p:nvSpPr>
          <p:spPr>
            <a:xfrm>
              <a:off x="9146667" y="4122610"/>
              <a:ext cx="93726" cy="93726"/>
            </a:xfrm>
            <a:prstGeom prst="ellipse">
              <a:avLst/>
            </a:prstGeom>
            <a:solidFill>
              <a:schemeClr val="accent1"/>
            </a:solidFill>
            <a:ln w="13335">
              <a:solidFill>
                <a:schemeClr val="accent1"/>
              </a:solidFill>
            </a:ln>
          </p:spPr>
        </p:sp>
        <p:sp>
          <p:nvSpPr>
            <p:cNvPr id="166" name="Rectangle 166"/>
            <p:cNvSpPr/>
            <p:nvPr/>
          </p:nvSpPr>
          <p:spPr>
            <a:xfrm>
              <a:off x="9138856" y="4255389"/>
              <a:ext cx="109347" cy="187452"/>
            </a:xfrm>
            <a:prstGeom prst="roundRect">
              <a:avLst>
                <a:gd name="adj" fmla="val 42857"/>
              </a:avLst>
            </a:prstGeom>
            <a:solidFill>
              <a:schemeClr val="accent1"/>
            </a:solidFill>
            <a:ln w="13335">
              <a:solidFill>
                <a:schemeClr val="accent1"/>
              </a:solidFill>
            </a:ln>
          </p:spPr>
        </p:sp>
      </p:grpSp>
      <p:grpSp>
        <p:nvGrpSpPr>
          <p:cNvPr id="170" name="!!participant-51"/>
          <p:cNvGrpSpPr/>
          <p:nvPr/>
        </p:nvGrpSpPr>
        <p:grpSpPr>
          <a:xfrm>
            <a:off x="9605582" y="4122610"/>
            <a:ext cx="109347" cy="320231"/>
            <a:chOff x="9605582" y="4122610"/>
            <a:chExt cx="109347" cy="320231"/>
          </a:xfrm>
        </p:grpSpPr>
        <p:sp>
          <p:nvSpPr>
            <p:cNvPr id="168" name="Ellipse 168"/>
            <p:cNvSpPr/>
            <p:nvPr/>
          </p:nvSpPr>
          <p:spPr>
            <a:xfrm>
              <a:off x="9613392" y="4122610"/>
              <a:ext cx="93726" cy="93726"/>
            </a:xfrm>
            <a:prstGeom prst="ellipse">
              <a:avLst/>
            </a:prstGeom>
            <a:solidFill>
              <a:schemeClr val="accent1"/>
            </a:solidFill>
            <a:ln w="13335">
              <a:solidFill>
                <a:schemeClr val="accent1"/>
              </a:solidFill>
            </a:ln>
          </p:spPr>
        </p:sp>
        <p:sp>
          <p:nvSpPr>
            <p:cNvPr id="169" name="Rectangle 169"/>
            <p:cNvSpPr/>
            <p:nvPr/>
          </p:nvSpPr>
          <p:spPr>
            <a:xfrm>
              <a:off x="9605582" y="4255389"/>
              <a:ext cx="109347" cy="187452"/>
            </a:xfrm>
            <a:prstGeom prst="roundRect">
              <a:avLst>
                <a:gd name="adj" fmla="val 42857"/>
              </a:avLst>
            </a:prstGeom>
            <a:solidFill>
              <a:schemeClr val="accent1"/>
            </a:solidFill>
            <a:ln w="13335">
              <a:solidFill>
                <a:schemeClr val="accent1"/>
              </a:solidFill>
            </a:ln>
          </p:spPr>
        </p:sp>
      </p:grpSp>
      <p:grpSp>
        <p:nvGrpSpPr>
          <p:cNvPr id="173" name="!!participant-52"/>
          <p:cNvGrpSpPr/>
          <p:nvPr/>
        </p:nvGrpSpPr>
        <p:grpSpPr>
          <a:xfrm>
            <a:off x="10072306" y="4122610"/>
            <a:ext cx="109347" cy="320231"/>
            <a:chOff x="10072306" y="4122610"/>
            <a:chExt cx="109347" cy="320231"/>
          </a:xfrm>
        </p:grpSpPr>
        <p:sp>
          <p:nvSpPr>
            <p:cNvPr id="171" name="Ellipse 171"/>
            <p:cNvSpPr/>
            <p:nvPr/>
          </p:nvSpPr>
          <p:spPr>
            <a:xfrm>
              <a:off x="10080117" y="4122610"/>
              <a:ext cx="93726" cy="93726"/>
            </a:xfrm>
            <a:prstGeom prst="ellipse">
              <a:avLst/>
            </a:prstGeom>
            <a:solidFill>
              <a:schemeClr val="accent1"/>
            </a:solidFill>
            <a:ln w="13335">
              <a:solidFill>
                <a:schemeClr val="accent1"/>
              </a:solidFill>
            </a:ln>
          </p:spPr>
        </p:sp>
        <p:sp>
          <p:nvSpPr>
            <p:cNvPr id="172" name="Rectangle 172"/>
            <p:cNvSpPr/>
            <p:nvPr/>
          </p:nvSpPr>
          <p:spPr>
            <a:xfrm>
              <a:off x="10072306" y="4255389"/>
              <a:ext cx="109347" cy="187452"/>
            </a:xfrm>
            <a:prstGeom prst="roundRect">
              <a:avLst>
                <a:gd name="adj" fmla="val 42857"/>
              </a:avLst>
            </a:prstGeom>
            <a:solidFill>
              <a:schemeClr val="accent1"/>
            </a:solidFill>
            <a:ln w="13335">
              <a:solidFill>
                <a:schemeClr val="accent1"/>
              </a:solidFill>
            </a:ln>
          </p:spPr>
        </p:sp>
      </p:grpSp>
      <p:grpSp>
        <p:nvGrpSpPr>
          <p:cNvPr id="176" name="!!participant-53"/>
          <p:cNvGrpSpPr/>
          <p:nvPr/>
        </p:nvGrpSpPr>
        <p:grpSpPr>
          <a:xfrm>
            <a:off x="10539032" y="4122610"/>
            <a:ext cx="109347" cy="320231"/>
            <a:chOff x="10539032" y="4122610"/>
            <a:chExt cx="109347" cy="320231"/>
          </a:xfrm>
        </p:grpSpPr>
        <p:sp>
          <p:nvSpPr>
            <p:cNvPr id="174" name="Ellipse 174"/>
            <p:cNvSpPr/>
            <p:nvPr/>
          </p:nvSpPr>
          <p:spPr>
            <a:xfrm>
              <a:off x="10546842" y="4122610"/>
              <a:ext cx="93726" cy="93726"/>
            </a:xfrm>
            <a:prstGeom prst="ellipse">
              <a:avLst/>
            </a:prstGeom>
            <a:solidFill>
              <a:schemeClr val="accent1"/>
            </a:solidFill>
            <a:ln w="13335">
              <a:solidFill>
                <a:schemeClr val="accent1"/>
              </a:solidFill>
            </a:ln>
          </p:spPr>
        </p:sp>
        <p:sp>
          <p:nvSpPr>
            <p:cNvPr id="175" name="Rectangle 175"/>
            <p:cNvSpPr/>
            <p:nvPr/>
          </p:nvSpPr>
          <p:spPr>
            <a:xfrm>
              <a:off x="10539032" y="4255389"/>
              <a:ext cx="109347" cy="187452"/>
            </a:xfrm>
            <a:prstGeom prst="roundRect">
              <a:avLst>
                <a:gd name="adj" fmla="val 42857"/>
              </a:avLst>
            </a:prstGeom>
            <a:solidFill>
              <a:schemeClr val="accent1"/>
            </a:solidFill>
            <a:ln w="13335">
              <a:solidFill>
                <a:schemeClr val="accent1"/>
              </a:solidFill>
            </a:ln>
          </p:spPr>
        </p:sp>
      </p:grpSp>
      <p:grpSp>
        <p:nvGrpSpPr>
          <p:cNvPr id="179" name="!!participant-54"/>
          <p:cNvGrpSpPr/>
          <p:nvPr/>
        </p:nvGrpSpPr>
        <p:grpSpPr>
          <a:xfrm>
            <a:off x="11005756" y="4122610"/>
            <a:ext cx="109347" cy="320231"/>
            <a:chOff x="11005756" y="4122610"/>
            <a:chExt cx="109347" cy="320231"/>
          </a:xfrm>
        </p:grpSpPr>
        <p:sp>
          <p:nvSpPr>
            <p:cNvPr id="177" name="Ellipse 177"/>
            <p:cNvSpPr/>
            <p:nvPr/>
          </p:nvSpPr>
          <p:spPr>
            <a:xfrm>
              <a:off x="11013567" y="4122610"/>
              <a:ext cx="93726" cy="93726"/>
            </a:xfrm>
            <a:prstGeom prst="ellipse">
              <a:avLst/>
            </a:prstGeom>
            <a:solidFill>
              <a:schemeClr val="accent1"/>
            </a:solidFill>
            <a:ln w="13335">
              <a:solidFill>
                <a:schemeClr val="accent1"/>
              </a:solidFill>
            </a:ln>
          </p:spPr>
        </p:sp>
        <p:sp>
          <p:nvSpPr>
            <p:cNvPr id="178" name="Rectangle 178"/>
            <p:cNvSpPr/>
            <p:nvPr/>
          </p:nvSpPr>
          <p:spPr>
            <a:xfrm>
              <a:off x="11005756" y="4255389"/>
              <a:ext cx="109347" cy="187452"/>
            </a:xfrm>
            <a:prstGeom prst="roundRect">
              <a:avLst>
                <a:gd name="adj" fmla="val 42857"/>
              </a:avLst>
            </a:prstGeom>
            <a:solidFill>
              <a:schemeClr val="accent1"/>
            </a:solidFill>
            <a:ln w="13335">
              <a:solidFill>
                <a:schemeClr val="accent1"/>
              </a:solidFill>
            </a:ln>
          </p:spPr>
        </p:sp>
      </p:grpSp>
      <p:grpSp>
        <p:nvGrpSpPr>
          <p:cNvPr id="182" name="!!participant-55"/>
          <p:cNvGrpSpPr/>
          <p:nvPr/>
        </p:nvGrpSpPr>
        <p:grpSpPr>
          <a:xfrm>
            <a:off x="4938332" y="4617910"/>
            <a:ext cx="109347" cy="320231"/>
            <a:chOff x="4938332" y="4617910"/>
            <a:chExt cx="109347" cy="320231"/>
          </a:xfrm>
        </p:grpSpPr>
        <p:sp>
          <p:nvSpPr>
            <p:cNvPr id="180" name="Ellipse 180"/>
            <p:cNvSpPr/>
            <p:nvPr/>
          </p:nvSpPr>
          <p:spPr>
            <a:xfrm>
              <a:off x="4946142" y="4617910"/>
              <a:ext cx="93726" cy="93726"/>
            </a:xfrm>
            <a:prstGeom prst="ellipse">
              <a:avLst/>
            </a:prstGeom>
            <a:solidFill>
              <a:schemeClr val="accent1"/>
            </a:solidFill>
            <a:ln w="13335">
              <a:solidFill>
                <a:schemeClr val="accent1"/>
              </a:solidFill>
            </a:ln>
          </p:spPr>
        </p:sp>
        <p:sp>
          <p:nvSpPr>
            <p:cNvPr id="181" name="Rectangle 181"/>
            <p:cNvSpPr/>
            <p:nvPr/>
          </p:nvSpPr>
          <p:spPr>
            <a:xfrm>
              <a:off x="4938332" y="4750689"/>
              <a:ext cx="109347" cy="187452"/>
            </a:xfrm>
            <a:prstGeom prst="roundRect">
              <a:avLst>
                <a:gd name="adj" fmla="val 42857"/>
              </a:avLst>
            </a:prstGeom>
            <a:solidFill>
              <a:schemeClr val="accent1"/>
            </a:solidFill>
            <a:ln w="13335">
              <a:solidFill>
                <a:schemeClr val="accent1"/>
              </a:solidFill>
            </a:ln>
          </p:spPr>
        </p:sp>
      </p:grpSp>
      <p:grpSp>
        <p:nvGrpSpPr>
          <p:cNvPr id="185" name="!!participant-56"/>
          <p:cNvGrpSpPr/>
          <p:nvPr/>
        </p:nvGrpSpPr>
        <p:grpSpPr>
          <a:xfrm>
            <a:off x="5405056" y="4617910"/>
            <a:ext cx="109347" cy="320231"/>
            <a:chOff x="5405056" y="4617910"/>
            <a:chExt cx="109347" cy="320231"/>
          </a:xfrm>
        </p:grpSpPr>
        <p:sp>
          <p:nvSpPr>
            <p:cNvPr id="183" name="Ellipse 183"/>
            <p:cNvSpPr/>
            <p:nvPr/>
          </p:nvSpPr>
          <p:spPr>
            <a:xfrm>
              <a:off x="5412867" y="4617910"/>
              <a:ext cx="93726" cy="93726"/>
            </a:xfrm>
            <a:prstGeom prst="ellipse">
              <a:avLst/>
            </a:prstGeom>
            <a:solidFill>
              <a:schemeClr val="accent1"/>
            </a:solidFill>
            <a:ln w="13335">
              <a:solidFill>
                <a:schemeClr val="accent1"/>
              </a:solidFill>
            </a:ln>
          </p:spPr>
        </p:sp>
        <p:sp>
          <p:nvSpPr>
            <p:cNvPr id="184" name="Rectangle 184"/>
            <p:cNvSpPr/>
            <p:nvPr/>
          </p:nvSpPr>
          <p:spPr>
            <a:xfrm>
              <a:off x="5405056" y="4750689"/>
              <a:ext cx="109347" cy="187452"/>
            </a:xfrm>
            <a:prstGeom prst="roundRect">
              <a:avLst>
                <a:gd name="adj" fmla="val 42857"/>
              </a:avLst>
            </a:prstGeom>
            <a:solidFill>
              <a:schemeClr val="accent1"/>
            </a:solidFill>
            <a:ln w="13335">
              <a:solidFill>
                <a:schemeClr val="accent1"/>
              </a:solidFill>
            </a:ln>
          </p:spPr>
        </p:sp>
      </p:grpSp>
      <p:grpSp>
        <p:nvGrpSpPr>
          <p:cNvPr id="188" name="!!participant-57"/>
          <p:cNvGrpSpPr/>
          <p:nvPr/>
        </p:nvGrpSpPr>
        <p:grpSpPr>
          <a:xfrm>
            <a:off x="5871782" y="4617910"/>
            <a:ext cx="109347" cy="320231"/>
            <a:chOff x="5871782" y="4617910"/>
            <a:chExt cx="109347" cy="320231"/>
          </a:xfrm>
        </p:grpSpPr>
        <p:sp>
          <p:nvSpPr>
            <p:cNvPr id="186" name="Ellipse 186"/>
            <p:cNvSpPr/>
            <p:nvPr/>
          </p:nvSpPr>
          <p:spPr>
            <a:xfrm>
              <a:off x="5879592" y="4617910"/>
              <a:ext cx="93726" cy="93726"/>
            </a:xfrm>
            <a:prstGeom prst="ellipse">
              <a:avLst/>
            </a:prstGeom>
            <a:solidFill>
              <a:schemeClr val="accent1"/>
            </a:solidFill>
            <a:ln w="13335">
              <a:solidFill>
                <a:schemeClr val="accent1"/>
              </a:solidFill>
            </a:ln>
          </p:spPr>
        </p:sp>
        <p:sp>
          <p:nvSpPr>
            <p:cNvPr id="187" name="Rectangle 187"/>
            <p:cNvSpPr/>
            <p:nvPr/>
          </p:nvSpPr>
          <p:spPr>
            <a:xfrm>
              <a:off x="5871782" y="4750689"/>
              <a:ext cx="109347" cy="187452"/>
            </a:xfrm>
            <a:prstGeom prst="roundRect">
              <a:avLst>
                <a:gd name="adj" fmla="val 42857"/>
              </a:avLst>
            </a:prstGeom>
            <a:solidFill>
              <a:schemeClr val="accent1"/>
            </a:solidFill>
            <a:ln w="13335">
              <a:solidFill>
                <a:schemeClr val="accent1"/>
              </a:solidFill>
            </a:ln>
          </p:spPr>
        </p:sp>
      </p:grpSp>
      <p:grpSp>
        <p:nvGrpSpPr>
          <p:cNvPr id="191" name="!!participant-58"/>
          <p:cNvGrpSpPr/>
          <p:nvPr/>
        </p:nvGrpSpPr>
        <p:grpSpPr>
          <a:xfrm>
            <a:off x="6338506" y="4617910"/>
            <a:ext cx="109347" cy="320231"/>
            <a:chOff x="6338506" y="4617910"/>
            <a:chExt cx="109347" cy="320231"/>
          </a:xfrm>
        </p:grpSpPr>
        <p:sp>
          <p:nvSpPr>
            <p:cNvPr id="189" name="Ellipse 189"/>
            <p:cNvSpPr/>
            <p:nvPr/>
          </p:nvSpPr>
          <p:spPr>
            <a:xfrm>
              <a:off x="6346317" y="4617910"/>
              <a:ext cx="93726" cy="93726"/>
            </a:xfrm>
            <a:prstGeom prst="ellipse">
              <a:avLst/>
            </a:prstGeom>
            <a:solidFill>
              <a:schemeClr val="accent1"/>
            </a:solidFill>
            <a:ln w="13335">
              <a:solidFill>
                <a:schemeClr val="accent1"/>
              </a:solidFill>
            </a:ln>
          </p:spPr>
        </p:sp>
        <p:sp>
          <p:nvSpPr>
            <p:cNvPr id="190" name="Rectangle 190"/>
            <p:cNvSpPr/>
            <p:nvPr/>
          </p:nvSpPr>
          <p:spPr>
            <a:xfrm>
              <a:off x="6338506" y="4750689"/>
              <a:ext cx="109347" cy="187452"/>
            </a:xfrm>
            <a:prstGeom prst="roundRect">
              <a:avLst>
                <a:gd name="adj" fmla="val 42857"/>
              </a:avLst>
            </a:prstGeom>
            <a:solidFill>
              <a:schemeClr val="accent1"/>
            </a:solidFill>
            <a:ln w="13335">
              <a:solidFill>
                <a:schemeClr val="accent1"/>
              </a:solidFill>
            </a:ln>
          </p:spPr>
        </p:sp>
      </p:grpSp>
      <p:grpSp>
        <p:nvGrpSpPr>
          <p:cNvPr id="194" name="!!participant-59"/>
          <p:cNvGrpSpPr/>
          <p:nvPr/>
        </p:nvGrpSpPr>
        <p:grpSpPr>
          <a:xfrm>
            <a:off x="6805232" y="4617910"/>
            <a:ext cx="109347" cy="320231"/>
            <a:chOff x="6805232" y="4617910"/>
            <a:chExt cx="109347" cy="320231"/>
          </a:xfrm>
        </p:grpSpPr>
        <p:sp>
          <p:nvSpPr>
            <p:cNvPr id="192" name="Ellipse 192"/>
            <p:cNvSpPr/>
            <p:nvPr/>
          </p:nvSpPr>
          <p:spPr>
            <a:xfrm>
              <a:off x="6813042" y="4617910"/>
              <a:ext cx="93726" cy="93726"/>
            </a:xfrm>
            <a:prstGeom prst="ellipse">
              <a:avLst/>
            </a:prstGeom>
            <a:solidFill>
              <a:schemeClr val="accent1"/>
            </a:solidFill>
            <a:ln w="13335">
              <a:solidFill>
                <a:schemeClr val="accent1"/>
              </a:solidFill>
            </a:ln>
          </p:spPr>
        </p:sp>
        <p:sp>
          <p:nvSpPr>
            <p:cNvPr id="193" name="Rectangle 193"/>
            <p:cNvSpPr/>
            <p:nvPr/>
          </p:nvSpPr>
          <p:spPr>
            <a:xfrm>
              <a:off x="6805232" y="4750689"/>
              <a:ext cx="109347" cy="187452"/>
            </a:xfrm>
            <a:prstGeom prst="roundRect">
              <a:avLst>
                <a:gd name="adj" fmla="val 42857"/>
              </a:avLst>
            </a:prstGeom>
            <a:solidFill>
              <a:schemeClr val="accent1"/>
            </a:solidFill>
            <a:ln w="13335">
              <a:solidFill>
                <a:schemeClr val="accent1"/>
              </a:solidFill>
            </a:ln>
          </p:spPr>
        </p:sp>
      </p:grpSp>
      <p:grpSp>
        <p:nvGrpSpPr>
          <p:cNvPr id="197" name="!!participant-60"/>
          <p:cNvGrpSpPr/>
          <p:nvPr/>
        </p:nvGrpSpPr>
        <p:grpSpPr>
          <a:xfrm>
            <a:off x="7271956" y="4617910"/>
            <a:ext cx="109347" cy="320231"/>
            <a:chOff x="7271956" y="4617910"/>
            <a:chExt cx="109347" cy="320231"/>
          </a:xfrm>
        </p:grpSpPr>
        <p:sp>
          <p:nvSpPr>
            <p:cNvPr id="195" name="Ellipse 195"/>
            <p:cNvSpPr/>
            <p:nvPr/>
          </p:nvSpPr>
          <p:spPr>
            <a:xfrm>
              <a:off x="7279767" y="4617910"/>
              <a:ext cx="93726" cy="93726"/>
            </a:xfrm>
            <a:prstGeom prst="ellipse">
              <a:avLst/>
            </a:prstGeom>
            <a:solidFill>
              <a:schemeClr val="accent1"/>
            </a:solidFill>
            <a:ln w="13335">
              <a:solidFill>
                <a:schemeClr val="accent1"/>
              </a:solidFill>
            </a:ln>
          </p:spPr>
        </p:sp>
        <p:sp>
          <p:nvSpPr>
            <p:cNvPr id="196" name="Rectangle 196"/>
            <p:cNvSpPr/>
            <p:nvPr/>
          </p:nvSpPr>
          <p:spPr>
            <a:xfrm>
              <a:off x="7271956" y="4750689"/>
              <a:ext cx="109347" cy="187452"/>
            </a:xfrm>
            <a:prstGeom prst="roundRect">
              <a:avLst>
                <a:gd name="adj" fmla="val 42857"/>
              </a:avLst>
            </a:prstGeom>
            <a:solidFill>
              <a:schemeClr val="accent1"/>
            </a:solidFill>
            <a:ln w="13335">
              <a:solidFill>
                <a:schemeClr val="accent1"/>
              </a:solidFill>
            </a:ln>
          </p:spPr>
        </p:sp>
      </p:grpSp>
      <p:grpSp>
        <p:nvGrpSpPr>
          <p:cNvPr id="200" name="!!participant-61"/>
          <p:cNvGrpSpPr/>
          <p:nvPr/>
        </p:nvGrpSpPr>
        <p:grpSpPr>
          <a:xfrm>
            <a:off x="7738682" y="4617910"/>
            <a:ext cx="109347" cy="320231"/>
            <a:chOff x="7738682" y="4617910"/>
            <a:chExt cx="109347" cy="320231"/>
          </a:xfrm>
        </p:grpSpPr>
        <p:sp>
          <p:nvSpPr>
            <p:cNvPr id="198" name="Ellipse 198"/>
            <p:cNvSpPr/>
            <p:nvPr/>
          </p:nvSpPr>
          <p:spPr>
            <a:xfrm>
              <a:off x="7746492" y="4617910"/>
              <a:ext cx="93726" cy="93726"/>
            </a:xfrm>
            <a:prstGeom prst="ellipse">
              <a:avLst/>
            </a:prstGeom>
            <a:solidFill>
              <a:schemeClr val="accent1"/>
            </a:solidFill>
            <a:ln w="13335">
              <a:solidFill>
                <a:schemeClr val="accent1"/>
              </a:solidFill>
            </a:ln>
          </p:spPr>
        </p:sp>
        <p:sp>
          <p:nvSpPr>
            <p:cNvPr id="199" name="Rectangle 199"/>
            <p:cNvSpPr/>
            <p:nvPr/>
          </p:nvSpPr>
          <p:spPr>
            <a:xfrm>
              <a:off x="7738682" y="4750689"/>
              <a:ext cx="109347" cy="187452"/>
            </a:xfrm>
            <a:prstGeom prst="roundRect">
              <a:avLst>
                <a:gd name="adj" fmla="val 42857"/>
              </a:avLst>
            </a:prstGeom>
            <a:solidFill>
              <a:schemeClr val="accent1"/>
            </a:solidFill>
            <a:ln w="13335">
              <a:solidFill>
                <a:schemeClr val="accent1"/>
              </a:solidFill>
            </a:ln>
          </p:spPr>
        </p:sp>
      </p:grpSp>
      <p:grpSp>
        <p:nvGrpSpPr>
          <p:cNvPr id="203" name="!!participant-62"/>
          <p:cNvGrpSpPr/>
          <p:nvPr/>
        </p:nvGrpSpPr>
        <p:grpSpPr>
          <a:xfrm>
            <a:off x="8205406" y="4617910"/>
            <a:ext cx="109347" cy="320231"/>
            <a:chOff x="8205406" y="4617910"/>
            <a:chExt cx="109347" cy="320231"/>
          </a:xfrm>
        </p:grpSpPr>
        <p:sp>
          <p:nvSpPr>
            <p:cNvPr id="201" name="Ellipse 201"/>
            <p:cNvSpPr/>
            <p:nvPr/>
          </p:nvSpPr>
          <p:spPr>
            <a:xfrm>
              <a:off x="8213217" y="4617910"/>
              <a:ext cx="93726" cy="93726"/>
            </a:xfrm>
            <a:prstGeom prst="ellipse">
              <a:avLst/>
            </a:prstGeom>
            <a:solidFill>
              <a:schemeClr val="accent1"/>
            </a:solidFill>
            <a:ln w="13335">
              <a:solidFill>
                <a:schemeClr val="accent1"/>
              </a:solidFill>
            </a:ln>
          </p:spPr>
        </p:sp>
        <p:sp>
          <p:nvSpPr>
            <p:cNvPr id="202" name="Rectangle 202"/>
            <p:cNvSpPr/>
            <p:nvPr/>
          </p:nvSpPr>
          <p:spPr>
            <a:xfrm>
              <a:off x="8205406" y="4750689"/>
              <a:ext cx="109347" cy="187452"/>
            </a:xfrm>
            <a:prstGeom prst="roundRect">
              <a:avLst>
                <a:gd name="adj" fmla="val 42857"/>
              </a:avLst>
            </a:prstGeom>
            <a:solidFill>
              <a:schemeClr val="accent1"/>
            </a:solidFill>
            <a:ln w="13335">
              <a:solidFill>
                <a:schemeClr val="accent1"/>
              </a:solidFill>
            </a:ln>
          </p:spPr>
        </p:sp>
      </p:grpSp>
      <p:grpSp>
        <p:nvGrpSpPr>
          <p:cNvPr id="206" name="!!participant-63"/>
          <p:cNvGrpSpPr/>
          <p:nvPr/>
        </p:nvGrpSpPr>
        <p:grpSpPr>
          <a:xfrm>
            <a:off x="8672132" y="4617910"/>
            <a:ext cx="109347" cy="320231"/>
            <a:chOff x="8672132" y="4617910"/>
            <a:chExt cx="109347" cy="320231"/>
          </a:xfrm>
        </p:grpSpPr>
        <p:sp>
          <p:nvSpPr>
            <p:cNvPr id="204" name="Ellipse 204"/>
            <p:cNvSpPr/>
            <p:nvPr/>
          </p:nvSpPr>
          <p:spPr>
            <a:xfrm>
              <a:off x="8679942" y="4617910"/>
              <a:ext cx="93726" cy="93726"/>
            </a:xfrm>
            <a:prstGeom prst="ellipse">
              <a:avLst/>
            </a:prstGeom>
            <a:solidFill>
              <a:schemeClr val="accent1"/>
            </a:solidFill>
            <a:ln w="13335">
              <a:solidFill>
                <a:schemeClr val="accent1"/>
              </a:solidFill>
            </a:ln>
          </p:spPr>
        </p:sp>
        <p:sp>
          <p:nvSpPr>
            <p:cNvPr id="205" name="Rectangle 205"/>
            <p:cNvSpPr/>
            <p:nvPr/>
          </p:nvSpPr>
          <p:spPr>
            <a:xfrm>
              <a:off x="8672132" y="4750689"/>
              <a:ext cx="109347" cy="187452"/>
            </a:xfrm>
            <a:prstGeom prst="roundRect">
              <a:avLst>
                <a:gd name="adj" fmla="val 42857"/>
              </a:avLst>
            </a:prstGeom>
            <a:solidFill>
              <a:schemeClr val="accent1"/>
            </a:solidFill>
            <a:ln w="13335">
              <a:solidFill>
                <a:schemeClr val="accent1"/>
              </a:solidFill>
            </a:ln>
          </p:spPr>
        </p:sp>
      </p:grpSp>
      <p:grpSp>
        <p:nvGrpSpPr>
          <p:cNvPr id="209" name="!!participant-64"/>
          <p:cNvGrpSpPr/>
          <p:nvPr/>
        </p:nvGrpSpPr>
        <p:grpSpPr>
          <a:xfrm>
            <a:off x="9138856" y="4617910"/>
            <a:ext cx="109347" cy="320231"/>
            <a:chOff x="9138856" y="4617910"/>
            <a:chExt cx="109347" cy="320231"/>
          </a:xfrm>
        </p:grpSpPr>
        <p:sp>
          <p:nvSpPr>
            <p:cNvPr id="207" name="Ellipse 207"/>
            <p:cNvSpPr/>
            <p:nvPr/>
          </p:nvSpPr>
          <p:spPr>
            <a:xfrm>
              <a:off x="9146667" y="4617910"/>
              <a:ext cx="93726" cy="93726"/>
            </a:xfrm>
            <a:prstGeom prst="ellipse">
              <a:avLst/>
            </a:prstGeom>
            <a:solidFill>
              <a:schemeClr val="accent1"/>
            </a:solidFill>
            <a:ln w="13335">
              <a:solidFill>
                <a:schemeClr val="accent1"/>
              </a:solidFill>
            </a:ln>
          </p:spPr>
        </p:sp>
        <p:sp>
          <p:nvSpPr>
            <p:cNvPr id="208" name="Rectangle 208"/>
            <p:cNvSpPr/>
            <p:nvPr/>
          </p:nvSpPr>
          <p:spPr>
            <a:xfrm>
              <a:off x="9138856" y="4750689"/>
              <a:ext cx="109347" cy="187452"/>
            </a:xfrm>
            <a:prstGeom prst="roundRect">
              <a:avLst>
                <a:gd name="adj" fmla="val 42857"/>
              </a:avLst>
            </a:prstGeom>
            <a:solidFill>
              <a:schemeClr val="accent1"/>
            </a:solidFill>
            <a:ln w="13335">
              <a:solidFill>
                <a:schemeClr val="accent1"/>
              </a:solidFill>
            </a:ln>
          </p:spPr>
        </p:sp>
      </p:grpSp>
      <p:grpSp>
        <p:nvGrpSpPr>
          <p:cNvPr id="212" name="!!participant-65"/>
          <p:cNvGrpSpPr/>
          <p:nvPr/>
        </p:nvGrpSpPr>
        <p:grpSpPr>
          <a:xfrm>
            <a:off x="9605582" y="4617910"/>
            <a:ext cx="109347" cy="320231"/>
            <a:chOff x="9605582" y="4617910"/>
            <a:chExt cx="109347" cy="320231"/>
          </a:xfrm>
        </p:grpSpPr>
        <p:sp>
          <p:nvSpPr>
            <p:cNvPr id="210" name="Ellipse 210"/>
            <p:cNvSpPr/>
            <p:nvPr/>
          </p:nvSpPr>
          <p:spPr>
            <a:xfrm>
              <a:off x="9613392" y="4617910"/>
              <a:ext cx="93726" cy="93726"/>
            </a:xfrm>
            <a:prstGeom prst="ellipse">
              <a:avLst/>
            </a:prstGeom>
            <a:solidFill>
              <a:schemeClr val="accent1"/>
            </a:solidFill>
            <a:ln w="13335">
              <a:solidFill>
                <a:schemeClr val="accent1"/>
              </a:solidFill>
            </a:ln>
          </p:spPr>
        </p:sp>
        <p:sp>
          <p:nvSpPr>
            <p:cNvPr id="211" name="Rectangle 211"/>
            <p:cNvSpPr/>
            <p:nvPr/>
          </p:nvSpPr>
          <p:spPr>
            <a:xfrm>
              <a:off x="9605582" y="4750689"/>
              <a:ext cx="109347" cy="187452"/>
            </a:xfrm>
            <a:prstGeom prst="roundRect">
              <a:avLst>
                <a:gd name="adj" fmla="val 42857"/>
              </a:avLst>
            </a:prstGeom>
            <a:solidFill>
              <a:schemeClr val="accent1"/>
            </a:solidFill>
            <a:ln w="13335">
              <a:solidFill>
                <a:schemeClr val="accent1"/>
              </a:solidFill>
            </a:ln>
          </p:spPr>
        </p:sp>
      </p:grpSp>
      <p:grpSp>
        <p:nvGrpSpPr>
          <p:cNvPr id="215" name="!!participant-66"/>
          <p:cNvGrpSpPr/>
          <p:nvPr/>
        </p:nvGrpSpPr>
        <p:grpSpPr>
          <a:xfrm>
            <a:off x="10072306" y="4617910"/>
            <a:ext cx="109347" cy="320231"/>
            <a:chOff x="10072306" y="4617910"/>
            <a:chExt cx="109347" cy="320231"/>
          </a:xfrm>
        </p:grpSpPr>
        <p:sp>
          <p:nvSpPr>
            <p:cNvPr id="213" name="Ellipse 213"/>
            <p:cNvSpPr/>
            <p:nvPr/>
          </p:nvSpPr>
          <p:spPr>
            <a:xfrm>
              <a:off x="10080117" y="4617910"/>
              <a:ext cx="93726" cy="93726"/>
            </a:xfrm>
            <a:prstGeom prst="ellipse">
              <a:avLst/>
            </a:prstGeom>
            <a:solidFill>
              <a:schemeClr val="accent1"/>
            </a:solidFill>
            <a:ln w="13335">
              <a:solidFill>
                <a:schemeClr val="accent1"/>
              </a:solidFill>
            </a:ln>
          </p:spPr>
        </p:sp>
        <p:sp>
          <p:nvSpPr>
            <p:cNvPr id="214" name="Rectangle 214"/>
            <p:cNvSpPr/>
            <p:nvPr/>
          </p:nvSpPr>
          <p:spPr>
            <a:xfrm>
              <a:off x="10072306" y="4750689"/>
              <a:ext cx="109347" cy="187452"/>
            </a:xfrm>
            <a:prstGeom prst="roundRect">
              <a:avLst>
                <a:gd name="adj" fmla="val 42857"/>
              </a:avLst>
            </a:prstGeom>
            <a:solidFill>
              <a:schemeClr val="accent1"/>
            </a:solidFill>
            <a:ln w="13335">
              <a:solidFill>
                <a:schemeClr val="accent1"/>
              </a:solidFill>
            </a:ln>
          </p:spPr>
        </p:sp>
      </p:grpSp>
      <p:grpSp>
        <p:nvGrpSpPr>
          <p:cNvPr id="218" name="!!participant-67"/>
          <p:cNvGrpSpPr/>
          <p:nvPr/>
        </p:nvGrpSpPr>
        <p:grpSpPr>
          <a:xfrm>
            <a:off x="10539032" y="4617910"/>
            <a:ext cx="109347" cy="320231"/>
            <a:chOff x="10539032" y="4617910"/>
            <a:chExt cx="109347" cy="320231"/>
          </a:xfrm>
        </p:grpSpPr>
        <p:sp>
          <p:nvSpPr>
            <p:cNvPr id="216" name="Ellipse 216"/>
            <p:cNvSpPr/>
            <p:nvPr/>
          </p:nvSpPr>
          <p:spPr>
            <a:xfrm>
              <a:off x="10546842" y="4617910"/>
              <a:ext cx="93726" cy="93726"/>
            </a:xfrm>
            <a:prstGeom prst="ellipse">
              <a:avLst/>
            </a:prstGeom>
            <a:solidFill>
              <a:schemeClr val="accent1"/>
            </a:solidFill>
            <a:ln w="13335">
              <a:solidFill>
                <a:schemeClr val="accent1"/>
              </a:solidFill>
            </a:ln>
          </p:spPr>
        </p:sp>
        <p:sp>
          <p:nvSpPr>
            <p:cNvPr id="217" name="Rectangle 217"/>
            <p:cNvSpPr/>
            <p:nvPr/>
          </p:nvSpPr>
          <p:spPr>
            <a:xfrm>
              <a:off x="10539032" y="4750689"/>
              <a:ext cx="109347" cy="187452"/>
            </a:xfrm>
            <a:prstGeom prst="roundRect">
              <a:avLst>
                <a:gd name="adj" fmla="val 42857"/>
              </a:avLst>
            </a:prstGeom>
            <a:solidFill>
              <a:schemeClr val="accent1"/>
            </a:solidFill>
            <a:ln w="13335">
              <a:solidFill>
                <a:schemeClr val="accent1"/>
              </a:solidFill>
            </a:ln>
          </p:spPr>
        </p:sp>
      </p:grpSp>
      <p:grpSp>
        <p:nvGrpSpPr>
          <p:cNvPr id="221" name="!!participant-68"/>
          <p:cNvGrpSpPr/>
          <p:nvPr/>
        </p:nvGrpSpPr>
        <p:grpSpPr>
          <a:xfrm>
            <a:off x="11005756" y="4617910"/>
            <a:ext cx="109347" cy="320231"/>
            <a:chOff x="11005756" y="4617910"/>
            <a:chExt cx="109347" cy="320231"/>
          </a:xfrm>
        </p:grpSpPr>
        <p:sp>
          <p:nvSpPr>
            <p:cNvPr id="219" name="Ellipse 219"/>
            <p:cNvSpPr/>
            <p:nvPr/>
          </p:nvSpPr>
          <p:spPr>
            <a:xfrm>
              <a:off x="11013567" y="4617910"/>
              <a:ext cx="93726" cy="93726"/>
            </a:xfrm>
            <a:prstGeom prst="ellipse">
              <a:avLst/>
            </a:prstGeom>
            <a:solidFill>
              <a:schemeClr val="accent1"/>
            </a:solidFill>
            <a:ln w="13335">
              <a:solidFill>
                <a:schemeClr val="accent1"/>
              </a:solidFill>
            </a:ln>
          </p:spPr>
        </p:sp>
        <p:sp>
          <p:nvSpPr>
            <p:cNvPr id="220" name="Rectangle 220"/>
            <p:cNvSpPr/>
            <p:nvPr/>
          </p:nvSpPr>
          <p:spPr>
            <a:xfrm>
              <a:off x="11005756" y="4750689"/>
              <a:ext cx="109347" cy="187452"/>
            </a:xfrm>
            <a:prstGeom prst="roundRect">
              <a:avLst>
                <a:gd name="adj" fmla="val 42857"/>
              </a:avLst>
            </a:prstGeom>
            <a:solidFill>
              <a:schemeClr val="accent1"/>
            </a:solidFill>
            <a:ln w="13335">
              <a:solidFill>
                <a:schemeClr val="accent1"/>
              </a:solidFill>
            </a:ln>
          </p:spPr>
        </p:sp>
      </p:grpSp>
      <p:grpSp>
        <p:nvGrpSpPr>
          <p:cNvPr id="224" name="!!participant-69"/>
          <p:cNvGrpSpPr/>
          <p:nvPr/>
        </p:nvGrpSpPr>
        <p:grpSpPr>
          <a:xfrm>
            <a:off x="4938332" y="5113211"/>
            <a:ext cx="109347" cy="320230"/>
            <a:chOff x="4938332" y="5113211"/>
            <a:chExt cx="109347" cy="320230"/>
          </a:xfrm>
        </p:grpSpPr>
        <p:sp>
          <p:nvSpPr>
            <p:cNvPr id="222" name="Ellipse 222"/>
            <p:cNvSpPr/>
            <p:nvPr/>
          </p:nvSpPr>
          <p:spPr>
            <a:xfrm>
              <a:off x="4946142" y="5113211"/>
              <a:ext cx="93726" cy="93726"/>
            </a:xfrm>
            <a:prstGeom prst="ellipse">
              <a:avLst/>
            </a:prstGeom>
            <a:solidFill>
              <a:schemeClr val="accent1"/>
            </a:solidFill>
            <a:ln w="13335">
              <a:solidFill>
                <a:schemeClr val="accent1"/>
              </a:solidFill>
            </a:ln>
          </p:spPr>
        </p:sp>
        <p:sp>
          <p:nvSpPr>
            <p:cNvPr id="223" name="Rectangle 223"/>
            <p:cNvSpPr/>
            <p:nvPr/>
          </p:nvSpPr>
          <p:spPr>
            <a:xfrm>
              <a:off x="4938332" y="5245989"/>
              <a:ext cx="109347" cy="187452"/>
            </a:xfrm>
            <a:prstGeom prst="roundRect">
              <a:avLst>
                <a:gd name="adj" fmla="val 42857"/>
              </a:avLst>
            </a:prstGeom>
            <a:solidFill>
              <a:schemeClr val="accent1"/>
            </a:solidFill>
            <a:ln w="13335">
              <a:solidFill>
                <a:schemeClr val="accent1"/>
              </a:solidFill>
            </a:ln>
          </p:spPr>
        </p:sp>
      </p:grpSp>
      <p:grpSp>
        <p:nvGrpSpPr>
          <p:cNvPr id="227" name="!!participant-70"/>
          <p:cNvGrpSpPr/>
          <p:nvPr/>
        </p:nvGrpSpPr>
        <p:grpSpPr>
          <a:xfrm>
            <a:off x="5405056" y="5113211"/>
            <a:ext cx="109347" cy="320230"/>
            <a:chOff x="5405056" y="5113211"/>
            <a:chExt cx="109347" cy="320230"/>
          </a:xfrm>
        </p:grpSpPr>
        <p:sp>
          <p:nvSpPr>
            <p:cNvPr id="225" name="Ellipse 225"/>
            <p:cNvSpPr/>
            <p:nvPr/>
          </p:nvSpPr>
          <p:spPr>
            <a:xfrm>
              <a:off x="5412867" y="5113211"/>
              <a:ext cx="93726" cy="93726"/>
            </a:xfrm>
            <a:prstGeom prst="ellipse">
              <a:avLst/>
            </a:prstGeom>
            <a:solidFill>
              <a:schemeClr val="accent1"/>
            </a:solidFill>
            <a:ln w="13335">
              <a:solidFill>
                <a:schemeClr val="accent1"/>
              </a:solidFill>
            </a:ln>
          </p:spPr>
        </p:sp>
        <p:sp>
          <p:nvSpPr>
            <p:cNvPr id="226" name="Rectangle 226"/>
            <p:cNvSpPr/>
            <p:nvPr/>
          </p:nvSpPr>
          <p:spPr>
            <a:xfrm>
              <a:off x="5405056" y="5245989"/>
              <a:ext cx="109347" cy="187452"/>
            </a:xfrm>
            <a:prstGeom prst="roundRect">
              <a:avLst>
                <a:gd name="adj" fmla="val 42857"/>
              </a:avLst>
            </a:prstGeom>
            <a:solidFill>
              <a:schemeClr val="accent1"/>
            </a:solidFill>
            <a:ln w="13335">
              <a:solidFill>
                <a:schemeClr val="accent1"/>
              </a:solidFill>
            </a:ln>
          </p:spPr>
        </p:sp>
      </p:grpSp>
      <p:grpSp>
        <p:nvGrpSpPr>
          <p:cNvPr id="230" name="!!participant-71"/>
          <p:cNvGrpSpPr/>
          <p:nvPr/>
        </p:nvGrpSpPr>
        <p:grpSpPr>
          <a:xfrm>
            <a:off x="5871782" y="5113211"/>
            <a:ext cx="109347" cy="320230"/>
            <a:chOff x="5871782" y="5113211"/>
            <a:chExt cx="109347" cy="320230"/>
          </a:xfrm>
        </p:grpSpPr>
        <p:sp>
          <p:nvSpPr>
            <p:cNvPr id="228" name="Ellipse 228"/>
            <p:cNvSpPr/>
            <p:nvPr/>
          </p:nvSpPr>
          <p:spPr>
            <a:xfrm>
              <a:off x="5879592" y="5113211"/>
              <a:ext cx="93726" cy="93726"/>
            </a:xfrm>
            <a:prstGeom prst="ellipse">
              <a:avLst/>
            </a:prstGeom>
            <a:noFill/>
            <a:ln w="13335">
              <a:solidFill>
                <a:schemeClr val="accent2"/>
              </a:solidFill>
            </a:ln>
          </p:spPr>
        </p:sp>
        <p:sp>
          <p:nvSpPr>
            <p:cNvPr id="229" name="Rectangle 229"/>
            <p:cNvSpPr/>
            <p:nvPr/>
          </p:nvSpPr>
          <p:spPr>
            <a:xfrm>
              <a:off x="5871782" y="5245989"/>
              <a:ext cx="109347" cy="187452"/>
            </a:xfrm>
            <a:prstGeom prst="roundRect">
              <a:avLst>
                <a:gd name="adj" fmla="val 42857"/>
              </a:avLst>
            </a:prstGeom>
            <a:noFill/>
            <a:ln w="13335">
              <a:solidFill>
                <a:schemeClr val="accent2"/>
              </a:solidFill>
            </a:ln>
          </p:spPr>
        </p:sp>
      </p:grpSp>
      <p:grpSp>
        <p:nvGrpSpPr>
          <p:cNvPr id="233" name="!!participant-72"/>
          <p:cNvGrpSpPr/>
          <p:nvPr/>
        </p:nvGrpSpPr>
        <p:grpSpPr>
          <a:xfrm>
            <a:off x="6338506" y="5113211"/>
            <a:ext cx="109347" cy="320230"/>
            <a:chOff x="6338506" y="5113211"/>
            <a:chExt cx="109347" cy="320230"/>
          </a:xfrm>
        </p:grpSpPr>
        <p:sp>
          <p:nvSpPr>
            <p:cNvPr id="231" name="Ellipse 231"/>
            <p:cNvSpPr/>
            <p:nvPr/>
          </p:nvSpPr>
          <p:spPr>
            <a:xfrm>
              <a:off x="6346317" y="5113211"/>
              <a:ext cx="93726" cy="93726"/>
            </a:xfrm>
            <a:prstGeom prst="ellipse">
              <a:avLst/>
            </a:prstGeom>
            <a:noFill/>
            <a:ln w="13335">
              <a:solidFill>
                <a:schemeClr val="accent2"/>
              </a:solidFill>
            </a:ln>
          </p:spPr>
        </p:sp>
        <p:sp>
          <p:nvSpPr>
            <p:cNvPr id="232" name="Rectangle 232"/>
            <p:cNvSpPr/>
            <p:nvPr/>
          </p:nvSpPr>
          <p:spPr>
            <a:xfrm>
              <a:off x="6338506" y="5245989"/>
              <a:ext cx="109347" cy="187452"/>
            </a:xfrm>
            <a:prstGeom prst="roundRect">
              <a:avLst>
                <a:gd name="adj" fmla="val 42857"/>
              </a:avLst>
            </a:prstGeom>
            <a:noFill/>
            <a:ln w="13335">
              <a:solidFill>
                <a:schemeClr val="accent2"/>
              </a:solidFill>
            </a:ln>
          </p:spPr>
        </p:sp>
      </p:grpSp>
      <p:grpSp>
        <p:nvGrpSpPr>
          <p:cNvPr id="236" name="!!participant-73"/>
          <p:cNvGrpSpPr/>
          <p:nvPr/>
        </p:nvGrpSpPr>
        <p:grpSpPr>
          <a:xfrm>
            <a:off x="6805232" y="5113211"/>
            <a:ext cx="109347" cy="320230"/>
            <a:chOff x="6805232" y="5113211"/>
            <a:chExt cx="109347" cy="320230"/>
          </a:xfrm>
        </p:grpSpPr>
        <p:sp>
          <p:nvSpPr>
            <p:cNvPr id="234" name="Ellipse 234"/>
            <p:cNvSpPr/>
            <p:nvPr/>
          </p:nvSpPr>
          <p:spPr>
            <a:xfrm>
              <a:off x="6813042" y="5113211"/>
              <a:ext cx="93726" cy="93726"/>
            </a:xfrm>
            <a:prstGeom prst="ellipse">
              <a:avLst/>
            </a:prstGeom>
            <a:noFill/>
            <a:ln w="13335">
              <a:solidFill>
                <a:schemeClr val="accent2"/>
              </a:solidFill>
            </a:ln>
          </p:spPr>
        </p:sp>
        <p:sp>
          <p:nvSpPr>
            <p:cNvPr id="235" name="Rectangle 235"/>
            <p:cNvSpPr/>
            <p:nvPr/>
          </p:nvSpPr>
          <p:spPr>
            <a:xfrm>
              <a:off x="6805232" y="5245989"/>
              <a:ext cx="109347" cy="187452"/>
            </a:xfrm>
            <a:prstGeom prst="roundRect">
              <a:avLst>
                <a:gd name="adj" fmla="val 42857"/>
              </a:avLst>
            </a:prstGeom>
            <a:noFill/>
            <a:ln w="13335">
              <a:solidFill>
                <a:schemeClr val="accent2"/>
              </a:solidFill>
            </a:ln>
          </p:spPr>
        </p:sp>
      </p:grpSp>
      <p:grpSp>
        <p:nvGrpSpPr>
          <p:cNvPr id="239" name="!!participant-74"/>
          <p:cNvGrpSpPr/>
          <p:nvPr/>
        </p:nvGrpSpPr>
        <p:grpSpPr>
          <a:xfrm>
            <a:off x="7271956" y="5113211"/>
            <a:ext cx="109347" cy="320230"/>
            <a:chOff x="7271956" y="5113211"/>
            <a:chExt cx="109347" cy="320230"/>
          </a:xfrm>
        </p:grpSpPr>
        <p:sp>
          <p:nvSpPr>
            <p:cNvPr id="237" name="Ellipse 237"/>
            <p:cNvSpPr/>
            <p:nvPr/>
          </p:nvSpPr>
          <p:spPr>
            <a:xfrm>
              <a:off x="7279767" y="5113211"/>
              <a:ext cx="93726" cy="93726"/>
            </a:xfrm>
            <a:prstGeom prst="ellipse">
              <a:avLst/>
            </a:prstGeom>
            <a:noFill/>
            <a:ln w="13335">
              <a:solidFill>
                <a:schemeClr val="accent2"/>
              </a:solidFill>
            </a:ln>
          </p:spPr>
        </p:sp>
        <p:sp>
          <p:nvSpPr>
            <p:cNvPr id="238" name="Rectangle 238"/>
            <p:cNvSpPr/>
            <p:nvPr/>
          </p:nvSpPr>
          <p:spPr>
            <a:xfrm>
              <a:off x="7271956" y="5245989"/>
              <a:ext cx="109347" cy="187452"/>
            </a:xfrm>
            <a:prstGeom prst="roundRect">
              <a:avLst>
                <a:gd name="adj" fmla="val 42857"/>
              </a:avLst>
            </a:prstGeom>
            <a:noFill/>
            <a:ln w="13335">
              <a:solidFill>
                <a:schemeClr val="accent2"/>
              </a:solidFill>
            </a:ln>
          </p:spPr>
        </p:sp>
      </p:grpSp>
      <p:grpSp>
        <p:nvGrpSpPr>
          <p:cNvPr id="242" name="!!participant-75"/>
          <p:cNvGrpSpPr/>
          <p:nvPr/>
        </p:nvGrpSpPr>
        <p:grpSpPr>
          <a:xfrm>
            <a:off x="7738682" y="5113211"/>
            <a:ext cx="109347" cy="320230"/>
            <a:chOff x="7738682" y="5113211"/>
            <a:chExt cx="109347" cy="320230"/>
          </a:xfrm>
        </p:grpSpPr>
        <p:sp>
          <p:nvSpPr>
            <p:cNvPr id="240" name="Ellipse 240"/>
            <p:cNvSpPr/>
            <p:nvPr/>
          </p:nvSpPr>
          <p:spPr>
            <a:xfrm>
              <a:off x="7746492" y="5113211"/>
              <a:ext cx="93726" cy="93726"/>
            </a:xfrm>
            <a:prstGeom prst="ellipse">
              <a:avLst/>
            </a:prstGeom>
            <a:noFill/>
            <a:ln w="13335">
              <a:solidFill>
                <a:schemeClr val="accent2"/>
              </a:solidFill>
            </a:ln>
          </p:spPr>
        </p:sp>
        <p:sp>
          <p:nvSpPr>
            <p:cNvPr id="241" name="Rectangle 241"/>
            <p:cNvSpPr/>
            <p:nvPr/>
          </p:nvSpPr>
          <p:spPr>
            <a:xfrm>
              <a:off x="7738682" y="5245989"/>
              <a:ext cx="109347" cy="187452"/>
            </a:xfrm>
            <a:prstGeom prst="roundRect">
              <a:avLst>
                <a:gd name="adj" fmla="val 42857"/>
              </a:avLst>
            </a:prstGeom>
            <a:noFill/>
            <a:ln w="13335">
              <a:solidFill>
                <a:schemeClr val="accent2"/>
              </a:solidFill>
            </a:ln>
          </p:spPr>
        </p:sp>
      </p:grpSp>
      <p:grpSp>
        <p:nvGrpSpPr>
          <p:cNvPr id="245" name="!!participant-76"/>
          <p:cNvGrpSpPr/>
          <p:nvPr/>
        </p:nvGrpSpPr>
        <p:grpSpPr>
          <a:xfrm>
            <a:off x="8205406" y="5113211"/>
            <a:ext cx="109347" cy="320230"/>
            <a:chOff x="8205406" y="5113211"/>
            <a:chExt cx="109347" cy="320230"/>
          </a:xfrm>
        </p:grpSpPr>
        <p:sp>
          <p:nvSpPr>
            <p:cNvPr id="243" name="Ellipse 243"/>
            <p:cNvSpPr/>
            <p:nvPr/>
          </p:nvSpPr>
          <p:spPr>
            <a:xfrm>
              <a:off x="8213217" y="5113211"/>
              <a:ext cx="93726" cy="93726"/>
            </a:xfrm>
            <a:prstGeom prst="ellipse">
              <a:avLst/>
            </a:prstGeom>
            <a:noFill/>
            <a:ln w="13335">
              <a:solidFill>
                <a:schemeClr val="accent2"/>
              </a:solidFill>
            </a:ln>
          </p:spPr>
        </p:sp>
        <p:sp>
          <p:nvSpPr>
            <p:cNvPr id="244" name="Rectangle 244"/>
            <p:cNvSpPr/>
            <p:nvPr/>
          </p:nvSpPr>
          <p:spPr>
            <a:xfrm>
              <a:off x="8205406" y="5245989"/>
              <a:ext cx="109347" cy="187452"/>
            </a:xfrm>
            <a:prstGeom prst="roundRect">
              <a:avLst>
                <a:gd name="adj" fmla="val 42857"/>
              </a:avLst>
            </a:prstGeom>
            <a:noFill/>
            <a:ln w="13335">
              <a:solidFill>
                <a:schemeClr val="accent2"/>
              </a:solidFill>
            </a:ln>
          </p:spPr>
        </p:sp>
      </p:grpSp>
      <p:grpSp>
        <p:nvGrpSpPr>
          <p:cNvPr id="248" name="!!participant-77"/>
          <p:cNvGrpSpPr/>
          <p:nvPr/>
        </p:nvGrpSpPr>
        <p:grpSpPr>
          <a:xfrm>
            <a:off x="8672132" y="5113211"/>
            <a:ext cx="109347" cy="320230"/>
            <a:chOff x="8672132" y="5113211"/>
            <a:chExt cx="109347" cy="320230"/>
          </a:xfrm>
        </p:grpSpPr>
        <p:sp>
          <p:nvSpPr>
            <p:cNvPr id="246" name="Ellipse 246"/>
            <p:cNvSpPr/>
            <p:nvPr/>
          </p:nvSpPr>
          <p:spPr>
            <a:xfrm>
              <a:off x="8679942" y="5113211"/>
              <a:ext cx="93726" cy="93726"/>
            </a:xfrm>
            <a:prstGeom prst="ellipse">
              <a:avLst/>
            </a:prstGeom>
            <a:noFill/>
            <a:ln w="13335">
              <a:solidFill>
                <a:schemeClr val="accent2"/>
              </a:solidFill>
            </a:ln>
          </p:spPr>
        </p:sp>
        <p:sp>
          <p:nvSpPr>
            <p:cNvPr id="247" name="Rectangle 247"/>
            <p:cNvSpPr/>
            <p:nvPr/>
          </p:nvSpPr>
          <p:spPr>
            <a:xfrm>
              <a:off x="8672132" y="5245989"/>
              <a:ext cx="109347" cy="187452"/>
            </a:xfrm>
            <a:prstGeom prst="roundRect">
              <a:avLst>
                <a:gd name="adj" fmla="val 42857"/>
              </a:avLst>
            </a:prstGeom>
            <a:noFill/>
            <a:ln w="13335">
              <a:solidFill>
                <a:schemeClr val="accent2"/>
              </a:solidFill>
            </a:ln>
          </p:spPr>
        </p:sp>
      </p:grpSp>
      <p:grpSp>
        <p:nvGrpSpPr>
          <p:cNvPr id="251" name="!!participant-78"/>
          <p:cNvGrpSpPr/>
          <p:nvPr/>
        </p:nvGrpSpPr>
        <p:grpSpPr>
          <a:xfrm>
            <a:off x="9138856" y="5113211"/>
            <a:ext cx="109347" cy="320230"/>
            <a:chOff x="9138856" y="5113211"/>
            <a:chExt cx="109347" cy="320230"/>
          </a:xfrm>
        </p:grpSpPr>
        <p:sp>
          <p:nvSpPr>
            <p:cNvPr id="249" name="Ellipse 249"/>
            <p:cNvSpPr/>
            <p:nvPr/>
          </p:nvSpPr>
          <p:spPr>
            <a:xfrm>
              <a:off x="9146667" y="5113211"/>
              <a:ext cx="93726" cy="93726"/>
            </a:xfrm>
            <a:prstGeom prst="ellipse">
              <a:avLst/>
            </a:prstGeom>
            <a:noFill/>
            <a:ln w="13335">
              <a:solidFill>
                <a:schemeClr val="accent2"/>
              </a:solidFill>
            </a:ln>
          </p:spPr>
        </p:sp>
        <p:sp>
          <p:nvSpPr>
            <p:cNvPr id="250" name="Rectangle 250"/>
            <p:cNvSpPr/>
            <p:nvPr/>
          </p:nvSpPr>
          <p:spPr>
            <a:xfrm>
              <a:off x="9138856" y="5245989"/>
              <a:ext cx="109347" cy="187452"/>
            </a:xfrm>
            <a:prstGeom prst="roundRect">
              <a:avLst>
                <a:gd name="adj" fmla="val 42857"/>
              </a:avLst>
            </a:prstGeom>
            <a:noFill/>
            <a:ln w="13335">
              <a:solidFill>
                <a:schemeClr val="accent2"/>
              </a:solidFill>
            </a:ln>
          </p:spPr>
        </p:sp>
      </p:grpSp>
      <p:grpSp>
        <p:nvGrpSpPr>
          <p:cNvPr id="254" name="!!participant-79"/>
          <p:cNvGrpSpPr/>
          <p:nvPr/>
        </p:nvGrpSpPr>
        <p:grpSpPr>
          <a:xfrm>
            <a:off x="9605582" y="5113211"/>
            <a:ext cx="109347" cy="320230"/>
            <a:chOff x="9605582" y="5113211"/>
            <a:chExt cx="109347" cy="320230"/>
          </a:xfrm>
        </p:grpSpPr>
        <p:sp>
          <p:nvSpPr>
            <p:cNvPr id="252" name="Ellipse 252"/>
            <p:cNvSpPr/>
            <p:nvPr/>
          </p:nvSpPr>
          <p:spPr>
            <a:xfrm>
              <a:off x="9613392" y="5113211"/>
              <a:ext cx="93726" cy="93726"/>
            </a:xfrm>
            <a:prstGeom prst="ellipse">
              <a:avLst/>
            </a:prstGeom>
            <a:noFill/>
            <a:ln w="13335">
              <a:solidFill>
                <a:schemeClr val="accent2"/>
              </a:solidFill>
            </a:ln>
          </p:spPr>
        </p:sp>
        <p:sp>
          <p:nvSpPr>
            <p:cNvPr id="253" name="Rectangle 253"/>
            <p:cNvSpPr/>
            <p:nvPr/>
          </p:nvSpPr>
          <p:spPr>
            <a:xfrm>
              <a:off x="9605582" y="5245989"/>
              <a:ext cx="109347" cy="187452"/>
            </a:xfrm>
            <a:prstGeom prst="roundRect">
              <a:avLst>
                <a:gd name="adj" fmla="val 42857"/>
              </a:avLst>
            </a:prstGeom>
            <a:noFill/>
            <a:ln w="13335">
              <a:solidFill>
                <a:schemeClr val="accent2"/>
              </a:solidFill>
            </a:ln>
          </p:spPr>
        </p:sp>
      </p:grpSp>
      <p:grpSp>
        <p:nvGrpSpPr>
          <p:cNvPr id="256" name="scene-conclusion"/>
          <p:cNvGrpSpPr/>
          <p:nvPr/>
        </p:nvGrpSpPr>
        <p:grpSpPr>
          <a:xfrm>
            <a:off x="2420214" y="5715000"/>
            <a:ext cx="7351571" cy="352044"/>
            <a:chOff x="2420214" y="5715000"/>
            <a:chExt cx="7351571" cy="352044"/>
          </a:xfrm>
        </p:grpSpPr>
        <p:sp>
          <p:nvSpPr>
            <p:cNvPr id="255" name="TextBox 255"/>
            <p:cNvSpPr txBox="1"/>
            <p:nvPr/>
          </p:nvSpPr>
          <p:spPr>
            <a:xfrm>
              <a:off x="2420214" y="5715000"/>
              <a:ext cx="735157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GB" sz="18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21 missing outcomes. Missing measurement ≠ not following the diet.</a:t>
              </a:r>
            </a:p>
          </p:txBody>
        </p:sp>
      </p:grpSp>
      <p:sp>
        <p:nvSpPr>
          <p:cNvPr id="257" name="TextBox 257"/>
          <p:cNvSpPr txBox="1"/>
          <p:nvPr/>
        </p:nvSpPr>
        <p:spPr>
          <a:xfrm>
            <a:off x="603504" y="6467475"/>
            <a:ext cx="6294349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GB" sz="120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Lim et al. 2024 · Figure 1 and Table 2 · Each participant symbol represents one person.</a:t>
            </a:r>
          </a:p>
        </p:txBody>
      </p:sp>
    </p:spTree>
  </p:cSld>
  <p:clrMapOvr>
    <a:masterClrMapping/>
  </p:clrMapOvr>
  <mc:AlternateContent>
    <mc:Choice Requires="p159">
      <p:transition p14:dur="1400">
        <p159:morph option="byObject"/>
      </p:transition>
    </mc:Choice>
    <mc:Fallback>
      <p:transition>
        <p:fade/>
      </p:transition>
    </mc:Fallback>
  </mc:AlternateContent>
</p:sld>
</file>

<file path=ppt/slides/slide10.xml><?xml version="1.0" encoding="utf-8"?>
<p:sld xmlns:a="http://schemas.openxmlformats.org/drawingml/2006/main" xmlns:mc="http://schemas.openxmlformats.org/markup-compatibility/2006" xmlns:p="http://schemas.openxmlformats.org/presentationml/2006/main" xmlns:p14="http://schemas.microsoft.com/office/powerpoint/2010/main" xmlns:p159="http://schemas.microsoft.com/office/powerpoint/2015/09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chapter-chrome"/>
          <p:cNvGrpSpPr/>
          <p:nvPr/>
        </p:nvGrpSpPr>
        <p:grpSpPr>
          <a:xfrm>
            <a:off x="602742" y="301625"/>
            <a:ext cx="10985754" cy="264033"/>
            <a:chOff x="602742" y="301625"/>
            <a:chExt cx="10985754" cy="264033"/>
          </a:xfrm>
        </p:grpSpPr>
        <p:sp>
          <p:nvSpPr>
            <p:cNvPr id="2" name="TextBox 2"/>
            <p:cNvSpPr txBox="1"/>
            <p:nvPr/>
          </p:nvSpPr>
          <p:spPr>
            <a:xfrm>
              <a:off x="602742" y="301625"/>
              <a:ext cx="590305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GB" sz="1350" b="1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02 / MISSING OUTCOMES · OBSERVATION IS NOT ADHERENCE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11082270" y="314325"/>
              <a:ext cx="50622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GB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10 / 17</a:t>
              </a:r>
            </a:p>
          </p:txBody>
        </p:sp>
      </p:grpSp>
      <p:grpSp>
        <p:nvGrpSpPr>
          <p:cNvPr id="6" name="scene-heading"/>
          <p:cNvGrpSpPr/>
          <p:nvPr/>
        </p:nvGrpSpPr>
        <p:grpSpPr>
          <a:xfrm>
            <a:off x="590550" y="841375"/>
            <a:ext cx="5386190" cy="933450"/>
            <a:chOff x="590550" y="841375"/>
            <a:chExt cx="5386190" cy="933450"/>
          </a:xfrm>
        </p:grpSpPr>
        <p:sp>
          <p:nvSpPr>
            <p:cNvPr id="5" name="TextBox 5"/>
            <p:cNvSpPr txBox="1"/>
            <p:nvPr/>
          </p:nvSpPr>
          <p:spPr>
            <a:xfrm>
              <a:off x="590550" y="841375"/>
              <a:ext cx="5386190" cy="9334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GB" sz="4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Zoom in on HKD.</a:t>
              </a:r>
            </a:p>
          </p:txBody>
        </p:sp>
      </p:grpSp>
      <p:grpSp>
        <p:nvGrpSpPr>
          <p:cNvPr id="9" name="!!hkd-label"/>
          <p:cNvGrpSpPr/>
          <p:nvPr/>
        </p:nvGrpSpPr>
        <p:grpSpPr>
          <a:xfrm>
            <a:off x="594360" y="2032000"/>
            <a:ext cx="10879192" cy="586740"/>
            <a:chOff x="594360" y="2032000"/>
            <a:chExt cx="10879192" cy="586740"/>
          </a:xfrm>
        </p:grpSpPr>
        <p:sp>
          <p:nvSpPr>
            <p:cNvPr id="7" name="TextBox 7"/>
            <p:cNvSpPr txBox="1"/>
            <p:nvPr/>
          </p:nvSpPr>
          <p:spPr>
            <a:xfrm>
              <a:off x="594360" y="2032000"/>
              <a:ext cx="2342659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GB" sz="300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41 assigned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7703820" y="2101850"/>
              <a:ext cx="3769732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GB" sz="22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29 measured + 12 unknown</a:t>
              </a:r>
            </a:p>
          </p:txBody>
        </p:sp>
      </p:grpSp>
      <p:grpSp>
        <p:nvGrpSpPr>
          <p:cNvPr id="12" name="!!participant-00"/>
          <p:cNvGrpSpPr/>
          <p:nvPr/>
        </p:nvGrpSpPr>
        <p:grpSpPr>
          <a:xfrm>
            <a:off x="936784" y="3023711"/>
            <a:ext cx="193358" cy="566261"/>
            <a:chOff x="936784" y="3023711"/>
            <a:chExt cx="193358" cy="566261"/>
          </a:xfrm>
        </p:grpSpPr>
        <p:sp>
          <p:nvSpPr>
            <p:cNvPr id="10" name="Ellipse 10"/>
            <p:cNvSpPr/>
            <p:nvPr/>
          </p:nvSpPr>
          <p:spPr>
            <a:xfrm>
              <a:off x="950595" y="3023711"/>
              <a:ext cx="165735" cy="165735"/>
            </a:xfrm>
            <a:prstGeom prst="ellipse">
              <a:avLst/>
            </a:prstGeom>
            <a:solidFill>
              <a:schemeClr val="accent3"/>
            </a:solidFill>
            <a:ln w="13335">
              <a:solidFill>
                <a:schemeClr val="accent3"/>
              </a:solidFill>
            </a:ln>
          </p:spPr>
        </p:sp>
        <p:sp>
          <p:nvSpPr>
            <p:cNvPr id="11" name="Rectangle 11"/>
            <p:cNvSpPr/>
            <p:nvPr/>
          </p:nvSpPr>
          <p:spPr>
            <a:xfrm>
              <a:off x="936784" y="3258502"/>
              <a:ext cx="193358" cy="331470"/>
            </a:xfrm>
            <a:prstGeom prst="roundRect">
              <a:avLst>
                <a:gd name="adj" fmla="val 42857"/>
              </a:avLst>
            </a:prstGeom>
            <a:solidFill>
              <a:schemeClr val="accent3"/>
            </a:solidFill>
            <a:ln w="13335">
              <a:solidFill>
                <a:schemeClr val="accent3"/>
              </a:solidFill>
            </a:ln>
          </p:spPr>
        </p:sp>
      </p:grpSp>
      <p:grpSp>
        <p:nvGrpSpPr>
          <p:cNvPr id="15" name="!!participant-01"/>
          <p:cNvGrpSpPr/>
          <p:nvPr/>
        </p:nvGrpSpPr>
        <p:grpSpPr>
          <a:xfrm>
            <a:off x="1498759" y="3023711"/>
            <a:ext cx="193358" cy="566261"/>
            <a:chOff x="1498759" y="3023711"/>
            <a:chExt cx="193358" cy="566261"/>
          </a:xfrm>
        </p:grpSpPr>
        <p:sp>
          <p:nvSpPr>
            <p:cNvPr id="13" name="Ellipse 13"/>
            <p:cNvSpPr/>
            <p:nvPr/>
          </p:nvSpPr>
          <p:spPr>
            <a:xfrm>
              <a:off x="1512570" y="3023711"/>
              <a:ext cx="165735" cy="165735"/>
            </a:xfrm>
            <a:prstGeom prst="ellipse">
              <a:avLst/>
            </a:prstGeom>
            <a:solidFill>
              <a:schemeClr val="accent3"/>
            </a:solidFill>
            <a:ln w="13335">
              <a:solidFill>
                <a:schemeClr val="accent3"/>
              </a:solidFill>
            </a:ln>
          </p:spPr>
        </p:sp>
        <p:sp>
          <p:nvSpPr>
            <p:cNvPr id="14" name="Rectangle 14"/>
            <p:cNvSpPr/>
            <p:nvPr/>
          </p:nvSpPr>
          <p:spPr>
            <a:xfrm>
              <a:off x="1498759" y="3258502"/>
              <a:ext cx="193358" cy="331470"/>
            </a:xfrm>
            <a:prstGeom prst="roundRect">
              <a:avLst>
                <a:gd name="adj" fmla="val 42857"/>
              </a:avLst>
            </a:prstGeom>
            <a:solidFill>
              <a:schemeClr val="accent3"/>
            </a:solidFill>
            <a:ln w="13335">
              <a:solidFill>
                <a:schemeClr val="accent3"/>
              </a:solidFill>
            </a:ln>
          </p:spPr>
        </p:sp>
      </p:grpSp>
      <p:grpSp>
        <p:nvGrpSpPr>
          <p:cNvPr id="18" name="!!participant-02"/>
          <p:cNvGrpSpPr/>
          <p:nvPr/>
        </p:nvGrpSpPr>
        <p:grpSpPr>
          <a:xfrm>
            <a:off x="2060734" y="3023711"/>
            <a:ext cx="193358" cy="566261"/>
            <a:chOff x="2060734" y="3023711"/>
            <a:chExt cx="193358" cy="566261"/>
          </a:xfrm>
        </p:grpSpPr>
        <p:sp>
          <p:nvSpPr>
            <p:cNvPr id="16" name="Ellipse 16"/>
            <p:cNvSpPr/>
            <p:nvPr/>
          </p:nvSpPr>
          <p:spPr>
            <a:xfrm>
              <a:off x="2074545" y="3023711"/>
              <a:ext cx="165735" cy="165735"/>
            </a:xfrm>
            <a:prstGeom prst="ellipse">
              <a:avLst/>
            </a:prstGeom>
            <a:solidFill>
              <a:schemeClr val="accent3"/>
            </a:solidFill>
            <a:ln w="13335">
              <a:solidFill>
                <a:schemeClr val="accent3"/>
              </a:solidFill>
            </a:ln>
          </p:spPr>
        </p:sp>
        <p:sp>
          <p:nvSpPr>
            <p:cNvPr id="17" name="Rectangle 17"/>
            <p:cNvSpPr/>
            <p:nvPr/>
          </p:nvSpPr>
          <p:spPr>
            <a:xfrm>
              <a:off x="2060734" y="3258502"/>
              <a:ext cx="193358" cy="331470"/>
            </a:xfrm>
            <a:prstGeom prst="roundRect">
              <a:avLst>
                <a:gd name="adj" fmla="val 42857"/>
              </a:avLst>
            </a:prstGeom>
            <a:solidFill>
              <a:schemeClr val="accent3"/>
            </a:solidFill>
            <a:ln w="13335">
              <a:solidFill>
                <a:schemeClr val="accent3"/>
              </a:solidFill>
            </a:ln>
          </p:spPr>
        </p:sp>
      </p:grpSp>
      <p:grpSp>
        <p:nvGrpSpPr>
          <p:cNvPr id="21" name="!!participant-03"/>
          <p:cNvGrpSpPr/>
          <p:nvPr/>
        </p:nvGrpSpPr>
        <p:grpSpPr>
          <a:xfrm>
            <a:off x="2622709" y="3023711"/>
            <a:ext cx="193358" cy="566261"/>
            <a:chOff x="2622709" y="3023711"/>
            <a:chExt cx="193358" cy="566261"/>
          </a:xfrm>
        </p:grpSpPr>
        <p:sp>
          <p:nvSpPr>
            <p:cNvPr id="19" name="Ellipse 19"/>
            <p:cNvSpPr/>
            <p:nvPr/>
          </p:nvSpPr>
          <p:spPr>
            <a:xfrm>
              <a:off x="2636520" y="3023711"/>
              <a:ext cx="165735" cy="165735"/>
            </a:xfrm>
            <a:prstGeom prst="ellipse">
              <a:avLst/>
            </a:prstGeom>
            <a:solidFill>
              <a:schemeClr val="accent3"/>
            </a:solidFill>
            <a:ln w="13335">
              <a:solidFill>
                <a:schemeClr val="accent3"/>
              </a:solidFill>
            </a:ln>
          </p:spPr>
        </p:sp>
        <p:sp>
          <p:nvSpPr>
            <p:cNvPr id="20" name="Rectangle 20"/>
            <p:cNvSpPr/>
            <p:nvPr/>
          </p:nvSpPr>
          <p:spPr>
            <a:xfrm>
              <a:off x="2622709" y="3258502"/>
              <a:ext cx="193358" cy="331470"/>
            </a:xfrm>
            <a:prstGeom prst="roundRect">
              <a:avLst>
                <a:gd name="adj" fmla="val 42857"/>
              </a:avLst>
            </a:prstGeom>
            <a:solidFill>
              <a:schemeClr val="accent3"/>
            </a:solidFill>
            <a:ln w="13335">
              <a:solidFill>
                <a:schemeClr val="accent3"/>
              </a:solidFill>
            </a:ln>
          </p:spPr>
        </p:sp>
      </p:grpSp>
      <p:grpSp>
        <p:nvGrpSpPr>
          <p:cNvPr id="24" name="!!participant-04"/>
          <p:cNvGrpSpPr/>
          <p:nvPr/>
        </p:nvGrpSpPr>
        <p:grpSpPr>
          <a:xfrm>
            <a:off x="3184684" y="3023711"/>
            <a:ext cx="193358" cy="566261"/>
            <a:chOff x="3184684" y="3023711"/>
            <a:chExt cx="193358" cy="566261"/>
          </a:xfrm>
        </p:grpSpPr>
        <p:sp>
          <p:nvSpPr>
            <p:cNvPr id="22" name="Ellipse 22"/>
            <p:cNvSpPr/>
            <p:nvPr/>
          </p:nvSpPr>
          <p:spPr>
            <a:xfrm>
              <a:off x="3198495" y="3023711"/>
              <a:ext cx="165735" cy="165735"/>
            </a:xfrm>
            <a:prstGeom prst="ellipse">
              <a:avLst/>
            </a:prstGeom>
            <a:solidFill>
              <a:schemeClr val="accent3"/>
            </a:solidFill>
            <a:ln w="13335">
              <a:solidFill>
                <a:schemeClr val="accent3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3184684" y="3258502"/>
              <a:ext cx="193358" cy="331470"/>
            </a:xfrm>
            <a:prstGeom prst="roundRect">
              <a:avLst>
                <a:gd name="adj" fmla="val 42857"/>
              </a:avLst>
            </a:prstGeom>
            <a:solidFill>
              <a:schemeClr val="accent3"/>
            </a:solidFill>
            <a:ln w="13335">
              <a:solidFill>
                <a:schemeClr val="accent3"/>
              </a:solidFill>
            </a:ln>
          </p:spPr>
        </p:sp>
      </p:grpSp>
      <p:grpSp>
        <p:nvGrpSpPr>
          <p:cNvPr id="27" name="!!participant-05"/>
          <p:cNvGrpSpPr/>
          <p:nvPr/>
        </p:nvGrpSpPr>
        <p:grpSpPr>
          <a:xfrm>
            <a:off x="3746659" y="3023711"/>
            <a:ext cx="193358" cy="566261"/>
            <a:chOff x="3746659" y="3023711"/>
            <a:chExt cx="193358" cy="566261"/>
          </a:xfrm>
        </p:grpSpPr>
        <p:sp>
          <p:nvSpPr>
            <p:cNvPr id="25" name="Ellipse 25"/>
            <p:cNvSpPr/>
            <p:nvPr/>
          </p:nvSpPr>
          <p:spPr>
            <a:xfrm>
              <a:off x="3760470" y="3023711"/>
              <a:ext cx="165735" cy="165735"/>
            </a:xfrm>
            <a:prstGeom prst="ellipse">
              <a:avLst/>
            </a:prstGeom>
            <a:solidFill>
              <a:schemeClr val="accent3"/>
            </a:solidFill>
            <a:ln w="13335">
              <a:solidFill>
                <a:schemeClr val="accent3"/>
              </a:solidFill>
            </a:ln>
          </p:spPr>
        </p:sp>
        <p:sp>
          <p:nvSpPr>
            <p:cNvPr id="26" name="Rectangle 26"/>
            <p:cNvSpPr/>
            <p:nvPr/>
          </p:nvSpPr>
          <p:spPr>
            <a:xfrm>
              <a:off x="3746659" y="3258502"/>
              <a:ext cx="193358" cy="331470"/>
            </a:xfrm>
            <a:prstGeom prst="roundRect">
              <a:avLst>
                <a:gd name="adj" fmla="val 42857"/>
              </a:avLst>
            </a:prstGeom>
            <a:solidFill>
              <a:schemeClr val="accent3"/>
            </a:solidFill>
            <a:ln w="13335">
              <a:solidFill>
                <a:schemeClr val="accent3"/>
              </a:solidFill>
            </a:ln>
          </p:spPr>
        </p:sp>
      </p:grpSp>
      <p:grpSp>
        <p:nvGrpSpPr>
          <p:cNvPr id="30" name="!!participant-06"/>
          <p:cNvGrpSpPr/>
          <p:nvPr/>
        </p:nvGrpSpPr>
        <p:grpSpPr>
          <a:xfrm>
            <a:off x="4308634" y="3023711"/>
            <a:ext cx="193358" cy="566261"/>
            <a:chOff x="4308634" y="3023711"/>
            <a:chExt cx="193358" cy="566261"/>
          </a:xfrm>
        </p:grpSpPr>
        <p:sp>
          <p:nvSpPr>
            <p:cNvPr id="28" name="Ellipse 28"/>
            <p:cNvSpPr/>
            <p:nvPr/>
          </p:nvSpPr>
          <p:spPr>
            <a:xfrm>
              <a:off x="4322445" y="3023711"/>
              <a:ext cx="165735" cy="165735"/>
            </a:xfrm>
            <a:prstGeom prst="ellipse">
              <a:avLst/>
            </a:prstGeom>
            <a:solidFill>
              <a:schemeClr val="accent3"/>
            </a:solidFill>
            <a:ln w="13335">
              <a:solidFill>
                <a:schemeClr val="accent3"/>
              </a:solidFill>
            </a:ln>
          </p:spPr>
        </p:sp>
        <p:sp>
          <p:nvSpPr>
            <p:cNvPr id="29" name="Rectangle 29"/>
            <p:cNvSpPr/>
            <p:nvPr/>
          </p:nvSpPr>
          <p:spPr>
            <a:xfrm>
              <a:off x="4308634" y="3258502"/>
              <a:ext cx="193358" cy="331470"/>
            </a:xfrm>
            <a:prstGeom prst="roundRect">
              <a:avLst>
                <a:gd name="adj" fmla="val 42857"/>
              </a:avLst>
            </a:prstGeom>
            <a:solidFill>
              <a:schemeClr val="accent3"/>
            </a:solidFill>
            <a:ln w="13335">
              <a:solidFill>
                <a:schemeClr val="accent3"/>
              </a:solidFill>
            </a:ln>
          </p:spPr>
        </p:sp>
      </p:grpSp>
      <p:grpSp>
        <p:nvGrpSpPr>
          <p:cNvPr id="33" name="!!participant-07"/>
          <p:cNvGrpSpPr/>
          <p:nvPr/>
        </p:nvGrpSpPr>
        <p:grpSpPr>
          <a:xfrm>
            <a:off x="4870609" y="3023711"/>
            <a:ext cx="193358" cy="566261"/>
            <a:chOff x="4870609" y="3023711"/>
            <a:chExt cx="193358" cy="566261"/>
          </a:xfrm>
        </p:grpSpPr>
        <p:sp>
          <p:nvSpPr>
            <p:cNvPr id="31" name="Ellipse 31"/>
            <p:cNvSpPr/>
            <p:nvPr/>
          </p:nvSpPr>
          <p:spPr>
            <a:xfrm>
              <a:off x="4884420" y="3023711"/>
              <a:ext cx="165735" cy="165735"/>
            </a:xfrm>
            <a:prstGeom prst="ellipse">
              <a:avLst/>
            </a:prstGeom>
            <a:solidFill>
              <a:schemeClr val="accent3"/>
            </a:solidFill>
            <a:ln w="13335">
              <a:solidFill>
                <a:schemeClr val="accent3"/>
              </a:solidFill>
            </a:ln>
          </p:spPr>
        </p:sp>
        <p:sp>
          <p:nvSpPr>
            <p:cNvPr id="32" name="Rectangle 32"/>
            <p:cNvSpPr/>
            <p:nvPr/>
          </p:nvSpPr>
          <p:spPr>
            <a:xfrm>
              <a:off x="4870609" y="3258502"/>
              <a:ext cx="193358" cy="331470"/>
            </a:xfrm>
            <a:prstGeom prst="roundRect">
              <a:avLst>
                <a:gd name="adj" fmla="val 42857"/>
              </a:avLst>
            </a:prstGeom>
            <a:solidFill>
              <a:schemeClr val="accent3"/>
            </a:solidFill>
            <a:ln w="13335">
              <a:solidFill>
                <a:schemeClr val="accent3"/>
              </a:solidFill>
            </a:ln>
          </p:spPr>
        </p:sp>
      </p:grpSp>
      <p:grpSp>
        <p:nvGrpSpPr>
          <p:cNvPr id="36" name="!!participant-08"/>
          <p:cNvGrpSpPr/>
          <p:nvPr/>
        </p:nvGrpSpPr>
        <p:grpSpPr>
          <a:xfrm>
            <a:off x="5432584" y="3023711"/>
            <a:ext cx="193358" cy="566261"/>
            <a:chOff x="5432584" y="3023711"/>
            <a:chExt cx="193358" cy="566261"/>
          </a:xfrm>
        </p:grpSpPr>
        <p:sp>
          <p:nvSpPr>
            <p:cNvPr id="34" name="Ellipse 34"/>
            <p:cNvSpPr/>
            <p:nvPr/>
          </p:nvSpPr>
          <p:spPr>
            <a:xfrm>
              <a:off x="5446395" y="3023711"/>
              <a:ext cx="165735" cy="165735"/>
            </a:xfrm>
            <a:prstGeom prst="ellipse">
              <a:avLst/>
            </a:prstGeom>
            <a:solidFill>
              <a:schemeClr val="accent3"/>
            </a:solidFill>
            <a:ln w="13335">
              <a:solidFill>
                <a:schemeClr val="accent3"/>
              </a:solidFill>
            </a:ln>
          </p:spPr>
        </p:sp>
        <p:sp>
          <p:nvSpPr>
            <p:cNvPr id="35" name="Rectangle 35"/>
            <p:cNvSpPr/>
            <p:nvPr/>
          </p:nvSpPr>
          <p:spPr>
            <a:xfrm>
              <a:off x="5432584" y="3258502"/>
              <a:ext cx="193358" cy="331470"/>
            </a:xfrm>
            <a:prstGeom prst="roundRect">
              <a:avLst>
                <a:gd name="adj" fmla="val 42857"/>
              </a:avLst>
            </a:prstGeom>
            <a:solidFill>
              <a:schemeClr val="accent3"/>
            </a:solidFill>
            <a:ln w="13335">
              <a:solidFill>
                <a:schemeClr val="accent3"/>
              </a:solidFill>
            </a:ln>
          </p:spPr>
        </p:sp>
      </p:grpSp>
      <p:grpSp>
        <p:nvGrpSpPr>
          <p:cNvPr id="39" name="!!participant-09"/>
          <p:cNvGrpSpPr/>
          <p:nvPr/>
        </p:nvGrpSpPr>
        <p:grpSpPr>
          <a:xfrm>
            <a:off x="5994559" y="3023711"/>
            <a:ext cx="193358" cy="566261"/>
            <a:chOff x="5994559" y="3023711"/>
            <a:chExt cx="193358" cy="566261"/>
          </a:xfrm>
        </p:grpSpPr>
        <p:sp>
          <p:nvSpPr>
            <p:cNvPr id="37" name="Ellipse 37"/>
            <p:cNvSpPr/>
            <p:nvPr/>
          </p:nvSpPr>
          <p:spPr>
            <a:xfrm>
              <a:off x="6008370" y="3023711"/>
              <a:ext cx="165735" cy="165735"/>
            </a:xfrm>
            <a:prstGeom prst="ellipse">
              <a:avLst/>
            </a:prstGeom>
            <a:solidFill>
              <a:schemeClr val="accent3"/>
            </a:solidFill>
            <a:ln w="13335">
              <a:solidFill>
                <a:schemeClr val="accent3"/>
              </a:solidFill>
            </a:ln>
          </p:spPr>
        </p:sp>
        <p:sp>
          <p:nvSpPr>
            <p:cNvPr id="38" name="Rectangle 38"/>
            <p:cNvSpPr/>
            <p:nvPr/>
          </p:nvSpPr>
          <p:spPr>
            <a:xfrm>
              <a:off x="5994559" y="3258502"/>
              <a:ext cx="193358" cy="331470"/>
            </a:xfrm>
            <a:prstGeom prst="roundRect">
              <a:avLst>
                <a:gd name="adj" fmla="val 42857"/>
              </a:avLst>
            </a:prstGeom>
            <a:solidFill>
              <a:schemeClr val="accent3"/>
            </a:solidFill>
            <a:ln w="13335">
              <a:solidFill>
                <a:schemeClr val="accent3"/>
              </a:solidFill>
            </a:ln>
          </p:spPr>
        </p:sp>
      </p:grpSp>
      <p:grpSp>
        <p:nvGrpSpPr>
          <p:cNvPr id="42" name="!!participant-10"/>
          <p:cNvGrpSpPr/>
          <p:nvPr/>
        </p:nvGrpSpPr>
        <p:grpSpPr>
          <a:xfrm>
            <a:off x="936784" y="3833336"/>
            <a:ext cx="193358" cy="566262"/>
            <a:chOff x="936784" y="3833336"/>
            <a:chExt cx="193358" cy="566262"/>
          </a:xfrm>
        </p:grpSpPr>
        <p:sp>
          <p:nvSpPr>
            <p:cNvPr id="40" name="Ellipse 40"/>
            <p:cNvSpPr/>
            <p:nvPr/>
          </p:nvSpPr>
          <p:spPr>
            <a:xfrm>
              <a:off x="950595" y="3833336"/>
              <a:ext cx="165735" cy="165735"/>
            </a:xfrm>
            <a:prstGeom prst="ellipse">
              <a:avLst/>
            </a:prstGeom>
            <a:solidFill>
              <a:schemeClr val="accent3"/>
            </a:solidFill>
            <a:ln w="13335">
              <a:solidFill>
                <a:schemeClr val="accent3"/>
              </a:solidFill>
            </a:ln>
          </p:spPr>
        </p:sp>
        <p:sp>
          <p:nvSpPr>
            <p:cNvPr id="41" name="Rectangle 41"/>
            <p:cNvSpPr/>
            <p:nvPr/>
          </p:nvSpPr>
          <p:spPr>
            <a:xfrm>
              <a:off x="936784" y="4068128"/>
              <a:ext cx="193358" cy="331470"/>
            </a:xfrm>
            <a:prstGeom prst="roundRect">
              <a:avLst>
                <a:gd name="adj" fmla="val 42857"/>
              </a:avLst>
            </a:prstGeom>
            <a:solidFill>
              <a:schemeClr val="accent3"/>
            </a:solidFill>
            <a:ln w="13335">
              <a:solidFill>
                <a:schemeClr val="accent3"/>
              </a:solidFill>
            </a:ln>
          </p:spPr>
        </p:sp>
      </p:grpSp>
      <p:grpSp>
        <p:nvGrpSpPr>
          <p:cNvPr id="45" name="!!participant-11"/>
          <p:cNvGrpSpPr/>
          <p:nvPr/>
        </p:nvGrpSpPr>
        <p:grpSpPr>
          <a:xfrm>
            <a:off x="1498759" y="3833336"/>
            <a:ext cx="193358" cy="566262"/>
            <a:chOff x="1498759" y="3833336"/>
            <a:chExt cx="193358" cy="566262"/>
          </a:xfrm>
        </p:grpSpPr>
        <p:sp>
          <p:nvSpPr>
            <p:cNvPr id="43" name="Ellipse 43"/>
            <p:cNvSpPr/>
            <p:nvPr/>
          </p:nvSpPr>
          <p:spPr>
            <a:xfrm>
              <a:off x="1512570" y="3833336"/>
              <a:ext cx="165735" cy="165735"/>
            </a:xfrm>
            <a:prstGeom prst="ellipse">
              <a:avLst/>
            </a:prstGeom>
            <a:solidFill>
              <a:schemeClr val="accent3"/>
            </a:solidFill>
            <a:ln w="13335">
              <a:solidFill>
                <a:schemeClr val="accent3"/>
              </a:solidFill>
            </a:ln>
          </p:spPr>
        </p:sp>
        <p:sp>
          <p:nvSpPr>
            <p:cNvPr id="44" name="Rectangle 44"/>
            <p:cNvSpPr/>
            <p:nvPr/>
          </p:nvSpPr>
          <p:spPr>
            <a:xfrm>
              <a:off x="1498759" y="4068128"/>
              <a:ext cx="193358" cy="331470"/>
            </a:xfrm>
            <a:prstGeom prst="roundRect">
              <a:avLst>
                <a:gd name="adj" fmla="val 42857"/>
              </a:avLst>
            </a:prstGeom>
            <a:solidFill>
              <a:schemeClr val="accent3"/>
            </a:solidFill>
            <a:ln w="13335">
              <a:solidFill>
                <a:schemeClr val="accent3"/>
              </a:solidFill>
            </a:ln>
          </p:spPr>
        </p:sp>
      </p:grpSp>
      <p:grpSp>
        <p:nvGrpSpPr>
          <p:cNvPr id="48" name="!!participant-12"/>
          <p:cNvGrpSpPr/>
          <p:nvPr/>
        </p:nvGrpSpPr>
        <p:grpSpPr>
          <a:xfrm>
            <a:off x="2060734" y="3833336"/>
            <a:ext cx="193358" cy="566262"/>
            <a:chOff x="2060734" y="3833336"/>
            <a:chExt cx="193358" cy="566262"/>
          </a:xfrm>
        </p:grpSpPr>
        <p:sp>
          <p:nvSpPr>
            <p:cNvPr id="46" name="Ellipse 46"/>
            <p:cNvSpPr/>
            <p:nvPr/>
          </p:nvSpPr>
          <p:spPr>
            <a:xfrm>
              <a:off x="2074545" y="3833336"/>
              <a:ext cx="165735" cy="165735"/>
            </a:xfrm>
            <a:prstGeom prst="ellipse">
              <a:avLst/>
            </a:prstGeom>
            <a:solidFill>
              <a:schemeClr val="accent3"/>
            </a:solidFill>
            <a:ln w="13335">
              <a:solidFill>
                <a:schemeClr val="accent3"/>
              </a:solidFill>
            </a:ln>
          </p:spPr>
        </p:sp>
        <p:sp>
          <p:nvSpPr>
            <p:cNvPr id="47" name="Rectangle 47"/>
            <p:cNvSpPr/>
            <p:nvPr/>
          </p:nvSpPr>
          <p:spPr>
            <a:xfrm>
              <a:off x="2060734" y="4068128"/>
              <a:ext cx="193358" cy="331470"/>
            </a:xfrm>
            <a:prstGeom prst="roundRect">
              <a:avLst>
                <a:gd name="adj" fmla="val 42857"/>
              </a:avLst>
            </a:prstGeom>
            <a:solidFill>
              <a:schemeClr val="accent3"/>
            </a:solidFill>
            <a:ln w="13335">
              <a:solidFill>
                <a:schemeClr val="accent3"/>
              </a:solidFill>
            </a:ln>
          </p:spPr>
        </p:sp>
      </p:grpSp>
      <p:grpSp>
        <p:nvGrpSpPr>
          <p:cNvPr id="51" name="!!participant-13"/>
          <p:cNvGrpSpPr/>
          <p:nvPr/>
        </p:nvGrpSpPr>
        <p:grpSpPr>
          <a:xfrm>
            <a:off x="2622709" y="3833336"/>
            <a:ext cx="193358" cy="566262"/>
            <a:chOff x="2622709" y="3833336"/>
            <a:chExt cx="193358" cy="566262"/>
          </a:xfrm>
        </p:grpSpPr>
        <p:sp>
          <p:nvSpPr>
            <p:cNvPr id="49" name="Ellipse 49"/>
            <p:cNvSpPr/>
            <p:nvPr/>
          </p:nvSpPr>
          <p:spPr>
            <a:xfrm>
              <a:off x="2636520" y="3833336"/>
              <a:ext cx="165735" cy="165735"/>
            </a:xfrm>
            <a:prstGeom prst="ellipse">
              <a:avLst/>
            </a:prstGeom>
            <a:solidFill>
              <a:schemeClr val="accent3"/>
            </a:solidFill>
            <a:ln w="13335">
              <a:solidFill>
                <a:schemeClr val="accent3"/>
              </a:solidFill>
            </a:ln>
          </p:spPr>
        </p:sp>
        <p:sp>
          <p:nvSpPr>
            <p:cNvPr id="50" name="Rectangle 50"/>
            <p:cNvSpPr/>
            <p:nvPr/>
          </p:nvSpPr>
          <p:spPr>
            <a:xfrm>
              <a:off x="2622709" y="4068128"/>
              <a:ext cx="193358" cy="331470"/>
            </a:xfrm>
            <a:prstGeom prst="roundRect">
              <a:avLst>
                <a:gd name="adj" fmla="val 42857"/>
              </a:avLst>
            </a:prstGeom>
            <a:solidFill>
              <a:schemeClr val="accent3"/>
            </a:solidFill>
            <a:ln w="13335">
              <a:solidFill>
                <a:schemeClr val="accent3"/>
              </a:solidFill>
            </a:ln>
          </p:spPr>
        </p:sp>
      </p:grpSp>
      <p:grpSp>
        <p:nvGrpSpPr>
          <p:cNvPr id="54" name="!!participant-14"/>
          <p:cNvGrpSpPr/>
          <p:nvPr/>
        </p:nvGrpSpPr>
        <p:grpSpPr>
          <a:xfrm>
            <a:off x="3184684" y="3833336"/>
            <a:ext cx="193358" cy="566262"/>
            <a:chOff x="3184684" y="3833336"/>
            <a:chExt cx="193358" cy="566262"/>
          </a:xfrm>
        </p:grpSpPr>
        <p:sp>
          <p:nvSpPr>
            <p:cNvPr id="52" name="Ellipse 52"/>
            <p:cNvSpPr/>
            <p:nvPr/>
          </p:nvSpPr>
          <p:spPr>
            <a:xfrm>
              <a:off x="3198495" y="3833336"/>
              <a:ext cx="165735" cy="165735"/>
            </a:xfrm>
            <a:prstGeom prst="ellipse">
              <a:avLst/>
            </a:prstGeom>
            <a:solidFill>
              <a:schemeClr val="accent3"/>
            </a:solidFill>
            <a:ln w="13335">
              <a:solidFill>
                <a:schemeClr val="accent3"/>
              </a:solidFill>
            </a:ln>
          </p:spPr>
        </p:sp>
        <p:sp>
          <p:nvSpPr>
            <p:cNvPr id="53" name="Rectangle 53"/>
            <p:cNvSpPr/>
            <p:nvPr/>
          </p:nvSpPr>
          <p:spPr>
            <a:xfrm>
              <a:off x="3184684" y="4068128"/>
              <a:ext cx="193358" cy="331470"/>
            </a:xfrm>
            <a:prstGeom prst="roundRect">
              <a:avLst>
                <a:gd name="adj" fmla="val 42857"/>
              </a:avLst>
            </a:prstGeom>
            <a:solidFill>
              <a:schemeClr val="accent3"/>
            </a:solidFill>
            <a:ln w="13335">
              <a:solidFill>
                <a:schemeClr val="accent3"/>
              </a:solidFill>
            </a:ln>
          </p:spPr>
        </p:sp>
      </p:grpSp>
      <p:grpSp>
        <p:nvGrpSpPr>
          <p:cNvPr id="57" name="!!participant-15"/>
          <p:cNvGrpSpPr/>
          <p:nvPr/>
        </p:nvGrpSpPr>
        <p:grpSpPr>
          <a:xfrm>
            <a:off x="3746659" y="3833336"/>
            <a:ext cx="193358" cy="566262"/>
            <a:chOff x="3746659" y="3833336"/>
            <a:chExt cx="193358" cy="566262"/>
          </a:xfrm>
        </p:grpSpPr>
        <p:sp>
          <p:nvSpPr>
            <p:cNvPr id="55" name="Ellipse 55"/>
            <p:cNvSpPr/>
            <p:nvPr/>
          </p:nvSpPr>
          <p:spPr>
            <a:xfrm>
              <a:off x="3760470" y="3833336"/>
              <a:ext cx="165735" cy="165735"/>
            </a:xfrm>
            <a:prstGeom prst="ellipse">
              <a:avLst/>
            </a:prstGeom>
            <a:solidFill>
              <a:schemeClr val="accent3"/>
            </a:solidFill>
            <a:ln w="13335">
              <a:solidFill>
                <a:schemeClr val="accent3"/>
              </a:solidFill>
            </a:ln>
          </p:spPr>
        </p:sp>
        <p:sp>
          <p:nvSpPr>
            <p:cNvPr id="56" name="Rectangle 56"/>
            <p:cNvSpPr/>
            <p:nvPr/>
          </p:nvSpPr>
          <p:spPr>
            <a:xfrm>
              <a:off x="3746659" y="4068128"/>
              <a:ext cx="193358" cy="331470"/>
            </a:xfrm>
            <a:prstGeom prst="roundRect">
              <a:avLst>
                <a:gd name="adj" fmla="val 42857"/>
              </a:avLst>
            </a:prstGeom>
            <a:solidFill>
              <a:schemeClr val="accent3"/>
            </a:solidFill>
            <a:ln w="13335">
              <a:solidFill>
                <a:schemeClr val="accent3"/>
              </a:solidFill>
            </a:ln>
          </p:spPr>
        </p:sp>
      </p:grpSp>
      <p:grpSp>
        <p:nvGrpSpPr>
          <p:cNvPr id="60" name="!!participant-16"/>
          <p:cNvGrpSpPr/>
          <p:nvPr/>
        </p:nvGrpSpPr>
        <p:grpSpPr>
          <a:xfrm>
            <a:off x="4308634" y="3833336"/>
            <a:ext cx="193358" cy="566262"/>
            <a:chOff x="4308634" y="3833336"/>
            <a:chExt cx="193358" cy="566262"/>
          </a:xfrm>
        </p:grpSpPr>
        <p:sp>
          <p:nvSpPr>
            <p:cNvPr id="58" name="Ellipse 58"/>
            <p:cNvSpPr/>
            <p:nvPr/>
          </p:nvSpPr>
          <p:spPr>
            <a:xfrm>
              <a:off x="4322445" y="3833336"/>
              <a:ext cx="165735" cy="165735"/>
            </a:xfrm>
            <a:prstGeom prst="ellipse">
              <a:avLst/>
            </a:prstGeom>
            <a:solidFill>
              <a:schemeClr val="accent3"/>
            </a:solidFill>
            <a:ln w="13335">
              <a:solidFill>
                <a:schemeClr val="accent3"/>
              </a:solidFill>
            </a:ln>
          </p:spPr>
        </p:sp>
        <p:sp>
          <p:nvSpPr>
            <p:cNvPr id="59" name="Rectangle 59"/>
            <p:cNvSpPr/>
            <p:nvPr/>
          </p:nvSpPr>
          <p:spPr>
            <a:xfrm>
              <a:off x="4308634" y="4068128"/>
              <a:ext cx="193358" cy="331470"/>
            </a:xfrm>
            <a:prstGeom prst="roundRect">
              <a:avLst>
                <a:gd name="adj" fmla="val 42857"/>
              </a:avLst>
            </a:prstGeom>
            <a:solidFill>
              <a:schemeClr val="accent3"/>
            </a:solidFill>
            <a:ln w="13335">
              <a:solidFill>
                <a:schemeClr val="accent3"/>
              </a:solidFill>
            </a:ln>
          </p:spPr>
        </p:sp>
      </p:grpSp>
      <p:grpSp>
        <p:nvGrpSpPr>
          <p:cNvPr id="63" name="!!participant-17"/>
          <p:cNvGrpSpPr/>
          <p:nvPr/>
        </p:nvGrpSpPr>
        <p:grpSpPr>
          <a:xfrm>
            <a:off x="4870609" y="3833336"/>
            <a:ext cx="193358" cy="566262"/>
            <a:chOff x="4870609" y="3833336"/>
            <a:chExt cx="193358" cy="566262"/>
          </a:xfrm>
        </p:grpSpPr>
        <p:sp>
          <p:nvSpPr>
            <p:cNvPr id="61" name="Ellipse 61"/>
            <p:cNvSpPr/>
            <p:nvPr/>
          </p:nvSpPr>
          <p:spPr>
            <a:xfrm>
              <a:off x="4884420" y="3833336"/>
              <a:ext cx="165735" cy="165735"/>
            </a:xfrm>
            <a:prstGeom prst="ellipse">
              <a:avLst/>
            </a:prstGeom>
            <a:solidFill>
              <a:schemeClr val="accent3"/>
            </a:solidFill>
            <a:ln w="13335">
              <a:solidFill>
                <a:schemeClr val="accent3"/>
              </a:solidFill>
            </a:ln>
          </p:spPr>
        </p:sp>
        <p:sp>
          <p:nvSpPr>
            <p:cNvPr id="62" name="Rectangle 62"/>
            <p:cNvSpPr/>
            <p:nvPr/>
          </p:nvSpPr>
          <p:spPr>
            <a:xfrm>
              <a:off x="4870609" y="4068128"/>
              <a:ext cx="193358" cy="331470"/>
            </a:xfrm>
            <a:prstGeom prst="roundRect">
              <a:avLst>
                <a:gd name="adj" fmla="val 42857"/>
              </a:avLst>
            </a:prstGeom>
            <a:solidFill>
              <a:schemeClr val="accent3"/>
            </a:solidFill>
            <a:ln w="13335">
              <a:solidFill>
                <a:schemeClr val="accent3"/>
              </a:solidFill>
            </a:ln>
          </p:spPr>
        </p:sp>
      </p:grpSp>
      <p:grpSp>
        <p:nvGrpSpPr>
          <p:cNvPr id="66" name="!!participant-18"/>
          <p:cNvGrpSpPr/>
          <p:nvPr/>
        </p:nvGrpSpPr>
        <p:grpSpPr>
          <a:xfrm>
            <a:off x="5432584" y="3833336"/>
            <a:ext cx="193358" cy="566262"/>
            <a:chOff x="5432584" y="3833336"/>
            <a:chExt cx="193358" cy="566262"/>
          </a:xfrm>
        </p:grpSpPr>
        <p:sp>
          <p:nvSpPr>
            <p:cNvPr id="64" name="Ellipse 64"/>
            <p:cNvSpPr/>
            <p:nvPr/>
          </p:nvSpPr>
          <p:spPr>
            <a:xfrm>
              <a:off x="5446395" y="3833336"/>
              <a:ext cx="165735" cy="165735"/>
            </a:xfrm>
            <a:prstGeom prst="ellipse">
              <a:avLst/>
            </a:prstGeom>
            <a:solidFill>
              <a:schemeClr val="accent3"/>
            </a:solidFill>
            <a:ln w="13335">
              <a:solidFill>
                <a:schemeClr val="accent3"/>
              </a:solidFill>
            </a:ln>
          </p:spPr>
        </p:sp>
        <p:sp>
          <p:nvSpPr>
            <p:cNvPr id="65" name="Rectangle 65"/>
            <p:cNvSpPr/>
            <p:nvPr/>
          </p:nvSpPr>
          <p:spPr>
            <a:xfrm>
              <a:off x="5432584" y="4068128"/>
              <a:ext cx="193358" cy="331470"/>
            </a:xfrm>
            <a:prstGeom prst="roundRect">
              <a:avLst>
                <a:gd name="adj" fmla="val 42857"/>
              </a:avLst>
            </a:prstGeom>
            <a:solidFill>
              <a:schemeClr val="accent3"/>
            </a:solidFill>
            <a:ln w="13335">
              <a:solidFill>
                <a:schemeClr val="accent3"/>
              </a:solidFill>
            </a:ln>
          </p:spPr>
        </p:sp>
      </p:grpSp>
      <p:grpSp>
        <p:nvGrpSpPr>
          <p:cNvPr id="69" name="!!participant-19"/>
          <p:cNvGrpSpPr/>
          <p:nvPr/>
        </p:nvGrpSpPr>
        <p:grpSpPr>
          <a:xfrm>
            <a:off x="5994559" y="3833336"/>
            <a:ext cx="193358" cy="566262"/>
            <a:chOff x="5994559" y="3833336"/>
            <a:chExt cx="193358" cy="566262"/>
          </a:xfrm>
        </p:grpSpPr>
        <p:sp>
          <p:nvSpPr>
            <p:cNvPr id="67" name="Ellipse 67"/>
            <p:cNvSpPr/>
            <p:nvPr/>
          </p:nvSpPr>
          <p:spPr>
            <a:xfrm>
              <a:off x="6008370" y="3833336"/>
              <a:ext cx="165735" cy="165735"/>
            </a:xfrm>
            <a:prstGeom prst="ellipse">
              <a:avLst/>
            </a:prstGeom>
            <a:solidFill>
              <a:schemeClr val="accent3"/>
            </a:solidFill>
            <a:ln w="13335">
              <a:solidFill>
                <a:schemeClr val="accent3"/>
              </a:solidFill>
            </a:ln>
          </p:spPr>
        </p:sp>
        <p:sp>
          <p:nvSpPr>
            <p:cNvPr id="68" name="Rectangle 68"/>
            <p:cNvSpPr/>
            <p:nvPr/>
          </p:nvSpPr>
          <p:spPr>
            <a:xfrm>
              <a:off x="5994559" y="4068128"/>
              <a:ext cx="193358" cy="331470"/>
            </a:xfrm>
            <a:prstGeom prst="roundRect">
              <a:avLst>
                <a:gd name="adj" fmla="val 42857"/>
              </a:avLst>
            </a:prstGeom>
            <a:solidFill>
              <a:schemeClr val="accent3"/>
            </a:solidFill>
            <a:ln w="13335">
              <a:solidFill>
                <a:schemeClr val="accent3"/>
              </a:solidFill>
            </a:ln>
          </p:spPr>
        </p:sp>
      </p:grpSp>
      <p:grpSp>
        <p:nvGrpSpPr>
          <p:cNvPr id="72" name="!!participant-20"/>
          <p:cNvGrpSpPr/>
          <p:nvPr/>
        </p:nvGrpSpPr>
        <p:grpSpPr>
          <a:xfrm>
            <a:off x="936784" y="4642961"/>
            <a:ext cx="193358" cy="566261"/>
            <a:chOff x="936784" y="4642961"/>
            <a:chExt cx="193358" cy="566261"/>
          </a:xfrm>
        </p:grpSpPr>
        <p:sp>
          <p:nvSpPr>
            <p:cNvPr id="70" name="Ellipse 70"/>
            <p:cNvSpPr/>
            <p:nvPr/>
          </p:nvSpPr>
          <p:spPr>
            <a:xfrm>
              <a:off x="950595" y="4642961"/>
              <a:ext cx="165735" cy="165735"/>
            </a:xfrm>
            <a:prstGeom prst="ellipse">
              <a:avLst/>
            </a:prstGeom>
            <a:solidFill>
              <a:schemeClr val="accent3"/>
            </a:solidFill>
            <a:ln w="13335">
              <a:solidFill>
                <a:schemeClr val="accent3"/>
              </a:solidFill>
            </a:ln>
          </p:spPr>
        </p:sp>
        <p:sp>
          <p:nvSpPr>
            <p:cNvPr id="71" name="Rectangle 71"/>
            <p:cNvSpPr/>
            <p:nvPr/>
          </p:nvSpPr>
          <p:spPr>
            <a:xfrm>
              <a:off x="936784" y="4877752"/>
              <a:ext cx="193358" cy="331470"/>
            </a:xfrm>
            <a:prstGeom prst="roundRect">
              <a:avLst>
                <a:gd name="adj" fmla="val 42857"/>
              </a:avLst>
            </a:prstGeom>
            <a:solidFill>
              <a:schemeClr val="accent3"/>
            </a:solidFill>
            <a:ln w="13335">
              <a:solidFill>
                <a:schemeClr val="accent3"/>
              </a:solidFill>
            </a:ln>
          </p:spPr>
        </p:sp>
      </p:grpSp>
      <p:grpSp>
        <p:nvGrpSpPr>
          <p:cNvPr id="75" name="!!participant-21"/>
          <p:cNvGrpSpPr/>
          <p:nvPr/>
        </p:nvGrpSpPr>
        <p:grpSpPr>
          <a:xfrm>
            <a:off x="1498759" y="4642961"/>
            <a:ext cx="193358" cy="566261"/>
            <a:chOff x="1498759" y="4642961"/>
            <a:chExt cx="193358" cy="566261"/>
          </a:xfrm>
        </p:grpSpPr>
        <p:sp>
          <p:nvSpPr>
            <p:cNvPr id="73" name="Ellipse 73"/>
            <p:cNvSpPr/>
            <p:nvPr/>
          </p:nvSpPr>
          <p:spPr>
            <a:xfrm>
              <a:off x="1512570" y="4642961"/>
              <a:ext cx="165735" cy="165735"/>
            </a:xfrm>
            <a:prstGeom prst="ellipse">
              <a:avLst/>
            </a:prstGeom>
            <a:solidFill>
              <a:schemeClr val="accent3"/>
            </a:solidFill>
            <a:ln w="13335">
              <a:solidFill>
                <a:schemeClr val="accent3"/>
              </a:solidFill>
            </a:ln>
          </p:spPr>
        </p:sp>
        <p:sp>
          <p:nvSpPr>
            <p:cNvPr id="74" name="Rectangle 74"/>
            <p:cNvSpPr/>
            <p:nvPr/>
          </p:nvSpPr>
          <p:spPr>
            <a:xfrm>
              <a:off x="1498759" y="4877752"/>
              <a:ext cx="193358" cy="331470"/>
            </a:xfrm>
            <a:prstGeom prst="roundRect">
              <a:avLst>
                <a:gd name="adj" fmla="val 42857"/>
              </a:avLst>
            </a:prstGeom>
            <a:solidFill>
              <a:schemeClr val="accent3"/>
            </a:solidFill>
            <a:ln w="13335">
              <a:solidFill>
                <a:schemeClr val="accent3"/>
              </a:solidFill>
            </a:ln>
          </p:spPr>
        </p:sp>
      </p:grpSp>
      <p:grpSp>
        <p:nvGrpSpPr>
          <p:cNvPr id="78" name="!!participant-22"/>
          <p:cNvGrpSpPr/>
          <p:nvPr/>
        </p:nvGrpSpPr>
        <p:grpSpPr>
          <a:xfrm>
            <a:off x="2060734" y="4642961"/>
            <a:ext cx="193358" cy="566261"/>
            <a:chOff x="2060734" y="4642961"/>
            <a:chExt cx="193358" cy="566261"/>
          </a:xfrm>
        </p:grpSpPr>
        <p:sp>
          <p:nvSpPr>
            <p:cNvPr id="76" name="Ellipse 76"/>
            <p:cNvSpPr/>
            <p:nvPr/>
          </p:nvSpPr>
          <p:spPr>
            <a:xfrm>
              <a:off x="2074545" y="4642961"/>
              <a:ext cx="165735" cy="165735"/>
            </a:xfrm>
            <a:prstGeom prst="ellipse">
              <a:avLst/>
            </a:prstGeom>
            <a:solidFill>
              <a:schemeClr val="accent3"/>
            </a:solidFill>
            <a:ln w="13335">
              <a:solidFill>
                <a:schemeClr val="accent3"/>
              </a:solidFill>
            </a:ln>
          </p:spPr>
        </p:sp>
        <p:sp>
          <p:nvSpPr>
            <p:cNvPr id="77" name="Rectangle 77"/>
            <p:cNvSpPr/>
            <p:nvPr/>
          </p:nvSpPr>
          <p:spPr>
            <a:xfrm>
              <a:off x="2060734" y="4877752"/>
              <a:ext cx="193358" cy="331470"/>
            </a:xfrm>
            <a:prstGeom prst="roundRect">
              <a:avLst>
                <a:gd name="adj" fmla="val 42857"/>
              </a:avLst>
            </a:prstGeom>
            <a:solidFill>
              <a:schemeClr val="accent3"/>
            </a:solidFill>
            <a:ln w="13335">
              <a:solidFill>
                <a:schemeClr val="accent3"/>
              </a:solidFill>
            </a:ln>
          </p:spPr>
        </p:sp>
      </p:grpSp>
      <p:grpSp>
        <p:nvGrpSpPr>
          <p:cNvPr id="81" name="!!participant-23"/>
          <p:cNvGrpSpPr/>
          <p:nvPr/>
        </p:nvGrpSpPr>
        <p:grpSpPr>
          <a:xfrm>
            <a:off x="2622709" y="4642961"/>
            <a:ext cx="193358" cy="566261"/>
            <a:chOff x="2622709" y="4642961"/>
            <a:chExt cx="193358" cy="566261"/>
          </a:xfrm>
        </p:grpSpPr>
        <p:sp>
          <p:nvSpPr>
            <p:cNvPr id="79" name="Ellipse 79"/>
            <p:cNvSpPr/>
            <p:nvPr/>
          </p:nvSpPr>
          <p:spPr>
            <a:xfrm>
              <a:off x="2636520" y="4642961"/>
              <a:ext cx="165735" cy="165735"/>
            </a:xfrm>
            <a:prstGeom prst="ellipse">
              <a:avLst/>
            </a:prstGeom>
            <a:solidFill>
              <a:schemeClr val="accent3"/>
            </a:solidFill>
            <a:ln w="13335">
              <a:solidFill>
                <a:schemeClr val="accent3"/>
              </a:solidFill>
            </a:ln>
          </p:spPr>
        </p:sp>
        <p:sp>
          <p:nvSpPr>
            <p:cNvPr id="80" name="Rectangle 80"/>
            <p:cNvSpPr/>
            <p:nvPr/>
          </p:nvSpPr>
          <p:spPr>
            <a:xfrm>
              <a:off x="2622709" y="4877752"/>
              <a:ext cx="193358" cy="331470"/>
            </a:xfrm>
            <a:prstGeom prst="roundRect">
              <a:avLst>
                <a:gd name="adj" fmla="val 42857"/>
              </a:avLst>
            </a:prstGeom>
            <a:solidFill>
              <a:schemeClr val="accent3"/>
            </a:solidFill>
            <a:ln w="13335">
              <a:solidFill>
                <a:schemeClr val="accent3"/>
              </a:solidFill>
            </a:ln>
          </p:spPr>
        </p:sp>
      </p:grpSp>
      <p:grpSp>
        <p:nvGrpSpPr>
          <p:cNvPr id="84" name="!!participant-24"/>
          <p:cNvGrpSpPr/>
          <p:nvPr/>
        </p:nvGrpSpPr>
        <p:grpSpPr>
          <a:xfrm>
            <a:off x="3184684" y="4642961"/>
            <a:ext cx="193358" cy="566261"/>
            <a:chOff x="3184684" y="4642961"/>
            <a:chExt cx="193358" cy="566261"/>
          </a:xfrm>
        </p:grpSpPr>
        <p:sp>
          <p:nvSpPr>
            <p:cNvPr id="82" name="Ellipse 82"/>
            <p:cNvSpPr/>
            <p:nvPr/>
          </p:nvSpPr>
          <p:spPr>
            <a:xfrm>
              <a:off x="3198495" y="4642961"/>
              <a:ext cx="165735" cy="165735"/>
            </a:xfrm>
            <a:prstGeom prst="ellipse">
              <a:avLst/>
            </a:prstGeom>
            <a:solidFill>
              <a:schemeClr val="accent3"/>
            </a:solidFill>
            <a:ln w="13335">
              <a:solidFill>
                <a:schemeClr val="accent3"/>
              </a:solidFill>
            </a:ln>
          </p:spPr>
        </p:sp>
        <p:sp>
          <p:nvSpPr>
            <p:cNvPr id="83" name="Rectangle 83"/>
            <p:cNvSpPr/>
            <p:nvPr/>
          </p:nvSpPr>
          <p:spPr>
            <a:xfrm>
              <a:off x="3184684" y="4877752"/>
              <a:ext cx="193358" cy="331470"/>
            </a:xfrm>
            <a:prstGeom prst="roundRect">
              <a:avLst>
                <a:gd name="adj" fmla="val 42857"/>
              </a:avLst>
            </a:prstGeom>
            <a:solidFill>
              <a:schemeClr val="accent3"/>
            </a:solidFill>
            <a:ln w="13335">
              <a:solidFill>
                <a:schemeClr val="accent3"/>
              </a:solidFill>
            </a:ln>
          </p:spPr>
        </p:sp>
      </p:grpSp>
      <p:grpSp>
        <p:nvGrpSpPr>
          <p:cNvPr id="87" name="!!participant-25"/>
          <p:cNvGrpSpPr/>
          <p:nvPr/>
        </p:nvGrpSpPr>
        <p:grpSpPr>
          <a:xfrm>
            <a:off x="3746659" y="4642961"/>
            <a:ext cx="193358" cy="566261"/>
            <a:chOff x="3746659" y="4642961"/>
            <a:chExt cx="193358" cy="566261"/>
          </a:xfrm>
        </p:grpSpPr>
        <p:sp>
          <p:nvSpPr>
            <p:cNvPr id="85" name="Ellipse 85"/>
            <p:cNvSpPr/>
            <p:nvPr/>
          </p:nvSpPr>
          <p:spPr>
            <a:xfrm>
              <a:off x="3760470" y="4642961"/>
              <a:ext cx="165735" cy="165735"/>
            </a:xfrm>
            <a:prstGeom prst="ellipse">
              <a:avLst/>
            </a:prstGeom>
            <a:solidFill>
              <a:schemeClr val="accent3"/>
            </a:solidFill>
            <a:ln w="13335">
              <a:solidFill>
                <a:schemeClr val="accent3"/>
              </a:solidFill>
            </a:ln>
          </p:spPr>
        </p:sp>
        <p:sp>
          <p:nvSpPr>
            <p:cNvPr id="86" name="Rectangle 86"/>
            <p:cNvSpPr/>
            <p:nvPr/>
          </p:nvSpPr>
          <p:spPr>
            <a:xfrm>
              <a:off x="3746659" y="4877752"/>
              <a:ext cx="193358" cy="331470"/>
            </a:xfrm>
            <a:prstGeom prst="roundRect">
              <a:avLst>
                <a:gd name="adj" fmla="val 42857"/>
              </a:avLst>
            </a:prstGeom>
            <a:solidFill>
              <a:schemeClr val="accent3"/>
            </a:solidFill>
            <a:ln w="13335">
              <a:solidFill>
                <a:schemeClr val="accent3"/>
              </a:solidFill>
            </a:ln>
          </p:spPr>
        </p:sp>
      </p:grpSp>
      <p:grpSp>
        <p:nvGrpSpPr>
          <p:cNvPr id="90" name="!!participant-26"/>
          <p:cNvGrpSpPr/>
          <p:nvPr/>
        </p:nvGrpSpPr>
        <p:grpSpPr>
          <a:xfrm>
            <a:off x="4308634" y="4642961"/>
            <a:ext cx="193358" cy="566261"/>
            <a:chOff x="4308634" y="4642961"/>
            <a:chExt cx="193358" cy="566261"/>
          </a:xfrm>
        </p:grpSpPr>
        <p:sp>
          <p:nvSpPr>
            <p:cNvPr id="88" name="Ellipse 88"/>
            <p:cNvSpPr/>
            <p:nvPr/>
          </p:nvSpPr>
          <p:spPr>
            <a:xfrm>
              <a:off x="4322445" y="4642961"/>
              <a:ext cx="165735" cy="165735"/>
            </a:xfrm>
            <a:prstGeom prst="ellipse">
              <a:avLst/>
            </a:prstGeom>
            <a:solidFill>
              <a:schemeClr val="accent3"/>
            </a:solidFill>
            <a:ln w="13335">
              <a:solidFill>
                <a:schemeClr val="accent3"/>
              </a:solidFill>
            </a:ln>
          </p:spPr>
        </p:sp>
        <p:sp>
          <p:nvSpPr>
            <p:cNvPr id="89" name="Rectangle 89"/>
            <p:cNvSpPr/>
            <p:nvPr/>
          </p:nvSpPr>
          <p:spPr>
            <a:xfrm>
              <a:off x="4308634" y="4877752"/>
              <a:ext cx="193358" cy="331470"/>
            </a:xfrm>
            <a:prstGeom prst="roundRect">
              <a:avLst>
                <a:gd name="adj" fmla="val 42857"/>
              </a:avLst>
            </a:prstGeom>
            <a:solidFill>
              <a:schemeClr val="accent3"/>
            </a:solidFill>
            <a:ln w="13335">
              <a:solidFill>
                <a:schemeClr val="accent3"/>
              </a:solidFill>
            </a:ln>
          </p:spPr>
        </p:sp>
      </p:grpSp>
      <p:grpSp>
        <p:nvGrpSpPr>
          <p:cNvPr id="93" name="!!participant-27"/>
          <p:cNvGrpSpPr/>
          <p:nvPr/>
        </p:nvGrpSpPr>
        <p:grpSpPr>
          <a:xfrm>
            <a:off x="4870609" y="4642961"/>
            <a:ext cx="193358" cy="566261"/>
            <a:chOff x="4870609" y="4642961"/>
            <a:chExt cx="193358" cy="566261"/>
          </a:xfrm>
        </p:grpSpPr>
        <p:sp>
          <p:nvSpPr>
            <p:cNvPr id="91" name="Ellipse 91"/>
            <p:cNvSpPr/>
            <p:nvPr/>
          </p:nvSpPr>
          <p:spPr>
            <a:xfrm>
              <a:off x="4884420" y="4642961"/>
              <a:ext cx="165735" cy="165735"/>
            </a:xfrm>
            <a:prstGeom prst="ellipse">
              <a:avLst/>
            </a:prstGeom>
            <a:solidFill>
              <a:schemeClr val="accent3"/>
            </a:solidFill>
            <a:ln w="13335">
              <a:solidFill>
                <a:schemeClr val="accent3"/>
              </a:solidFill>
            </a:ln>
          </p:spPr>
        </p:sp>
        <p:sp>
          <p:nvSpPr>
            <p:cNvPr id="92" name="Rectangle 92"/>
            <p:cNvSpPr/>
            <p:nvPr/>
          </p:nvSpPr>
          <p:spPr>
            <a:xfrm>
              <a:off x="4870609" y="4877752"/>
              <a:ext cx="193358" cy="331470"/>
            </a:xfrm>
            <a:prstGeom prst="roundRect">
              <a:avLst>
                <a:gd name="adj" fmla="val 42857"/>
              </a:avLst>
            </a:prstGeom>
            <a:solidFill>
              <a:schemeClr val="accent3"/>
            </a:solidFill>
            <a:ln w="13335">
              <a:solidFill>
                <a:schemeClr val="accent3"/>
              </a:solidFill>
            </a:ln>
          </p:spPr>
        </p:sp>
      </p:grpSp>
      <p:grpSp>
        <p:nvGrpSpPr>
          <p:cNvPr id="96" name="!!participant-28"/>
          <p:cNvGrpSpPr/>
          <p:nvPr/>
        </p:nvGrpSpPr>
        <p:grpSpPr>
          <a:xfrm>
            <a:off x="5432584" y="4642961"/>
            <a:ext cx="193358" cy="566261"/>
            <a:chOff x="5432584" y="4642961"/>
            <a:chExt cx="193358" cy="566261"/>
          </a:xfrm>
        </p:grpSpPr>
        <p:sp>
          <p:nvSpPr>
            <p:cNvPr id="94" name="Ellipse 94"/>
            <p:cNvSpPr/>
            <p:nvPr/>
          </p:nvSpPr>
          <p:spPr>
            <a:xfrm>
              <a:off x="5446395" y="4642961"/>
              <a:ext cx="165735" cy="165735"/>
            </a:xfrm>
            <a:prstGeom prst="ellipse">
              <a:avLst/>
            </a:prstGeom>
            <a:solidFill>
              <a:schemeClr val="accent3"/>
            </a:solidFill>
            <a:ln w="13335">
              <a:solidFill>
                <a:schemeClr val="accent3"/>
              </a:solidFill>
            </a:ln>
          </p:spPr>
        </p:sp>
        <p:sp>
          <p:nvSpPr>
            <p:cNvPr id="95" name="Rectangle 95"/>
            <p:cNvSpPr/>
            <p:nvPr/>
          </p:nvSpPr>
          <p:spPr>
            <a:xfrm>
              <a:off x="5432584" y="4877752"/>
              <a:ext cx="193358" cy="331470"/>
            </a:xfrm>
            <a:prstGeom prst="roundRect">
              <a:avLst>
                <a:gd name="adj" fmla="val 42857"/>
              </a:avLst>
            </a:prstGeom>
            <a:solidFill>
              <a:schemeClr val="accent3"/>
            </a:solidFill>
            <a:ln w="13335">
              <a:solidFill>
                <a:schemeClr val="accent3"/>
              </a:solidFill>
            </a:ln>
          </p:spPr>
        </p:sp>
      </p:grpSp>
      <p:grpSp>
        <p:nvGrpSpPr>
          <p:cNvPr id="99" name="!!participant-29"/>
          <p:cNvGrpSpPr/>
          <p:nvPr/>
        </p:nvGrpSpPr>
        <p:grpSpPr>
          <a:xfrm>
            <a:off x="8071009" y="3023711"/>
            <a:ext cx="193358" cy="566261"/>
            <a:chOff x="8071009" y="3023711"/>
            <a:chExt cx="193358" cy="566261"/>
          </a:xfrm>
        </p:grpSpPr>
        <p:sp>
          <p:nvSpPr>
            <p:cNvPr id="97" name="Ellipse 97"/>
            <p:cNvSpPr/>
            <p:nvPr/>
          </p:nvSpPr>
          <p:spPr>
            <a:xfrm>
              <a:off x="8084820" y="3023711"/>
              <a:ext cx="165735" cy="165735"/>
            </a:xfrm>
            <a:prstGeom prst="ellipse">
              <a:avLst/>
            </a:prstGeom>
            <a:noFill/>
            <a:ln w="13335">
              <a:solidFill>
                <a:schemeClr val="accent2"/>
              </a:solidFill>
            </a:ln>
          </p:spPr>
        </p:sp>
        <p:sp>
          <p:nvSpPr>
            <p:cNvPr id="98" name="Rectangle 98"/>
            <p:cNvSpPr/>
            <p:nvPr/>
          </p:nvSpPr>
          <p:spPr>
            <a:xfrm>
              <a:off x="8071009" y="3258502"/>
              <a:ext cx="193358" cy="331470"/>
            </a:xfrm>
            <a:prstGeom prst="roundRect">
              <a:avLst>
                <a:gd name="adj" fmla="val 42857"/>
              </a:avLst>
            </a:prstGeom>
            <a:noFill/>
            <a:ln w="13335">
              <a:solidFill>
                <a:schemeClr val="accent2"/>
              </a:solidFill>
            </a:ln>
          </p:spPr>
        </p:sp>
      </p:grpSp>
      <p:grpSp>
        <p:nvGrpSpPr>
          <p:cNvPr id="102" name="!!participant-30"/>
          <p:cNvGrpSpPr/>
          <p:nvPr/>
        </p:nvGrpSpPr>
        <p:grpSpPr>
          <a:xfrm>
            <a:off x="8852059" y="3023711"/>
            <a:ext cx="193358" cy="566261"/>
            <a:chOff x="8852059" y="3023711"/>
            <a:chExt cx="193358" cy="566261"/>
          </a:xfrm>
        </p:grpSpPr>
        <p:sp>
          <p:nvSpPr>
            <p:cNvPr id="100" name="Ellipse 100"/>
            <p:cNvSpPr/>
            <p:nvPr/>
          </p:nvSpPr>
          <p:spPr>
            <a:xfrm>
              <a:off x="8865870" y="3023711"/>
              <a:ext cx="165735" cy="165735"/>
            </a:xfrm>
            <a:prstGeom prst="ellipse">
              <a:avLst/>
            </a:prstGeom>
            <a:noFill/>
            <a:ln w="13335">
              <a:solidFill>
                <a:schemeClr val="accent2"/>
              </a:solidFill>
            </a:ln>
          </p:spPr>
        </p:sp>
        <p:sp>
          <p:nvSpPr>
            <p:cNvPr id="101" name="Rectangle 101"/>
            <p:cNvSpPr/>
            <p:nvPr/>
          </p:nvSpPr>
          <p:spPr>
            <a:xfrm>
              <a:off x="8852059" y="3258502"/>
              <a:ext cx="193358" cy="331470"/>
            </a:xfrm>
            <a:prstGeom prst="roundRect">
              <a:avLst>
                <a:gd name="adj" fmla="val 42857"/>
              </a:avLst>
            </a:prstGeom>
            <a:noFill/>
            <a:ln w="13335">
              <a:solidFill>
                <a:schemeClr val="accent2"/>
              </a:solidFill>
            </a:ln>
          </p:spPr>
        </p:sp>
      </p:grpSp>
      <p:grpSp>
        <p:nvGrpSpPr>
          <p:cNvPr id="105" name="!!participant-31"/>
          <p:cNvGrpSpPr/>
          <p:nvPr/>
        </p:nvGrpSpPr>
        <p:grpSpPr>
          <a:xfrm>
            <a:off x="9633109" y="3023711"/>
            <a:ext cx="193358" cy="566261"/>
            <a:chOff x="9633109" y="3023711"/>
            <a:chExt cx="193358" cy="566261"/>
          </a:xfrm>
        </p:grpSpPr>
        <p:sp>
          <p:nvSpPr>
            <p:cNvPr id="103" name="Ellipse 103"/>
            <p:cNvSpPr/>
            <p:nvPr/>
          </p:nvSpPr>
          <p:spPr>
            <a:xfrm>
              <a:off x="9646920" y="3023711"/>
              <a:ext cx="165735" cy="165735"/>
            </a:xfrm>
            <a:prstGeom prst="ellipse">
              <a:avLst/>
            </a:prstGeom>
            <a:noFill/>
            <a:ln w="13335">
              <a:solidFill>
                <a:schemeClr val="accent2"/>
              </a:solidFill>
            </a:ln>
          </p:spPr>
        </p:sp>
        <p:sp>
          <p:nvSpPr>
            <p:cNvPr id="104" name="Rectangle 104"/>
            <p:cNvSpPr/>
            <p:nvPr/>
          </p:nvSpPr>
          <p:spPr>
            <a:xfrm>
              <a:off x="9633109" y="3258502"/>
              <a:ext cx="193358" cy="331470"/>
            </a:xfrm>
            <a:prstGeom prst="roundRect">
              <a:avLst>
                <a:gd name="adj" fmla="val 42857"/>
              </a:avLst>
            </a:prstGeom>
            <a:noFill/>
            <a:ln w="13335">
              <a:solidFill>
                <a:schemeClr val="accent2"/>
              </a:solidFill>
            </a:ln>
          </p:spPr>
        </p:sp>
      </p:grpSp>
      <p:grpSp>
        <p:nvGrpSpPr>
          <p:cNvPr id="108" name="!!participant-32"/>
          <p:cNvGrpSpPr/>
          <p:nvPr/>
        </p:nvGrpSpPr>
        <p:grpSpPr>
          <a:xfrm>
            <a:off x="10414159" y="3023711"/>
            <a:ext cx="193358" cy="566261"/>
            <a:chOff x="10414159" y="3023711"/>
            <a:chExt cx="193358" cy="566261"/>
          </a:xfrm>
        </p:grpSpPr>
        <p:sp>
          <p:nvSpPr>
            <p:cNvPr id="106" name="Ellipse 106"/>
            <p:cNvSpPr/>
            <p:nvPr/>
          </p:nvSpPr>
          <p:spPr>
            <a:xfrm>
              <a:off x="10427970" y="3023711"/>
              <a:ext cx="165735" cy="165735"/>
            </a:xfrm>
            <a:prstGeom prst="ellipse">
              <a:avLst/>
            </a:prstGeom>
            <a:noFill/>
            <a:ln w="13335">
              <a:solidFill>
                <a:schemeClr val="accent2"/>
              </a:solidFill>
            </a:ln>
          </p:spPr>
        </p:sp>
        <p:sp>
          <p:nvSpPr>
            <p:cNvPr id="107" name="Rectangle 107"/>
            <p:cNvSpPr/>
            <p:nvPr/>
          </p:nvSpPr>
          <p:spPr>
            <a:xfrm>
              <a:off x="10414159" y="3258502"/>
              <a:ext cx="193358" cy="331470"/>
            </a:xfrm>
            <a:prstGeom prst="roundRect">
              <a:avLst>
                <a:gd name="adj" fmla="val 42857"/>
              </a:avLst>
            </a:prstGeom>
            <a:noFill/>
            <a:ln w="13335">
              <a:solidFill>
                <a:schemeClr val="accent2"/>
              </a:solidFill>
            </a:ln>
          </p:spPr>
        </p:sp>
      </p:grpSp>
      <p:grpSp>
        <p:nvGrpSpPr>
          <p:cNvPr id="111" name="!!participant-33"/>
          <p:cNvGrpSpPr/>
          <p:nvPr/>
        </p:nvGrpSpPr>
        <p:grpSpPr>
          <a:xfrm>
            <a:off x="8071009" y="3833336"/>
            <a:ext cx="193358" cy="566262"/>
            <a:chOff x="8071009" y="3833336"/>
            <a:chExt cx="193358" cy="566262"/>
          </a:xfrm>
        </p:grpSpPr>
        <p:sp>
          <p:nvSpPr>
            <p:cNvPr id="109" name="Ellipse 109"/>
            <p:cNvSpPr/>
            <p:nvPr/>
          </p:nvSpPr>
          <p:spPr>
            <a:xfrm>
              <a:off x="8084820" y="3833336"/>
              <a:ext cx="165735" cy="165735"/>
            </a:xfrm>
            <a:prstGeom prst="ellipse">
              <a:avLst/>
            </a:prstGeom>
            <a:noFill/>
            <a:ln w="13335">
              <a:solidFill>
                <a:schemeClr val="accent2"/>
              </a:solidFill>
            </a:ln>
          </p:spPr>
        </p:sp>
        <p:sp>
          <p:nvSpPr>
            <p:cNvPr id="110" name="Rectangle 110"/>
            <p:cNvSpPr/>
            <p:nvPr/>
          </p:nvSpPr>
          <p:spPr>
            <a:xfrm>
              <a:off x="8071009" y="4068128"/>
              <a:ext cx="193358" cy="331470"/>
            </a:xfrm>
            <a:prstGeom prst="roundRect">
              <a:avLst>
                <a:gd name="adj" fmla="val 42857"/>
              </a:avLst>
            </a:prstGeom>
            <a:noFill/>
            <a:ln w="13335">
              <a:solidFill>
                <a:schemeClr val="accent2"/>
              </a:solidFill>
            </a:ln>
          </p:spPr>
        </p:sp>
      </p:grpSp>
      <p:grpSp>
        <p:nvGrpSpPr>
          <p:cNvPr id="114" name="!!participant-34"/>
          <p:cNvGrpSpPr/>
          <p:nvPr/>
        </p:nvGrpSpPr>
        <p:grpSpPr>
          <a:xfrm>
            <a:off x="8852059" y="3833336"/>
            <a:ext cx="193358" cy="566262"/>
            <a:chOff x="8852059" y="3833336"/>
            <a:chExt cx="193358" cy="566262"/>
          </a:xfrm>
        </p:grpSpPr>
        <p:sp>
          <p:nvSpPr>
            <p:cNvPr id="112" name="Ellipse 112"/>
            <p:cNvSpPr/>
            <p:nvPr/>
          </p:nvSpPr>
          <p:spPr>
            <a:xfrm>
              <a:off x="8865870" y="3833336"/>
              <a:ext cx="165735" cy="165735"/>
            </a:xfrm>
            <a:prstGeom prst="ellipse">
              <a:avLst/>
            </a:prstGeom>
            <a:noFill/>
            <a:ln w="13335">
              <a:solidFill>
                <a:schemeClr val="accent2"/>
              </a:solidFill>
            </a:ln>
          </p:spPr>
        </p:sp>
        <p:sp>
          <p:nvSpPr>
            <p:cNvPr id="113" name="Rectangle 113"/>
            <p:cNvSpPr/>
            <p:nvPr/>
          </p:nvSpPr>
          <p:spPr>
            <a:xfrm>
              <a:off x="8852059" y="4068128"/>
              <a:ext cx="193358" cy="331470"/>
            </a:xfrm>
            <a:prstGeom prst="roundRect">
              <a:avLst>
                <a:gd name="adj" fmla="val 42857"/>
              </a:avLst>
            </a:prstGeom>
            <a:noFill/>
            <a:ln w="13335">
              <a:solidFill>
                <a:schemeClr val="accent2"/>
              </a:solidFill>
            </a:ln>
          </p:spPr>
        </p:sp>
      </p:grpSp>
      <p:grpSp>
        <p:nvGrpSpPr>
          <p:cNvPr id="117" name="!!participant-35"/>
          <p:cNvGrpSpPr/>
          <p:nvPr/>
        </p:nvGrpSpPr>
        <p:grpSpPr>
          <a:xfrm>
            <a:off x="9633109" y="3833336"/>
            <a:ext cx="193358" cy="566262"/>
            <a:chOff x="9633109" y="3833336"/>
            <a:chExt cx="193358" cy="566262"/>
          </a:xfrm>
        </p:grpSpPr>
        <p:sp>
          <p:nvSpPr>
            <p:cNvPr id="115" name="Ellipse 115"/>
            <p:cNvSpPr/>
            <p:nvPr/>
          </p:nvSpPr>
          <p:spPr>
            <a:xfrm>
              <a:off x="9646920" y="3833336"/>
              <a:ext cx="165735" cy="165735"/>
            </a:xfrm>
            <a:prstGeom prst="ellipse">
              <a:avLst/>
            </a:prstGeom>
            <a:noFill/>
            <a:ln w="13335">
              <a:solidFill>
                <a:schemeClr val="accent2"/>
              </a:solidFill>
            </a:ln>
          </p:spPr>
        </p:sp>
        <p:sp>
          <p:nvSpPr>
            <p:cNvPr id="116" name="Rectangle 116"/>
            <p:cNvSpPr/>
            <p:nvPr/>
          </p:nvSpPr>
          <p:spPr>
            <a:xfrm>
              <a:off x="9633109" y="4068128"/>
              <a:ext cx="193358" cy="331470"/>
            </a:xfrm>
            <a:prstGeom prst="roundRect">
              <a:avLst>
                <a:gd name="adj" fmla="val 42857"/>
              </a:avLst>
            </a:prstGeom>
            <a:noFill/>
            <a:ln w="13335">
              <a:solidFill>
                <a:schemeClr val="accent2"/>
              </a:solidFill>
            </a:ln>
          </p:spPr>
        </p:sp>
      </p:grpSp>
      <p:grpSp>
        <p:nvGrpSpPr>
          <p:cNvPr id="120" name="!!participant-36"/>
          <p:cNvGrpSpPr/>
          <p:nvPr/>
        </p:nvGrpSpPr>
        <p:grpSpPr>
          <a:xfrm>
            <a:off x="10414159" y="3833336"/>
            <a:ext cx="193358" cy="566262"/>
            <a:chOff x="10414159" y="3833336"/>
            <a:chExt cx="193358" cy="566262"/>
          </a:xfrm>
        </p:grpSpPr>
        <p:sp>
          <p:nvSpPr>
            <p:cNvPr id="118" name="Ellipse 118"/>
            <p:cNvSpPr/>
            <p:nvPr/>
          </p:nvSpPr>
          <p:spPr>
            <a:xfrm>
              <a:off x="10427970" y="3833336"/>
              <a:ext cx="165735" cy="165735"/>
            </a:xfrm>
            <a:prstGeom prst="ellipse">
              <a:avLst/>
            </a:prstGeom>
            <a:noFill/>
            <a:ln w="13335">
              <a:solidFill>
                <a:schemeClr val="accent2"/>
              </a:solidFill>
            </a:ln>
          </p:spPr>
        </p:sp>
        <p:sp>
          <p:nvSpPr>
            <p:cNvPr id="119" name="Rectangle 119"/>
            <p:cNvSpPr/>
            <p:nvPr/>
          </p:nvSpPr>
          <p:spPr>
            <a:xfrm>
              <a:off x="10414159" y="4068128"/>
              <a:ext cx="193358" cy="331470"/>
            </a:xfrm>
            <a:prstGeom prst="roundRect">
              <a:avLst>
                <a:gd name="adj" fmla="val 42857"/>
              </a:avLst>
            </a:prstGeom>
            <a:noFill/>
            <a:ln w="13335">
              <a:solidFill>
                <a:schemeClr val="accent2"/>
              </a:solidFill>
            </a:ln>
          </p:spPr>
        </p:sp>
      </p:grpSp>
      <p:grpSp>
        <p:nvGrpSpPr>
          <p:cNvPr id="123" name="!!participant-37"/>
          <p:cNvGrpSpPr/>
          <p:nvPr/>
        </p:nvGrpSpPr>
        <p:grpSpPr>
          <a:xfrm>
            <a:off x="8071009" y="4642961"/>
            <a:ext cx="193358" cy="566261"/>
            <a:chOff x="8071009" y="4642961"/>
            <a:chExt cx="193358" cy="566261"/>
          </a:xfrm>
        </p:grpSpPr>
        <p:sp>
          <p:nvSpPr>
            <p:cNvPr id="121" name="Ellipse 121"/>
            <p:cNvSpPr/>
            <p:nvPr/>
          </p:nvSpPr>
          <p:spPr>
            <a:xfrm>
              <a:off x="8084820" y="4642961"/>
              <a:ext cx="165735" cy="165735"/>
            </a:xfrm>
            <a:prstGeom prst="ellipse">
              <a:avLst/>
            </a:prstGeom>
            <a:noFill/>
            <a:ln w="13335">
              <a:solidFill>
                <a:schemeClr val="accent2"/>
              </a:solidFill>
            </a:ln>
          </p:spPr>
        </p:sp>
        <p:sp>
          <p:nvSpPr>
            <p:cNvPr id="122" name="Rectangle 122"/>
            <p:cNvSpPr/>
            <p:nvPr/>
          </p:nvSpPr>
          <p:spPr>
            <a:xfrm>
              <a:off x="8071009" y="4877752"/>
              <a:ext cx="193358" cy="331470"/>
            </a:xfrm>
            <a:prstGeom prst="roundRect">
              <a:avLst>
                <a:gd name="adj" fmla="val 42857"/>
              </a:avLst>
            </a:prstGeom>
            <a:noFill/>
            <a:ln w="13335">
              <a:solidFill>
                <a:schemeClr val="accent2"/>
              </a:solidFill>
            </a:ln>
          </p:spPr>
        </p:sp>
      </p:grpSp>
      <p:grpSp>
        <p:nvGrpSpPr>
          <p:cNvPr id="126" name="!!participant-38"/>
          <p:cNvGrpSpPr/>
          <p:nvPr/>
        </p:nvGrpSpPr>
        <p:grpSpPr>
          <a:xfrm>
            <a:off x="8852059" y="4642961"/>
            <a:ext cx="193358" cy="566261"/>
            <a:chOff x="8852059" y="4642961"/>
            <a:chExt cx="193358" cy="566261"/>
          </a:xfrm>
        </p:grpSpPr>
        <p:sp>
          <p:nvSpPr>
            <p:cNvPr id="124" name="Ellipse 124"/>
            <p:cNvSpPr/>
            <p:nvPr/>
          </p:nvSpPr>
          <p:spPr>
            <a:xfrm>
              <a:off x="8865870" y="4642961"/>
              <a:ext cx="165735" cy="165735"/>
            </a:xfrm>
            <a:prstGeom prst="ellipse">
              <a:avLst/>
            </a:prstGeom>
            <a:noFill/>
            <a:ln w="13335">
              <a:solidFill>
                <a:schemeClr val="accent2"/>
              </a:solidFill>
            </a:ln>
          </p:spPr>
        </p:sp>
        <p:sp>
          <p:nvSpPr>
            <p:cNvPr id="125" name="Rectangle 125"/>
            <p:cNvSpPr/>
            <p:nvPr/>
          </p:nvSpPr>
          <p:spPr>
            <a:xfrm>
              <a:off x="8852059" y="4877752"/>
              <a:ext cx="193358" cy="331470"/>
            </a:xfrm>
            <a:prstGeom prst="roundRect">
              <a:avLst>
                <a:gd name="adj" fmla="val 42857"/>
              </a:avLst>
            </a:prstGeom>
            <a:noFill/>
            <a:ln w="13335">
              <a:solidFill>
                <a:schemeClr val="accent2"/>
              </a:solidFill>
            </a:ln>
          </p:spPr>
        </p:sp>
      </p:grpSp>
      <p:grpSp>
        <p:nvGrpSpPr>
          <p:cNvPr id="129" name="!!participant-39"/>
          <p:cNvGrpSpPr/>
          <p:nvPr/>
        </p:nvGrpSpPr>
        <p:grpSpPr>
          <a:xfrm>
            <a:off x="9633109" y="4642961"/>
            <a:ext cx="193358" cy="566261"/>
            <a:chOff x="9633109" y="4642961"/>
            <a:chExt cx="193358" cy="566261"/>
          </a:xfrm>
        </p:grpSpPr>
        <p:sp>
          <p:nvSpPr>
            <p:cNvPr id="127" name="Ellipse 127"/>
            <p:cNvSpPr/>
            <p:nvPr/>
          </p:nvSpPr>
          <p:spPr>
            <a:xfrm>
              <a:off x="9646920" y="4642961"/>
              <a:ext cx="165735" cy="165735"/>
            </a:xfrm>
            <a:prstGeom prst="ellipse">
              <a:avLst/>
            </a:prstGeom>
            <a:noFill/>
            <a:ln w="13335">
              <a:solidFill>
                <a:schemeClr val="accent2"/>
              </a:solidFill>
            </a:ln>
          </p:spPr>
        </p:sp>
        <p:sp>
          <p:nvSpPr>
            <p:cNvPr id="128" name="Rectangle 128"/>
            <p:cNvSpPr/>
            <p:nvPr/>
          </p:nvSpPr>
          <p:spPr>
            <a:xfrm>
              <a:off x="9633109" y="4877752"/>
              <a:ext cx="193358" cy="331470"/>
            </a:xfrm>
            <a:prstGeom prst="roundRect">
              <a:avLst>
                <a:gd name="adj" fmla="val 42857"/>
              </a:avLst>
            </a:prstGeom>
            <a:noFill/>
            <a:ln w="13335">
              <a:solidFill>
                <a:schemeClr val="accent2"/>
              </a:solidFill>
            </a:ln>
          </p:spPr>
        </p:sp>
      </p:grpSp>
      <p:grpSp>
        <p:nvGrpSpPr>
          <p:cNvPr id="132" name="!!participant-40"/>
          <p:cNvGrpSpPr/>
          <p:nvPr/>
        </p:nvGrpSpPr>
        <p:grpSpPr>
          <a:xfrm>
            <a:off x="10414159" y="4642961"/>
            <a:ext cx="193358" cy="566261"/>
            <a:chOff x="10414159" y="4642961"/>
            <a:chExt cx="193358" cy="566261"/>
          </a:xfrm>
        </p:grpSpPr>
        <p:sp>
          <p:nvSpPr>
            <p:cNvPr id="130" name="Ellipse 130"/>
            <p:cNvSpPr/>
            <p:nvPr/>
          </p:nvSpPr>
          <p:spPr>
            <a:xfrm>
              <a:off x="10427970" y="4642961"/>
              <a:ext cx="165735" cy="165735"/>
            </a:xfrm>
            <a:prstGeom prst="ellipse">
              <a:avLst/>
            </a:prstGeom>
            <a:noFill/>
            <a:ln w="13335">
              <a:solidFill>
                <a:schemeClr val="accent2"/>
              </a:solidFill>
            </a:ln>
          </p:spPr>
        </p:sp>
        <p:sp>
          <p:nvSpPr>
            <p:cNvPr id="131" name="Rectangle 131"/>
            <p:cNvSpPr/>
            <p:nvPr/>
          </p:nvSpPr>
          <p:spPr>
            <a:xfrm>
              <a:off x="10414159" y="4877752"/>
              <a:ext cx="193358" cy="331470"/>
            </a:xfrm>
            <a:prstGeom prst="roundRect">
              <a:avLst>
                <a:gd name="adj" fmla="val 42857"/>
              </a:avLst>
            </a:prstGeom>
            <a:noFill/>
            <a:ln w="13335">
              <a:solidFill>
                <a:schemeClr val="accent2"/>
              </a:solidFill>
            </a:ln>
          </p:spPr>
        </p:sp>
      </p:grpSp>
      <p:grpSp>
        <p:nvGrpSpPr>
          <p:cNvPr id="134" name="scene-conclusion"/>
          <p:cNvGrpSpPr/>
          <p:nvPr/>
        </p:nvGrpSpPr>
        <p:grpSpPr>
          <a:xfrm>
            <a:off x="2301331" y="5743575"/>
            <a:ext cx="7589338" cy="352044"/>
            <a:chOff x="2301331" y="5743575"/>
            <a:chExt cx="7589338" cy="352044"/>
          </a:xfrm>
        </p:grpSpPr>
        <p:sp>
          <p:nvSpPr>
            <p:cNvPr id="133" name="TextBox 133"/>
            <p:cNvSpPr txBox="1"/>
            <p:nvPr/>
          </p:nvSpPr>
          <p:spPr>
            <a:xfrm>
              <a:off x="2301331" y="5743575"/>
              <a:ext cx="758933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GB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They might have followed the diet. Their weight outcomes are missing.</a:t>
              </a:r>
            </a:p>
          </p:txBody>
        </p:sp>
      </p:grpSp>
      <p:sp>
        <p:nvSpPr>
          <p:cNvPr id="135" name="TextBox 135"/>
          <p:cNvSpPr txBox="1"/>
          <p:nvPr/>
        </p:nvSpPr>
        <p:spPr>
          <a:xfrm>
            <a:off x="603504" y="6467475"/>
            <a:ext cx="689000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GB" sz="120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Lim et al. 2024 · Figure 1 · The 12 missing HKD outcomes are not automatically 12 diet failures.</a:t>
            </a:r>
          </a:p>
        </p:txBody>
      </p:sp>
    </p:spTree>
  </p:cSld>
  <p:clrMapOvr>
    <a:masterClrMapping/>
  </p:clrMapOvr>
  <mc:AlternateContent>
    <mc:Choice Requires="p159">
      <p:transition p14:dur="1400">
        <p159:morph option="byObject"/>
      </p:transition>
    </mc:Choice>
    <mc:Fallback>
      <p:transition>
        <p:fade/>
      </p:transition>
    </mc:Fallback>
  </mc:AlternateContent>
</p:sld>
</file>

<file path=ppt/slides/slide11.xml><?xml version="1.0" encoding="utf-8"?>
<p:sld xmlns:a="http://schemas.openxmlformats.org/drawingml/2006/main" xmlns:mc="http://schemas.openxmlformats.org/markup-compatibility/2006" xmlns:p="http://schemas.openxmlformats.org/presentationml/2006/main" xmlns:p14="http://schemas.microsoft.com/office/powerpoint/2010/main" xmlns:p159="http://schemas.microsoft.com/office/powerpoint/2015/09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chapter-chrome"/>
          <p:cNvGrpSpPr/>
          <p:nvPr/>
        </p:nvGrpSpPr>
        <p:grpSpPr>
          <a:xfrm>
            <a:off x="602742" y="301625"/>
            <a:ext cx="10985754" cy="264033"/>
            <a:chOff x="602742" y="301625"/>
            <a:chExt cx="10985754" cy="264033"/>
          </a:xfrm>
        </p:grpSpPr>
        <p:sp>
          <p:nvSpPr>
            <p:cNvPr id="2" name="TextBox 2"/>
            <p:cNvSpPr txBox="1"/>
            <p:nvPr/>
          </p:nvSpPr>
          <p:spPr>
            <a:xfrm>
              <a:off x="602742" y="301625"/>
              <a:ext cx="399302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GB" sz="1350" b="1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02 / MISSING OUTCOMES · THE UNKNOWN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11082270" y="314325"/>
              <a:ext cx="50622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GB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11 / 17</a:t>
              </a:r>
            </a:p>
          </p:txBody>
        </p:sp>
      </p:grpSp>
      <p:grpSp>
        <p:nvGrpSpPr>
          <p:cNvPr id="6" name="scene-heading"/>
          <p:cNvGrpSpPr/>
          <p:nvPr/>
        </p:nvGrpSpPr>
        <p:grpSpPr>
          <a:xfrm>
            <a:off x="590550" y="841375"/>
            <a:ext cx="9250467" cy="933450"/>
            <a:chOff x="590550" y="841375"/>
            <a:chExt cx="9250467" cy="933450"/>
          </a:xfrm>
        </p:grpSpPr>
        <p:sp>
          <p:nvSpPr>
            <p:cNvPr id="5" name="TextBox 5"/>
            <p:cNvSpPr txBox="1"/>
            <p:nvPr/>
          </p:nvSpPr>
          <p:spPr>
            <a:xfrm>
              <a:off x="590550" y="841375"/>
              <a:ext cx="9250467" cy="9334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GB" sz="4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Their weight loss is unknown.</a:t>
              </a:r>
            </a:p>
          </p:txBody>
        </p:sp>
      </p:grpSp>
      <p:grpSp>
        <p:nvGrpSpPr>
          <p:cNvPr id="9" name="!!participant-29"/>
          <p:cNvGrpSpPr/>
          <p:nvPr/>
        </p:nvGrpSpPr>
        <p:grpSpPr>
          <a:xfrm>
            <a:off x="1292542" y="2332672"/>
            <a:ext cx="253365" cy="741998"/>
            <a:chOff x="1292542" y="2332672"/>
            <a:chExt cx="253365" cy="741998"/>
          </a:xfrm>
        </p:grpSpPr>
        <p:sp>
          <p:nvSpPr>
            <p:cNvPr id="7" name="Ellipse 7"/>
            <p:cNvSpPr/>
            <p:nvPr/>
          </p:nvSpPr>
          <p:spPr>
            <a:xfrm>
              <a:off x="1310640" y="2332672"/>
              <a:ext cx="217170" cy="217170"/>
            </a:xfrm>
            <a:prstGeom prst="ellipse">
              <a:avLst/>
            </a:prstGeom>
            <a:noFill/>
            <a:ln w="13335">
              <a:solidFill>
                <a:schemeClr val="accent2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1292542" y="2640330"/>
              <a:ext cx="253365" cy="434340"/>
            </a:xfrm>
            <a:prstGeom prst="roundRect">
              <a:avLst>
                <a:gd name="adj" fmla="val 42857"/>
              </a:avLst>
            </a:prstGeom>
            <a:noFill/>
            <a:ln w="13335">
              <a:solidFill>
                <a:schemeClr val="accent2"/>
              </a:solidFill>
            </a:ln>
          </p:spPr>
        </p:sp>
      </p:grpSp>
      <p:grpSp>
        <p:nvGrpSpPr>
          <p:cNvPr id="12" name="!!participant-30"/>
          <p:cNvGrpSpPr/>
          <p:nvPr/>
        </p:nvGrpSpPr>
        <p:grpSpPr>
          <a:xfrm>
            <a:off x="2121218" y="2332672"/>
            <a:ext cx="253365" cy="741998"/>
            <a:chOff x="2121218" y="2332672"/>
            <a:chExt cx="253365" cy="741998"/>
          </a:xfrm>
        </p:grpSpPr>
        <p:sp>
          <p:nvSpPr>
            <p:cNvPr id="10" name="Ellipse 10"/>
            <p:cNvSpPr/>
            <p:nvPr/>
          </p:nvSpPr>
          <p:spPr>
            <a:xfrm>
              <a:off x="2139315" y="2332672"/>
              <a:ext cx="217170" cy="217170"/>
            </a:xfrm>
            <a:prstGeom prst="ellipse">
              <a:avLst/>
            </a:prstGeom>
            <a:noFill/>
            <a:ln w="13335">
              <a:solidFill>
                <a:schemeClr val="accent2"/>
              </a:solidFill>
            </a:ln>
          </p:spPr>
        </p:sp>
        <p:sp>
          <p:nvSpPr>
            <p:cNvPr id="11" name="Rectangle 11"/>
            <p:cNvSpPr/>
            <p:nvPr/>
          </p:nvSpPr>
          <p:spPr>
            <a:xfrm>
              <a:off x="2121218" y="2640330"/>
              <a:ext cx="253365" cy="434340"/>
            </a:xfrm>
            <a:prstGeom prst="roundRect">
              <a:avLst>
                <a:gd name="adj" fmla="val 42857"/>
              </a:avLst>
            </a:prstGeom>
            <a:noFill/>
            <a:ln w="13335">
              <a:solidFill>
                <a:schemeClr val="accent2"/>
              </a:solidFill>
            </a:ln>
          </p:spPr>
        </p:sp>
      </p:grpSp>
      <p:grpSp>
        <p:nvGrpSpPr>
          <p:cNvPr id="15" name="!!participant-31"/>
          <p:cNvGrpSpPr/>
          <p:nvPr/>
        </p:nvGrpSpPr>
        <p:grpSpPr>
          <a:xfrm>
            <a:off x="2949892" y="2332672"/>
            <a:ext cx="253365" cy="741998"/>
            <a:chOff x="2949892" y="2332672"/>
            <a:chExt cx="253365" cy="741998"/>
          </a:xfrm>
        </p:grpSpPr>
        <p:sp>
          <p:nvSpPr>
            <p:cNvPr id="13" name="Ellipse 13"/>
            <p:cNvSpPr/>
            <p:nvPr/>
          </p:nvSpPr>
          <p:spPr>
            <a:xfrm>
              <a:off x="2967990" y="2332672"/>
              <a:ext cx="217170" cy="217170"/>
            </a:xfrm>
            <a:prstGeom prst="ellipse">
              <a:avLst/>
            </a:prstGeom>
            <a:noFill/>
            <a:ln w="13335">
              <a:solidFill>
                <a:schemeClr val="accent2"/>
              </a:solidFill>
            </a:ln>
          </p:spPr>
        </p:sp>
        <p:sp>
          <p:nvSpPr>
            <p:cNvPr id="14" name="Rectangle 14"/>
            <p:cNvSpPr/>
            <p:nvPr/>
          </p:nvSpPr>
          <p:spPr>
            <a:xfrm>
              <a:off x="2949892" y="2640330"/>
              <a:ext cx="253365" cy="434340"/>
            </a:xfrm>
            <a:prstGeom prst="roundRect">
              <a:avLst>
                <a:gd name="adj" fmla="val 42857"/>
              </a:avLst>
            </a:prstGeom>
            <a:noFill/>
            <a:ln w="13335">
              <a:solidFill>
                <a:schemeClr val="accent2"/>
              </a:solidFill>
            </a:ln>
          </p:spPr>
        </p:sp>
      </p:grpSp>
      <p:grpSp>
        <p:nvGrpSpPr>
          <p:cNvPr id="18" name="!!participant-32"/>
          <p:cNvGrpSpPr/>
          <p:nvPr/>
        </p:nvGrpSpPr>
        <p:grpSpPr>
          <a:xfrm>
            <a:off x="3778568" y="2332672"/>
            <a:ext cx="253365" cy="741998"/>
            <a:chOff x="3778568" y="2332672"/>
            <a:chExt cx="253365" cy="741998"/>
          </a:xfrm>
        </p:grpSpPr>
        <p:sp>
          <p:nvSpPr>
            <p:cNvPr id="16" name="Ellipse 16"/>
            <p:cNvSpPr/>
            <p:nvPr/>
          </p:nvSpPr>
          <p:spPr>
            <a:xfrm>
              <a:off x="3796665" y="2332672"/>
              <a:ext cx="217170" cy="217170"/>
            </a:xfrm>
            <a:prstGeom prst="ellipse">
              <a:avLst/>
            </a:prstGeom>
            <a:noFill/>
            <a:ln w="13335">
              <a:solidFill>
                <a:schemeClr val="accent2"/>
              </a:solidFill>
            </a:ln>
          </p:spPr>
        </p:sp>
        <p:sp>
          <p:nvSpPr>
            <p:cNvPr id="17" name="Rectangle 17"/>
            <p:cNvSpPr/>
            <p:nvPr/>
          </p:nvSpPr>
          <p:spPr>
            <a:xfrm>
              <a:off x="3778568" y="2640330"/>
              <a:ext cx="253365" cy="434340"/>
            </a:xfrm>
            <a:prstGeom prst="roundRect">
              <a:avLst>
                <a:gd name="adj" fmla="val 42857"/>
              </a:avLst>
            </a:prstGeom>
            <a:noFill/>
            <a:ln w="13335">
              <a:solidFill>
                <a:schemeClr val="accent2"/>
              </a:solidFill>
            </a:ln>
          </p:spPr>
        </p:sp>
      </p:grpSp>
      <p:grpSp>
        <p:nvGrpSpPr>
          <p:cNvPr id="21" name="!!participant-33"/>
          <p:cNvGrpSpPr/>
          <p:nvPr/>
        </p:nvGrpSpPr>
        <p:grpSpPr>
          <a:xfrm>
            <a:off x="4607242" y="2332672"/>
            <a:ext cx="253365" cy="741998"/>
            <a:chOff x="4607242" y="2332672"/>
            <a:chExt cx="253365" cy="741998"/>
          </a:xfrm>
        </p:grpSpPr>
        <p:sp>
          <p:nvSpPr>
            <p:cNvPr id="19" name="Ellipse 19"/>
            <p:cNvSpPr/>
            <p:nvPr/>
          </p:nvSpPr>
          <p:spPr>
            <a:xfrm>
              <a:off x="4625340" y="2332672"/>
              <a:ext cx="217170" cy="217170"/>
            </a:xfrm>
            <a:prstGeom prst="ellipse">
              <a:avLst/>
            </a:prstGeom>
            <a:noFill/>
            <a:ln w="13335">
              <a:solidFill>
                <a:schemeClr val="accent2"/>
              </a:solidFill>
            </a:ln>
          </p:spPr>
        </p:sp>
        <p:sp>
          <p:nvSpPr>
            <p:cNvPr id="20" name="Rectangle 20"/>
            <p:cNvSpPr/>
            <p:nvPr/>
          </p:nvSpPr>
          <p:spPr>
            <a:xfrm>
              <a:off x="4607242" y="2640330"/>
              <a:ext cx="253365" cy="434340"/>
            </a:xfrm>
            <a:prstGeom prst="roundRect">
              <a:avLst>
                <a:gd name="adj" fmla="val 42857"/>
              </a:avLst>
            </a:prstGeom>
            <a:noFill/>
            <a:ln w="13335">
              <a:solidFill>
                <a:schemeClr val="accent2"/>
              </a:solidFill>
            </a:ln>
          </p:spPr>
        </p:sp>
      </p:grpSp>
      <p:grpSp>
        <p:nvGrpSpPr>
          <p:cNvPr id="24" name="!!participant-34"/>
          <p:cNvGrpSpPr/>
          <p:nvPr/>
        </p:nvGrpSpPr>
        <p:grpSpPr>
          <a:xfrm>
            <a:off x="5435918" y="2332672"/>
            <a:ext cx="253365" cy="741998"/>
            <a:chOff x="5435918" y="2332672"/>
            <a:chExt cx="253365" cy="741998"/>
          </a:xfrm>
        </p:grpSpPr>
        <p:sp>
          <p:nvSpPr>
            <p:cNvPr id="22" name="Ellipse 22"/>
            <p:cNvSpPr/>
            <p:nvPr/>
          </p:nvSpPr>
          <p:spPr>
            <a:xfrm>
              <a:off x="5454015" y="2332672"/>
              <a:ext cx="217170" cy="217170"/>
            </a:xfrm>
            <a:prstGeom prst="ellipse">
              <a:avLst/>
            </a:prstGeom>
            <a:noFill/>
            <a:ln w="13335">
              <a:solidFill>
                <a:schemeClr val="accent2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5435918" y="2640330"/>
              <a:ext cx="253365" cy="434340"/>
            </a:xfrm>
            <a:prstGeom prst="roundRect">
              <a:avLst>
                <a:gd name="adj" fmla="val 42857"/>
              </a:avLst>
            </a:prstGeom>
            <a:noFill/>
            <a:ln w="13335">
              <a:solidFill>
                <a:schemeClr val="accent2"/>
              </a:solidFill>
            </a:ln>
          </p:spPr>
        </p:sp>
      </p:grpSp>
      <p:grpSp>
        <p:nvGrpSpPr>
          <p:cNvPr id="27" name="!!participant-35"/>
          <p:cNvGrpSpPr/>
          <p:nvPr/>
        </p:nvGrpSpPr>
        <p:grpSpPr>
          <a:xfrm>
            <a:off x="6264592" y="2332672"/>
            <a:ext cx="253365" cy="741998"/>
            <a:chOff x="6264592" y="2332672"/>
            <a:chExt cx="253365" cy="741998"/>
          </a:xfrm>
        </p:grpSpPr>
        <p:sp>
          <p:nvSpPr>
            <p:cNvPr id="25" name="Ellipse 25"/>
            <p:cNvSpPr/>
            <p:nvPr/>
          </p:nvSpPr>
          <p:spPr>
            <a:xfrm>
              <a:off x="6282690" y="2332672"/>
              <a:ext cx="217170" cy="217170"/>
            </a:xfrm>
            <a:prstGeom prst="ellipse">
              <a:avLst/>
            </a:prstGeom>
            <a:noFill/>
            <a:ln w="13335">
              <a:solidFill>
                <a:schemeClr val="accent2"/>
              </a:solidFill>
            </a:ln>
          </p:spPr>
        </p:sp>
        <p:sp>
          <p:nvSpPr>
            <p:cNvPr id="26" name="Rectangle 26"/>
            <p:cNvSpPr/>
            <p:nvPr/>
          </p:nvSpPr>
          <p:spPr>
            <a:xfrm>
              <a:off x="6264592" y="2640330"/>
              <a:ext cx="253365" cy="434340"/>
            </a:xfrm>
            <a:prstGeom prst="roundRect">
              <a:avLst>
                <a:gd name="adj" fmla="val 42857"/>
              </a:avLst>
            </a:prstGeom>
            <a:noFill/>
            <a:ln w="13335">
              <a:solidFill>
                <a:schemeClr val="accent2"/>
              </a:solidFill>
            </a:ln>
          </p:spPr>
        </p:sp>
      </p:grpSp>
      <p:grpSp>
        <p:nvGrpSpPr>
          <p:cNvPr id="30" name="!!participant-36"/>
          <p:cNvGrpSpPr/>
          <p:nvPr/>
        </p:nvGrpSpPr>
        <p:grpSpPr>
          <a:xfrm>
            <a:off x="7093268" y="2332672"/>
            <a:ext cx="253365" cy="741998"/>
            <a:chOff x="7093268" y="2332672"/>
            <a:chExt cx="253365" cy="741998"/>
          </a:xfrm>
        </p:grpSpPr>
        <p:sp>
          <p:nvSpPr>
            <p:cNvPr id="28" name="Ellipse 28"/>
            <p:cNvSpPr/>
            <p:nvPr/>
          </p:nvSpPr>
          <p:spPr>
            <a:xfrm>
              <a:off x="7111365" y="2332672"/>
              <a:ext cx="217170" cy="217170"/>
            </a:xfrm>
            <a:prstGeom prst="ellipse">
              <a:avLst/>
            </a:prstGeom>
            <a:noFill/>
            <a:ln w="13335">
              <a:solidFill>
                <a:schemeClr val="accent2"/>
              </a:solidFill>
            </a:ln>
          </p:spPr>
        </p:sp>
        <p:sp>
          <p:nvSpPr>
            <p:cNvPr id="29" name="Rectangle 29"/>
            <p:cNvSpPr/>
            <p:nvPr/>
          </p:nvSpPr>
          <p:spPr>
            <a:xfrm>
              <a:off x="7093268" y="2640330"/>
              <a:ext cx="253365" cy="434340"/>
            </a:xfrm>
            <a:prstGeom prst="roundRect">
              <a:avLst>
                <a:gd name="adj" fmla="val 42857"/>
              </a:avLst>
            </a:prstGeom>
            <a:noFill/>
            <a:ln w="13335">
              <a:solidFill>
                <a:schemeClr val="accent2"/>
              </a:solidFill>
            </a:ln>
          </p:spPr>
        </p:sp>
      </p:grpSp>
      <p:grpSp>
        <p:nvGrpSpPr>
          <p:cNvPr id="33" name="!!participant-37"/>
          <p:cNvGrpSpPr/>
          <p:nvPr/>
        </p:nvGrpSpPr>
        <p:grpSpPr>
          <a:xfrm>
            <a:off x="7921942" y="2332672"/>
            <a:ext cx="253365" cy="741998"/>
            <a:chOff x="7921942" y="2332672"/>
            <a:chExt cx="253365" cy="741998"/>
          </a:xfrm>
        </p:grpSpPr>
        <p:sp>
          <p:nvSpPr>
            <p:cNvPr id="31" name="Ellipse 31"/>
            <p:cNvSpPr/>
            <p:nvPr/>
          </p:nvSpPr>
          <p:spPr>
            <a:xfrm>
              <a:off x="7940040" y="2332672"/>
              <a:ext cx="217170" cy="217170"/>
            </a:xfrm>
            <a:prstGeom prst="ellipse">
              <a:avLst/>
            </a:prstGeom>
            <a:noFill/>
            <a:ln w="13335">
              <a:solidFill>
                <a:schemeClr val="accent2"/>
              </a:solidFill>
            </a:ln>
          </p:spPr>
        </p:sp>
        <p:sp>
          <p:nvSpPr>
            <p:cNvPr id="32" name="Rectangle 32"/>
            <p:cNvSpPr/>
            <p:nvPr/>
          </p:nvSpPr>
          <p:spPr>
            <a:xfrm>
              <a:off x="7921942" y="2640330"/>
              <a:ext cx="253365" cy="434340"/>
            </a:xfrm>
            <a:prstGeom prst="roundRect">
              <a:avLst>
                <a:gd name="adj" fmla="val 42857"/>
              </a:avLst>
            </a:prstGeom>
            <a:noFill/>
            <a:ln w="13335">
              <a:solidFill>
                <a:schemeClr val="accent2"/>
              </a:solidFill>
            </a:ln>
          </p:spPr>
        </p:sp>
      </p:grpSp>
      <p:grpSp>
        <p:nvGrpSpPr>
          <p:cNvPr id="36" name="!!participant-38"/>
          <p:cNvGrpSpPr/>
          <p:nvPr/>
        </p:nvGrpSpPr>
        <p:grpSpPr>
          <a:xfrm>
            <a:off x="8750618" y="2332672"/>
            <a:ext cx="253365" cy="741998"/>
            <a:chOff x="8750618" y="2332672"/>
            <a:chExt cx="253365" cy="741998"/>
          </a:xfrm>
        </p:grpSpPr>
        <p:sp>
          <p:nvSpPr>
            <p:cNvPr id="34" name="Ellipse 34"/>
            <p:cNvSpPr/>
            <p:nvPr/>
          </p:nvSpPr>
          <p:spPr>
            <a:xfrm>
              <a:off x="8768715" y="2332672"/>
              <a:ext cx="217170" cy="217170"/>
            </a:xfrm>
            <a:prstGeom prst="ellipse">
              <a:avLst/>
            </a:prstGeom>
            <a:noFill/>
            <a:ln w="13335">
              <a:solidFill>
                <a:schemeClr val="accent2"/>
              </a:solidFill>
            </a:ln>
          </p:spPr>
        </p:sp>
        <p:sp>
          <p:nvSpPr>
            <p:cNvPr id="35" name="Rectangle 35"/>
            <p:cNvSpPr/>
            <p:nvPr/>
          </p:nvSpPr>
          <p:spPr>
            <a:xfrm>
              <a:off x="8750618" y="2640330"/>
              <a:ext cx="253365" cy="434340"/>
            </a:xfrm>
            <a:prstGeom prst="roundRect">
              <a:avLst>
                <a:gd name="adj" fmla="val 42857"/>
              </a:avLst>
            </a:prstGeom>
            <a:noFill/>
            <a:ln w="13335">
              <a:solidFill>
                <a:schemeClr val="accent2"/>
              </a:solidFill>
            </a:ln>
          </p:spPr>
        </p:sp>
      </p:grpSp>
      <p:grpSp>
        <p:nvGrpSpPr>
          <p:cNvPr id="39" name="!!participant-39"/>
          <p:cNvGrpSpPr/>
          <p:nvPr/>
        </p:nvGrpSpPr>
        <p:grpSpPr>
          <a:xfrm>
            <a:off x="9579292" y="2332672"/>
            <a:ext cx="253365" cy="741998"/>
            <a:chOff x="9579292" y="2332672"/>
            <a:chExt cx="253365" cy="741998"/>
          </a:xfrm>
        </p:grpSpPr>
        <p:sp>
          <p:nvSpPr>
            <p:cNvPr id="37" name="Ellipse 37"/>
            <p:cNvSpPr/>
            <p:nvPr/>
          </p:nvSpPr>
          <p:spPr>
            <a:xfrm>
              <a:off x="9597390" y="2332672"/>
              <a:ext cx="217170" cy="217170"/>
            </a:xfrm>
            <a:prstGeom prst="ellipse">
              <a:avLst/>
            </a:prstGeom>
            <a:noFill/>
            <a:ln w="13335">
              <a:solidFill>
                <a:schemeClr val="accent2"/>
              </a:solidFill>
            </a:ln>
          </p:spPr>
        </p:sp>
        <p:sp>
          <p:nvSpPr>
            <p:cNvPr id="38" name="Rectangle 38"/>
            <p:cNvSpPr/>
            <p:nvPr/>
          </p:nvSpPr>
          <p:spPr>
            <a:xfrm>
              <a:off x="9579292" y="2640330"/>
              <a:ext cx="253365" cy="434340"/>
            </a:xfrm>
            <a:prstGeom prst="roundRect">
              <a:avLst>
                <a:gd name="adj" fmla="val 42857"/>
              </a:avLst>
            </a:prstGeom>
            <a:noFill/>
            <a:ln w="13335">
              <a:solidFill>
                <a:schemeClr val="accent2"/>
              </a:solidFill>
            </a:ln>
          </p:spPr>
        </p:sp>
      </p:grpSp>
      <p:grpSp>
        <p:nvGrpSpPr>
          <p:cNvPr id="42" name="!!participant-40"/>
          <p:cNvGrpSpPr/>
          <p:nvPr/>
        </p:nvGrpSpPr>
        <p:grpSpPr>
          <a:xfrm>
            <a:off x="10407968" y="2332672"/>
            <a:ext cx="253365" cy="741998"/>
            <a:chOff x="10407968" y="2332672"/>
            <a:chExt cx="253365" cy="741998"/>
          </a:xfrm>
        </p:grpSpPr>
        <p:sp>
          <p:nvSpPr>
            <p:cNvPr id="40" name="Ellipse 40"/>
            <p:cNvSpPr/>
            <p:nvPr/>
          </p:nvSpPr>
          <p:spPr>
            <a:xfrm>
              <a:off x="10426065" y="2332672"/>
              <a:ext cx="217170" cy="217170"/>
            </a:xfrm>
            <a:prstGeom prst="ellipse">
              <a:avLst/>
            </a:prstGeom>
            <a:noFill/>
            <a:ln w="13335">
              <a:solidFill>
                <a:schemeClr val="accent2"/>
              </a:solidFill>
            </a:ln>
          </p:spPr>
        </p:sp>
        <p:sp>
          <p:nvSpPr>
            <p:cNvPr id="41" name="Rectangle 41"/>
            <p:cNvSpPr/>
            <p:nvPr/>
          </p:nvSpPr>
          <p:spPr>
            <a:xfrm>
              <a:off x="10407968" y="2640330"/>
              <a:ext cx="253365" cy="434340"/>
            </a:xfrm>
            <a:prstGeom prst="roundRect">
              <a:avLst>
                <a:gd name="adj" fmla="val 42857"/>
              </a:avLst>
            </a:prstGeom>
            <a:noFill/>
            <a:ln w="13335">
              <a:solidFill>
                <a:schemeClr val="accent2"/>
              </a:solidFill>
            </a:ln>
          </p:spPr>
        </p:sp>
      </p:grpSp>
      <p:grpSp>
        <p:nvGrpSpPr>
          <p:cNvPr id="44" name="unknown-label"/>
          <p:cNvGrpSpPr/>
          <p:nvPr/>
        </p:nvGrpSpPr>
        <p:grpSpPr>
          <a:xfrm>
            <a:off x="3870274" y="3511550"/>
            <a:ext cx="4451451" cy="440055"/>
            <a:chOff x="3870274" y="3511550"/>
            <a:chExt cx="4451451" cy="440055"/>
          </a:xfrm>
        </p:grpSpPr>
        <p:sp>
          <p:nvSpPr>
            <p:cNvPr id="43" name="TextBox 43"/>
            <p:cNvSpPr txBox="1"/>
            <p:nvPr/>
          </p:nvSpPr>
          <p:spPr>
            <a:xfrm>
              <a:off x="3870274" y="3511550"/>
              <a:ext cx="4451451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GB" sz="22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12 unobserved HKD outcomes</a:t>
              </a:r>
            </a:p>
          </p:txBody>
        </p:sp>
      </p:grpSp>
      <p:grpSp>
        <p:nvGrpSpPr>
          <p:cNvPr id="47" name="possibility-0"/>
          <p:cNvGrpSpPr/>
          <p:nvPr/>
        </p:nvGrpSpPr>
        <p:grpSpPr>
          <a:xfrm>
            <a:off x="1677487" y="4337050"/>
            <a:ext cx="1217025" cy="920369"/>
            <a:chOff x="1677487" y="4337050"/>
            <a:chExt cx="1217025" cy="920369"/>
          </a:xfrm>
        </p:grpSpPr>
        <p:sp>
          <p:nvSpPr>
            <p:cNvPr id="45" name="TextBox 45"/>
            <p:cNvSpPr txBox="1"/>
            <p:nvPr/>
          </p:nvSpPr>
          <p:spPr>
            <a:xfrm>
              <a:off x="1678883" y="4337050"/>
              <a:ext cx="1214234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GB" sz="30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Less?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1677487" y="4905375"/>
              <a:ext cx="121702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GB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weight loss</a:t>
              </a:r>
            </a:p>
          </p:txBody>
        </p:sp>
      </p:grpSp>
      <p:grpSp>
        <p:nvGrpSpPr>
          <p:cNvPr id="50" name="possibility-1"/>
          <p:cNvGrpSpPr/>
          <p:nvPr/>
        </p:nvGrpSpPr>
        <p:grpSpPr>
          <a:xfrm>
            <a:off x="5277542" y="4337050"/>
            <a:ext cx="1636917" cy="920369"/>
            <a:chOff x="5277542" y="4337050"/>
            <a:chExt cx="1636917" cy="920369"/>
          </a:xfrm>
        </p:grpSpPr>
        <p:sp>
          <p:nvSpPr>
            <p:cNvPr id="48" name="TextBox 48"/>
            <p:cNvSpPr txBox="1"/>
            <p:nvPr/>
          </p:nvSpPr>
          <p:spPr>
            <a:xfrm>
              <a:off x="5277542" y="4337050"/>
              <a:ext cx="1636917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GB" sz="30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Similar?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5487487" y="4905375"/>
              <a:ext cx="121702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GB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weight loss</a:t>
              </a:r>
            </a:p>
          </p:txBody>
        </p:sp>
      </p:grpSp>
      <p:grpSp>
        <p:nvGrpSpPr>
          <p:cNvPr id="53" name="possibility-2"/>
          <p:cNvGrpSpPr/>
          <p:nvPr/>
        </p:nvGrpSpPr>
        <p:grpSpPr>
          <a:xfrm>
            <a:off x="9276398" y="4337050"/>
            <a:ext cx="1259205" cy="920369"/>
            <a:chOff x="9276398" y="4337050"/>
            <a:chExt cx="1259205" cy="920369"/>
          </a:xfrm>
        </p:grpSpPr>
        <p:sp>
          <p:nvSpPr>
            <p:cNvPr id="51" name="TextBox 51"/>
            <p:cNvSpPr txBox="1"/>
            <p:nvPr/>
          </p:nvSpPr>
          <p:spPr>
            <a:xfrm>
              <a:off x="9276398" y="4337050"/>
              <a:ext cx="1259205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GB" sz="30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More?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9297487" y="4905375"/>
              <a:ext cx="121702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GB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weight loss</a:t>
              </a:r>
            </a:p>
          </p:txBody>
        </p:sp>
      </p:grpSp>
      <p:grpSp>
        <p:nvGrpSpPr>
          <p:cNvPr id="55" name="scene-conclusion"/>
          <p:cNvGrpSpPr/>
          <p:nvPr/>
        </p:nvGrpSpPr>
        <p:grpSpPr>
          <a:xfrm>
            <a:off x="2843489" y="5734050"/>
            <a:ext cx="6505022" cy="352044"/>
            <a:chOff x="2843489" y="5734050"/>
            <a:chExt cx="6505022" cy="352044"/>
          </a:xfrm>
        </p:grpSpPr>
        <p:sp>
          <p:nvSpPr>
            <p:cNvPr id="54" name="TextBox 54"/>
            <p:cNvSpPr txBox="1"/>
            <p:nvPr/>
          </p:nvSpPr>
          <p:spPr>
            <a:xfrm>
              <a:off x="2843489" y="5734050"/>
              <a:ext cx="650502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GB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Their unknown outcomes may change the estimated benefit.</a:t>
              </a:r>
            </a:p>
          </p:txBody>
        </p:sp>
      </p:grpSp>
      <p:sp>
        <p:nvSpPr>
          <p:cNvPr id="56" name="TextBox 56"/>
          <p:cNvSpPr txBox="1"/>
          <p:nvPr/>
        </p:nvSpPr>
        <p:spPr>
          <a:xfrm>
            <a:off x="603504" y="6467475"/>
            <a:ext cx="6284437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GB" sz="120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Qualitative possibilities, not observed results or invented participant-level weight values.</a:t>
            </a:r>
          </a:p>
        </p:txBody>
      </p:sp>
    </p:spTree>
  </p:cSld>
  <p:clrMapOvr>
    <a:masterClrMapping/>
  </p:clrMapOvr>
  <mc:AlternateContent>
    <mc:Choice Requires="p159">
      <p:transition p14:dur="1350">
        <p159:morph option="byObject"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5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50"/>
                            </p:stCondLst>
                            <p:childTnLst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43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65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680"/>
                            </p:stCondLst>
                            <p:childTnLst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61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65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mc="http://schemas.openxmlformats.org/markup-compatibility/2006" xmlns:p="http://schemas.openxmlformats.org/presentationml/2006/main" xmlns:p14="http://schemas.microsoft.com/office/powerpoint/2010/main" xmlns:p159="http://schemas.microsoft.com/office/powerpoint/2015/09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chapter-chrome"/>
          <p:cNvGrpSpPr/>
          <p:nvPr/>
        </p:nvGrpSpPr>
        <p:grpSpPr>
          <a:xfrm>
            <a:off x="602742" y="301625"/>
            <a:ext cx="10985754" cy="264033"/>
            <a:chOff x="602742" y="301625"/>
            <a:chExt cx="10985754" cy="264033"/>
          </a:xfrm>
        </p:grpSpPr>
        <p:sp>
          <p:nvSpPr>
            <p:cNvPr id="2" name="TextBox 2"/>
            <p:cNvSpPr txBox="1"/>
            <p:nvPr/>
          </p:nvSpPr>
          <p:spPr>
            <a:xfrm>
              <a:off x="602742" y="301625"/>
              <a:ext cx="466530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GB" sz="1350" b="1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02 / MISSING OUTCOMES · THE BIAS MECHANISM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11082270" y="314325"/>
              <a:ext cx="50622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GB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12 / 17</a:t>
              </a:r>
            </a:p>
          </p:txBody>
        </p:sp>
      </p:grpSp>
      <p:grpSp>
        <p:nvGrpSpPr>
          <p:cNvPr id="6" name="scene-heading"/>
          <p:cNvGrpSpPr/>
          <p:nvPr/>
        </p:nvGrpSpPr>
        <p:grpSpPr>
          <a:xfrm>
            <a:off x="590550" y="841375"/>
            <a:ext cx="7492818" cy="933450"/>
            <a:chOff x="590550" y="841375"/>
            <a:chExt cx="7492818" cy="933450"/>
          </a:xfrm>
        </p:grpSpPr>
        <p:sp>
          <p:nvSpPr>
            <p:cNvPr id="5" name="TextBox 5"/>
            <p:cNvSpPr txBox="1"/>
            <p:nvPr/>
          </p:nvSpPr>
          <p:spPr>
            <a:xfrm>
              <a:off x="590550" y="841375"/>
              <a:ext cx="7492818" cy="9334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GB" sz="4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Who is missing matters.</a:t>
              </a:r>
            </a:p>
          </p:txBody>
        </p:sp>
      </p:grpSp>
      <p:grpSp>
        <p:nvGrpSpPr>
          <p:cNvPr id="8" name="conditional-label"/>
          <p:cNvGrpSpPr/>
          <p:nvPr/>
        </p:nvGrpSpPr>
        <p:grpSpPr>
          <a:xfrm>
            <a:off x="598170" y="1920875"/>
            <a:ext cx="8908867" cy="440055"/>
            <a:chOff x="598170" y="1920875"/>
            <a:chExt cx="8908867" cy="440055"/>
          </a:xfrm>
        </p:grpSpPr>
        <p:sp>
          <p:nvSpPr>
            <p:cNvPr id="7" name="TextBox 7"/>
            <p:cNvSpPr txBox="1"/>
            <p:nvPr/>
          </p:nvSpPr>
          <p:spPr>
            <a:xfrm>
              <a:off x="598170" y="1920875"/>
              <a:ext cx="8908867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GB" sz="22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IF poorer HKD responders were disproportionately missing…</a:t>
              </a:r>
            </a:p>
          </p:txBody>
        </p:sp>
      </p:grpSp>
      <p:grpSp>
        <p:nvGrpSpPr>
          <p:cNvPr id="11" name="!!participant-29"/>
          <p:cNvGrpSpPr/>
          <p:nvPr/>
        </p:nvGrpSpPr>
        <p:grpSpPr>
          <a:xfrm>
            <a:off x="882491" y="2815114"/>
            <a:ext cx="73343" cy="214788"/>
            <a:chOff x="882491" y="2815114"/>
            <a:chExt cx="73343" cy="214788"/>
          </a:xfrm>
        </p:grpSpPr>
        <p:sp>
          <p:nvSpPr>
            <p:cNvPr id="9" name="Ellipse 9"/>
            <p:cNvSpPr/>
            <p:nvPr/>
          </p:nvSpPr>
          <p:spPr>
            <a:xfrm>
              <a:off x="887730" y="2815114"/>
              <a:ext cx="62865" cy="62865"/>
            </a:xfrm>
            <a:prstGeom prst="ellipse">
              <a:avLst/>
            </a:prstGeom>
            <a:noFill/>
            <a:ln w="13335">
              <a:solidFill>
                <a:schemeClr val="accent2"/>
              </a:solidFill>
            </a:ln>
          </p:spPr>
        </p:sp>
        <p:sp>
          <p:nvSpPr>
            <p:cNvPr id="10" name="Rectangle 10"/>
            <p:cNvSpPr/>
            <p:nvPr/>
          </p:nvSpPr>
          <p:spPr>
            <a:xfrm>
              <a:off x="882491" y="2904172"/>
              <a:ext cx="73343" cy="125730"/>
            </a:xfrm>
            <a:prstGeom prst="roundRect">
              <a:avLst>
                <a:gd name="adj" fmla="val 42857"/>
              </a:avLst>
            </a:prstGeom>
            <a:noFill/>
            <a:ln w="13335">
              <a:solidFill>
                <a:schemeClr val="accent2"/>
              </a:solidFill>
            </a:ln>
          </p:spPr>
        </p:sp>
      </p:grpSp>
      <p:grpSp>
        <p:nvGrpSpPr>
          <p:cNvPr id="14" name="!!participant-30"/>
          <p:cNvGrpSpPr/>
          <p:nvPr/>
        </p:nvGrpSpPr>
        <p:grpSpPr>
          <a:xfrm>
            <a:off x="1111091" y="2815114"/>
            <a:ext cx="73343" cy="214788"/>
            <a:chOff x="1111091" y="2815114"/>
            <a:chExt cx="73343" cy="214788"/>
          </a:xfrm>
        </p:grpSpPr>
        <p:sp>
          <p:nvSpPr>
            <p:cNvPr id="12" name="Ellipse 12"/>
            <p:cNvSpPr/>
            <p:nvPr/>
          </p:nvSpPr>
          <p:spPr>
            <a:xfrm>
              <a:off x="1116330" y="2815114"/>
              <a:ext cx="62865" cy="62865"/>
            </a:xfrm>
            <a:prstGeom prst="ellipse">
              <a:avLst/>
            </a:prstGeom>
            <a:noFill/>
            <a:ln w="13335">
              <a:solidFill>
                <a:schemeClr val="accent2"/>
              </a:solidFill>
            </a:ln>
          </p:spPr>
        </p:sp>
        <p:sp>
          <p:nvSpPr>
            <p:cNvPr id="13" name="Rectangle 13"/>
            <p:cNvSpPr/>
            <p:nvPr/>
          </p:nvSpPr>
          <p:spPr>
            <a:xfrm>
              <a:off x="1111091" y="2904172"/>
              <a:ext cx="73343" cy="125730"/>
            </a:xfrm>
            <a:prstGeom prst="roundRect">
              <a:avLst>
                <a:gd name="adj" fmla="val 42857"/>
              </a:avLst>
            </a:prstGeom>
            <a:noFill/>
            <a:ln w="13335">
              <a:solidFill>
                <a:schemeClr val="accent2"/>
              </a:solidFill>
            </a:ln>
          </p:spPr>
        </p:sp>
      </p:grpSp>
      <p:grpSp>
        <p:nvGrpSpPr>
          <p:cNvPr id="17" name="!!participant-31"/>
          <p:cNvGrpSpPr/>
          <p:nvPr/>
        </p:nvGrpSpPr>
        <p:grpSpPr>
          <a:xfrm>
            <a:off x="1339691" y="2815114"/>
            <a:ext cx="73343" cy="214788"/>
            <a:chOff x="1339691" y="2815114"/>
            <a:chExt cx="73343" cy="214788"/>
          </a:xfrm>
        </p:grpSpPr>
        <p:sp>
          <p:nvSpPr>
            <p:cNvPr id="15" name="Ellipse 15"/>
            <p:cNvSpPr/>
            <p:nvPr/>
          </p:nvSpPr>
          <p:spPr>
            <a:xfrm>
              <a:off x="1344930" y="2815114"/>
              <a:ext cx="62865" cy="62865"/>
            </a:xfrm>
            <a:prstGeom prst="ellipse">
              <a:avLst/>
            </a:prstGeom>
            <a:noFill/>
            <a:ln w="13335">
              <a:solidFill>
                <a:schemeClr val="accent2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1339691" y="2904172"/>
              <a:ext cx="73343" cy="125730"/>
            </a:xfrm>
            <a:prstGeom prst="roundRect">
              <a:avLst>
                <a:gd name="adj" fmla="val 42857"/>
              </a:avLst>
            </a:prstGeom>
            <a:noFill/>
            <a:ln w="13335">
              <a:solidFill>
                <a:schemeClr val="accent2"/>
              </a:solidFill>
            </a:ln>
          </p:spPr>
        </p:sp>
      </p:grpSp>
      <p:grpSp>
        <p:nvGrpSpPr>
          <p:cNvPr id="20" name="!!participant-32"/>
          <p:cNvGrpSpPr/>
          <p:nvPr/>
        </p:nvGrpSpPr>
        <p:grpSpPr>
          <a:xfrm>
            <a:off x="1568291" y="2815114"/>
            <a:ext cx="73343" cy="214788"/>
            <a:chOff x="1568291" y="2815114"/>
            <a:chExt cx="73343" cy="214788"/>
          </a:xfrm>
        </p:grpSpPr>
        <p:sp>
          <p:nvSpPr>
            <p:cNvPr id="18" name="Ellipse 18"/>
            <p:cNvSpPr/>
            <p:nvPr/>
          </p:nvSpPr>
          <p:spPr>
            <a:xfrm>
              <a:off x="1573530" y="2815114"/>
              <a:ext cx="62865" cy="62865"/>
            </a:xfrm>
            <a:prstGeom prst="ellipse">
              <a:avLst/>
            </a:prstGeom>
            <a:noFill/>
            <a:ln w="13335">
              <a:solidFill>
                <a:schemeClr val="accent2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1568291" y="2904172"/>
              <a:ext cx="73343" cy="125730"/>
            </a:xfrm>
            <a:prstGeom prst="roundRect">
              <a:avLst>
                <a:gd name="adj" fmla="val 42857"/>
              </a:avLst>
            </a:prstGeom>
            <a:noFill/>
            <a:ln w="13335">
              <a:solidFill>
                <a:schemeClr val="accent2"/>
              </a:solidFill>
            </a:ln>
          </p:spPr>
        </p:sp>
      </p:grpSp>
      <p:grpSp>
        <p:nvGrpSpPr>
          <p:cNvPr id="23" name="!!participant-33"/>
          <p:cNvGrpSpPr/>
          <p:nvPr/>
        </p:nvGrpSpPr>
        <p:grpSpPr>
          <a:xfrm>
            <a:off x="1796891" y="2815114"/>
            <a:ext cx="73343" cy="214788"/>
            <a:chOff x="1796891" y="2815114"/>
            <a:chExt cx="73343" cy="214788"/>
          </a:xfrm>
        </p:grpSpPr>
        <p:sp>
          <p:nvSpPr>
            <p:cNvPr id="21" name="Ellipse 21"/>
            <p:cNvSpPr/>
            <p:nvPr/>
          </p:nvSpPr>
          <p:spPr>
            <a:xfrm>
              <a:off x="1802130" y="2815114"/>
              <a:ext cx="62865" cy="62865"/>
            </a:xfrm>
            <a:prstGeom prst="ellipse">
              <a:avLst/>
            </a:prstGeom>
            <a:noFill/>
            <a:ln w="13335">
              <a:solidFill>
                <a:schemeClr val="accent2"/>
              </a:solidFill>
            </a:ln>
          </p:spPr>
        </p:sp>
        <p:sp>
          <p:nvSpPr>
            <p:cNvPr id="22" name="Rectangle 22"/>
            <p:cNvSpPr/>
            <p:nvPr/>
          </p:nvSpPr>
          <p:spPr>
            <a:xfrm>
              <a:off x="1796891" y="2904172"/>
              <a:ext cx="73343" cy="125730"/>
            </a:xfrm>
            <a:prstGeom prst="roundRect">
              <a:avLst>
                <a:gd name="adj" fmla="val 42857"/>
              </a:avLst>
            </a:prstGeom>
            <a:noFill/>
            <a:ln w="13335">
              <a:solidFill>
                <a:schemeClr val="accent2"/>
              </a:solidFill>
            </a:ln>
          </p:spPr>
        </p:sp>
      </p:grpSp>
      <p:grpSp>
        <p:nvGrpSpPr>
          <p:cNvPr id="26" name="!!participant-34"/>
          <p:cNvGrpSpPr/>
          <p:nvPr/>
        </p:nvGrpSpPr>
        <p:grpSpPr>
          <a:xfrm>
            <a:off x="2025491" y="2815114"/>
            <a:ext cx="73343" cy="214788"/>
            <a:chOff x="2025491" y="2815114"/>
            <a:chExt cx="73343" cy="214788"/>
          </a:xfrm>
        </p:grpSpPr>
        <p:sp>
          <p:nvSpPr>
            <p:cNvPr id="24" name="Ellipse 24"/>
            <p:cNvSpPr/>
            <p:nvPr/>
          </p:nvSpPr>
          <p:spPr>
            <a:xfrm>
              <a:off x="2030730" y="2815114"/>
              <a:ext cx="62865" cy="62865"/>
            </a:xfrm>
            <a:prstGeom prst="ellipse">
              <a:avLst/>
            </a:prstGeom>
            <a:noFill/>
            <a:ln w="13335">
              <a:solidFill>
                <a:schemeClr val="accent2"/>
              </a:solidFill>
            </a:ln>
          </p:spPr>
        </p:sp>
        <p:sp>
          <p:nvSpPr>
            <p:cNvPr id="25" name="Rectangle 25"/>
            <p:cNvSpPr/>
            <p:nvPr/>
          </p:nvSpPr>
          <p:spPr>
            <a:xfrm>
              <a:off x="2025491" y="2904172"/>
              <a:ext cx="73343" cy="125730"/>
            </a:xfrm>
            <a:prstGeom prst="roundRect">
              <a:avLst>
                <a:gd name="adj" fmla="val 42857"/>
              </a:avLst>
            </a:prstGeom>
            <a:noFill/>
            <a:ln w="13335">
              <a:solidFill>
                <a:schemeClr val="accent2"/>
              </a:solidFill>
            </a:ln>
          </p:spPr>
        </p:sp>
      </p:grpSp>
      <p:grpSp>
        <p:nvGrpSpPr>
          <p:cNvPr id="29" name="!!participant-35"/>
          <p:cNvGrpSpPr/>
          <p:nvPr/>
        </p:nvGrpSpPr>
        <p:grpSpPr>
          <a:xfrm>
            <a:off x="2254091" y="2815114"/>
            <a:ext cx="73343" cy="214788"/>
            <a:chOff x="2254091" y="2815114"/>
            <a:chExt cx="73343" cy="214788"/>
          </a:xfrm>
        </p:grpSpPr>
        <p:sp>
          <p:nvSpPr>
            <p:cNvPr id="27" name="Ellipse 27"/>
            <p:cNvSpPr/>
            <p:nvPr/>
          </p:nvSpPr>
          <p:spPr>
            <a:xfrm>
              <a:off x="2259330" y="2815114"/>
              <a:ext cx="62865" cy="62865"/>
            </a:xfrm>
            <a:prstGeom prst="ellipse">
              <a:avLst/>
            </a:prstGeom>
            <a:noFill/>
            <a:ln w="13335">
              <a:solidFill>
                <a:schemeClr val="accent2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2254091" y="2904172"/>
              <a:ext cx="73343" cy="125730"/>
            </a:xfrm>
            <a:prstGeom prst="roundRect">
              <a:avLst>
                <a:gd name="adj" fmla="val 42857"/>
              </a:avLst>
            </a:prstGeom>
            <a:noFill/>
            <a:ln w="13335">
              <a:solidFill>
                <a:schemeClr val="accent2"/>
              </a:solidFill>
            </a:ln>
          </p:spPr>
        </p:sp>
      </p:grpSp>
      <p:grpSp>
        <p:nvGrpSpPr>
          <p:cNvPr id="32" name="!!participant-36"/>
          <p:cNvGrpSpPr/>
          <p:nvPr/>
        </p:nvGrpSpPr>
        <p:grpSpPr>
          <a:xfrm>
            <a:off x="2482691" y="2815114"/>
            <a:ext cx="73343" cy="214788"/>
            <a:chOff x="2482691" y="2815114"/>
            <a:chExt cx="73343" cy="214788"/>
          </a:xfrm>
        </p:grpSpPr>
        <p:sp>
          <p:nvSpPr>
            <p:cNvPr id="30" name="Ellipse 30"/>
            <p:cNvSpPr/>
            <p:nvPr/>
          </p:nvSpPr>
          <p:spPr>
            <a:xfrm>
              <a:off x="2487930" y="2815114"/>
              <a:ext cx="62865" cy="62865"/>
            </a:xfrm>
            <a:prstGeom prst="ellipse">
              <a:avLst/>
            </a:prstGeom>
            <a:noFill/>
            <a:ln w="13335">
              <a:solidFill>
                <a:schemeClr val="accent2"/>
              </a:solidFill>
            </a:ln>
          </p:spPr>
        </p:sp>
        <p:sp>
          <p:nvSpPr>
            <p:cNvPr id="31" name="Rectangle 31"/>
            <p:cNvSpPr/>
            <p:nvPr/>
          </p:nvSpPr>
          <p:spPr>
            <a:xfrm>
              <a:off x="2482691" y="2904172"/>
              <a:ext cx="73343" cy="125730"/>
            </a:xfrm>
            <a:prstGeom prst="roundRect">
              <a:avLst>
                <a:gd name="adj" fmla="val 42857"/>
              </a:avLst>
            </a:prstGeom>
            <a:noFill/>
            <a:ln w="13335">
              <a:solidFill>
                <a:schemeClr val="accent2"/>
              </a:solidFill>
            </a:ln>
          </p:spPr>
        </p:sp>
      </p:grpSp>
      <p:grpSp>
        <p:nvGrpSpPr>
          <p:cNvPr id="35" name="!!participant-37"/>
          <p:cNvGrpSpPr/>
          <p:nvPr/>
        </p:nvGrpSpPr>
        <p:grpSpPr>
          <a:xfrm>
            <a:off x="2711291" y="2815114"/>
            <a:ext cx="73343" cy="214788"/>
            <a:chOff x="2711291" y="2815114"/>
            <a:chExt cx="73343" cy="214788"/>
          </a:xfrm>
        </p:grpSpPr>
        <p:sp>
          <p:nvSpPr>
            <p:cNvPr id="33" name="Ellipse 33"/>
            <p:cNvSpPr/>
            <p:nvPr/>
          </p:nvSpPr>
          <p:spPr>
            <a:xfrm>
              <a:off x="2716530" y="2815114"/>
              <a:ext cx="62865" cy="62865"/>
            </a:xfrm>
            <a:prstGeom prst="ellipse">
              <a:avLst/>
            </a:prstGeom>
            <a:noFill/>
            <a:ln w="13335">
              <a:solidFill>
                <a:schemeClr val="accent2"/>
              </a:solidFill>
            </a:ln>
          </p:spPr>
        </p:sp>
        <p:sp>
          <p:nvSpPr>
            <p:cNvPr id="34" name="Rectangle 34"/>
            <p:cNvSpPr/>
            <p:nvPr/>
          </p:nvSpPr>
          <p:spPr>
            <a:xfrm>
              <a:off x="2711291" y="2904172"/>
              <a:ext cx="73343" cy="125730"/>
            </a:xfrm>
            <a:prstGeom prst="roundRect">
              <a:avLst>
                <a:gd name="adj" fmla="val 42857"/>
              </a:avLst>
            </a:prstGeom>
            <a:noFill/>
            <a:ln w="13335">
              <a:solidFill>
                <a:schemeClr val="accent2"/>
              </a:solidFill>
            </a:ln>
          </p:spPr>
        </p:sp>
      </p:grpSp>
      <p:grpSp>
        <p:nvGrpSpPr>
          <p:cNvPr id="38" name="!!participant-38"/>
          <p:cNvGrpSpPr/>
          <p:nvPr/>
        </p:nvGrpSpPr>
        <p:grpSpPr>
          <a:xfrm>
            <a:off x="2939891" y="2815114"/>
            <a:ext cx="73343" cy="214788"/>
            <a:chOff x="2939891" y="2815114"/>
            <a:chExt cx="73343" cy="214788"/>
          </a:xfrm>
        </p:grpSpPr>
        <p:sp>
          <p:nvSpPr>
            <p:cNvPr id="36" name="Ellipse 36"/>
            <p:cNvSpPr/>
            <p:nvPr/>
          </p:nvSpPr>
          <p:spPr>
            <a:xfrm>
              <a:off x="2945130" y="2815114"/>
              <a:ext cx="62865" cy="62865"/>
            </a:xfrm>
            <a:prstGeom prst="ellipse">
              <a:avLst/>
            </a:prstGeom>
            <a:noFill/>
            <a:ln w="13335">
              <a:solidFill>
                <a:schemeClr val="accent2"/>
              </a:solidFill>
            </a:ln>
          </p:spPr>
        </p:sp>
        <p:sp>
          <p:nvSpPr>
            <p:cNvPr id="37" name="Rectangle 37"/>
            <p:cNvSpPr/>
            <p:nvPr/>
          </p:nvSpPr>
          <p:spPr>
            <a:xfrm>
              <a:off x="2939891" y="2904172"/>
              <a:ext cx="73343" cy="125730"/>
            </a:xfrm>
            <a:prstGeom prst="roundRect">
              <a:avLst>
                <a:gd name="adj" fmla="val 42857"/>
              </a:avLst>
            </a:prstGeom>
            <a:noFill/>
            <a:ln w="13335">
              <a:solidFill>
                <a:schemeClr val="accent2"/>
              </a:solidFill>
            </a:ln>
          </p:spPr>
        </p:sp>
      </p:grpSp>
      <p:grpSp>
        <p:nvGrpSpPr>
          <p:cNvPr id="41" name="!!participant-39"/>
          <p:cNvGrpSpPr/>
          <p:nvPr/>
        </p:nvGrpSpPr>
        <p:grpSpPr>
          <a:xfrm>
            <a:off x="3168491" y="2815114"/>
            <a:ext cx="73343" cy="214788"/>
            <a:chOff x="3168491" y="2815114"/>
            <a:chExt cx="73343" cy="214788"/>
          </a:xfrm>
        </p:grpSpPr>
        <p:sp>
          <p:nvSpPr>
            <p:cNvPr id="39" name="Ellipse 39"/>
            <p:cNvSpPr/>
            <p:nvPr/>
          </p:nvSpPr>
          <p:spPr>
            <a:xfrm>
              <a:off x="3173730" y="2815114"/>
              <a:ext cx="62865" cy="62865"/>
            </a:xfrm>
            <a:prstGeom prst="ellipse">
              <a:avLst/>
            </a:prstGeom>
            <a:noFill/>
            <a:ln w="13335">
              <a:solidFill>
                <a:schemeClr val="accent2"/>
              </a:solidFill>
            </a:ln>
          </p:spPr>
        </p:sp>
        <p:sp>
          <p:nvSpPr>
            <p:cNvPr id="40" name="Rectangle 40"/>
            <p:cNvSpPr/>
            <p:nvPr/>
          </p:nvSpPr>
          <p:spPr>
            <a:xfrm>
              <a:off x="3168491" y="2904172"/>
              <a:ext cx="73343" cy="125730"/>
            </a:xfrm>
            <a:prstGeom prst="roundRect">
              <a:avLst>
                <a:gd name="adj" fmla="val 42857"/>
              </a:avLst>
            </a:prstGeom>
            <a:noFill/>
            <a:ln w="13335">
              <a:solidFill>
                <a:schemeClr val="accent2"/>
              </a:solidFill>
            </a:ln>
          </p:spPr>
        </p:sp>
      </p:grpSp>
      <p:grpSp>
        <p:nvGrpSpPr>
          <p:cNvPr id="44" name="!!participant-40"/>
          <p:cNvGrpSpPr/>
          <p:nvPr/>
        </p:nvGrpSpPr>
        <p:grpSpPr>
          <a:xfrm>
            <a:off x="3397091" y="2815114"/>
            <a:ext cx="73343" cy="214788"/>
            <a:chOff x="3397091" y="2815114"/>
            <a:chExt cx="73343" cy="214788"/>
          </a:xfrm>
        </p:grpSpPr>
        <p:sp>
          <p:nvSpPr>
            <p:cNvPr id="42" name="Ellipse 42"/>
            <p:cNvSpPr/>
            <p:nvPr/>
          </p:nvSpPr>
          <p:spPr>
            <a:xfrm>
              <a:off x="3402330" y="2815114"/>
              <a:ext cx="62865" cy="62865"/>
            </a:xfrm>
            <a:prstGeom prst="ellipse">
              <a:avLst/>
            </a:prstGeom>
            <a:noFill/>
            <a:ln w="13335">
              <a:solidFill>
                <a:schemeClr val="accent2"/>
              </a:solidFill>
            </a:ln>
          </p:spPr>
        </p:sp>
        <p:sp>
          <p:nvSpPr>
            <p:cNvPr id="43" name="Rectangle 43"/>
            <p:cNvSpPr/>
            <p:nvPr/>
          </p:nvSpPr>
          <p:spPr>
            <a:xfrm>
              <a:off x="3397091" y="2904172"/>
              <a:ext cx="73343" cy="125730"/>
            </a:xfrm>
            <a:prstGeom prst="roundRect">
              <a:avLst>
                <a:gd name="adj" fmla="val 42857"/>
              </a:avLst>
            </a:prstGeom>
            <a:noFill/>
            <a:ln w="13335">
              <a:solidFill>
                <a:schemeClr val="accent2"/>
              </a:solidFill>
            </a:ln>
          </p:spPr>
        </p:sp>
      </p:grpSp>
      <p:grpSp>
        <p:nvGrpSpPr>
          <p:cNvPr id="47" name="missing-condition"/>
          <p:cNvGrpSpPr/>
          <p:nvPr/>
        </p:nvGrpSpPr>
        <p:grpSpPr>
          <a:xfrm>
            <a:off x="598170" y="3498850"/>
            <a:ext cx="2397833" cy="1425194"/>
            <a:chOff x="598170" y="3498850"/>
            <a:chExt cx="2397833" cy="1425194"/>
          </a:xfrm>
        </p:grpSpPr>
        <p:sp>
          <p:nvSpPr>
            <p:cNvPr id="45" name="TextBox 45"/>
            <p:cNvSpPr txBox="1"/>
            <p:nvPr/>
          </p:nvSpPr>
          <p:spPr>
            <a:xfrm>
              <a:off x="598170" y="3498850"/>
              <a:ext cx="2372925" cy="821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3000"/>
                </a:lnSpc>
              </a:pPr>
              <a:r>
                <a:rPr lang="en-GB" sz="22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Less successful</a:t>
              </a:r>
              <a:br>
                <a:rPr lang="en-GB" sz="22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</a:br>
              <a:r>
                <a:rPr lang="en-GB" sz="22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outcomes absent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600456" y="4572000"/>
              <a:ext cx="239554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GB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Hypothetical condition</a:t>
              </a:r>
            </a:p>
          </p:txBody>
        </p:sp>
      </p:grpSp>
      <p:grpSp>
        <p:nvGrpSpPr>
          <p:cNvPr id="50" name="selected-view"/>
          <p:cNvGrpSpPr/>
          <p:nvPr/>
        </p:nvGrpSpPr>
        <p:grpSpPr>
          <a:xfrm>
            <a:off x="4105275" y="3222625"/>
            <a:ext cx="3120695" cy="1202055"/>
            <a:chOff x="4105275" y="3222625"/>
            <a:chExt cx="3120695" cy="1202055"/>
          </a:xfrm>
        </p:grpSpPr>
        <p:sp>
          <p:nvSpPr>
            <p:cNvPr id="48" name="Line 48"/>
            <p:cNvSpPr/>
            <p:nvPr/>
          </p:nvSpPr>
          <p:spPr>
            <a:xfrm>
              <a:off x="4105275" y="3762375"/>
              <a:ext cx="523875" cy="1"/>
            </a:xfrm>
            <a:prstGeom prst="line">
              <a:avLst/>
            </a:prstGeom>
            <a:noFill/>
            <a:ln w="28575" cap="rnd">
              <a:solidFill>
                <a:schemeClr val="accent2"/>
              </a:solidFill>
              <a:tailEnd type="triangle" w="lg" len="lg"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4884420" y="3222625"/>
              <a:ext cx="2341550" cy="1202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3000"/>
                </a:lnSpc>
              </a:pPr>
              <a:r>
                <a:rPr lang="en-GB" sz="22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Observed subset</a:t>
              </a:r>
              <a:br>
                <a:rPr lang="en-GB" sz="22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</a:br>
              <a:r>
                <a:rPr lang="en-GB" sz="22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looks more</a:t>
              </a:r>
              <a:br>
                <a:rPr lang="en-GB" sz="22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</a:br>
              <a:r>
                <a:rPr lang="en-GB" sz="22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successful</a:t>
              </a:r>
            </a:p>
          </p:txBody>
        </p:sp>
      </p:grpSp>
      <p:grpSp>
        <p:nvGrpSpPr>
          <p:cNvPr id="53" name="biased-estimate"/>
          <p:cNvGrpSpPr/>
          <p:nvPr/>
        </p:nvGrpSpPr>
        <p:grpSpPr>
          <a:xfrm>
            <a:off x="7762875" y="3222625"/>
            <a:ext cx="2802998" cy="821055"/>
            <a:chOff x="7762875" y="3222625"/>
            <a:chExt cx="2802998" cy="821055"/>
          </a:xfrm>
        </p:grpSpPr>
        <p:sp>
          <p:nvSpPr>
            <p:cNvPr id="51" name="Line 51"/>
            <p:cNvSpPr/>
            <p:nvPr/>
          </p:nvSpPr>
          <p:spPr>
            <a:xfrm>
              <a:off x="7762875" y="3762375"/>
              <a:ext cx="590550" cy="1"/>
            </a:xfrm>
            <a:prstGeom prst="line">
              <a:avLst/>
            </a:prstGeom>
            <a:noFill/>
            <a:ln w="28575" cap="rnd">
              <a:solidFill>
                <a:schemeClr val="accent2"/>
              </a:solidFill>
              <a:tailEnd type="triangle" w="lg" len="lg"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8684895" y="3222625"/>
              <a:ext cx="1880978" cy="821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3000"/>
                </a:lnSpc>
              </a:pPr>
              <a:r>
                <a:rPr lang="en-GB" sz="22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Benefit may</a:t>
              </a:r>
              <a:br>
                <a:rPr lang="en-GB" sz="22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</a:br>
              <a:r>
                <a:rPr lang="en-GB" sz="22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be overstated</a:t>
              </a:r>
            </a:p>
          </p:txBody>
        </p:sp>
      </p:grpSp>
      <p:grpSp>
        <p:nvGrpSpPr>
          <p:cNvPr id="55" name="scene-conclusion"/>
          <p:cNvGrpSpPr/>
          <p:nvPr/>
        </p:nvGrpSpPr>
        <p:grpSpPr>
          <a:xfrm>
            <a:off x="2459872" y="5715000"/>
            <a:ext cx="7272257" cy="352044"/>
            <a:chOff x="2459872" y="5715000"/>
            <a:chExt cx="7272257" cy="352044"/>
          </a:xfrm>
        </p:grpSpPr>
        <p:sp>
          <p:nvSpPr>
            <p:cNvPr id="54" name="TextBox 54"/>
            <p:cNvSpPr txBox="1"/>
            <p:nvPr/>
          </p:nvSpPr>
          <p:spPr>
            <a:xfrm>
              <a:off x="2459872" y="5715000"/>
              <a:ext cx="727225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GB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Potential attrition bias — this is a conditional example, not a finding.</a:t>
              </a:r>
            </a:p>
          </p:txBody>
        </p:sp>
      </p:grpSp>
      <p:sp>
        <p:nvSpPr>
          <p:cNvPr id="56" name="TextBox 56"/>
          <p:cNvSpPr txBox="1"/>
          <p:nvPr/>
        </p:nvSpPr>
        <p:spPr>
          <a:xfrm>
            <a:off x="603504" y="6467475"/>
            <a:ext cx="852986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GB" sz="120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Illustration for a comparison based on measured participants; actual missing outcomes and bias direction are unknown.</a:t>
            </a:r>
          </a:p>
        </p:txBody>
      </p:sp>
    </p:spTree>
  </p:cSld>
  <p:clrMapOvr>
    <a:masterClrMapping/>
  </p:clrMapOvr>
  <mc:AlternateContent>
    <mc:Choice Requires="p159">
      <p:transition p14:dur="1150">
        <p159:morph option="byObject"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7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300"/>
                            </p:stCondLst>
                            <p:childTnLst>
                              <p:par>
                                <p:cTn id="9" presetID="22" presetClass="entr" presetSubtype="2" fill="hold" grpId="0" nodeType="withEffect">
                                  <p:stCondLst>
                                    <p:cond delay="10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" dur="7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350"/>
                            </p:stCondLst>
                            <p:childTnLst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16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65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chapter-chrome"/>
          <p:cNvGrpSpPr/>
          <p:nvPr/>
        </p:nvGrpSpPr>
        <p:grpSpPr>
          <a:xfrm>
            <a:off x="602742" y="301625"/>
            <a:ext cx="10985754" cy="264033"/>
            <a:chOff x="602742" y="301625"/>
            <a:chExt cx="10985754" cy="264033"/>
          </a:xfrm>
        </p:grpSpPr>
        <p:sp>
          <p:nvSpPr>
            <p:cNvPr id="2" name="TextBox 2"/>
            <p:cNvSpPr txBox="1"/>
            <p:nvPr/>
          </p:nvSpPr>
          <p:spPr>
            <a:xfrm>
              <a:off x="602742" y="301625"/>
              <a:ext cx="42809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GB" sz="1350" b="1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02 / MISSING OUTCOMES · WHAT THIS LIMITS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11082270" y="314325"/>
              <a:ext cx="50622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GB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13 / 17</a:t>
              </a:r>
            </a:p>
          </p:txBody>
        </p:sp>
      </p:grpSp>
      <p:grpSp>
        <p:nvGrpSpPr>
          <p:cNvPr id="6" name="estimate-question"/>
          <p:cNvGrpSpPr/>
          <p:nvPr/>
        </p:nvGrpSpPr>
        <p:grpSpPr>
          <a:xfrm>
            <a:off x="5386252" y="1597025"/>
            <a:ext cx="1419495" cy="3219450"/>
            <a:chOff x="5386252" y="1597025"/>
            <a:chExt cx="1419495" cy="3219450"/>
          </a:xfrm>
        </p:grpSpPr>
        <p:sp>
          <p:nvSpPr>
            <p:cNvPr id="5" name="TextBox 5"/>
            <p:cNvSpPr txBox="1"/>
            <p:nvPr/>
          </p:nvSpPr>
          <p:spPr>
            <a:xfrm>
              <a:off x="5386252" y="1597025"/>
              <a:ext cx="1419495" cy="32194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GB" sz="16800" b="1" dirty="0">
                  <a:gradFill>
                    <a:gsLst>
                      <a:gs pos="0">
                        <a:schemeClr val="accent3"/>
                      </a:gs>
                      <a:gs pos="100000">
                        <a:schemeClr val="accent2"/>
                      </a:gs>
                    </a:gsLst>
                    <a:lin ang="0" scaled="1"/>
                  </a:gradFill>
                  <a:latin typeface="+mn-lt"/>
                  <a:ea typeface="+mn-ea"/>
                  <a:cs typeface="+mn-cs"/>
                </a:rPr>
                <a:t>?</a:t>
              </a:r>
            </a:p>
          </p:txBody>
        </p:sp>
      </p:grpSp>
      <p:grpSp>
        <p:nvGrpSpPr>
          <p:cNvPr id="8" name="smaller-benefit"/>
          <p:cNvGrpSpPr/>
          <p:nvPr/>
        </p:nvGrpSpPr>
        <p:grpSpPr>
          <a:xfrm>
            <a:off x="1282332" y="2517775"/>
            <a:ext cx="1512037" cy="1062990"/>
            <a:chOff x="1282332" y="2517775"/>
            <a:chExt cx="1512037" cy="1062990"/>
          </a:xfrm>
        </p:grpSpPr>
        <p:sp>
          <p:nvSpPr>
            <p:cNvPr id="7" name="TextBox 7"/>
            <p:cNvSpPr txBox="1"/>
            <p:nvPr/>
          </p:nvSpPr>
          <p:spPr>
            <a:xfrm>
              <a:off x="1282332" y="2517775"/>
              <a:ext cx="1512037" cy="10629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3750"/>
                </a:lnSpc>
              </a:pPr>
              <a:r>
                <a:rPr lang="en-GB" sz="30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Smaller</a:t>
              </a:r>
              <a:br>
                <a:rPr lang="en-GB" sz="30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</a:br>
              <a:r>
                <a:rPr lang="en-GB" sz="30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benefit?</a:t>
              </a:r>
            </a:p>
          </p:txBody>
        </p:sp>
      </p:grpSp>
      <p:grpSp>
        <p:nvGrpSpPr>
          <p:cNvPr id="10" name="larger-benefit"/>
          <p:cNvGrpSpPr/>
          <p:nvPr/>
        </p:nvGrpSpPr>
        <p:grpSpPr>
          <a:xfrm>
            <a:off x="9397632" y="2517775"/>
            <a:ext cx="1512037" cy="1062990"/>
            <a:chOff x="9397632" y="2517775"/>
            <a:chExt cx="1512037" cy="1062990"/>
          </a:xfrm>
        </p:grpSpPr>
        <p:sp>
          <p:nvSpPr>
            <p:cNvPr id="9" name="TextBox 9"/>
            <p:cNvSpPr txBox="1"/>
            <p:nvPr/>
          </p:nvSpPr>
          <p:spPr>
            <a:xfrm>
              <a:off x="9397632" y="2517775"/>
              <a:ext cx="1512037" cy="10629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3750"/>
                </a:lnSpc>
              </a:pPr>
              <a:r>
                <a:rPr lang="en-GB" sz="30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Larger</a:t>
              </a:r>
              <a:br>
                <a:rPr lang="en-GB" sz="30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</a:br>
              <a:r>
                <a:rPr lang="en-GB" sz="30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benefit?</a:t>
              </a:r>
            </a:p>
          </p:txBody>
        </p:sp>
      </p:grpSp>
      <p:grpSp>
        <p:nvGrpSpPr>
          <p:cNvPr id="12" name="uncertainty-heading"/>
          <p:cNvGrpSpPr/>
          <p:nvPr/>
        </p:nvGrpSpPr>
        <p:grpSpPr>
          <a:xfrm>
            <a:off x="3081028" y="4613275"/>
            <a:ext cx="6029944" cy="704088"/>
            <a:chOff x="3081028" y="4613275"/>
            <a:chExt cx="6029944" cy="704088"/>
          </a:xfrm>
        </p:grpSpPr>
        <p:sp>
          <p:nvSpPr>
            <p:cNvPr id="11" name="TextBox 11"/>
            <p:cNvSpPr txBox="1"/>
            <p:nvPr/>
          </p:nvSpPr>
          <p:spPr>
            <a:xfrm>
              <a:off x="3081028" y="4613275"/>
              <a:ext cx="6029944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GB" sz="36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The direction is unknown.</a:t>
              </a:r>
            </a:p>
          </p:txBody>
        </p:sp>
      </p:grpSp>
      <p:grpSp>
        <p:nvGrpSpPr>
          <p:cNvPr id="14" name="scene-conclusion"/>
          <p:cNvGrpSpPr/>
          <p:nvPr/>
        </p:nvGrpSpPr>
        <p:grpSpPr>
          <a:xfrm>
            <a:off x="3254565" y="5724525"/>
            <a:ext cx="5682869" cy="352044"/>
            <a:chOff x="3254565" y="5724525"/>
            <a:chExt cx="5682869" cy="352044"/>
          </a:xfrm>
        </p:grpSpPr>
        <p:sp>
          <p:nvSpPr>
            <p:cNvPr id="13" name="TextBox 13"/>
            <p:cNvSpPr txBox="1"/>
            <p:nvPr/>
          </p:nvSpPr>
          <p:spPr>
            <a:xfrm>
              <a:off x="3254565" y="5724525"/>
              <a:ext cx="568286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GB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Missing-outcome handling was not clearly explained.</a:t>
              </a:r>
            </a:p>
          </p:txBody>
        </p:sp>
      </p:grpSp>
      <p:sp>
        <p:nvSpPr>
          <p:cNvPr id="15" name="TextBox 15"/>
          <p:cNvSpPr txBox="1"/>
          <p:nvPr/>
        </p:nvSpPr>
        <p:spPr>
          <a:xfrm>
            <a:off x="603504" y="6467475"/>
            <a:ext cx="728939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GB" sz="120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Lim et al. 2024 · Methods 2.9; Figure 1 · No numerical bias estimate or uncertainty interval is inferred.</a:t>
            </a:r>
          </a:p>
        </p:txBody>
      </p:sp>
    </p:spTree>
  </p:cSld>
  <p:clrMapOvr>
    <a:masterClrMapping/>
  </p:clrMapOvr>
  <p:transition xmlns:p14="http://schemas.microsoft.com/office/powerpoint/2010/main" p14:dur="55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53" presetClass="entr" presetSubtype="16" fill="hold" grpId="0" nodeType="withEffect" decel="50000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8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8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8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"/>
                            </p:stCondLst>
                            <p:childTnLst>
                              <p:par>
                                <p:cTn xmlns:p="http://schemas.openxmlformats.org/presentationml/2006/main" id="11" presetID="10" presetClass="entr" presetSubtype="0" fill="hold" grpId="0" nodeType="with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6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650"/>
                            </p:stCondLst>
                            <p:childTnLst>
                              <p:par>
                                <p:cTn xmlns:p="http://schemas.openxmlformats.org/presentationml/2006/main" id="15" presetID="10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6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p="http://schemas.openxmlformats.org/presentationml/2006/main" xmlns:p14="http://schemas.microsoft.com/office/powerpoint/2010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chapter-chrome"/>
          <p:cNvGrpSpPr/>
          <p:nvPr/>
        </p:nvGrpSpPr>
        <p:grpSpPr>
          <a:xfrm>
            <a:off x="602742" y="301625"/>
            <a:ext cx="10985754" cy="264033"/>
            <a:chOff x="602742" y="301625"/>
            <a:chExt cx="10985754" cy="264033"/>
          </a:xfrm>
        </p:grpSpPr>
        <p:sp>
          <p:nvSpPr>
            <p:cNvPr id="2" name="TextBox 2"/>
            <p:cNvSpPr txBox="1"/>
            <p:nvPr/>
          </p:nvSpPr>
          <p:spPr>
            <a:xfrm>
              <a:off x="602742" y="301625"/>
              <a:ext cx="429174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GB" sz="1350" b="1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03 / GENERALISABILITY · WHO WAS STUDIED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11082270" y="314325"/>
              <a:ext cx="50622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GB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14 / 17</a:t>
              </a:r>
            </a:p>
          </p:txBody>
        </p:sp>
      </p:grpSp>
      <p:grpSp>
        <p:nvGrpSpPr>
          <p:cNvPr id="6" name="scene-heading"/>
          <p:cNvGrpSpPr/>
          <p:nvPr/>
        </p:nvGrpSpPr>
        <p:grpSpPr>
          <a:xfrm>
            <a:off x="590550" y="841375"/>
            <a:ext cx="9813967" cy="933450"/>
            <a:chOff x="590550" y="841375"/>
            <a:chExt cx="9813967" cy="933450"/>
          </a:xfrm>
        </p:grpSpPr>
        <p:sp>
          <p:nvSpPr>
            <p:cNvPr id="5" name="TextBox 5"/>
            <p:cNvSpPr txBox="1"/>
            <p:nvPr/>
          </p:nvSpPr>
          <p:spPr>
            <a:xfrm>
              <a:off x="590550" y="841375"/>
              <a:ext cx="9813967" cy="9334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GB" sz="4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One setting. A selected sample.</a:t>
              </a:r>
            </a:p>
          </p:txBody>
        </p:sp>
      </p:grpSp>
      <p:grpSp>
        <p:nvGrpSpPr>
          <p:cNvPr id="18" name="!!study-hospital"/>
          <p:cNvGrpSpPr/>
          <p:nvPr/>
        </p:nvGrpSpPr>
        <p:grpSpPr>
          <a:xfrm>
            <a:off x="1097775" y="2314575"/>
            <a:ext cx="2166899" cy="2990469"/>
            <a:chOff x="1097775" y="2314575"/>
            <a:chExt cx="2166899" cy="2990469"/>
          </a:xfrm>
        </p:grpSpPr>
        <p:sp>
          <p:nvSpPr>
            <p:cNvPr id="7" name="Rectangle 7"/>
            <p:cNvSpPr/>
            <p:nvPr/>
          </p:nvSpPr>
          <p:spPr>
            <a:xfrm>
              <a:off x="1562100" y="2314575"/>
              <a:ext cx="1181100" cy="1428750"/>
            </a:xfrm>
            <a:prstGeom prst="roundRect">
              <a:avLst>
                <a:gd name="adj" fmla="val 9677"/>
              </a:avLst>
            </a:prstGeom>
            <a:noFill/>
            <a:ln w="28575">
              <a:solidFill>
                <a:schemeClr val="accent3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2057400" y="2457450"/>
              <a:ext cx="190500" cy="523875"/>
            </a:xfrm>
            <a:prstGeom prst="roundRect">
              <a:avLst>
                <a:gd name="adj" fmla="val 15000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1895475" y="2619375"/>
              <a:ext cx="514350" cy="190500"/>
            </a:xfrm>
            <a:prstGeom prst="roundRect">
              <a:avLst>
                <a:gd name="adj" fmla="val 15000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0" name="Rectangle 10"/>
            <p:cNvSpPr/>
            <p:nvPr/>
          </p:nvSpPr>
          <p:spPr>
            <a:xfrm>
              <a:off x="1752600" y="3143250"/>
              <a:ext cx="171450" cy="190500"/>
            </a:xfrm>
            <a:prstGeom prst="roundRect">
              <a:avLst>
                <a:gd name="adj" fmla="val 16667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1" name="Rectangle 11"/>
            <p:cNvSpPr/>
            <p:nvPr/>
          </p:nvSpPr>
          <p:spPr>
            <a:xfrm>
              <a:off x="1752600" y="3438525"/>
              <a:ext cx="171450" cy="190500"/>
            </a:xfrm>
            <a:prstGeom prst="roundRect">
              <a:avLst>
                <a:gd name="adj" fmla="val 16667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2" name="Rectangle 12"/>
            <p:cNvSpPr/>
            <p:nvPr/>
          </p:nvSpPr>
          <p:spPr>
            <a:xfrm>
              <a:off x="2066925" y="3143250"/>
              <a:ext cx="171450" cy="190500"/>
            </a:xfrm>
            <a:prstGeom prst="roundRect">
              <a:avLst>
                <a:gd name="adj" fmla="val 16667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3" name="Rectangle 13"/>
            <p:cNvSpPr/>
            <p:nvPr/>
          </p:nvSpPr>
          <p:spPr>
            <a:xfrm>
              <a:off x="2066925" y="3438525"/>
              <a:ext cx="171450" cy="190500"/>
            </a:xfrm>
            <a:prstGeom prst="roundRect">
              <a:avLst>
                <a:gd name="adj" fmla="val 16667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4" name="Rectangle 14"/>
            <p:cNvSpPr/>
            <p:nvPr/>
          </p:nvSpPr>
          <p:spPr>
            <a:xfrm>
              <a:off x="2381250" y="3143250"/>
              <a:ext cx="171450" cy="190500"/>
            </a:xfrm>
            <a:prstGeom prst="roundRect">
              <a:avLst>
                <a:gd name="adj" fmla="val 16667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2381250" y="3438525"/>
              <a:ext cx="171450" cy="190500"/>
            </a:xfrm>
            <a:prstGeom prst="roundRect">
              <a:avLst>
                <a:gd name="adj" fmla="val 16667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1097775" y="4041775"/>
              <a:ext cx="2166899" cy="8305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3075"/>
                </a:lnSpc>
              </a:pPr>
              <a:r>
                <a:rPr lang="en-GB" sz="22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One hospital</a:t>
              </a:r>
              <a:br>
                <a:rPr lang="en-GB" sz="22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</a:br>
              <a:r>
                <a:rPr lang="en-GB" sz="22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Healthcare staff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616199" y="4953000"/>
              <a:ext cx="11300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GB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Singapore</a:t>
              </a:r>
            </a:p>
          </p:txBody>
        </p:sp>
      </p:grpSp>
      <p:grpSp>
        <p:nvGrpSpPr>
          <p:cNvPr id="22" name="sample-sex"/>
          <p:cNvGrpSpPr/>
          <p:nvPr/>
        </p:nvGrpSpPr>
        <p:grpSpPr>
          <a:xfrm>
            <a:off x="4697839" y="2571750"/>
            <a:ext cx="2624872" cy="2428494"/>
            <a:chOff x="4697839" y="2571750"/>
            <a:chExt cx="2624872" cy="2428494"/>
          </a:xfrm>
        </p:grpSpPr>
        <p:sp>
          <p:nvSpPr>
            <p:cNvPr id="19" name="TextBox 19"/>
            <p:cNvSpPr txBox="1"/>
            <p:nvPr/>
          </p:nvSpPr>
          <p:spPr>
            <a:xfrm>
              <a:off x="4697839" y="2571750"/>
              <a:ext cx="2624872" cy="18478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GB" sz="9600" b="1" dirty="0">
                  <a:gradFill>
                    <a:gsLst>
                      <a:gs pos="0">
                        <a:schemeClr val="accent3"/>
                      </a:gs>
                      <a:gs pos="100000">
                        <a:schemeClr val="accent2"/>
                      </a:gs>
                    </a:gsLst>
                    <a:lin ang="0" scaled="1"/>
                  </a:gradFill>
                  <a:latin typeface="+mn-lt"/>
                  <a:ea typeface="+mn-ea"/>
                  <a:cs typeface="+mn-cs"/>
                </a:rPr>
                <a:t>86%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5299427" y="3975100"/>
              <a:ext cx="1421697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GB" sz="30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women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4909958" y="4648200"/>
              <a:ext cx="220063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GB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69 of 80 participants</a:t>
              </a:r>
            </a:p>
          </p:txBody>
        </p:sp>
      </p:grpSp>
      <p:grpSp>
        <p:nvGrpSpPr>
          <p:cNvPr id="30" name="sample-access"/>
          <p:cNvGrpSpPr/>
          <p:nvPr/>
        </p:nvGrpSpPr>
        <p:grpSpPr>
          <a:xfrm>
            <a:off x="8554069" y="2333625"/>
            <a:ext cx="2722912" cy="2971419"/>
            <a:chOff x="8554069" y="2333625"/>
            <a:chExt cx="2722912" cy="2971419"/>
          </a:xfrm>
        </p:grpSpPr>
        <p:sp>
          <p:nvSpPr>
            <p:cNvPr id="23" name="Rectangle 23"/>
            <p:cNvSpPr/>
            <p:nvPr/>
          </p:nvSpPr>
          <p:spPr>
            <a:xfrm>
              <a:off x="9486900" y="2333625"/>
              <a:ext cx="548640" cy="942975"/>
            </a:xfrm>
            <a:prstGeom prst="roundRect">
              <a:avLst>
                <a:gd name="adj" fmla="val 21875"/>
              </a:avLst>
            </a:prstGeom>
            <a:noFill/>
            <a:ln w="28575">
              <a:solidFill>
                <a:schemeClr val="accent3"/>
              </a:solidFill>
            </a:ln>
          </p:spPr>
        </p:sp>
        <p:sp>
          <p:nvSpPr>
            <p:cNvPr id="24" name="Line 24"/>
            <p:cNvSpPr/>
            <p:nvPr/>
          </p:nvSpPr>
          <p:spPr>
            <a:xfrm>
              <a:off x="9684068" y="2419350"/>
              <a:ext cx="154305" cy="9525"/>
            </a:xfrm>
            <a:custGeom>
              <a:avLst/>
              <a:gdLst/>
              <a:ahLst/>
              <a:cxnLst/>
              <a:rect l="l" t="t" r="r" b="b"/>
              <a:pathLst>
                <a:path w="154305" h="9525">
                  <a:moveTo>
                    <a:pt x="0" y="0"/>
                  </a:moveTo>
                  <a:lnTo>
                    <a:pt x="154305" y="0"/>
                  </a:lnTo>
                </a:path>
              </a:pathLst>
            </a:custGeom>
            <a:noFill/>
            <a:ln w="28575" cap="rnd">
              <a:solidFill>
                <a:schemeClr val="accent3"/>
              </a:solidFill>
            </a:ln>
          </p:spPr>
        </p:sp>
        <p:sp>
          <p:nvSpPr>
            <p:cNvPr id="25" name="Line 25"/>
            <p:cNvSpPr/>
            <p:nvPr/>
          </p:nvSpPr>
          <p:spPr>
            <a:xfrm>
              <a:off x="9701212" y="3156585"/>
              <a:ext cx="120015" cy="9525"/>
            </a:xfrm>
            <a:custGeom>
              <a:avLst/>
              <a:gdLst/>
              <a:ahLst/>
              <a:cxnLst/>
              <a:rect l="l" t="t" r="r" b="b"/>
              <a:pathLst>
                <a:path w="120015" h="9525">
                  <a:moveTo>
                    <a:pt x="0" y="0"/>
                  </a:moveTo>
                  <a:lnTo>
                    <a:pt x="120015" y="0"/>
                  </a:lnTo>
                </a:path>
              </a:pathLst>
            </a:custGeom>
            <a:noFill/>
            <a:ln w="28575" cap="rnd">
              <a:solidFill>
                <a:schemeClr val="accent3"/>
              </a:solidFill>
            </a:ln>
          </p:spPr>
        </p:sp>
        <p:sp>
          <p:nvSpPr>
            <p:cNvPr id="26" name="Ellipse 26"/>
            <p:cNvSpPr/>
            <p:nvPr/>
          </p:nvSpPr>
          <p:spPr>
            <a:xfrm>
              <a:off x="9675495" y="2642235"/>
              <a:ext cx="171450" cy="171450"/>
            </a:xfrm>
            <a:prstGeom prst="ellipse">
              <a:avLst/>
            </a:prstGeom>
            <a:noFill/>
            <a:ln w="19050">
              <a:solidFill>
                <a:schemeClr val="accent3"/>
              </a:solidFill>
            </a:ln>
          </p:spPr>
        </p:sp>
        <p:sp>
          <p:nvSpPr>
            <p:cNvPr id="27" name="Freeform 27"/>
            <p:cNvSpPr/>
            <p:nvPr/>
          </p:nvSpPr>
          <p:spPr>
            <a:xfrm>
              <a:off x="9624060" y="2847975"/>
              <a:ext cx="274320" cy="137160"/>
            </a:xfrm>
            <a:custGeom>
              <a:avLst/>
              <a:gdLst/>
              <a:ahLst/>
              <a:cxnLst/>
              <a:rect l="l" t="t" r="r" b="b"/>
              <a:pathLst>
                <a:path w="274320" h="137160">
                  <a:moveTo>
                    <a:pt x="0" y="137160"/>
                  </a:moveTo>
                  <a:cubicBezTo>
                    <a:pt x="91440" y="0"/>
                    <a:pt x="182880" y="0"/>
                    <a:pt x="274320" y="137160"/>
                  </a:cubicBezTo>
                </a:path>
              </a:pathLst>
            </a:custGeom>
            <a:noFill/>
            <a:ln w="19050" cap="rnd">
              <a:solidFill>
                <a:schemeClr val="accent3"/>
              </a:solidFill>
              <a:round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8554069" y="4041775"/>
              <a:ext cx="2722912" cy="8305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3075"/>
                </a:lnSpc>
              </a:pPr>
              <a:r>
                <a:rPr lang="en-GB" sz="22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English literacy</a:t>
              </a:r>
              <a:br>
                <a:rPr lang="en-GB" sz="22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</a:br>
              <a:r>
                <a:rPr lang="en-GB" sz="22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Smartphone access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8684003" y="4953000"/>
              <a:ext cx="246304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GB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Required to participate</a:t>
              </a:r>
            </a:p>
          </p:txBody>
        </p:sp>
      </p:grpSp>
      <p:grpSp>
        <p:nvGrpSpPr>
          <p:cNvPr id="32" name="scene-conclusion"/>
          <p:cNvGrpSpPr/>
          <p:nvPr/>
        </p:nvGrpSpPr>
        <p:grpSpPr>
          <a:xfrm>
            <a:off x="2918373" y="5724525"/>
            <a:ext cx="6355253" cy="352044"/>
            <a:chOff x="2918373" y="5724525"/>
            <a:chExt cx="6355253" cy="352044"/>
          </a:xfrm>
        </p:grpSpPr>
        <p:sp>
          <p:nvSpPr>
            <p:cNvPr id="31" name="TextBox 31"/>
            <p:cNvSpPr txBox="1"/>
            <p:nvPr/>
          </p:nvSpPr>
          <p:spPr>
            <a:xfrm>
              <a:off x="2918373" y="5724525"/>
              <a:ext cx="635525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GB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Random assignment ≠ a representative population sample.</a:t>
              </a:r>
            </a:p>
          </p:txBody>
        </p:sp>
      </p:grpSp>
      <p:sp>
        <p:nvSpPr>
          <p:cNvPr id="33" name="TextBox 33"/>
          <p:cNvSpPr txBox="1"/>
          <p:nvPr/>
        </p:nvSpPr>
        <p:spPr>
          <a:xfrm>
            <a:off x="603504" y="6467475"/>
            <a:ext cx="5749313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GB" sz="120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Lim et al. 2024 · Methods 2.2 and Table 1 · Some diseases were also excluded.</a:t>
            </a:r>
          </a:p>
        </p:txBody>
      </p:sp>
    </p:spTree>
  </p:cSld>
  <p:clrMapOvr>
    <a:masterClrMapping/>
  </p:clrMapOvr>
  <p:transition p14:dur="55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8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8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8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mc="http://schemas.openxmlformats.org/markup-compatibility/2006" xmlns:p="http://schemas.openxmlformats.org/presentationml/2006/main" xmlns:p14="http://schemas.microsoft.com/office/powerpoint/2010/main" xmlns:p159="http://schemas.microsoft.com/office/powerpoint/2015/09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chapter-chrome"/>
          <p:cNvGrpSpPr/>
          <p:nvPr/>
        </p:nvGrpSpPr>
        <p:grpSpPr>
          <a:xfrm>
            <a:off x="602742" y="301625"/>
            <a:ext cx="10985754" cy="264033"/>
            <a:chOff x="602742" y="301625"/>
            <a:chExt cx="10985754" cy="264033"/>
          </a:xfrm>
        </p:grpSpPr>
        <p:sp>
          <p:nvSpPr>
            <p:cNvPr id="2" name="TextBox 2"/>
            <p:cNvSpPr txBox="1"/>
            <p:nvPr/>
          </p:nvSpPr>
          <p:spPr>
            <a:xfrm>
              <a:off x="602742" y="301625"/>
              <a:ext cx="499581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GB" sz="1350" b="1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03 / GENERALISABILITY · UNDER WHAT CONDITIONS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11082270" y="314325"/>
              <a:ext cx="50622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GB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15 / 17</a:t>
              </a:r>
            </a:p>
          </p:txBody>
        </p:sp>
      </p:grpSp>
      <p:grpSp>
        <p:nvGrpSpPr>
          <p:cNvPr id="6" name="scene-heading"/>
          <p:cNvGrpSpPr/>
          <p:nvPr/>
        </p:nvGrpSpPr>
        <p:grpSpPr>
          <a:xfrm>
            <a:off x="590550" y="841375"/>
            <a:ext cx="8603125" cy="933450"/>
            <a:chOff x="590550" y="841375"/>
            <a:chExt cx="8603125" cy="933450"/>
          </a:xfrm>
        </p:grpSpPr>
        <p:sp>
          <p:nvSpPr>
            <p:cNvPr id="5" name="TextBox 5"/>
            <p:cNvSpPr txBox="1"/>
            <p:nvPr/>
          </p:nvSpPr>
          <p:spPr>
            <a:xfrm>
              <a:off x="590550" y="841375"/>
              <a:ext cx="8603125" cy="9334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GB" sz="4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Support shaped the setting.</a:t>
              </a:r>
            </a:p>
          </p:txBody>
        </p:sp>
      </p:grpSp>
      <p:grpSp>
        <p:nvGrpSpPr>
          <p:cNvPr id="18" name="!!study-hospital"/>
          <p:cNvGrpSpPr/>
          <p:nvPr/>
        </p:nvGrpSpPr>
        <p:grpSpPr>
          <a:xfrm>
            <a:off x="609600" y="2057400"/>
            <a:ext cx="7059859" cy="818769"/>
            <a:chOff x="609600" y="2057400"/>
            <a:chExt cx="7059859" cy="818769"/>
          </a:xfrm>
        </p:grpSpPr>
        <p:sp>
          <p:nvSpPr>
            <p:cNvPr id="7" name="Rectangle 7"/>
            <p:cNvSpPr/>
            <p:nvPr/>
          </p:nvSpPr>
          <p:spPr>
            <a:xfrm>
              <a:off x="609600" y="2057400"/>
              <a:ext cx="519684" cy="628650"/>
            </a:xfrm>
            <a:prstGeom prst="roundRect">
              <a:avLst>
                <a:gd name="adj" fmla="val 9677"/>
              </a:avLst>
            </a:prstGeom>
            <a:noFill/>
            <a:ln w="28575">
              <a:solidFill>
                <a:schemeClr val="accent3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827532" y="2120265"/>
              <a:ext cx="83820" cy="230505"/>
            </a:xfrm>
            <a:prstGeom prst="roundRect">
              <a:avLst>
                <a:gd name="adj" fmla="val 15000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56285" y="2191512"/>
              <a:ext cx="226314" cy="83820"/>
            </a:xfrm>
            <a:prstGeom prst="roundRect">
              <a:avLst>
                <a:gd name="adj" fmla="val 15000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0" name="Rectangle 10"/>
            <p:cNvSpPr/>
            <p:nvPr/>
          </p:nvSpPr>
          <p:spPr>
            <a:xfrm>
              <a:off x="693420" y="2422017"/>
              <a:ext cx="75438" cy="83820"/>
            </a:xfrm>
            <a:prstGeom prst="roundRect">
              <a:avLst>
                <a:gd name="adj" fmla="val 16667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1" name="Rectangle 11"/>
            <p:cNvSpPr/>
            <p:nvPr/>
          </p:nvSpPr>
          <p:spPr>
            <a:xfrm>
              <a:off x="693420" y="2551938"/>
              <a:ext cx="75438" cy="83820"/>
            </a:xfrm>
            <a:prstGeom prst="roundRect">
              <a:avLst>
                <a:gd name="adj" fmla="val 16667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2" name="Rectangle 12"/>
            <p:cNvSpPr/>
            <p:nvPr/>
          </p:nvSpPr>
          <p:spPr>
            <a:xfrm>
              <a:off x="831723" y="2422017"/>
              <a:ext cx="75438" cy="83820"/>
            </a:xfrm>
            <a:prstGeom prst="roundRect">
              <a:avLst>
                <a:gd name="adj" fmla="val 16667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3" name="Rectangle 13"/>
            <p:cNvSpPr/>
            <p:nvPr/>
          </p:nvSpPr>
          <p:spPr>
            <a:xfrm>
              <a:off x="831723" y="2551938"/>
              <a:ext cx="75438" cy="83820"/>
            </a:xfrm>
            <a:prstGeom prst="roundRect">
              <a:avLst>
                <a:gd name="adj" fmla="val 16667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4" name="Rectangle 14"/>
            <p:cNvSpPr/>
            <p:nvPr/>
          </p:nvSpPr>
          <p:spPr>
            <a:xfrm>
              <a:off x="970026" y="2422017"/>
              <a:ext cx="75438" cy="83820"/>
            </a:xfrm>
            <a:prstGeom prst="roundRect">
              <a:avLst>
                <a:gd name="adj" fmla="val 16667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970026" y="2551938"/>
              <a:ext cx="75438" cy="83820"/>
            </a:xfrm>
            <a:prstGeom prst="roundRect">
              <a:avLst>
                <a:gd name="adj" fmla="val 16667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1426845" y="2092325"/>
              <a:ext cx="624261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GB" sz="22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The same support structure in both groups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429131" y="2524125"/>
              <a:ext cx="588507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GB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The intervention was delivered under these conditions.</a:t>
              </a:r>
            </a:p>
          </p:txBody>
        </p:sp>
      </p:grpSp>
      <p:grpSp>
        <p:nvGrpSpPr>
          <p:cNvPr id="21" name="!!workshops"/>
          <p:cNvGrpSpPr/>
          <p:nvPr/>
        </p:nvGrpSpPr>
        <p:grpSpPr>
          <a:xfrm>
            <a:off x="1417959" y="3429000"/>
            <a:ext cx="1621782" cy="1979930"/>
            <a:chOff x="1417959" y="3429000"/>
            <a:chExt cx="1621782" cy="1979930"/>
          </a:xfrm>
        </p:grpSpPr>
        <p:sp>
          <p:nvSpPr>
            <p:cNvPr id="19" name="TextBox 19"/>
            <p:cNvSpPr txBox="1"/>
            <p:nvPr/>
          </p:nvSpPr>
          <p:spPr>
            <a:xfrm>
              <a:off x="1850397" y="3429000"/>
              <a:ext cx="756906" cy="18478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GB" sz="9600" b="1" dirty="0">
                  <a:gradFill>
                    <a:gsLst>
                      <a:gs pos="0">
                        <a:schemeClr val="accent3"/>
                      </a:gs>
                      <a:gs pos="100000">
                        <a:schemeClr val="accent2"/>
                      </a:gs>
                    </a:gsLst>
                    <a:lin ang="0" scaled="1"/>
                  </a:gra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417959" y="4968875"/>
              <a:ext cx="1621782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GB" sz="22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workshops</a:t>
              </a:r>
            </a:p>
          </p:txBody>
        </p:sp>
      </p:grpSp>
      <p:grpSp>
        <p:nvGrpSpPr>
          <p:cNvPr id="28" name="!!app-coaching"/>
          <p:cNvGrpSpPr/>
          <p:nvPr/>
        </p:nvGrpSpPr>
        <p:grpSpPr>
          <a:xfrm>
            <a:off x="5096332" y="3448050"/>
            <a:ext cx="1999336" cy="2027555"/>
            <a:chOff x="5096332" y="3448050"/>
            <a:chExt cx="1999336" cy="2027555"/>
          </a:xfrm>
        </p:grpSpPr>
        <p:sp>
          <p:nvSpPr>
            <p:cNvPr id="22" name="Rectangle 22"/>
            <p:cNvSpPr/>
            <p:nvPr/>
          </p:nvSpPr>
          <p:spPr>
            <a:xfrm>
              <a:off x="5791200" y="3448050"/>
              <a:ext cx="548640" cy="942975"/>
            </a:xfrm>
            <a:prstGeom prst="roundRect">
              <a:avLst>
                <a:gd name="adj" fmla="val 21875"/>
              </a:avLst>
            </a:prstGeom>
            <a:noFill/>
            <a:ln w="28575">
              <a:solidFill>
                <a:schemeClr val="accent3"/>
              </a:solidFill>
            </a:ln>
          </p:spPr>
        </p:sp>
        <p:sp>
          <p:nvSpPr>
            <p:cNvPr id="23" name="Line 23"/>
            <p:cNvSpPr/>
            <p:nvPr/>
          </p:nvSpPr>
          <p:spPr>
            <a:xfrm>
              <a:off x="5988368" y="3533775"/>
              <a:ext cx="154305" cy="9525"/>
            </a:xfrm>
            <a:custGeom>
              <a:avLst/>
              <a:gdLst/>
              <a:ahLst/>
              <a:cxnLst/>
              <a:rect l="l" t="t" r="r" b="b"/>
              <a:pathLst>
                <a:path w="154305" h="9525">
                  <a:moveTo>
                    <a:pt x="0" y="0"/>
                  </a:moveTo>
                  <a:lnTo>
                    <a:pt x="154305" y="0"/>
                  </a:lnTo>
                </a:path>
              </a:pathLst>
            </a:custGeom>
            <a:noFill/>
            <a:ln w="28575" cap="rnd">
              <a:solidFill>
                <a:schemeClr val="accent3"/>
              </a:solidFill>
            </a:ln>
          </p:spPr>
        </p:sp>
        <p:sp>
          <p:nvSpPr>
            <p:cNvPr id="24" name="Line 24"/>
            <p:cNvSpPr/>
            <p:nvPr/>
          </p:nvSpPr>
          <p:spPr>
            <a:xfrm>
              <a:off x="6005512" y="4271010"/>
              <a:ext cx="120015" cy="9525"/>
            </a:xfrm>
            <a:custGeom>
              <a:avLst/>
              <a:gdLst/>
              <a:ahLst/>
              <a:cxnLst/>
              <a:rect l="l" t="t" r="r" b="b"/>
              <a:pathLst>
                <a:path w="120015" h="9525">
                  <a:moveTo>
                    <a:pt x="0" y="0"/>
                  </a:moveTo>
                  <a:lnTo>
                    <a:pt x="120015" y="0"/>
                  </a:lnTo>
                </a:path>
              </a:pathLst>
            </a:custGeom>
            <a:noFill/>
            <a:ln w="28575" cap="rnd">
              <a:solidFill>
                <a:schemeClr val="accent3"/>
              </a:solidFill>
            </a:ln>
          </p:spPr>
        </p:sp>
        <p:sp>
          <p:nvSpPr>
            <p:cNvPr id="25" name="Ellipse 25"/>
            <p:cNvSpPr/>
            <p:nvPr/>
          </p:nvSpPr>
          <p:spPr>
            <a:xfrm>
              <a:off x="5979795" y="3756660"/>
              <a:ext cx="171450" cy="171450"/>
            </a:xfrm>
            <a:prstGeom prst="ellipse">
              <a:avLst/>
            </a:prstGeom>
            <a:noFill/>
            <a:ln w="19050">
              <a:solidFill>
                <a:schemeClr val="accent3"/>
              </a:solidFill>
            </a:ln>
          </p:spPr>
        </p:sp>
        <p:sp>
          <p:nvSpPr>
            <p:cNvPr id="26" name="Freeform 26"/>
            <p:cNvSpPr/>
            <p:nvPr/>
          </p:nvSpPr>
          <p:spPr>
            <a:xfrm>
              <a:off x="5928360" y="3962400"/>
              <a:ext cx="274320" cy="137160"/>
            </a:xfrm>
            <a:custGeom>
              <a:avLst/>
              <a:gdLst/>
              <a:ahLst/>
              <a:cxnLst/>
              <a:rect l="l" t="t" r="r" b="b"/>
              <a:pathLst>
                <a:path w="274320" h="137160">
                  <a:moveTo>
                    <a:pt x="0" y="137160"/>
                  </a:moveTo>
                  <a:cubicBezTo>
                    <a:pt x="91440" y="0"/>
                    <a:pt x="182880" y="0"/>
                    <a:pt x="274320" y="137160"/>
                  </a:cubicBezTo>
                </a:path>
              </a:pathLst>
            </a:custGeom>
            <a:noFill/>
            <a:ln w="19050" cap="rnd">
              <a:solidFill>
                <a:schemeClr val="accent3"/>
              </a:solidFill>
              <a:round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5096332" y="4664075"/>
              <a:ext cx="1999336" cy="81153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2925"/>
                </a:lnSpc>
              </a:pPr>
              <a:r>
                <a:rPr lang="en-GB" sz="22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App + dietitian</a:t>
              </a:r>
              <a:br>
                <a:rPr lang="en-GB" sz="22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</a:br>
              <a:r>
                <a:rPr lang="en-GB" sz="22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coaching</a:t>
              </a:r>
            </a:p>
          </p:txBody>
        </p:sp>
      </p:grpSp>
      <p:grpSp>
        <p:nvGrpSpPr>
          <p:cNvPr id="31" name="support-duration"/>
          <p:cNvGrpSpPr/>
          <p:nvPr/>
        </p:nvGrpSpPr>
        <p:grpSpPr>
          <a:xfrm>
            <a:off x="8614166" y="3429000"/>
            <a:ext cx="2697968" cy="1979930"/>
            <a:chOff x="8614166" y="3429000"/>
            <a:chExt cx="2697968" cy="1979930"/>
          </a:xfrm>
        </p:grpSpPr>
        <p:sp>
          <p:nvSpPr>
            <p:cNvPr id="29" name="TextBox 29"/>
            <p:cNvSpPr txBox="1"/>
            <p:nvPr/>
          </p:nvSpPr>
          <p:spPr>
            <a:xfrm>
              <a:off x="9584697" y="3429000"/>
              <a:ext cx="756906" cy="18478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GB" sz="9600" b="1" dirty="0">
                  <a:gradFill>
                    <a:gsLst>
                      <a:gs pos="0">
                        <a:schemeClr val="accent3"/>
                      </a:gs>
                      <a:gs pos="100000">
                        <a:schemeClr val="accent2"/>
                      </a:gs>
                    </a:gsLst>
                    <a:lin ang="0" scaled="1"/>
                  </a:gra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8614166" y="4968875"/>
              <a:ext cx="2697968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GB" sz="22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months of support</a:t>
              </a:r>
            </a:p>
          </p:txBody>
        </p:sp>
      </p:grpSp>
      <p:grpSp>
        <p:nvGrpSpPr>
          <p:cNvPr id="33" name="scene-conclusion"/>
          <p:cNvGrpSpPr/>
          <p:nvPr/>
        </p:nvGrpSpPr>
        <p:grpSpPr>
          <a:xfrm>
            <a:off x="2621712" y="5724525"/>
            <a:ext cx="6948575" cy="352044"/>
            <a:chOff x="2621712" y="5724525"/>
            <a:chExt cx="6948575" cy="352044"/>
          </a:xfrm>
        </p:grpSpPr>
        <p:sp>
          <p:nvSpPr>
            <p:cNvPr id="32" name="TextBox 32"/>
            <p:cNvSpPr txBox="1"/>
            <p:nvPr/>
          </p:nvSpPr>
          <p:spPr>
            <a:xfrm>
              <a:off x="2621712" y="5724525"/>
              <a:ext cx="694857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GB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The result belongs to this programme and its delivery conditions.</a:t>
              </a:r>
            </a:p>
          </p:txBody>
        </p:sp>
      </p:grpSp>
      <p:sp>
        <p:nvSpPr>
          <p:cNvPr id="34" name="TextBox 34"/>
          <p:cNvSpPr txBox="1"/>
          <p:nvPr/>
        </p:nvSpPr>
        <p:spPr>
          <a:xfrm>
            <a:off x="603504" y="6467475"/>
            <a:ext cx="729398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GB" sz="120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Lim et al. 2024 · Methods 2.5 · Shared support strengthens the comparison and describes the setting.</a:t>
            </a:r>
          </a:p>
        </p:txBody>
      </p:sp>
    </p:spTree>
  </p:cSld>
  <p:clrMapOvr>
    <a:masterClrMapping/>
  </p:clrMapOvr>
  <mc:AlternateContent>
    <mc:Choice Requires="p159">
      <p:transition p14:dur="1100">
        <p159:morph option="byObject"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8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8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8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50"/>
                            </p:stCondLst>
                            <p:childTnLst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6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550"/>
                            </p:stCondLst>
                            <p:childTnLst>
                              <p:par>
                                <p:cTn id="15" presetID="53" presetClass="entr" presetSubtype="16" fill="hold" grpId="0" nodeType="withEffect">
                                  <p:stCondLst>
                                    <p:cond delay="65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8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8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8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mc="http://schemas.openxmlformats.org/markup-compatibility/2006" xmlns:p="http://schemas.openxmlformats.org/presentationml/2006/main" xmlns:p14="http://schemas.microsoft.com/office/powerpoint/2010/main" xmlns:p159="http://schemas.microsoft.com/office/powerpoint/2015/09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chapter-chrome"/>
          <p:cNvGrpSpPr/>
          <p:nvPr/>
        </p:nvGrpSpPr>
        <p:grpSpPr>
          <a:xfrm>
            <a:off x="602742" y="301625"/>
            <a:ext cx="10985754" cy="264033"/>
            <a:chOff x="602742" y="301625"/>
            <a:chExt cx="10985754" cy="264033"/>
          </a:xfrm>
        </p:grpSpPr>
        <p:sp>
          <p:nvSpPr>
            <p:cNvPr id="2" name="TextBox 2"/>
            <p:cNvSpPr txBox="1"/>
            <p:nvPr/>
          </p:nvSpPr>
          <p:spPr>
            <a:xfrm>
              <a:off x="602742" y="301625"/>
              <a:ext cx="417422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GB" sz="1350" b="1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03 / GENERALISABILITY · WHAT THIS LIMITS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11082270" y="314325"/>
              <a:ext cx="50622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GB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16 / 17</a:t>
              </a:r>
            </a:p>
          </p:txBody>
        </p:sp>
      </p:grpSp>
      <p:grpSp>
        <p:nvGrpSpPr>
          <p:cNvPr id="6" name="scene-heading"/>
          <p:cNvGrpSpPr/>
          <p:nvPr/>
        </p:nvGrpSpPr>
        <p:grpSpPr>
          <a:xfrm>
            <a:off x="590550" y="841375"/>
            <a:ext cx="7781369" cy="933450"/>
            <a:chOff x="590550" y="841375"/>
            <a:chExt cx="7781369" cy="933450"/>
          </a:xfrm>
        </p:grpSpPr>
        <p:sp>
          <p:nvSpPr>
            <p:cNvPr id="5" name="TextBox 5"/>
            <p:cNvSpPr txBox="1"/>
            <p:nvPr/>
          </p:nvSpPr>
          <p:spPr>
            <a:xfrm>
              <a:off x="590550" y="841375"/>
              <a:ext cx="7781369" cy="9334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GB" sz="4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Same benefit elsewhere?</a:t>
              </a:r>
            </a:p>
          </p:txBody>
        </p:sp>
      </p:grpSp>
      <p:grpSp>
        <p:nvGrpSpPr>
          <p:cNvPr id="17" name="!!study-hospital"/>
          <p:cNvGrpSpPr/>
          <p:nvPr/>
        </p:nvGrpSpPr>
        <p:grpSpPr>
          <a:xfrm>
            <a:off x="609600" y="2352675"/>
            <a:ext cx="2768834" cy="857250"/>
            <a:chOff x="609600" y="2352675"/>
            <a:chExt cx="2768834" cy="857250"/>
          </a:xfrm>
        </p:grpSpPr>
        <p:sp>
          <p:nvSpPr>
            <p:cNvPr id="7" name="Rectangle 7"/>
            <p:cNvSpPr/>
            <p:nvPr/>
          </p:nvSpPr>
          <p:spPr>
            <a:xfrm>
              <a:off x="609600" y="2352675"/>
              <a:ext cx="708660" cy="857250"/>
            </a:xfrm>
            <a:prstGeom prst="roundRect">
              <a:avLst>
                <a:gd name="adj" fmla="val 9677"/>
              </a:avLst>
            </a:prstGeom>
            <a:noFill/>
            <a:ln w="28575">
              <a:solidFill>
                <a:schemeClr val="accent3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906780" y="2438400"/>
              <a:ext cx="114300" cy="314325"/>
            </a:xfrm>
            <a:prstGeom prst="roundRect">
              <a:avLst>
                <a:gd name="adj" fmla="val 15000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809625" y="2535555"/>
              <a:ext cx="308610" cy="114300"/>
            </a:xfrm>
            <a:prstGeom prst="roundRect">
              <a:avLst>
                <a:gd name="adj" fmla="val 15000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0" name="Rectangle 10"/>
            <p:cNvSpPr/>
            <p:nvPr/>
          </p:nvSpPr>
          <p:spPr>
            <a:xfrm>
              <a:off x="723900" y="2849880"/>
              <a:ext cx="102870" cy="114300"/>
            </a:xfrm>
            <a:prstGeom prst="roundRect">
              <a:avLst>
                <a:gd name="adj" fmla="val 16667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1" name="Rectangle 11"/>
            <p:cNvSpPr/>
            <p:nvPr/>
          </p:nvSpPr>
          <p:spPr>
            <a:xfrm>
              <a:off x="723900" y="3027045"/>
              <a:ext cx="102870" cy="114300"/>
            </a:xfrm>
            <a:prstGeom prst="roundRect">
              <a:avLst>
                <a:gd name="adj" fmla="val 16667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2" name="Rectangle 12"/>
            <p:cNvSpPr/>
            <p:nvPr/>
          </p:nvSpPr>
          <p:spPr>
            <a:xfrm>
              <a:off x="912495" y="2849880"/>
              <a:ext cx="102870" cy="114300"/>
            </a:xfrm>
            <a:prstGeom prst="roundRect">
              <a:avLst>
                <a:gd name="adj" fmla="val 16667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3" name="Rectangle 13"/>
            <p:cNvSpPr/>
            <p:nvPr/>
          </p:nvSpPr>
          <p:spPr>
            <a:xfrm>
              <a:off x="912495" y="3027045"/>
              <a:ext cx="102870" cy="114300"/>
            </a:xfrm>
            <a:prstGeom prst="roundRect">
              <a:avLst>
                <a:gd name="adj" fmla="val 16667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4" name="Rectangle 14"/>
            <p:cNvSpPr/>
            <p:nvPr/>
          </p:nvSpPr>
          <p:spPr>
            <a:xfrm>
              <a:off x="1101090" y="2849880"/>
              <a:ext cx="102870" cy="114300"/>
            </a:xfrm>
            <a:prstGeom prst="roundRect">
              <a:avLst>
                <a:gd name="adj" fmla="val 16667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1101090" y="3027045"/>
              <a:ext cx="102870" cy="114300"/>
            </a:xfrm>
            <a:prstGeom prst="roundRect">
              <a:avLst>
                <a:gd name="adj" fmla="val 16667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1619631" y="2403475"/>
              <a:ext cx="1758803" cy="68541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625"/>
                </a:lnSpc>
              </a:pPr>
              <a:r>
                <a:rPr lang="en-GB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Selected people</a:t>
              </a:r>
              <a:br>
                <a:rPr lang="en-GB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</a:br>
              <a:r>
                <a:rPr lang="en-GB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One hospital</a:t>
              </a:r>
            </a:p>
          </p:txBody>
        </p:sp>
      </p:grpSp>
      <p:grpSp>
        <p:nvGrpSpPr>
          <p:cNvPr id="19" name="!!workshops"/>
          <p:cNvGrpSpPr/>
          <p:nvPr/>
        </p:nvGrpSpPr>
        <p:grpSpPr>
          <a:xfrm>
            <a:off x="598170" y="3702050"/>
            <a:ext cx="1874397" cy="440055"/>
            <a:chOff x="598170" y="3702050"/>
            <a:chExt cx="1874397" cy="440055"/>
          </a:xfrm>
        </p:grpSpPr>
        <p:sp>
          <p:nvSpPr>
            <p:cNvPr id="18" name="TextBox 18"/>
            <p:cNvSpPr txBox="1"/>
            <p:nvPr/>
          </p:nvSpPr>
          <p:spPr>
            <a:xfrm>
              <a:off x="598170" y="3702050"/>
              <a:ext cx="1874397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GB" sz="22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7 workshops</a:t>
              </a:r>
            </a:p>
          </p:txBody>
        </p:sp>
      </p:grpSp>
      <p:grpSp>
        <p:nvGrpSpPr>
          <p:cNvPr id="21" name="!!app-coaching"/>
          <p:cNvGrpSpPr/>
          <p:nvPr/>
        </p:nvGrpSpPr>
        <p:grpSpPr>
          <a:xfrm>
            <a:off x="600456" y="4486275"/>
            <a:ext cx="2443660" cy="352044"/>
            <a:chOff x="600456" y="4486275"/>
            <a:chExt cx="2443660" cy="352044"/>
          </a:xfrm>
        </p:grpSpPr>
        <p:sp>
          <p:nvSpPr>
            <p:cNvPr id="20" name="TextBox 20"/>
            <p:cNvSpPr txBox="1"/>
            <p:nvPr/>
          </p:nvSpPr>
          <p:spPr>
            <a:xfrm>
              <a:off x="600456" y="4486275"/>
              <a:ext cx="244366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GB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App + dietitian support</a:t>
              </a:r>
            </a:p>
          </p:txBody>
        </p:sp>
      </p:grpSp>
      <p:grpSp>
        <p:nvGrpSpPr>
          <p:cNvPr id="25" name="transfer-bridge"/>
          <p:cNvGrpSpPr/>
          <p:nvPr/>
        </p:nvGrpSpPr>
        <p:grpSpPr>
          <a:xfrm>
            <a:off x="4352925" y="3267075"/>
            <a:ext cx="2257425" cy="936625"/>
            <a:chOff x="4352925" y="3267075"/>
            <a:chExt cx="2257425" cy="936625"/>
          </a:xfrm>
        </p:grpSpPr>
        <p:sp>
          <p:nvSpPr>
            <p:cNvPr id="22" name="Line 22"/>
            <p:cNvSpPr/>
            <p:nvPr/>
          </p:nvSpPr>
          <p:spPr>
            <a:xfrm>
              <a:off x="4352925" y="3638550"/>
              <a:ext cx="2257425" cy="1"/>
            </a:xfrm>
            <a:prstGeom prst="line">
              <a:avLst/>
            </a:prstGeom>
            <a:noFill/>
            <a:ln w="28575" cap="rnd">
              <a:solidFill>
                <a:schemeClr val="accent2"/>
              </a:solidFill>
              <a:custDash>
                <a:ds d="200000" sp="166667"/>
              </a:custDash>
              <a:tailEnd type="triangle" w="lg" len="lg"/>
            </a:ln>
          </p:spPr>
        </p:sp>
        <p:sp>
          <p:nvSpPr>
            <p:cNvPr id="23" name="Ellipse 23"/>
            <p:cNvSpPr/>
            <p:nvPr/>
          </p:nvSpPr>
          <p:spPr>
            <a:xfrm>
              <a:off x="5067300" y="3267075"/>
              <a:ext cx="742950" cy="742950"/>
            </a:xfrm>
            <a:prstGeom prst="ellipse">
              <a:avLst/>
            </a:prstGeom>
            <a:solidFill>
              <a:schemeClr val="lt1"/>
            </a:solidFill>
            <a:ln w="19050">
              <a:solidFill>
                <a:schemeClr val="accent2"/>
              </a:solidFill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5222383" y="3270250"/>
              <a:ext cx="432784" cy="9334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GB" sz="48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?</a:t>
              </a:r>
            </a:p>
          </p:txBody>
        </p:sp>
      </p:grpSp>
      <p:grpSp>
        <p:nvGrpSpPr>
          <p:cNvPr id="32" name="!!wider-world"/>
          <p:cNvGrpSpPr/>
          <p:nvPr/>
        </p:nvGrpSpPr>
        <p:grpSpPr>
          <a:xfrm>
            <a:off x="8037980" y="2238375"/>
            <a:ext cx="2669241" cy="3018155"/>
            <a:chOff x="8037980" y="2238375"/>
            <a:chExt cx="2669241" cy="3018155"/>
          </a:xfrm>
        </p:grpSpPr>
        <p:sp>
          <p:nvSpPr>
            <p:cNvPr id="26" name="Ellipse 26"/>
            <p:cNvSpPr/>
            <p:nvPr/>
          </p:nvSpPr>
          <p:spPr>
            <a:xfrm>
              <a:off x="8534400" y="2238375"/>
              <a:ext cx="1676400" cy="1676400"/>
            </a:xfrm>
            <a:prstGeom prst="ellipse">
              <a:avLst/>
            </a:prstGeom>
            <a:noFill/>
            <a:ln w="28575">
              <a:solidFill>
                <a:schemeClr val="accent3"/>
              </a:solidFill>
            </a:ln>
          </p:spPr>
        </p:sp>
        <p:sp>
          <p:nvSpPr>
            <p:cNvPr id="27" name="Ellipse 27"/>
            <p:cNvSpPr/>
            <p:nvPr/>
          </p:nvSpPr>
          <p:spPr>
            <a:xfrm>
              <a:off x="8995410" y="2238375"/>
              <a:ext cx="754380" cy="1676400"/>
            </a:xfrm>
            <a:prstGeom prst="ellipse">
              <a:avLst/>
            </a:prstGeom>
            <a:noFill/>
            <a:ln w="19050">
              <a:solidFill>
                <a:schemeClr val="accent3"/>
              </a:solidFill>
            </a:ln>
          </p:spPr>
        </p:sp>
        <p:sp>
          <p:nvSpPr>
            <p:cNvPr id="28" name="Ellipse 28"/>
            <p:cNvSpPr/>
            <p:nvPr/>
          </p:nvSpPr>
          <p:spPr>
            <a:xfrm>
              <a:off x="8534400" y="2762250"/>
              <a:ext cx="1676400" cy="628650"/>
            </a:xfrm>
            <a:prstGeom prst="ellipse">
              <a:avLst/>
            </a:prstGeom>
            <a:noFill/>
            <a:ln w="19050">
              <a:solidFill>
                <a:schemeClr val="accent3"/>
              </a:solidFill>
            </a:ln>
          </p:spPr>
        </p:sp>
        <p:sp>
          <p:nvSpPr>
            <p:cNvPr id="29" name="Line 29"/>
            <p:cNvSpPr/>
            <p:nvPr/>
          </p:nvSpPr>
          <p:spPr>
            <a:xfrm>
              <a:off x="8534400" y="3076575"/>
              <a:ext cx="1676400" cy="9525"/>
            </a:xfrm>
            <a:custGeom>
              <a:avLst/>
              <a:gdLst/>
              <a:ahLst/>
              <a:cxnLst/>
              <a:rect l="l" t="t" r="r" b="b"/>
              <a:pathLst>
                <a:path w="1676400" h="9525">
                  <a:moveTo>
                    <a:pt x="0" y="0"/>
                  </a:moveTo>
                  <a:lnTo>
                    <a:pt x="1676400" y="0"/>
                  </a:lnTo>
                </a:path>
              </a:pathLst>
            </a:custGeom>
            <a:noFill/>
            <a:ln w="19050" cap="rnd">
              <a:solidFill>
                <a:schemeClr val="accent3"/>
              </a:solidFill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8037980" y="4213225"/>
              <a:ext cx="2669241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GB" sz="30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Other adults?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8404881" y="4816475"/>
              <a:ext cx="1935438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GB" sz="22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Less support?</a:t>
              </a:r>
            </a:p>
          </p:txBody>
        </p:sp>
      </p:grpSp>
      <p:grpSp>
        <p:nvGrpSpPr>
          <p:cNvPr id="34" name="scene-conclusion"/>
          <p:cNvGrpSpPr/>
          <p:nvPr/>
        </p:nvGrpSpPr>
        <p:grpSpPr>
          <a:xfrm>
            <a:off x="3075653" y="5724525"/>
            <a:ext cx="6040694" cy="352044"/>
            <a:chOff x="3075653" y="5724525"/>
            <a:chExt cx="6040694" cy="352044"/>
          </a:xfrm>
        </p:grpSpPr>
        <p:sp>
          <p:nvSpPr>
            <p:cNvPr id="33" name="TextBox 33"/>
            <p:cNvSpPr txBox="1"/>
            <p:nvPr/>
          </p:nvSpPr>
          <p:spPr>
            <a:xfrm>
              <a:off x="3075653" y="5724525"/>
              <a:ext cx="604069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GB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Applicability is untested. That does not mean no benefit.</a:t>
              </a:r>
            </a:p>
          </p:txBody>
        </p:sp>
      </p:grpSp>
      <p:sp>
        <p:nvSpPr>
          <p:cNvPr id="35" name="TextBox 35"/>
          <p:cNvSpPr txBox="1"/>
          <p:nvPr/>
        </p:nvSpPr>
        <p:spPr>
          <a:xfrm>
            <a:off x="603504" y="6467475"/>
            <a:ext cx="6896023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GB" sz="120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The dashed bridge asks about transfer across people and settings; it is not a biological pathway.</a:t>
            </a:r>
          </a:p>
        </p:txBody>
      </p:sp>
    </p:spTree>
  </p:cSld>
  <p:clrMapOvr>
    <a:masterClrMapping/>
  </p:clrMapOvr>
  <mc:AlternateContent>
    <mc:Choice Requires="p159">
      <p:transition p14:dur="1300">
        <p159:morph option="byObject"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8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50"/>
                            </p:stCondLst>
                            <p:childTnLst>
                              <p:par>
                                <p:cTn id="9" presetID="53" presetClass="entr" presetSubtype="16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9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9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9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mc="http://schemas.openxmlformats.org/markup-compatibility/2006" xmlns:p="http://schemas.openxmlformats.org/presentationml/2006/main" xmlns:p14="http://schemas.microsoft.com/office/powerpoint/2010/main" xmlns:p159="http://schemas.microsoft.com/office/powerpoint/2015/09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chapter-chrome"/>
          <p:cNvGrpSpPr/>
          <p:nvPr/>
        </p:nvGrpSpPr>
        <p:grpSpPr>
          <a:xfrm>
            <a:off x="602742" y="301625"/>
            <a:ext cx="10985754" cy="264033"/>
            <a:chOff x="602742" y="301625"/>
            <a:chExt cx="10985754" cy="264033"/>
          </a:xfrm>
        </p:grpSpPr>
        <p:sp>
          <p:nvSpPr>
            <p:cNvPr id="2" name="TextBox 2"/>
            <p:cNvSpPr txBox="1"/>
            <p:nvPr/>
          </p:nvSpPr>
          <p:spPr>
            <a:xfrm>
              <a:off x="602742" y="301625"/>
              <a:ext cx="331026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GB" sz="1350" b="1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STUDY DESIGN · THE EVALUATION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11082270" y="314325"/>
              <a:ext cx="50622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GB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17 / 17</a:t>
              </a:r>
            </a:p>
          </p:txBody>
        </p:sp>
      </p:grpSp>
      <p:grpSp>
        <p:nvGrpSpPr>
          <p:cNvPr id="6" name="scene-heading"/>
          <p:cNvGrpSpPr/>
          <p:nvPr/>
        </p:nvGrpSpPr>
        <p:grpSpPr>
          <a:xfrm>
            <a:off x="590550" y="841375"/>
            <a:ext cx="9235747" cy="933450"/>
            <a:chOff x="590550" y="841375"/>
            <a:chExt cx="9235747" cy="933450"/>
          </a:xfrm>
        </p:grpSpPr>
        <p:sp>
          <p:nvSpPr>
            <p:cNvPr id="5" name="TextBox 5"/>
            <p:cNvSpPr txBox="1"/>
            <p:nvPr/>
          </p:nvSpPr>
          <p:spPr>
            <a:xfrm>
              <a:off x="590550" y="841375"/>
              <a:ext cx="9235747" cy="9334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GB" sz="4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Three limits. Three questions.</a:t>
              </a:r>
            </a:p>
          </p:txBody>
        </p:sp>
      </p:grpSp>
      <p:grpSp>
        <p:nvGrpSpPr>
          <p:cNvPr id="10" name="mechanism-question"/>
          <p:cNvGrpSpPr/>
          <p:nvPr/>
        </p:nvGrpSpPr>
        <p:grpSpPr>
          <a:xfrm>
            <a:off x="1595782" y="2390775"/>
            <a:ext cx="1380437" cy="2618994"/>
            <a:chOff x="1595782" y="2390775"/>
            <a:chExt cx="1380437" cy="2618994"/>
          </a:xfrm>
        </p:grpSpPr>
        <p:sp>
          <p:nvSpPr>
            <p:cNvPr id="7" name="TextBox 7"/>
            <p:cNvSpPr txBox="1"/>
            <p:nvPr/>
          </p:nvSpPr>
          <p:spPr>
            <a:xfrm>
              <a:off x="1872266" y="2390775"/>
              <a:ext cx="827469" cy="18478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GB" sz="96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?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595782" y="3889375"/>
              <a:ext cx="1380437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GB" sz="36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Why?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653479" y="4657725"/>
              <a:ext cx="126504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GB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Mechanism</a:t>
              </a:r>
            </a:p>
          </p:txBody>
        </p:sp>
      </p:grpSp>
      <p:grpSp>
        <p:nvGrpSpPr>
          <p:cNvPr id="15" name="estimate-question"/>
          <p:cNvGrpSpPr/>
          <p:nvPr/>
        </p:nvGrpSpPr>
        <p:grpSpPr>
          <a:xfrm>
            <a:off x="4761177" y="2473642"/>
            <a:ext cx="2669646" cy="2536127"/>
            <a:chOff x="4761177" y="2473642"/>
            <a:chExt cx="2669646" cy="2536127"/>
          </a:xfrm>
        </p:grpSpPr>
        <p:sp>
          <p:nvSpPr>
            <p:cNvPr id="11" name="Ellipse 11"/>
            <p:cNvSpPr/>
            <p:nvPr/>
          </p:nvSpPr>
          <p:spPr>
            <a:xfrm>
              <a:off x="5941695" y="2473642"/>
              <a:ext cx="308610" cy="308610"/>
            </a:xfrm>
            <a:prstGeom prst="ellipse">
              <a:avLst/>
            </a:prstGeom>
            <a:noFill/>
            <a:ln w="13335">
              <a:solidFill>
                <a:schemeClr val="accent2"/>
              </a:solidFill>
            </a:ln>
          </p:spPr>
        </p:sp>
        <p:sp>
          <p:nvSpPr>
            <p:cNvPr id="12" name="Rectangle 12"/>
            <p:cNvSpPr/>
            <p:nvPr/>
          </p:nvSpPr>
          <p:spPr>
            <a:xfrm>
              <a:off x="5915978" y="2910840"/>
              <a:ext cx="360045" cy="617220"/>
            </a:xfrm>
            <a:prstGeom prst="roundRect">
              <a:avLst>
                <a:gd name="adj" fmla="val 42857"/>
              </a:avLst>
            </a:prstGeom>
            <a:noFill/>
            <a:ln w="13335">
              <a:solidFill>
                <a:schemeClr val="accent2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4761177" y="3965575"/>
              <a:ext cx="2669646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GB" sz="30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How reliable?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5113545" y="4657725"/>
              <a:ext cx="196491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GB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Missing outcomes</a:t>
              </a:r>
            </a:p>
          </p:txBody>
        </p:sp>
      </p:grpSp>
      <p:grpSp>
        <p:nvGrpSpPr>
          <p:cNvPr id="22" name="!!wider-world"/>
          <p:cNvGrpSpPr/>
          <p:nvPr/>
        </p:nvGrpSpPr>
        <p:grpSpPr>
          <a:xfrm>
            <a:off x="8793963" y="2447925"/>
            <a:ext cx="2224073" cy="2561844"/>
            <a:chOff x="8793963" y="2447925"/>
            <a:chExt cx="2224073" cy="2561844"/>
          </a:xfrm>
        </p:grpSpPr>
        <p:sp>
          <p:nvSpPr>
            <p:cNvPr id="16" name="Ellipse 16"/>
            <p:cNvSpPr/>
            <p:nvPr/>
          </p:nvSpPr>
          <p:spPr>
            <a:xfrm>
              <a:off x="9334500" y="2447925"/>
              <a:ext cx="1143000" cy="1143000"/>
            </a:xfrm>
            <a:prstGeom prst="ellipse">
              <a:avLst/>
            </a:prstGeom>
            <a:noFill/>
            <a:ln w="28575">
              <a:solidFill>
                <a:schemeClr val="accent3"/>
              </a:solidFill>
            </a:ln>
          </p:spPr>
        </p:sp>
        <p:sp>
          <p:nvSpPr>
            <p:cNvPr id="17" name="Ellipse 17"/>
            <p:cNvSpPr/>
            <p:nvPr/>
          </p:nvSpPr>
          <p:spPr>
            <a:xfrm>
              <a:off x="9648825" y="2447925"/>
              <a:ext cx="514350" cy="1143000"/>
            </a:xfrm>
            <a:prstGeom prst="ellipse">
              <a:avLst/>
            </a:prstGeom>
            <a:noFill/>
            <a:ln w="19050">
              <a:solidFill>
                <a:schemeClr val="accent3"/>
              </a:solidFill>
            </a:ln>
          </p:spPr>
        </p:sp>
        <p:sp>
          <p:nvSpPr>
            <p:cNvPr id="18" name="Ellipse 18"/>
            <p:cNvSpPr/>
            <p:nvPr/>
          </p:nvSpPr>
          <p:spPr>
            <a:xfrm>
              <a:off x="9334500" y="2805112"/>
              <a:ext cx="1143000" cy="428625"/>
            </a:xfrm>
            <a:prstGeom prst="ellipse">
              <a:avLst/>
            </a:prstGeom>
            <a:noFill/>
            <a:ln w="19050">
              <a:solidFill>
                <a:schemeClr val="accent3"/>
              </a:solidFill>
            </a:ln>
          </p:spPr>
        </p:sp>
        <p:sp>
          <p:nvSpPr>
            <p:cNvPr id="19" name="Line 19"/>
            <p:cNvSpPr/>
            <p:nvPr/>
          </p:nvSpPr>
          <p:spPr>
            <a:xfrm>
              <a:off x="9334500" y="3019425"/>
              <a:ext cx="1143000" cy="9525"/>
            </a:xfrm>
            <a:custGeom>
              <a:avLst/>
              <a:gdLst/>
              <a:ahLst/>
              <a:cxnLst/>
              <a:rect l="l" t="t" r="r" b="b"/>
              <a:pathLst>
                <a:path w="1143000" h="9525">
                  <a:moveTo>
                    <a:pt x="0" y="0"/>
                  </a:moveTo>
                  <a:lnTo>
                    <a:pt x="1143000" y="0"/>
                  </a:lnTo>
                </a:path>
              </a:pathLst>
            </a:custGeom>
            <a:noFill/>
            <a:ln w="19050" cap="rnd">
              <a:solidFill>
                <a:schemeClr val="accent3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8793963" y="3965575"/>
              <a:ext cx="2224073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GB" sz="30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For whom?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9065593" y="4657725"/>
              <a:ext cx="168081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GB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Generalisability</a:t>
              </a:r>
            </a:p>
          </p:txBody>
        </p:sp>
      </p:grpSp>
      <p:grpSp>
        <p:nvGrpSpPr>
          <p:cNvPr id="24" name="scene-conclusion"/>
          <p:cNvGrpSpPr/>
          <p:nvPr/>
        </p:nvGrpSpPr>
        <p:grpSpPr>
          <a:xfrm>
            <a:off x="2577304" y="5724525"/>
            <a:ext cx="7037393" cy="352044"/>
            <a:chOff x="2577304" y="5724525"/>
            <a:chExt cx="7037393" cy="352044"/>
          </a:xfrm>
        </p:grpSpPr>
        <p:sp>
          <p:nvSpPr>
            <p:cNvPr id="23" name="TextBox 23"/>
            <p:cNvSpPr txBox="1"/>
            <p:nvPr/>
          </p:nvSpPr>
          <p:spPr>
            <a:xfrm>
              <a:off x="2577304" y="5724525"/>
              <a:ext cx="703739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GB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 useful programme comparison. Carefully bounded conclusions.</a:t>
              </a:r>
            </a:p>
          </p:txBody>
        </p:sp>
      </p:grpSp>
      <p:sp>
        <p:nvSpPr>
          <p:cNvPr id="25" name="TextBox 25"/>
          <p:cNvSpPr txBox="1"/>
          <p:nvPr/>
        </p:nvSpPr>
        <p:spPr>
          <a:xfrm>
            <a:off x="603504" y="6467475"/>
            <a:ext cx="4764717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GB" sz="120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Lim SL et al. (2024), Nutrients 16:4380 · doi:10.3390/nu16244380</a:t>
            </a:r>
          </a:p>
        </p:txBody>
      </p:sp>
    </p:spTree>
  </p:cSld>
  <p:clrMapOvr>
    <a:masterClrMapping/>
  </p:clrMapOvr>
  <mc:AlternateContent>
    <mc:Choice Requires="p159">
      <p:transition p14:dur="1200">
        <p159:morph option="byObject"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"/>
                            </p:stCondLst>
                            <p:childTnLst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6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weight_loss_keynote">
  <a:themeElements>
    <a:clrScheme name="weight_loss_keynote">
      <a:dk1>
        <a:srgbClr val="F5F5F7"/>
      </a:dk1>
      <a:lt1>
        <a:srgbClr val="050507"/>
      </a:lt1>
      <a:dk2>
        <a:srgbClr val="1F497D"/>
      </a:dk2>
      <a:lt2>
        <a:srgbClr val="18181C"/>
      </a:lt2>
      <a:accent1>
        <a:srgbClr val="F5F5F7"/>
      </a:accent1>
      <a:accent2>
        <a:srgbClr val="BF91FF"/>
      </a:accent2>
      <a:accent3>
        <a:srgbClr val="64D2FF"/>
      </a:accent3>
      <a:accent4>
        <a:srgbClr val="F5F5F7"/>
      </a:accent4>
      <a:accent5>
        <a:srgbClr val="A1A1AA"/>
      </a:accent5>
      <a:accent6>
        <a:srgbClr val="45454D"/>
      </a:accent6>
      <a:hlink>
        <a:srgbClr val="BF91FF"/>
      </a:hlink>
      <a:folHlink>
        <a:srgbClr val="64D2FF"/>
      </a:folHlink>
    </a:clrScheme>
    <a:fontScheme name="weight_loss_keynote">
      <a:maj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eight_loss_keyno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weight_loss_keynote">
  <a:themeElements>
    <a:clrScheme name="weight_loss_keynote">
      <a:dk1>
        <a:srgbClr val="F5F5F7"/>
      </a:dk1>
      <a:lt1>
        <a:srgbClr val="050507"/>
      </a:lt1>
      <a:dk2>
        <a:srgbClr val="1F497D"/>
      </a:dk2>
      <a:lt2>
        <a:srgbClr val="18181C"/>
      </a:lt2>
      <a:accent1>
        <a:srgbClr val="F5F5F7"/>
      </a:accent1>
      <a:accent2>
        <a:srgbClr val="BF91FF"/>
      </a:accent2>
      <a:accent3>
        <a:srgbClr val="64D2FF"/>
      </a:accent3>
      <a:accent4>
        <a:srgbClr val="F5F5F7"/>
      </a:accent4>
      <a:accent5>
        <a:srgbClr val="A1A1AA"/>
      </a:accent5>
      <a:accent6>
        <a:srgbClr val="45454D"/>
      </a:accent6>
      <a:hlink>
        <a:srgbClr val="BF91FF"/>
      </a:hlink>
      <a:folHlink>
        <a:srgbClr val="64D2FF"/>
      </a:folHlink>
    </a:clrScheme>
    <a:fontScheme name="weight_loss_keynote">
      <a:maj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eight_loss_keyno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17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>en-GB</dc:language>
  <cp:lastModifiedBy/>
  <cp:revision>1</cp:revision>
  <dcterms:created xsi:type="dcterms:W3CDTF">2026-10-27T09:38:52Z</dcterms:created>
  <dcterms:modified xsi:type="dcterms:W3CDTF">2026-10-27T09:38:52Z</dcterms:modified>
  <cp:category/>
  <cp:contentStatus/>
</cp:coreProperties>
</file>