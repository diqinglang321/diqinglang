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16x9"/>
  <p:notesSz cx="6858000" cy="9144000"/>
  <p:defaultTextStyle>
    <a:defPPr>
      <a:defRPr lang="en-GB"/>
    </a:defPPr>
    <a:lvl1pPr marL="0" algn="l" defTabSz="457200" rtl="0" eaLnBrk="1" latinLnBrk="0" hangingPunct="1">
      <a:defRPr sz="1800" kern="1200" lang="en-GB">
        <a:solidFill>
          <a:schemeClr val="tx1"/>
        </a:solidFill>
        <a:latin typeface="+mn-lt"/>
        <a:ea typeface="+mn-ea"/>
        <a:cs typeface="+mn-cs"/>
      </a:defRPr>
    </a:lvl1pPr>
    <a:lvl2pPr marL="457200" algn="l" defTabSz="457200" rtl="0" eaLnBrk="1" latinLnBrk="0" hangingPunct="1">
      <a:defRPr sz="1800" kern="1200" lang="en-GB">
        <a:solidFill>
          <a:schemeClr val="tx1"/>
        </a:solidFill>
        <a:latin typeface="+mn-lt"/>
        <a:ea typeface="+mn-ea"/>
        <a:cs typeface="+mn-cs"/>
      </a:defRPr>
    </a:lvl2pPr>
    <a:lvl3pPr marL="914400" algn="l" defTabSz="457200" rtl="0" eaLnBrk="1" latinLnBrk="0" hangingPunct="1">
      <a:defRPr sz="1800" kern="1200" lang="en-GB">
        <a:solidFill>
          <a:schemeClr val="tx1"/>
        </a:solidFill>
        <a:latin typeface="+mn-lt"/>
        <a:ea typeface="+mn-ea"/>
        <a:cs typeface="+mn-cs"/>
      </a:defRPr>
    </a:lvl3pPr>
    <a:lvl4pPr marL="1371600" algn="l" defTabSz="457200" rtl="0" eaLnBrk="1" latinLnBrk="0" hangingPunct="1">
      <a:defRPr sz="1800" kern="1200" lang="en-GB">
        <a:solidFill>
          <a:schemeClr val="tx1"/>
        </a:solidFill>
        <a:latin typeface="+mn-lt"/>
        <a:ea typeface="+mn-ea"/>
        <a:cs typeface="+mn-cs"/>
      </a:defRPr>
    </a:lvl4pPr>
    <a:lvl5pPr marL="1828800" algn="l" defTabSz="457200" rtl="0" eaLnBrk="1" latinLnBrk="0" hangingPunct="1">
      <a:defRPr sz="1800" kern="1200" lang="en-GB">
        <a:solidFill>
          <a:schemeClr val="tx1"/>
        </a:solidFill>
        <a:latin typeface="+mn-lt"/>
        <a:ea typeface="+mn-ea"/>
        <a:cs typeface="+mn-cs"/>
      </a:defRPr>
    </a:lvl5pPr>
    <a:lvl6pPr marL="2286000" algn="l" defTabSz="457200" rtl="0" eaLnBrk="1" latinLnBrk="0" hangingPunct="1">
      <a:defRPr sz="1800" kern="1200" lang="en-GB">
        <a:solidFill>
          <a:schemeClr val="tx1"/>
        </a:solidFill>
        <a:latin typeface="+mn-lt"/>
        <a:ea typeface="+mn-ea"/>
        <a:cs typeface="+mn-cs"/>
      </a:defRPr>
    </a:lvl6pPr>
    <a:lvl7pPr marL="2743200" algn="l" defTabSz="457200" rtl="0" eaLnBrk="1" latinLnBrk="0" hangingPunct="1">
      <a:defRPr sz="1800" kern="1200" lang="en-GB">
        <a:solidFill>
          <a:schemeClr val="tx1"/>
        </a:solidFill>
        <a:latin typeface="+mn-lt"/>
        <a:ea typeface="+mn-ea"/>
        <a:cs typeface="+mn-cs"/>
      </a:defRPr>
    </a:lvl7pPr>
    <a:lvl8pPr marL="3200400" algn="l" defTabSz="457200" rtl="0" eaLnBrk="1" latinLnBrk="0" hangingPunct="1">
      <a:defRPr sz="1800" kern="1200" lang="en-GB">
        <a:solidFill>
          <a:schemeClr val="tx1"/>
        </a:solidFill>
        <a:latin typeface="+mn-lt"/>
        <a:ea typeface="+mn-ea"/>
        <a:cs typeface="+mn-cs"/>
      </a:defRPr>
    </a:lvl8pPr>
    <a:lvl9pPr marL="3657600" algn="l" defTabSz="457200" rtl="0" eaLnBrk="1" latinLnBrk="0" hangingPunct="1">
      <a:defRPr sz="1800" kern="1200" lang="en-GB">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GB"/>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GB"/>
          </a:p>
        </p:txBody>
      </p:sp>
    </p:spTree>
  </p:cSld>
  <p:clrMap bg1="lt1" tx1="dk1" bg2="lt2" tx2="dk2" accent1="accent1" accent2="accent2" accent3="accent3" accent4="accent4" accent5="accent5" accent6="accent6" hlink="hlink" folHlink="folHlink"/>
  <p:hf/>
  <p:notesStyle>
    <a:lvl1pPr marL="0" algn="l">
      <a:defRPr sz="1200" lang="en-GB"/>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Four features strengthen the comparison. Stratified randomisation helps balance sex and BMI. Concealed allocation reduces the opportunity to select participants knowing their next group. Shared workshops and coaching make unequal attention a less likely explanation. Calibrated weighing reduces reliance on participants’ own weight reports.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Both groups received energy-restriction advice; HKD additionally restricted carbohydrates. But actual calorie intake was not experimentally matched. At six months, reported calorie intake had fallen more in HKD.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So two things changed: diet composition and reported calorie intake. Greater weight loss could involve either, or both. Their separate contributions were not experimentally isolated.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If HKD helps people eat less, that is a programme benefit. But this study cannot show a ketosis-specific advantage independent of calories.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HKD prescribed fifty grams or less of net carbohydrate daily. Food diaries describe reported intake, but they cannot establish who achieved sustained nutritional ketosis.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No objective ketone verification was reported. Weight loss cannot confirm ketosis either, because lower calorie intake can also cause it. These explanations could overlap.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Now consider follow-up: eighty participants entered.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Fifty-nine completed six-month measurements; twenty-one weights were unavailable. Missing measurement does not mean someone stopped following the diet.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In HKD, twelve of forty-one participants lacked six-month measurements. They could have lost less, the same, or more weight than those measured. Their unknown outcomes might therefore change the group estimate.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For example, if poorer HKD responders were missing, the measured group could look more successful. Other missingness patterns could shrink the advantage. This is potential attrition bias, not an established explanation of these departures. The report does not clearly explain how missing outcomes were handled.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Strong features support the programme comparison; unverified mechanisms and missing outcomes limit how confidently we explain its advantage.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weight_loss_design_critiqu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GB" smtClean="0"/>
              <a:t>1/27/13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1FF6DA9-008F-8B48-92A6-B652298478BF}"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weight_loss_design_critiqu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GB">
                <a:solidFill>
                  <a:schemeClr val="tx1">
                    <a:tint val="75000"/>
                  </a:schemeClr>
                </a:solidFill>
              </a:defRPr>
            </a:lvl1pPr>
          </a:lstStyle>
          <a:p>
            <a:fld id="{5BCAD085-E8A6-8845-BD4E-CB4CCA059FC4}" type="datetimeFigureOut">
              <a:rPr lang="en-GB" smtClean="0"/>
              <a:t>1/27/13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GB">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GB">
                <a:solidFill>
                  <a:schemeClr val="tx1">
                    <a:tint val="75000"/>
                  </a:schemeClr>
                </a:solidFill>
              </a:defRPr>
            </a:lvl1pPr>
          </a:lstStyle>
          <a:p>
            <a:fld id="{C1FF6DA9-008F-8B48-92A6-B652298478BF}"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350" kern="1200" lang="en-GB">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250" kern="1200" lang="en-GB">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lang="en-GB">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950" kern="1200" lang="en-GB">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50" kern="1200" lang="en-GB">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700" kern="1200" lang="en-GB">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50" kern="1200" lang="en-GB">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400" kern="1200" lang="en-GB">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50" kern="1200" lang="en-GB">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100" kern="1200" lang="en-GB">
          <a:solidFill>
            <a:schemeClr val="tx1"/>
          </a:solidFill>
          <a:latin typeface="+mn-lt"/>
          <a:ea typeface="+mn-ea"/>
          <a:cs typeface="+mn-cs"/>
        </a:defRPr>
      </a:lvl9pPr>
    </p:bodyStyle>
    <p:otherStyle>
      <a:defPPr>
        <a:defRPr lang="en-GB"/>
      </a:defPPr>
      <a:lvl1pPr marL="0" algn="l" defTabSz="457200" rtl="0" eaLnBrk="1" latinLnBrk="0" hangingPunct="1">
        <a:defRPr sz="2250" kern="1200" lang="en-GB">
          <a:solidFill>
            <a:schemeClr val="tx1"/>
          </a:solidFill>
          <a:latin typeface="+mn-lt"/>
          <a:ea typeface="+mn-ea"/>
          <a:cs typeface="+mn-cs"/>
        </a:defRPr>
      </a:lvl1pPr>
      <a:lvl2pPr marL="457200" algn="l" defTabSz="457200" rtl="0" eaLnBrk="1" latinLnBrk="0" hangingPunct="1">
        <a:defRPr sz="2100" kern="1200" lang="en-GB">
          <a:solidFill>
            <a:schemeClr val="tx1"/>
          </a:solidFill>
          <a:latin typeface="+mn-lt"/>
          <a:ea typeface="+mn-ea"/>
          <a:cs typeface="+mn-cs"/>
        </a:defRPr>
      </a:lvl2pPr>
      <a:lvl3pPr marL="914400" algn="l" defTabSz="457200" rtl="0" eaLnBrk="1" latinLnBrk="0" hangingPunct="1">
        <a:defRPr sz="1950" kern="1200" lang="en-GB">
          <a:solidFill>
            <a:schemeClr val="tx1"/>
          </a:solidFill>
          <a:latin typeface="+mn-lt"/>
          <a:ea typeface="+mn-ea"/>
          <a:cs typeface="+mn-cs"/>
        </a:defRPr>
      </a:lvl3pPr>
      <a:lvl4pPr marL="1371600" algn="l" defTabSz="457200" rtl="0" eaLnBrk="1" latinLnBrk="0" hangingPunct="1">
        <a:defRPr sz="1850" kern="1200" lang="en-GB">
          <a:solidFill>
            <a:schemeClr val="tx1"/>
          </a:solidFill>
          <a:latin typeface="+mn-lt"/>
          <a:ea typeface="+mn-ea"/>
          <a:cs typeface="+mn-cs"/>
        </a:defRPr>
      </a:lvl4pPr>
      <a:lvl5pPr marL="1828800" algn="l" defTabSz="457200" rtl="0" eaLnBrk="1" latinLnBrk="0" hangingPunct="1">
        <a:defRPr sz="1700" kern="1200" lang="en-GB">
          <a:solidFill>
            <a:schemeClr val="tx1"/>
          </a:solidFill>
          <a:latin typeface="+mn-lt"/>
          <a:ea typeface="+mn-ea"/>
          <a:cs typeface="+mn-cs"/>
        </a:defRPr>
      </a:lvl5pPr>
      <a:lvl6pPr marL="2286000" algn="l" defTabSz="457200" rtl="0" eaLnBrk="1" latinLnBrk="0" hangingPunct="1">
        <a:defRPr sz="1550" kern="1200" lang="en-GB">
          <a:solidFill>
            <a:schemeClr val="tx1"/>
          </a:solidFill>
          <a:latin typeface="+mn-lt"/>
          <a:ea typeface="+mn-ea"/>
          <a:cs typeface="+mn-cs"/>
        </a:defRPr>
      </a:lvl6pPr>
      <a:lvl7pPr marL="2743200" algn="l" defTabSz="457200" rtl="0" eaLnBrk="1" latinLnBrk="0" hangingPunct="1">
        <a:defRPr sz="1400" kern="1200" lang="en-GB">
          <a:solidFill>
            <a:schemeClr val="tx1"/>
          </a:solidFill>
          <a:latin typeface="+mn-lt"/>
          <a:ea typeface="+mn-ea"/>
          <a:cs typeface="+mn-cs"/>
        </a:defRPr>
      </a:lvl7pPr>
      <a:lvl8pPr marL="3200400" algn="l" defTabSz="457200" rtl="0" eaLnBrk="1" latinLnBrk="0" hangingPunct="1">
        <a:defRPr sz="1250" kern="1200" lang="en-GB">
          <a:solidFill>
            <a:schemeClr val="tx1"/>
          </a:solidFill>
          <a:latin typeface="+mn-lt"/>
          <a:ea typeface="+mn-ea"/>
          <a:cs typeface="+mn-cs"/>
        </a:defRPr>
      </a:lvl8pPr>
      <a:lvl9pPr marL="3657600" algn="l" defTabSz="457200" rtl="0" eaLnBrk="1" latinLnBrk="0" hangingPunct="1">
        <a:defRPr sz="1100" kern="1200" lang="en-GB">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4067688"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STRENGTHS · WHY EACH FEATURE HELPS</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01 / 11</a:t>
              </a:r>
            </a:p>
          </p:txBody>
        </p:sp>
      </p:grpSp>
      <p:grpSp>
        <p:nvGrpSpPr>
          <p:cNvPr id="6" name="scene-title"/>
          <p:cNvGrpSpPr/>
          <p:nvPr/>
        </p:nvGrpSpPr>
        <p:grpSpPr>
          <a:xfrm>
            <a:off x="495300" y="609600"/>
            <a:ext cx="8950441" cy="847725"/>
            <a:chOff x="495300" y="609600"/>
            <a:chExt cx="8950441" cy="847725"/>
          </a:xfrm>
        </p:grpSpPr>
        <p:sp>
          <p:nvSpPr>
            <p:cNvPr id="5" name="TextBox 5"/>
            <p:cNvSpPr txBox="1"/>
            <p:nvPr/>
          </p:nvSpPr>
          <p:spPr>
            <a:xfrm>
              <a:off x="495300" y="609600"/>
              <a:ext cx="8950441"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Why this design deserves credit.</a:t>
              </a:r>
            </a:p>
          </p:txBody>
        </p:sp>
      </p:grpSp>
      <p:grpSp>
        <p:nvGrpSpPr>
          <p:cNvPr id="23" name="randomisation-strength"/>
          <p:cNvGrpSpPr/>
          <p:nvPr/>
        </p:nvGrpSpPr>
        <p:grpSpPr>
          <a:xfrm>
            <a:off x="514350" y="1885950"/>
            <a:ext cx="5334000" cy="1924050"/>
            <a:chOff x="514350" y="1885950"/>
            <a:chExt cx="5334000" cy="1924050"/>
          </a:xfrm>
        </p:grpSpPr>
        <p:sp>
          <p:nvSpPr>
            <p:cNvPr id="7" name="Rectangle 7"/>
            <p:cNvSpPr/>
            <p:nvPr/>
          </p:nvSpPr>
          <p:spPr>
            <a:xfrm>
              <a:off x="514350" y="1885950"/>
              <a:ext cx="5334000" cy="1924050"/>
            </a:xfrm>
            <a:prstGeom prst="roundRect">
              <a:avLst>
                <a:gd name="adj" fmla="val 10891"/>
              </a:avLst>
            </a:prstGeom>
            <a:solidFill>
              <a:schemeClr val="lt2"/>
            </a:solidFill>
            <a:ln>
              <a:noFill/>
            </a:ln>
          </p:spPr>
        </p:sp>
        <p:sp>
          <p:nvSpPr>
            <p:cNvPr id="8" name="Ellipse 8"/>
            <p:cNvSpPr/>
            <p:nvPr/>
          </p:nvSpPr>
          <p:spPr>
            <a:xfrm>
              <a:off x="775335" y="2350770"/>
              <a:ext cx="91440" cy="91440"/>
            </a:xfrm>
            <a:prstGeom prst="ellipse">
              <a:avLst/>
            </a:prstGeom>
            <a:solidFill>
              <a:schemeClr val="accent3"/>
            </a:solidFill>
            <a:ln w="15240">
              <a:solidFill>
                <a:schemeClr val="accent3"/>
              </a:solidFill>
            </a:ln>
          </p:spPr>
        </p:sp>
        <p:sp>
          <p:nvSpPr>
            <p:cNvPr id="9" name="Rectangle 9"/>
            <p:cNvSpPr/>
            <p:nvPr/>
          </p:nvSpPr>
          <p:spPr>
            <a:xfrm>
              <a:off x="767715" y="2472690"/>
              <a:ext cx="106680" cy="152400"/>
            </a:xfrm>
            <a:prstGeom prst="roundRect">
              <a:avLst>
                <a:gd name="adj" fmla="val 35714"/>
              </a:avLst>
            </a:prstGeom>
            <a:solidFill>
              <a:schemeClr val="accent3"/>
            </a:solidFill>
            <a:ln w="15240">
              <a:solidFill>
                <a:schemeClr val="accent3"/>
              </a:solidFill>
            </a:ln>
          </p:spPr>
        </p:sp>
        <p:sp>
          <p:nvSpPr>
            <p:cNvPr id="10" name="Ellipse 10"/>
            <p:cNvSpPr/>
            <p:nvPr/>
          </p:nvSpPr>
          <p:spPr>
            <a:xfrm>
              <a:off x="775335" y="2874645"/>
              <a:ext cx="91440" cy="91440"/>
            </a:xfrm>
            <a:prstGeom prst="ellipse">
              <a:avLst/>
            </a:prstGeom>
            <a:solidFill>
              <a:schemeClr val="accent1"/>
            </a:solidFill>
            <a:ln w="15240">
              <a:solidFill>
                <a:schemeClr val="accent1"/>
              </a:solidFill>
            </a:ln>
          </p:spPr>
        </p:sp>
        <p:sp>
          <p:nvSpPr>
            <p:cNvPr id="11" name="Rectangle 11"/>
            <p:cNvSpPr/>
            <p:nvPr/>
          </p:nvSpPr>
          <p:spPr>
            <a:xfrm>
              <a:off x="767715" y="2996565"/>
              <a:ext cx="106680" cy="152400"/>
            </a:xfrm>
            <a:prstGeom prst="roundRect">
              <a:avLst>
                <a:gd name="adj" fmla="val 35714"/>
              </a:avLst>
            </a:prstGeom>
            <a:solidFill>
              <a:schemeClr val="accent1"/>
            </a:solidFill>
            <a:ln w="15240">
              <a:solidFill>
                <a:schemeClr val="accent1"/>
              </a:solidFill>
            </a:ln>
          </p:spPr>
        </p:sp>
        <p:sp>
          <p:nvSpPr>
            <p:cNvPr id="12" name="Ellipse 12"/>
            <p:cNvSpPr/>
            <p:nvPr/>
          </p:nvSpPr>
          <p:spPr>
            <a:xfrm>
              <a:off x="994410" y="2350770"/>
              <a:ext cx="91440" cy="91440"/>
            </a:xfrm>
            <a:prstGeom prst="ellipse">
              <a:avLst/>
            </a:prstGeom>
            <a:solidFill>
              <a:schemeClr val="accent3"/>
            </a:solidFill>
            <a:ln w="15240">
              <a:solidFill>
                <a:schemeClr val="accent3"/>
              </a:solidFill>
            </a:ln>
          </p:spPr>
        </p:sp>
        <p:sp>
          <p:nvSpPr>
            <p:cNvPr id="13" name="Rectangle 13"/>
            <p:cNvSpPr/>
            <p:nvPr/>
          </p:nvSpPr>
          <p:spPr>
            <a:xfrm>
              <a:off x="986790" y="2472690"/>
              <a:ext cx="106680" cy="152400"/>
            </a:xfrm>
            <a:prstGeom prst="roundRect">
              <a:avLst>
                <a:gd name="adj" fmla="val 35714"/>
              </a:avLst>
            </a:prstGeom>
            <a:solidFill>
              <a:schemeClr val="accent3"/>
            </a:solidFill>
            <a:ln w="15240">
              <a:solidFill>
                <a:schemeClr val="accent3"/>
              </a:solidFill>
            </a:ln>
          </p:spPr>
        </p:sp>
        <p:sp>
          <p:nvSpPr>
            <p:cNvPr id="14" name="Ellipse 14"/>
            <p:cNvSpPr/>
            <p:nvPr/>
          </p:nvSpPr>
          <p:spPr>
            <a:xfrm>
              <a:off x="994410" y="2874645"/>
              <a:ext cx="91440" cy="91440"/>
            </a:xfrm>
            <a:prstGeom prst="ellipse">
              <a:avLst/>
            </a:prstGeom>
            <a:solidFill>
              <a:schemeClr val="accent1"/>
            </a:solidFill>
            <a:ln w="15240">
              <a:solidFill>
                <a:schemeClr val="accent1"/>
              </a:solidFill>
            </a:ln>
          </p:spPr>
        </p:sp>
        <p:sp>
          <p:nvSpPr>
            <p:cNvPr id="15" name="Rectangle 15"/>
            <p:cNvSpPr/>
            <p:nvPr/>
          </p:nvSpPr>
          <p:spPr>
            <a:xfrm>
              <a:off x="986790" y="2996565"/>
              <a:ext cx="106680" cy="152400"/>
            </a:xfrm>
            <a:prstGeom prst="roundRect">
              <a:avLst>
                <a:gd name="adj" fmla="val 35714"/>
              </a:avLst>
            </a:prstGeom>
            <a:solidFill>
              <a:schemeClr val="accent1"/>
            </a:solidFill>
            <a:ln w="15240">
              <a:solidFill>
                <a:schemeClr val="accent1"/>
              </a:solidFill>
            </a:ln>
          </p:spPr>
        </p:sp>
        <p:sp>
          <p:nvSpPr>
            <p:cNvPr id="16" name="Ellipse 16"/>
            <p:cNvSpPr/>
            <p:nvPr/>
          </p:nvSpPr>
          <p:spPr>
            <a:xfrm>
              <a:off x="1213485" y="2350770"/>
              <a:ext cx="91440" cy="91440"/>
            </a:xfrm>
            <a:prstGeom prst="ellipse">
              <a:avLst/>
            </a:prstGeom>
            <a:solidFill>
              <a:schemeClr val="accent3"/>
            </a:solidFill>
            <a:ln w="15240">
              <a:solidFill>
                <a:schemeClr val="accent3"/>
              </a:solidFill>
            </a:ln>
          </p:spPr>
        </p:sp>
        <p:sp>
          <p:nvSpPr>
            <p:cNvPr id="17" name="Rectangle 17"/>
            <p:cNvSpPr/>
            <p:nvPr/>
          </p:nvSpPr>
          <p:spPr>
            <a:xfrm>
              <a:off x="1205865" y="2472690"/>
              <a:ext cx="106680" cy="152400"/>
            </a:xfrm>
            <a:prstGeom prst="roundRect">
              <a:avLst>
                <a:gd name="adj" fmla="val 35714"/>
              </a:avLst>
            </a:prstGeom>
            <a:solidFill>
              <a:schemeClr val="accent3"/>
            </a:solidFill>
            <a:ln w="15240">
              <a:solidFill>
                <a:schemeClr val="accent3"/>
              </a:solidFill>
            </a:ln>
          </p:spPr>
        </p:sp>
        <p:sp>
          <p:nvSpPr>
            <p:cNvPr id="18" name="Ellipse 18"/>
            <p:cNvSpPr/>
            <p:nvPr/>
          </p:nvSpPr>
          <p:spPr>
            <a:xfrm>
              <a:off x="1213485" y="2874645"/>
              <a:ext cx="91440" cy="91440"/>
            </a:xfrm>
            <a:prstGeom prst="ellipse">
              <a:avLst/>
            </a:prstGeom>
            <a:solidFill>
              <a:schemeClr val="accent1"/>
            </a:solidFill>
            <a:ln w="15240">
              <a:solidFill>
                <a:schemeClr val="accent1"/>
              </a:solidFill>
            </a:ln>
          </p:spPr>
        </p:sp>
        <p:sp>
          <p:nvSpPr>
            <p:cNvPr id="19" name="Rectangle 19"/>
            <p:cNvSpPr/>
            <p:nvPr/>
          </p:nvSpPr>
          <p:spPr>
            <a:xfrm>
              <a:off x="1205865" y="2996565"/>
              <a:ext cx="106680" cy="152400"/>
            </a:xfrm>
            <a:prstGeom prst="roundRect">
              <a:avLst>
                <a:gd name="adj" fmla="val 35714"/>
              </a:avLst>
            </a:prstGeom>
            <a:solidFill>
              <a:schemeClr val="accent1"/>
            </a:solidFill>
            <a:ln w="15240">
              <a:solidFill>
                <a:schemeClr val="accent1"/>
              </a:solidFill>
            </a:ln>
          </p:spPr>
        </p:sp>
        <p:sp>
          <p:nvSpPr>
            <p:cNvPr id="20" name="Line 20"/>
            <p:cNvSpPr/>
            <p:nvPr/>
          </p:nvSpPr>
          <p:spPr>
            <a:xfrm>
              <a:off x="762000" y="2771775"/>
              <a:ext cx="600075" cy="9525"/>
            </a:xfrm>
            <a:custGeom>
              <a:avLst/>
              <a:gdLst/>
              <a:ahLst/>
              <a:cxnLst/>
              <a:rect l="l" t="t" r="r" b="b"/>
              <a:pathLst>
                <a:path w="600075" h="9525">
                  <a:moveTo>
                    <a:pt x="0" y="0"/>
                  </a:moveTo>
                  <a:lnTo>
                    <a:pt x="600075" y="0"/>
                  </a:lnTo>
                </a:path>
              </a:pathLst>
            </a:custGeom>
            <a:noFill/>
            <a:ln w="19050">
              <a:solidFill>
                <a:schemeClr val="accent6"/>
              </a:solidFill>
            </a:ln>
          </p:spPr>
        </p:sp>
        <p:sp>
          <p:nvSpPr>
            <p:cNvPr id="21" name="TextBox 21"/>
            <p:cNvSpPr txBox="1"/>
            <p:nvPr/>
          </p:nvSpPr>
          <p:spPr>
            <a:xfrm>
              <a:off x="2026920" y="2101850"/>
              <a:ext cx="3515150"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Stratified randomisation</a:t>
              </a:r>
            </a:p>
          </p:txBody>
        </p:sp>
        <p:sp>
          <p:nvSpPr>
            <p:cNvPr id="22" name="TextBox 22"/>
            <p:cNvSpPr txBox="1"/>
            <p:nvPr/>
          </p:nvSpPr>
          <p:spPr>
            <a:xfrm>
              <a:off x="2029206" y="2619375"/>
              <a:ext cx="2801219"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Helps balance sex and BMI</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across assigned groups.</a:t>
              </a:r>
            </a:p>
          </p:txBody>
        </p:sp>
      </p:grpSp>
      <p:grpSp>
        <p:nvGrpSpPr>
          <p:cNvPr id="33" name="concealment-strength"/>
          <p:cNvGrpSpPr/>
          <p:nvPr/>
        </p:nvGrpSpPr>
        <p:grpSpPr>
          <a:xfrm>
            <a:off x="6343650" y="1885950"/>
            <a:ext cx="5334000" cy="1924050"/>
            <a:chOff x="6343650" y="1885950"/>
            <a:chExt cx="5334000" cy="1924050"/>
          </a:xfrm>
        </p:grpSpPr>
        <p:sp>
          <p:nvSpPr>
            <p:cNvPr id="24" name="Rectangle 24"/>
            <p:cNvSpPr/>
            <p:nvPr/>
          </p:nvSpPr>
          <p:spPr>
            <a:xfrm>
              <a:off x="6343650" y="1885950"/>
              <a:ext cx="5334000" cy="1924050"/>
            </a:xfrm>
            <a:prstGeom prst="roundRect">
              <a:avLst>
                <a:gd name="adj" fmla="val 10891"/>
              </a:avLst>
            </a:prstGeom>
            <a:solidFill>
              <a:schemeClr val="lt2"/>
            </a:solidFill>
            <a:ln>
              <a:noFill/>
            </a:ln>
          </p:spPr>
        </p:sp>
        <p:sp>
          <p:nvSpPr>
            <p:cNvPr id="25" name="Rectangle 25"/>
            <p:cNvSpPr/>
            <p:nvPr/>
          </p:nvSpPr>
          <p:spPr>
            <a:xfrm>
              <a:off x="6572250" y="2524125"/>
              <a:ext cx="895350" cy="590550"/>
            </a:xfrm>
            <a:prstGeom prst="roundRect">
              <a:avLst>
                <a:gd name="adj" fmla="val 12903"/>
              </a:avLst>
            </a:prstGeom>
            <a:solidFill>
              <a:schemeClr val="lt1"/>
            </a:solidFill>
            <a:ln w="28575">
              <a:solidFill>
                <a:schemeClr val="accent3"/>
              </a:solidFill>
            </a:ln>
          </p:spPr>
        </p:sp>
        <p:sp>
          <p:nvSpPr>
            <p:cNvPr id="26" name="Line 26"/>
            <p:cNvSpPr/>
            <p:nvPr/>
          </p:nvSpPr>
          <p:spPr>
            <a:xfrm>
              <a:off x="6600825" y="2562225"/>
              <a:ext cx="419100" cy="285750"/>
            </a:xfrm>
            <a:custGeom>
              <a:avLst/>
              <a:gdLst/>
              <a:ahLst/>
              <a:cxnLst/>
              <a:rect l="l" t="t" r="r" b="b"/>
              <a:pathLst>
                <a:path w="419100" h="285750">
                  <a:moveTo>
                    <a:pt x="0" y="0"/>
                  </a:moveTo>
                  <a:lnTo>
                    <a:pt x="419100" y="285750"/>
                  </a:lnTo>
                </a:path>
              </a:pathLst>
            </a:custGeom>
            <a:noFill/>
            <a:ln w="28575">
              <a:solidFill>
                <a:schemeClr val="accent3"/>
              </a:solidFill>
            </a:ln>
          </p:spPr>
        </p:sp>
        <p:sp>
          <p:nvSpPr>
            <p:cNvPr id="27" name="Line 27"/>
            <p:cNvSpPr/>
            <p:nvPr/>
          </p:nvSpPr>
          <p:spPr>
            <a:xfrm>
              <a:off x="7019925" y="2562225"/>
              <a:ext cx="419100" cy="285750"/>
            </a:xfrm>
            <a:custGeom>
              <a:avLst/>
              <a:gdLst/>
              <a:ahLst/>
              <a:cxnLst/>
              <a:rect l="l" t="t" r="r" b="b"/>
              <a:pathLst>
                <a:path w="419100" h="285750">
                  <a:moveTo>
                    <a:pt x="0" y="285750"/>
                  </a:moveTo>
                  <a:lnTo>
                    <a:pt x="419100" y="0"/>
                  </a:lnTo>
                </a:path>
              </a:pathLst>
            </a:custGeom>
            <a:noFill/>
            <a:ln w="28575">
              <a:solidFill>
                <a:schemeClr val="accent3"/>
              </a:solidFill>
            </a:ln>
          </p:spPr>
        </p:sp>
        <p:sp>
          <p:nvSpPr>
            <p:cNvPr id="28" name="Rectangle 28"/>
            <p:cNvSpPr/>
            <p:nvPr/>
          </p:nvSpPr>
          <p:spPr>
            <a:xfrm>
              <a:off x="7115175" y="2333625"/>
              <a:ext cx="333375" cy="342900"/>
            </a:xfrm>
            <a:prstGeom prst="roundRect">
              <a:avLst>
                <a:gd name="adj" fmla="val 22857"/>
              </a:avLst>
            </a:prstGeom>
            <a:solidFill>
              <a:schemeClr val="accent3"/>
            </a:solidFill>
            <a:ln>
              <a:noFill/>
            </a:ln>
          </p:spPr>
        </p:sp>
        <p:sp>
          <p:nvSpPr>
            <p:cNvPr id="29" name="Ellipse 29"/>
            <p:cNvSpPr/>
            <p:nvPr/>
          </p:nvSpPr>
          <p:spPr>
            <a:xfrm>
              <a:off x="7181850" y="2362200"/>
              <a:ext cx="190500" cy="190500"/>
            </a:xfrm>
            <a:prstGeom prst="ellipse">
              <a:avLst/>
            </a:prstGeom>
            <a:noFill/>
            <a:ln w="28575">
              <a:solidFill>
                <a:schemeClr val="accent3"/>
              </a:solidFill>
            </a:ln>
          </p:spPr>
        </p:sp>
        <p:sp>
          <p:nvSpPr>
            <p:cNvPr id="30" name="Ellipse 30"/>
            <p:cNvSpPr/>
            <p:nvPr/>
          </p:nvSpPr>
          <p:spPr>
            <a:xfrm>
              <a:off x="7248525" y="2447925"/>
              <a:ext cx="57150" cy="57150"/>
            </a:xfrm>
            <a:prstGeom prst="ellipse">
              <a:avLst/>
            </a:prstGeom>
            <a:solidFill>
              <a:schemeClr val="lt1"/>
            </a:solidFill>
            <a:ln>
              <a:noFill/>
            </a:ln>
          </p:spPr>
        </p:sp>
        <p:sp>
          <p:nvSpPr>
            <p:cNvPr id="31" name="TextBox 31"/>
            <p:cNvSpPr txBox="1"/>
            <p:nvPr/>
          </p:nvSpPr>
          <p:spPr>
            <a:xfrm>
              <a:off x="7856220" y="2101850"/>
              <a:ext cx="3061563"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Concealed allocation</a:t>
              </a:r>
            </a:p>
          </p:txBody>
        </p:sp>
        <p:sp>
          <p:nvSpPr>
            <p:cNvPr id="32" name="TextBox 32"/>
            <p:cNvSpPr txBox="1"/>
            <p:nvPr/>
          </p:nvSpPr>
          <p:spPr>
            <a:xfrm>
              <a:off x="7858506" y="2619375"/>
              <a:ext cx="3131957"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Reduces scope for selection</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based on the next assignment.</a:t>
              </a:r>
            </a:p>
          </p:txBody>
        </p:sp>
      </p:grpSp>
      <p:grpSp>
        <p:nvGrpSpPr>
          <p:cNvPr id="44" name="support-strength"/>
          <p:cNvGrpSpPr/>
          <p:nvPr/>
        </p:nvGrpSpPr>
        <p:grpSpPr>
          <a:xfrm>
            <a:off x="514350" y="4095750"/>
            <a:ext cx="5334000" cy="1924050"/>
            <a:chOff x="514350" y="4095750"/>
            <a:chExt cx="5334000" cy="1924050"/>
          </a:xfrm>
        </p:grpSpPr>
        <p:sp>
          <p:nvSpPr>
            <p:cNvPr id="34" name="Rectangle 34"/>
            <p:cNvSpPr/>
            <p:nvPr/>
          </p:nvSpPr>
          <p:spPr>
            <a:xfrm>
              <a:off x="514350" y="4095750"/>
              <a:ext cx="5334000" cy="1924050"/>
            </a:xfrm>
            <a:prstGeom prst="roundRect">
              <a:avLst>
                <a:gd name="adj" fmla="val 10891"/>
              </a:avLst>
            </a:prstGeom>
            <a:solidFill>
              <a:schemeClr val="lt2"/>
            </a:solidFill>
            <a:ln>
              <a:noFill/>
            </a:ln>
          </p:spPr>
        </p:sp>
        <p:sp>
          <p:nvSpPr>
            <p:cNvPr id="35" name="Rectangle 35"/>
            <p:cNvSpPr/>
            <p:nvPr/>
          </p:nvSpPr>
          <p:spPr>
            <a:xfrm>
              <a:off x="762000" y="4572000"/>
              <a:ext cx="284798" cy="445770"/>
            </a:xfrm>
            <a:prstGeom prst="roundRect">
              <a:avLst>
                <a:gd name="adj" fmla="val 17391"/>
              </a:avLst>
            </a:prstGeom>
            <a:noFill/>
            <a:ln w="28575">
              <a:solidFill>
                <a:schemeClr val="accent3"/>
              </a:solidFill>
            </a:ln>
          </p:spPr>
        </p:sp>
        <p:sp>
          <p:nvSpPr>
            <p:cNvPr id="36" name="Line 36"/>
            <p:cNvSpPr/>
            <p:nvPr/>
          </p:nvSpPr>
          <p:spPr>
            <a:xfrm>
              <a:off x="836295" y="4937284"/>
              <a:ext cx="136207" cy="9525"/>
            </a:xfrm>
            <a:custGeom>
              <a:avLst/>
              <a:gdLst/>
              <a:ahLst/>
              <a:cxnLst/>
              <a:rect l="l" t="t" r="r" b="b"/>
              <a:pathLst>
                <a:path w="136207" h="9525">
                  <a:moveTo>
                    <a:pt x="0" y="0"/>
                  </a:moveTo>
                  <a:lnTo>
                    <a:pt x="136207" y="0"/>
                  </a:lnTo>
                </a:path>
              </a:pathLst>
            </a:custGeom>
            <a:noFill/>
            <a:ln w="28575">
              <a:solidFill>
                <a:schemeClr val="accent3"/>
              </a:solidFill>
            </a:ln>
          </p:spPr>
        </p:sp>
        <p:sp>
          <p:nvSpPr>
            <p:cNvPr id="37" name="Ellipse 37"/>
            <p:cNvSpPr/>
            <p:nvPr/>
          </p:nvSpPr>
          <p:spPr>
            <a:xfrm>
              <a:off x="854869" y="4683442"/>
              <a:ext cx="99060" cy="99060"/>
            </a:xfrm>
            <a:prstGeom prst="ellipse">
              <a:avLst/>
            </a:prstGeom>
            <a:solidFill>
              <a:schemeClr val="accent3"/>
            </a:solidFill>
            <a:ln>
              <a:noFill/>
            </a:ln>
          </p:spPr>
        </p:sp>
        <p:sp>
          <p:nvSpPr>
            <p:cNvPr id="38" name="Rectangle 38"/>
            <p:cNvSpPr/>
            <p:nvPr/>
          </p:nvSpPr>
          <p:spPr>
            <a:xfrm>
              <a:off x="1333500" y="4572000"/>
              <a:ext cx="284798" cy="445770"/>
            </a:xfrm>
            <a:prstGeom prst="roundRect">
              <a:avLst>
                <a:gd name="adj" fmla="val 17391"/>
              </a:avLst>
            </a:prstGeom>
            <a:noFill/>
            <a:ln w="28575">
              <a:solidFill>
                <a:schemeClr val="accent3"/>
              </a:solidFill>
            </a:ln>
          </p:spPr>
        </p:sp>
        <p:sp>
          <p:nvSpPr>
            <p:cNvPr id="39" name="Line 39"/>
            <p:cNvSpPr/>
            <p:nvPr/>
          </p:nvSpPr>
          <p:spPr>
            <a:xfrm>
              <a:off x="1407795" y="4937284"/>
              <a:ext cx="136207" cy="9525"/>
            </a:xfrm>
            <a:custGeom>
              <a:avLst/>
              <a:gdLst/>
              <a:ahLst/>
              <a:cxnLst/>
              <a:rect l="l" t="t" r="r" b="b"/>
              <a:pathLst>
                <a:path w="136207" h="9525">
                  <a:moveTo>
                    <a:pt x="0" y="0"/>
                  </a:moveTo>
                  <a:lnTo>
                    <a:pt x="136207" y="0"/>
                  </a:lnTo>
                </a:path>
              </a:pathLst>
            </a:custGeom>
            <a:noFill/>
            <a:ln w="28575">
              <a:solidFill>
                <a:schemeClr val="accent3"/>
              </a:solidFill>
            </a:ln>
          </p:spPr>
        </p:sp>
        <p:sp>
          <p:nvSpPr>
            <p:cNvPr id="40" name="Ellipse 40"/>
            <p:cNvSpPr/>
            <p:nvPr/>
          </p:nvSpPr>
          <p:spPr>
            <a:xfrm>
              <a:off x="1426369" y="4683442"/>
              <a:ext cx="99060" cy="99060"/>
            </a:xfrm>
            <a:prstGeom prst="ellipse">
              <a:avLst/>
            </a:prstGeom>
            <a:solidFill>
              <a:schemeClr val="accent3"/>
            </a:solidFill>
            <a:ln>
              <a:noFill/>
            </a:ln>
          </p:spPr>
        </p:sp>
        <p:sp>
          <p:nvSpPr>
            <p:cNvPr id="41" name="TextBox 41"/>
            <p:cNvSpPr txBox="1"/>
            <p:nvPr/>
          </p:nvSpPr>
          <p:spPr>
            <a:xfrm>
              <a:off x="1110725" y="4648200"/>
              <a:ext cx="159801" cy="352044"/>
            </a:xfrm>
            <a:prstGeom prst="rect">
              <a:avLst/>
            </a:prstGeom>
            <a:noFill/>
            <a:ln>
              <a:noFill/>
            </a:ln>
          </p:spPr>
          <p:txBody>
            <a:bodyPr wrap="none" lIns="0" tIns="0" rIns="0" bIns="0" anchor="t" anchorCtr="0">
              <a:spAutoFit/>
            </a:bodyPr>
            <a:lstStyle/>
            <a:p>
              <a:pPr algn="ctr"/>
              <a:r>
                <a:rPr lang="en-GB" sz="1800" b="1" dirty="0">
                  <a:solidFill>
                    <a:schemeClr val="accent3"/>
                  </a:solidFill>
                  <a:latin typeface="+mn-lt"/>
                  <a:ea typeface="+mn-ea"/>
                  <a:cs typeface="+mn-cs"/>
                </a:rPr>
                <a:t>=</a:t>
              </a:r>
            </a:p>
          </p:txBody>
        </p:sp>
        <p:sp>
          <p:nvSpPr>
            <p:cNvPr id="42" name="TextBox 42"/>
            <p:cNvSpPr txBox="1"/>
            <p:nvPr/>
          </p:nvSpPr>
          <p:spPr>
            <a:xfrm>
              <a:off x="2026920" y="4311650"/>
              <a:ext cx="2270879"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Shared support</a:t>
              </a:r>
            </a:p>
          </p:txBody>
        </p:sp>
        <p:sp>
          <p:nvSpPr>
            <p:cNvPr id="43" name="TextBox 43"/>
            <p:cNvSpPr txBox="1"/>
            <p:nvPr/>
          </p:nvSpPr>
          <p:spPr>
            <a:xfrm>
              <a:off x="2029206" y="4829175"/>
              <a:ext cx="2509342"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Makes unequal attention</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a less likely explanation.</a:t>
              </a:r>
            </a:p>
          </p:txBody>
        </p:sp>
      </p:grpSp>
      <p:grpSp>
        <p:nvGrpSpPr>
          <p:cNvPr id="52" name="measurement-strength"/>
          <p:cNvGrpSpPr/>
          <p:nvPr/>
        </p:nvGrpSpPr>
        <p:grpSpPr>
          <a:xfrm>
            <a:off x="6343650" y="4095750"/>
            <a:ext cx="5334000" cy="1924050"/>
            <a:chOff x="6343650" y="4095750"/>
            <a:chExt cx="5334000" cy="1924050"/>
          </a:xfrm>
        </p:grpSpPr>
        <p:sp>
          <p:nvSpPr>
            <p:cNvPr id="45" name="Rectangle 45"/>
            <p:cNvSpPr/>
            <p:nvPr/>
          </p:nvSpPr>
          <p:spPr>
            <a:xfrm>
              <a:off x="6343650" y="4095750"/>
              <a:ext cx="5334000" cy="1924050"/>
            </a:xfrm>
            <a:prstGeom prst="roundRect">
              <a:avLst>
                <a:gd name="adj" fmla="val 10891"/>
              </a:avLst>
            </a:prstGeom>
            <a:solidFill>
              <a:schemeClr val="lt2"/>
            </a:solidFill>
            <a:ln>
              <a:noFill/>
            </a:ln>
          </p:spPr>
        </p:sp>
        <p:sp>
          <p:nvSpPr>
            <p:cNvPr id="46" name="Rectangle 46"/>
            <p:cNvSpPr/>
            <p:nvPr/>
          </p:nvSpPr>
          <p:spPr>
            <a:xfrm>
              <a:off x="6534150" y="4467225"/>
              <a:ext cx="1143000" cy="952500"/>
            </a:xfrm>
            <a:prstGeom prst="roundRect">
              <a:avLst>
                <a:gd name="adj" fmla="val 22000"/>
              </a:avLst>
            </a:prstGeom>
            <a:noFill/>
            <a:ln w="47625">
              <a:solidFill>
                <a:schemeClr val="accent3"/>
              </a:solidFill>
            </a:ln>
          </p:spPr>
        </p:sp>
        <p:sp>
          <p:nvSpPr>
            <p:cNvPr id="47" name="Rectangle 47"/>
            <p:cNvSpPr/>
            <p:nvPr/>
          </p:nvSpPr>
          <p:spPr>
            <a:xfrm>
              <a:off x="6848475" y="4638675"/>
              <a:ext cx="514350" cy="285750"/>
            </a:xfrm>
            <a:prstGeom prst="roundRect">
              <a:avLst>
                <a:gd name="adj" fmla="val 20000"/>
              </a:avLst>
            </a:prstGeom>
            <a:noFill/>
            <a:ln w="28575">
              <a:solidFill>
                <a:schemeClr val="accent3"/>
              </a:solidFill>
            </a:ln>
          </p:spPr>
        </p:sp>
        <p:sp>
          <p:nvSpPr>
            <p:cNvPr id="48" name="TextBox 48"/>
            <p:cNvSpPr txBox="1"/>
            <p:nvPr/>
          </p:nvSpPr>
          <p:spPr>
            <a:xfrm>
              <a:off x="6955115" y="4638675"/>
              <a:ext cx="301071" cy="352044"/>
            </a:xfrm>
            <a:prstGeom prst="rect">
              <a:avLst/>
            </a:prstGeom>
            <a:noFill/>
            <a:ln>
              <a:noFill/>
            </a:ln>
          </p:spPr>
          <p:txBody>
            <a:bodyPr wrap="none" lIns="0" tIns="0" rIns="0" bIns="0" anchor="t" anchorCtr="0">
              <a:spAutoFit/>
            </a:bodyPr>
            <a:lstStyle/>
            <a:p>
              <a:pPr algn="ctr"/>
              <a:r>
                <a:rPr lang="en-GB" sz="1800" b="1" dirty="0">
                  <a:solidFill>
                    <a:schemeClr val="accent3"/>
                  </a:solidFill>
                  <a:latin typeface="+mn-lt"/>
                  <a:ea typeface="+mn-ea"/>
                  <a:cs typeface="+mn-cs"/>
                </a:rPr>
                <a:t>kg</a:t>
              </a:r>
            </a:p>
          </p:txBody>
        </p:sp>
        <p:sp>
          <p:nvSpPr>
            <p:cNvPr id="49" name="Line 49"/>
            <p:cNvSpPr/>
            <p:nvPr/>
          </p:nvSpPr>
          <p:spPr>
            <a:xfrm>
              <a:off x="6762750" y="5133975"/>
              <a:ext cx="685800" cy="9525"/>
            </a:xfrm>
            <a:custGeom>
              <a:avLst/>
              <a:gdLst/>
              <a:ahLst/>
              <a:cxnLst/>
              <a:rect l="l" t="t" r="r" b="b"/>
              <a:pathLst>
                <a:path w="685800" h="9525">
                  <a:moveTo>
                    <a:pt x="0" y="0"/>
                  </a:moveTo>
                  <a:lnTo>
                    <a:pt x="685800" y="0"/>
                  </a:lnTo>
                </a:path>
              </a:pathLst>
            </a:custGeom>
            <a:noFill/>
            <a:ln w="28575">
              <a:solidFill>
                <a:schemeClr val="accent3"/>
              </a:solidFill>
            </a:ln>
          </p:spPr>
        </p:sp>
        <p:sp>
          <p:nvSpPr>
            <p:cNvPr id="50" name="TextBox 50"/>
            <p:cNvSpPr txBox="1"/>
            <p:nvPr/>
          </p:nvSpPr>
          <p:spPr>
            <a:xfrm>
              <a:off x="7856220" y="4311650"/>
              <a:ext cx="2909654"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Calibrated weighing</a:t>
              </a:r>
            </a:p>
          </p:txBody>
        </p:sp>
        <p:sp>
          <p:nvSpPr>
            <p:cNvPr id="51" name="TextBox 51"/>
            <p:cNvSpPr txBox="1"/>
            <p:nvPr/>
          </p:nvSpPr>
          <p:spPr>
            <a:xfrm>
              <a:off x="7858506" y="4829175"/>
              <a:ext cx="2966451"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Less reliance on participants’</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own reports of their weight.</a:t>
              </a:r>
            </a:p>
          </p:txBody>
        </p:sp>
      </p:grpSp>
      <p:sp>
        <p:nvSpPr>
          <p:cNvPr id="53" name="TextBox 53"/>
          <p:cNvSpPr txBox="1"/>
          <p:nvPr/>
        </p:nvSpPr>
        <p:spPr>
          <a:xfrm>
            <a:off x="508254" y="6467475"/>
            <a:ext cx="7555783"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Lim et al. 2024 · Methods 2.4–2.7 · Graphics show the purpose of each feature, not additional study data.</a:t>
            </a:r>
          </a:p>
        </p:txBody>
      </p:sp>
    </p:spTree>
  </p:cSld>
  <p:clrMapOvr>
    <a:masterClrMapping/>
  </p:clrMapOvr>
  <p:transition xmlns:p14="http://schemas.microsoft.com/office/powerpoint/2010/main" p14:dur="35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50"/>
                                        <p:tgtEl>
                                          <p:spTgt spid="23"/>
                                        </p:tgtEl>
                                      </p:cBhvr>
                                    </p:animEffect>
                                  </p:childTnLst>
                                </p:cTn>
                              </p:par>
                            </p:childTnLst>
                          </p:cTn>
                        </p:par>
                      </p:childTnLst>
                    </p:cTn>
                  </p:par>
                  <p:par>
                    <p:cTn id="8" fill="hold">
                      <p:stCondLst>
                        <p:cond delay="indefinite"/>
                      </p:stCondLst>
                      <p:childTnLst>
                        <p:par>
                          <p:cTn id="9" fill="hold">
                            <p:stCondLst>
                              <p:cond delay="0"/>
                            </p:stCondLst>
                            <p:childTnLst>
                              <p:par>
                                <p:cTn xmlns:p="http://schemas.openxmlformats.org/presentationml/2006/mai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450"/>
                                        <p:tgtEl>
                                          <p:spTgt spid="33"/>
                                        </p:tgtEl>
                                      </p:cBhvr>
                                    </p:animEffect>
                                  </p:childTnLst>
                                </p:cTn>
                              </p:par>
                            </p:childTnLst>
                          </p:cTn>
                        </p:par>
                      </p:childTnLst>
                    </p:cTn>
                  </p:par>
                  <p:par>
                    <p:cTn id="13" fill="hold">
                      <p:stCondLst>
                        <p:cond delay="indefinite"/>
                      </p:stCondLst>
                      <p:childTnLst>
                        <p:par>
                          <p:cTn id="14" fill="hold">
                            <p:stCondLst>
                              <p:cond delay="0"/>
                            </p:stCondLst>
                            <p:childTnLst>
                              <p:par>
                                <p:cTn xmlns:p="http://schemas.openxmlformats.org/presentationml/2006/main" id="15" presetID="10"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450"/>
                                        <p:tgtEl>
                                          <p:spTgt spid="44"/>
                                        </p:tgtEl>
                                      </p:cBhvr>
                                    </p:animEffect>
                                  </p:childTnLst>
                                </p:cTn>
                              </p:par>
                            </p:childTnLst>
                          </p:cTn>
                        </p:par>
                      </p:childTnLst>
                    </p:cTn>
                  </p:par>
                  <p:par>
                    <p:cTn id="18" fill="hold">
                      <p:stCondLst>
                        <p:cond delay="indefinite"/>
                      </p:stCondLst>
                      <p:childTnLst>
                        <p:par>
                          <p:cTn id="19" fill="hold">
                            <p:stCondLst>
                              <p:cond delay="0"/>
                            </p:stCondLst>
                            <p:childTnLst>
                              <p:par>
                                <p:cTn xmlns:p="http://schemas.openxmlformats.org/presentationml/2006/main" id="20" presetID="10"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4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6564192"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ENERGY · REPORTED MEAN CHANGE FROM BASELINE AT 6 MONTHS</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6"/>
                  </a:solidFill>
                  <a:latin typeface="+mn-lt"/>
                  <a:ea typeface="+mn-ea"/>
                  <a:cs typeface="+mn-cs"/>
                </a:rPr>
                <a:t>02 / 11</a:t>
              </a:r>
            </a:p>
          </p:txBody>
        </p:sp>
      </p:grpSp>
      <p:grpSp>
        <p:nvGrpSpPr>
          <p:cNvPr id="6" name="scene-title"/>
          <p:cNvGrpSpPr/>
          <p:nvPr/>
        </p:nvGrpSpPr>
        <p:grpSpPr>
          <a:xfrm>
            <a:off x="495300" y="609600"/>
            <a:ext cx="10744736" cy="847725"/>
            <a:chOff x="495300" y="609600"/>
            <a:chExt cx="10744736" cy="847725"/>
          </a:xfrm>
        </p:grpSpPr>
        <p:sp>
          <p:nvSpPr>
            <p:cNvPr id="5" name="TextBox 5"/>
            <p:cNvSpPr txBox="1"/>
            <p:nvPr/>
          </p:nvSpPr>
          <p:spPr>
            <a:xfrm>
              <a:off x="495300" y="609600"/>
              <a:ext cx="10744736" cy="847725"/>
            </a:xfrm>
            <a:prstGeom prst="rect">
              <a:avLst/>
            </a:prstGeom>
            <a:noFill/>
            <a:ln>
              <a:noFill/>
            </a:ln>
          </p:spPr>
          <p:txBody>
            <a:bodyPr wrap="none" lIns="0" tIns="0" rIns="0" bIns="0" anchor="t" anchorCtr="0">
              <a:spAutoFit/>
            </a:bodyPr>
            <a:lstStyle/>
            <a:p>
              <a:pPr algn="l"/>
              <a:r>
                <a:rPr lang="en-GB" sz="4350" b="1" dirty="0">
                  <a:solidFill>
                    <a:srgbClr val="F7F6F0"/>
                  </a:solidFill>
                  <a:latin typeface="+mj-lt"/>
                  <a:ea typeface="+mj-ea"/>
                  <a:cs typeface="+mj-cs"/>
                </a:rPr>
                <a:t>Advice did not guarantee equal intake.</a:t>
              </a:r>
            </a:p>
          </p:txBody>
        </p:sp>
      </p:grpSp>
      <p:grpSp>
        <p:nvGrpSpPr>
          <p:cNvPr id="11" name="hkd-energy"/>
          <p:cNvGrpSpPr/>
          <p:nvPr/>
        </p:nvGrpSpPr>
        <p:grpSpPr>
          <a:xfrm>
            <a:off x="666750" y="1898650"/>
            <a:ext cx="2309667" cy="2739644"/>
            <a:chOff x="666750" y="1898650"/>
            <a:chExt cx="2309667" cy="2739644"/>
          </a:xfrm>
        </p:grpSpPr>
        <p:sp>
          <p:nvSpPr>
            <p:cNvPr id="7" name="TextBox 7"/>
            <p:cNvSpPr txBox="1"/>
            <p:nvPr/>
          </p:nvSpPr>
          <p:spPr>
            <a:xfrm>
              <a:off x="710184" y="1898650"/>
              <a:ext cx="859510" cy="528066"/>
            </a:xfrm>
            <a:prstGeom prst="rect">
              <a:avLst/>
            </a:prstGeom>
            <a:noFill/>
            <a:ln>
              <a:noFill/>
            </a:ln>
          </p:spPr>
          <p:txBody>
            <a:bodyPr wrap="none" lIns="0" tIns="0" rIns="0" bIns="0" anchor="t" anchorCtr="0">
              <a:spAutoFit/>
            </a:bodyPr>
            <a:lstStyle/>
            <a:p>
              <a:pPr algn="l"/>
              <a:r>
                <a:rPr lang="en-GB" sz="2700" b="1" dirty="0">
                  <a:solidFill>
                    <a:srgbClr val="7CD6CA"/>
                  </a:solidFill>
                  <a:latin typeface="+mn-lt"/>
                  <a:ea typeface="+mn-ea"/>
                  <a:cs typeface="+mn-cs"/>
                </a:rPr>
                <a:t>HKD</a:t>
              </a:r>
            </a:p>
          </p:txBody>
        </p:sp>
        <p:sp>
          <p:nvSpPr>
            <p:cNvPr id="8" name="TextBox 8"/>
            <p:cNvSpPr txBox="1"/>
            <p:nvPr/>
          </p:nvSpPr>
          <p:spPr>
            <a:xfrm>
              <a:off x="714756" y="2432050"/>
              <a:ext cx="2019498" cy="694944"/>
            </a:xfrm>
            <a:prstGeom prst="rect">
              <a:avLst/>
            </a:prstGeom>
            <a:noFill/>
            <a:ln>
              <a:noFill/>
            </a:ln>
          </p:spPr>
          <p:txBody>
            <a:bodyPr wrap="none" lIns="0" tIns="0" rIns="0" bIns="0" anchor="t" anchorCtr="0">
              <a:spAutoFit/>
            </a:bodyPr>
            <a:lstStyle/>
            <a:p>
              <a:pPr algn="l">
                <a:lnSpc>
                  <a:spcPts val="2700"/>
                </a:lnSpc>
              </a:pPr>
              <a:r>
                <a:rPr lang="en-GB" sz="1800" dirty="0">
                  <a:solidFill>
                    <a:srgbClr val="F7F6F0"/>
                  </a:solidFill>
                  <a:latin typeface="+mn-lt"/>
                  <a:ea typeface="+mn-ea"/>
                  <a:cs typeface="+mn-cs"/>
                </a:rPr>
                <a:t>Energy restriction</a:t>
              </a:r>
              <a:br>
                <a:rPr lang="en-GB" sz="1800" dirty="0">
                  <a:solidFill>
                    <a:srgbClr val="F7F6F0"/>
                  </a:solidFill>
                  <a:latin typeface="+mn-lt"/>
                  <a:ea typeface="+mn-ea"/>
                  <a:cs typeface="+mn-cs"/>
                </a:rPr>
              </a:br>
              <a:r>
                <a:rPr lang="en-GB" sz="1800" dirty="0">
                  <a:solidFill>
                    <a:srgbClr val="F7F6F0"/>
                  </a:solidFill>
                  <a:latin typeface="+mn-lt"/>
                  <a:ea typeface="+mn-ea"/>
                  <a:cs typeface="+mn-cs"/>
                </a:rPr>
                <a:t>+ carbohydrate limit</a:t>
              </a:r>
            </a:p>
          </p:txBody>
        </p:sp>
        <p:sp>
          <p:nvSpPr>
            <p:cNvPr id="9" name="TextBox 9"/>
            <p:cNvSpPr txBox="1"/>
            <p:nvPr/>
          </p:nvSpPr>
          <p:spPr>
            <a:xfrm>
              <a:off x="666750" y="3159125"/>
              <a:ext cx="2309667" cy="1390650"/>
            </a:xfrm>
            <a:prstGeom prst="rect">
              <a:avLst/>
            </a:prstGeom>
            <a:noFill/>
            <a:ln>
              <a:noFill/>
            </a:ln>
          </p:spPr>
          <p:txBody>
            <a:bodyPr wrap="none" lIns="0" tIns="0" rIns="0" bIns="0" anchor="t" anchorCtr="0">
              <a:spAutoFit/>
            </a:bodyPr>
            <a:lstStyle/>
            <a:p>
              <a:pPr algn="l"/>
              <a:r>
                <a:rPr lang="en-GB" sz="7200" b="1" dirty="0">
                  <a:solidFill>
                    <a:srgbClr val="F7F6F0"/>
                  </a:solidFill>
                  <a:latin typeface="+mj-lt"/>
                  <a:ea typeface="+mj-ea"/>
                  <a:cs typeface="+mj-cs"/>
                </a:rPr>
                <a:t>−704</a:t>
              </a:r>
            </a:p>
          </p:txBody>
        </p:sp>
        <p:sp>
          <p:nvSpPr>
            <p:cNvPr id="10" name="TextBox 10"/>
            <p:cNvSpPr txBox="1"/>
            <p:nvPr/>
          </p:nvSpPr>
          <p:spPr>
            <a:xfrm>
              <a:off x="733806" y="4286250"/>
              <a:ext cx="907248" cy="352044"/>
            </a:xfrm>
            <a:prstGeom prst="rect">
              <a:avLst/>
            </a:prstGeom>
            <a:noFill/>
            <a:ln>
              <a:noFill/>
            </a:ln>
          </p:spPr>
          <p:txBody>
            <a:bodyPr wrap="none" lIns="0" tIns="0" rIns="0" bIns="0" anchor="t" anchorCtr="0">
              <a:spAutoFit/>
            </a:bodyPr>
            <a:lstStyle/>
            <a:p>
              <a:pPr algn="l"/>
              <a:r>
                <a:rPr lang="en-GB" sz="1800" dirty="0">
                  <a:solidFill>
                    <a:schemeClr val="accent6"/>
                  </a:solidFill>
                  <a:latin typeface="+mn-lt"/>
                  <a:ea typeface="+mn-ea"/>
                  <a:cs typeface="+mn-cs"/>
                </a:rPr>
                <a:t>kcal/day</a:t>
              </a:r>
            </a:p>
          </p:txBody>
        </p:sp>
      </p:grpSp>
      <p:grpSp>
        <p:nvGrpSpPr>
          <p:cNvPr id="16" name="erd-energy"/>
          <p:cNvGrpSpPr/>
          <p:nvPr/>
        </p:nvGrpSpPr>
        <p:grpSpPr>
          <a:xfrm>
            <a:off x="6629400" y="1898650"/>
            <a:ext cx="2309667" cy="2739644"/>
            <a:chOff x="6629400" y="1898650"/>
            <a:chExt cx="2309667" cy="2739644"/>
          </a:xfrm>
        </p:grpSpPr>
        <p:sp>
          <p:nvSpPr>
            <p:cNvPr id="12" name="TextBox 12"/>
            <p:cNvSpPr txBox="1"/>
            <p:nvPr/>
          </p:nvSpPr>
          <p:spPr>
            <a:xfrm>
              <a:off x="6672834" y="1898650"/>
              <a:ext cx="838311" cy="528066"/>
            </a:xfrm>
            <a:prstGeom prst="rect">
              <a:avLst/>
            </a:prstGeom>
            <a:noFill/>
            <a:ln>
              <a:noFill/>
            </a:ln>
          </p:spPr>
          <p:txBody>
            <a:bodyPr wrap="none" lIns="0" tIns="0" rIns="0" bIns="0" anchor="t" anchorCtr="0">
              <a:spAutoFit/>
            </a:bodyPr>
            <a:lstStyle/>
            <a:p>
              <a:pPr algn="l"/>
              <a:r>
                <a:rPr lang="en-GB" sz="2700" b="1" dirty="0">
                  <a:solidFill>
                    <a:schemeClr val="accent6"/>
                  </a:solidFill>
                  <a:latin typeface="+mn-lt"/>
                  <a:ea typeface="+mn-ea"/>
                  <a:cs typeface="+mn-cs"/>
                </a:rPr>
                <a:t>ERD</a:t>
              </a:r>
            </a:p>
          </p:txBody>
        </p:sp>
        <p:sp>
          <p:nvSpPr>
            <p:cNvPr id="13" name="TextBox 13"/>
            <p:cNvSpPr txBox="1"/>
            <p:nvPr/>
          </p:nvSpPr>
          <p:spPr>
            <a:xfrm>
              <a:off x="6677406" y="2457450"/>
              <a:ext cx="1910027" cy="352044"/>
            </a:xfrm>
            <a:prstGeom prst="rect">
              <a:avLst/>
            </a:prstGeom>
            <a:noFill/>
            <a:ln>
              <a:noFill/>
            </a:ln>
          </p:spPr>
          <p:txBody>
            <a:bodyPr wrap="none" lIns="0" tIns="0" rIns="0" bIns="0" anchor="t" anchorCtr="0">
              <a:spAutoFit/>
            </a:bodyPr>
            <a:lstStyle/>
            <a:p>
              <a:pPr algn="l"/>
              <a:r>
                <a:rPr lang="en-GB" sz="1800" dirty="0">
                  <a:solidFill>
                    <a:srgbClr val="F7F6F0"/>
                  </a:solidFill>
                  <a:latin typeface="+mn-lt"/>
                  <a:ea typeface="+mn-ea"/>
                  <a:cs typeface="+mn-cs"/>
                </a:rPr>
                <a:t>Energy restriction</a:t>
              </a:r>
            </a:p>
          </p:txBody>
        </p:sp>
        <p:sp>
          <p:nvSpPr>
            <p:cNvPr id="14" name="TextBox 14"/>
            <p:cNvSpPr txBox="1"/>
            <p:nvPr/>
          </p:nvSpPr>
          <p:spPr>
            <a:xfrm>
              <a:off x="6629400" y="3159125"/>
              <a:ext cx="2309667" cy="1390650"/>
            </a:xfrm>
            <a:prstGeom prst="rect">
              <a:avLst/>
            </a:prstGeom>
            <a:noFill/>
            <a:ln>
              <a:noFill/>
            </a:ln>
          </p:spPr>
          <p:txBody>
            <a:bodyPr wrap="none" lIns="0" tIns="0" rIns="0" bIns="0" anchor="t" anchorCtr="0">
              <a:spAutoFit/>
            </a:bodyPr>
            <a:lstStyle/>
            <a:p>
              <a:pPr algn="l"/>
              <a:r>
                <a:rPr lang="en-GB" sz="7200" b="1" dirty="0">
                  <a:solidFill>
                    <a:srgbClr val="F7F6F0"/>
                  </a:solidFill>
                  <a:latin typeface="+mj-lt"/>
                  <a:ea typeface="+mj-ea"/>
                  <a:cs typeface="+mj-cs"/>
                </a:rPr>
                <a:t>−423</a:t>
              </a:r>
            </a:p>
          </p:txBody>
        </p:sp>
        <p:sp>
          <p:nvSpPr>
            <p:cNvPr id="15" name="TextBox 15"/>
            <p:cNvSpPr txBox="1"/>
            <p:nvPr/>
          </p:nvSpPr>
          <p:spPr>
            <a:xfrm>
              <a:off x="6696456" y="4286250"/>
              <a:ext cx="907248" cy="352044"/>
            </a:xfrm>
            <a:prstGeom prst="rect">
              <a:avLst/>
            </a:prstGeom>
            <a:noFill/>
            <a:ln>
              <a:noFill/>
            </a:ln>
          </p:spPr>
          <p:txBody>
            <a:bodyPr wrap="none" lIns="0" tIns="0" rIns="0" bIns="0" anchor="t" anchorCtr="0">
              <a:spAutoFit/>
            </a:bodyPr>
            <a:lstStyle/>
            <a:p>
              <a:pPr algn="l"/>
              <a:r>
                <a:rPr lang="en-GB" sz="1800" dirty="0">
                  <a:solidFill>
                    <a:schemeClr val="accent6"/>
                  </a:solidFill>
                  <a:latin typeface="+mn-lt"/>
                  <a:ea typeface="+mn-ea"/>
                  <a:cs typeface="+mn-cs"/>
                </a:rPr>
                <a:t>kcal/day</a:t>
              </a:r>
            </a:p>
          </p:txBody>
        </p:sp>
      </p:grpSp>
      <p:grpSp>
        <p:nvGrpSpPr>
          <p:cNvPr id="20" name="advice-intake"/>
          <p:cNvGrpSpPr/>
          <p:nvPr/>
        </p:nvGrpSpPr>
        <p:grpSpPr>
          <a:xfrm>
            <a:off x="514350" y="5105400"/>
            <a:ext cx="11163300" cy="1028700"/>
            <a:chOff x="514350" y="5105400"/>
            <a:chExt cx="11163300" cy="1028700"/>
          </a:xfrm>
        </p:grpSpPr>
        <p:sp>
          <p:nvSpPr>
            <p:cNvPr id="17" name="Rectangle 17"/>
            <p:cNvSpPr/>
            <p:nvPr/>
          </p:nvSpPr>
          <p:spPr>
            <a:xfrm>
              <a:off x="514350" y="5105400"/>
              <a:ext cx="11163300" cy="1028700"/>
            </a:xfrm>
            <a:prstGeom prst="roundRect">
              <a:avLst>
                <a:gd name="adj" fmla="val 20370"/>
              </a:avLst>
            </a:prstGeom>
            <a:solidFill>
              <a:srgbClr val="244552"/>
            </a:solidFill>
            <a:ln>
              <a:noFill/>
            </a:ln>
          </p:spPr>
        </p:sp>
        <p:sp>
          <p:nvSpPr>
            <p:cNvPr id="18" name="TextBox 18"/>
            <p:cNvSpPr txBox="1"/>
            <p:nvPr/>
          </p:nvSpPr>
          <p:spPr>
            <a:xfrm>
              <a:off x="767334" y="5203825"/>
              <a:ext cx="6814062" cy="528066"/>
            </a:xfrm>
            <a:prstGeom prst="rect">
              <a:avLst/>
            </a:prstGeom>
            <a:noFill/>
            <a:ln>
              <a:noFill/>
            </a:ln>
          </p:spPr>
          <p:txBody>
            <a:bodyPr wrap="none" lIns="0" tIns="0" rIns="0" bIns="0" anchor="t" anchorCtr="0">
              <a:spAutoFit/>
            </a:bodyPr>
            <a:lstStyle/>
            <a:p>
              <a:pPr algn="l"/>
              <a:r>
                <a:rPr lang="en-GB" sz="2700" b="1" dirty="0">
                  <a:solidFill>
                    <a:srgbClr val="F7F6F0"/>
                  </a:solidFill>
                  <a:latin typeface="+mj-lt"/>
                  <a:ea typeface="+mj-ea"/>
                  <a:cs typeface="+mj-cs"/>
                </a:rPr>
                <a:t>Calorie advice ≠ matched actual intake.</a:t>
              </a:r>
            </a:p>
          </p:txBody>
        </p:sp>
        <p:sp>
          <p:nvSpPr>
            <p:cNvPr id="19" name="TextBox 19"/>
            <p:cNvSpPr txBox="1"/>
            <p:nvPr/>
          </p:nvSpPr>
          <p:spPr>
            <a:xfrm>
              <a:off x="771906" y="5715000"/>
              <a:ext cx="5481245" cy="352044"/>
            </a:xfrm>
            <a:prstGeom prst="rect">
              <a:avLst/>
            </a:prstGeom>
            <a:noFill/>
            <a:ln>
              <a:noFill/>
            </a:ln>
          </p:spPr>
          <p:txBody>
            <a:bodyPr wrap="none" lIns="0" tIns="0" rIns="0" bIns="0" anchor="t" anchorCtr="0">
              <a:spAutoFit/>
            </a:bodyPr>
            <a:lstStyle/>
            <a:p>
              <a:pPr algn="l"/>
              <a:r>
                <a:rPr lang="en-GB" sz="1800" dirty="0">
                  <a:solidFill>
                    <a:schemeClr val="accent6"/>
                  </a:solidFill>
                  <a:latin typeface="+mn-lt"/>
                  <a:ea typeface="+mn-ea"/>
                  <a:cs typeface="+mn-cs"/>
                </a:rPr>
                <a:t>No controlled feeding ensured equal calorie intake.</a:t>
              </a:r>
            </a:p>
          </p:txBody>
        </p:sp>
      </p:grpSp>
      <p:sp>
        <p:nvSpPr>
          <p:cNvPr id="21" name="TextBox 21"/>
          <p:cNvSpPr txBox="1"/>
          <p:nvPr/>
        </p:nvSpPr>
        <p:spPr>
          <a:xfrm>
            <a:off x="508254" y="6467475"/>
            <a:ext cx="7496708" cy="234696"/>
          </a:xfrm>
          <a:prstGeom prst="rect">
            <a:avLst/>
          </a:prstGeom>
          <a:noFill/>
          <a:ln>
            <a:noFill/>
          </a:ln>
        </p:spPr>
        <p:txBody>
          <a:bodyPr wrap="none" lIns="0" tIns="0" rIns="0" bIns="0" anchor="t" anchorCtr="0">
            <a:spAutoFit/>
          </a:bodyPr>
          <a:lstStyle/>
          <a:p>
            <a:pPr algn="l"/>
            <a:r>
              <a:rPr lang="en-GB" sz="1200" dirty="0">
                <a:solidFill>
                  <a:schemeClr val="accent6"/>
                </a:solidFill>
                <a:latin typeface="+mn-lt"/>
                <a:ea typeface="+mn-ea"/>
                <a:cs typeface="+mn-cs"/>
              </a:rPr>
              <a:t>Lim et al. 2024 · Methods 2.3, 2.5, 2.7 + Table 5 · Values are self-reported changes, not absolute intake.</a:t>
            </a:r>
          </a:p>
        </p:txBody>
      </p:sp>
    </p:spTree>
  </p:cSld>
  <p:clrMapOvr>
    <a:masterClrMapping/>
  </p:clrMapOvr>
  <p:transition xmlns:p14="http://schemas.microsoft.com/office/powerpoint/2010/main" p14:dur="35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0"/>
                            </p:stCondLst>
                            <p:childTnLst>
                              <p:par>
                                <p:cTn xmlns:p="http://schemas.openxmlformats.org/presentationml/2006/main" id="9" presetID="10"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50"/>
                                        <p:tgtEl>
                                          <p:spTgt spid="16"/>
                                        </p:tgtEl>
                                      </p:cBhvr>
                                    </p:animEffect>
                                  </p:childTnLst>
                                </p:cTn>
                              </p:par>
                            </p:childTnLst>
                          </p:cTn>
                        </p:par>
                      </p:childTnLst>
                    </p:cTn>
                  </p:par>
                  <p:par>
                    <p:cTn id="12" fill="hold">
                      <p:stCondLst>
                        <p:cond delay="indefinite"/>
                      </p:stCondLst>
                      <p:childTnLst>
                        <p:par>
                          <p:cTn id="13" fill="hold">
                            <p:stCondLst>
                              <p:cond delay="0"/>
                            </p:stCondLst>
                            <p:childTnLst>
                              <p:par>
                                <p:cTn xmlns:p="http://schemas.openxmlformats.org/presentationml/2006/main" id="14" presetID="22" presetClass="entr" presetSubtype="2"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right)">
                                      <p:cBhvr>
                                        <p:cTn id="16"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4932065"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ENERGY · TWO CHANGES, ONE OBSERVED RESULT</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03 / 11</a:t>
              </a:r>
            </a:p>
          </p:txBody>
        </p:sp>
      </p:grpSp>
      <p:grpSp>
        <p:nvGrpSpPr>
          <p:cNvPr id="6" name="scene-title"/>
          <p:cNvGrpSpPr/>
          <p:nvPr/>
        </p:nvGrpSpPr>
        <p:grpSpPr>
          <a:xfrm>
            <a:off x="495300" y="609600"/>
            <a:ext cx="10549399" cy="847725"/>
            <a:chOff x="495300" y="609600"/>
            <a:chExt cx="10549399" cy="847725"/>
          </a:xfrm>
        </p:grpSpPr>
        <p:sp>
          <p:nvSpPr>
            <p:cNvPr id="5" name="TextBox 5"/>
            <p:cNvSpPr txBox="1"/>
            <p:nvPr/>
          </p:nvSpPr>
          <p:spPr>
            <a:xfrm>
              <a:off x="495300" y="609600"/>
              <a:ext cx="10549399"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Both composition and intake changed.</a:t>
              </a:r>
            </a:p>
          </p:txBody>
        </p:sp>
      </p:grpSp>
      <p:grpSp>
        <p:nvGrpSpPr>
          <p:cNvPr id="15" name="!!composition-evidence"/>
          <p:cNvGrpSpPr/>
          <p:nvPr/>
        </p:nvGrpSpPr>
        <p:grpSpPr>
          <a:xfrm>
            <a:off x="514350" y="2028825"/>
            <a:ext cx="5334000" cy="2571750"/>
            <a:chOff x="514350" y="2028825"/>
            <a:chExt cx="5334000" cy="2571750"/>
          </a:xfrm>
        </p:grpSpPr>
        <p:sp>
          <p:nvSpPr>
            <p:cNvPr id="7" name="Rectangle 7"/>
            <p:cNvSpPr/>
            <p:nvPr/>
          </p:nvSpPr>
          <p:spPr>
            <a:xfrm>
              <a:off x="514350" y="2028825"/>
              <a:ext cx="5334000" cy="2571750"/>
            </a:xfrm>
            <a:prstGeom prst="roundRect">
              <a:avLst>
                <a:gd name="adj" fmla="val 8148"/>
              </a:avLst>
            </a:prstGeom>
            <a:solidFill>
              <a:schemeClr val="lt2"/>
            </a:solidFill>
            <a:ln>
              <a:noFill/>
            </a:ln>
          </p:spPr>
        </p:sp>
        <p:sp>
          <p:nvSpPr>
            <p:cNvPr id="8" name="Ellipse 8"/>
            <p:cNvSpPr/>
            <p:nvPr/>
          </p:nvSpPr>
          <p:spPr>
            <a:xfrm>
              <a:off x="904875" y="2457450"/>
              <a:ext cx="1181100" cy="1181100"/>
            </a:xfrm>
            <a:prstGeom prst="ellipse">
              <a:avLst/>
            </a:prstGeom>
            <a:noFill/>
            <a:ln w="38100">
              <a:solidFill>
                <a:schemeClr val="accent3"/>
              </a:solidFill>
            </a:ln>
          </p:spPr>
        </p:sp>
        <p:sp>
          <p:nvSpPr>
            <p:cNvPr id="9" name="Ellipse 9"/>
            <p:cNvSpPr/>
            <p:nvPr/>
          </p:nvSpPr>
          <p:spPr>
            <a:xfrm>
              <a:off x="1057275" y="2609850"/>
              <a:ext cx="876300" cy="876300"/>
            </a:xfrm>
            <a:prstGeom prst="ellipse">
              <a:avLst/>
            </a:prstGeom>
            <a:noFill/>
            <a:ln w="19050">
              <a:solidFill>
                <a:schemeClr val="accent3"/>
              </a:solidFill>
            </a:ln>
          </p:spPr>
        </p:sp>
        <p:sp>
          <p:nvSpPr>
            <p:cNvPr id="10" name="Ellipse 10"/>
            <p:cNvSpPr/>
            <p:nvPr/>
          </p:nvSpPr>
          <p:spPr>
            <a:xfrm>
              <a:off x="1171575" y="2828925"/>
              <a:ext cx="323850" cy="323850"/>
            </a:xfrm>
            <a:prstGeom prst="ellipse">
              <a:avLst/>
            </a:prstGeom>
            <a:solidFill>
              <a:schemeClr val="accent3"/>
            </a:solidFill>
            <a:ln>
              <a:noFill/>
            </a:ln>
          </p:spPr>
        </p:sp>
        <p:sp>
          <p:nvSpPr>
            <p:cNvPr id="11" name="Ellipse 11"/>
            <p:cNvSpPr/>
            <p:nvPr/>
          </p:nvSpPr>
          <p:spPr>
            <a:xfrm>
              <a:off x="1562100" y="3057525"/>
              <a:ext cx="247650" cy="247650"/>
            </a:xfrm>
            <a:prstGeom prst="ellipse">
              <a:avLst/>
            </a:prstGeom>
            <a:solidFill>
              <a:schemeClr val="accent2"/>
            </a:solidFill>
            <a:ln>
              <a:noFill/>
            </a:ln>
          </p:spPr>
        </p:sp>
        <p:sp>
          <p:nvSpPr>
            <p:cNvPr id="12" name="Ellipse 12"/>
            <p:cNvSpPr/>
            <p:nvPr/>
          </p:nvSpPr>
          <p:spPr>
            <a:xfrm>
              <a:off x="1552575" y="2743200"/>
              <a:ext cx="171450" cy="171450"/>
            </a:xfrm>
            <a:prstGeom prst="ellipse">
              <a:avLst/>
            </a:prstGeom>
            <a:solidFill>
              <a:schemeClr val="accent6"/>
            </a:solidFill>
            <a:ln>
              <a:noFill/>
            </a:ln>
          </p:spPr>
        </p:sp>
        <p:sp>
          <p:nvSpPr>
            <p:cNvPr id="13" name="TextBox 13"/>
            <p:cNvSpPr txBox="1"/>
            <p:nvPr/>
          </p:nvSpPr>
          <p:spPr>
            <a:xfrm>
              <a:off x="2465070" y="2454275"/>
              <a:ext cx="2488973"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Diet composition</a:t>
              </a:r>
            </a:p>
          </p:txBody>
        </p:sp>
        <p:sp>
          <p:nvSpPr>
            <p:cNvPr id="14" name="TextBox 14"/>
            <p:cNvSpPr txBox="1"/>
            <p:nvPr/>
          </p:nvSpPr>
          <p:spPr>
            <a:xfrm>
              <a:off x="2467356" y="3019425"/>
              <a:ext cx="1403467"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Carbohydrate</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restriction</a:t>
              </a:r>
            </a:p>
          </p:txBody>
        </p:sp>
      </p:grpSp>
      <p:grpSp>
        <p:nvGrpSpPr>
          <p:cNvPr id="23" name="!!calorie-evidence"/>
          <p:cNvGrpSpPr/>
          <p:nvPr/>
        </p:nvGrpSpPr>
        <p:grpSpPr>
          <a:xfrm>
            <a:off x="6343650" y="2028825"/>
            <a:ext cx="5334000" cy="2571750"/>
            <a:chOff x="6343650" y="2028825"/>
            <a:chExt cx="5334000" cy="2571750"/>
          </a:xfrm>
        </p:grpSpPr>
        <p:sp>
          <p:nvSpPr>
            <p:cNvPr id="16" name="Rectangle 16"/>
            <p:cNvSpPr/>
            <p:nvPr/>
          </p:nvSpPr>
          <p:spPr>
            <a:xfrm>
              <a:off x="6343650" y="2028825"/>
              <a:ext cx="5334000" cy="2571750"/>
            </a:xfrm>
            <a:prstGeom prst="roundRect">
              <a:avLst>
                <a:gd name="adj" fmla="val 8148"/>
              </a:avLst>
            </a:prstGeom>
            <a:solidFill>
              <a:schemeClr val="lt2"/>
            </a:solidFill>
            <a:ln>
              <a:noFill/>
            </a:ln>
          </p:spPr>
        </p:sp>
        <p:sp>
          <p:nvSpPr>
            <p:cNvPr id="17" name="Rectangle 17"/>
            <p:cNvSpPr/>
            <p:nvPr/>
          </p:nvSpPr>
          <p:spPr>
            <a:xfrm>
              <a:off x="6762750" y="2533650"/>
              <a:ext cx="857250" cy="1133475"/>
            </a:xfrm>
            <a:prstGeom prst="roundRect">
              <a:avLst>
                <a:gd name="adj" fmla="val 13333"/>
              </a:avLst>
            </a:prstGeom>
            <a:noFill/>
            <a:ln w="38100">
              <a:solidFill>
                <a:schemeClr val="accent3"/>
              </a:solidFill>
            </a:ln>
          </p:spPr>
        </p:sp>
        <p:sp>
          <p:nvSpPr>
            <p:cNvPr id="18" name="Line 18"/>
            <p:cNvSpPr/>
            <p:nvPr/>
          </p:nvSpPr>
          <p:spPr>
            <a:xfrm>
              <a:off x="6924675" y="2790825"/>
              <a:ext cx="523875" cy="9525"/>
            </a:xfrm>
            <a:custGeom>
              <a:avLst/>
              <a:gdLst/>
              <a:ahLst/>
              <a:cxnLst/>
              <a:rect l="l" t="t" r="r" b="b"/>
              <a:pathLst>
                <a:path w="523875" h="9525">
                  <a:moveTo>
                    <a:pt x="0" y="0"/>
                  </a:moveTo>
                  <a:lnTo>
                    <a:pt x="523875" y="0"/>
                  </a:lnTo>
                </a:path>
              </a:pathLst>
            </a:custGeom>
            <a:noFill/>
            <a:ln w="28575">
              <a:solidFill>
                <a:schemeClr val="accent3"/>
              </a:solidFill>
            </a:ln>
          </p:spPr>
        </p:sp>
        <p:sp>
          <p:nvSpPr>
            <p:cNvPr id="19" name="Line 19"/>
            <p:cNvSpPr/>
            <p:nvPr/>
          </p:nvSpPr>
          <p:spPr>
            <a:xfrm>
              <a:off x="6924675" y="3048000"/>
              <a:ext cx="523875" cy="9525"/>
            </a:xfrm>
            <a:custGeom>
              <a:avLst/>
              <a:gdLst/>
              <a:ahLst/>
              <a:cxnLst/>
              <a:rect l="l" t="t" r="r" b="b"/>
              <a:pathLst>
                <a:path w="523875" h="9525">
                  <a:moveTo>
                    <a:pt x="0" y="0"/>
                  </a:moveTo>
                  <a:lnTo>
                    <a:pt x="523875" y="0"/>
                  </a:lnTo>
                </a:path>
              </a:pathLst>
            </a:custGeom>
            <a:noFill/>
            <a:ln w="28575">
              <a:solidFill>
                <a:schemeClr val="accent3"/>
              </a:solidFill>
            </a:ln>
          </p:spPr>
        </p:sp>
        <p:sp>
          <p:nvSpPr>
            <p:cNvPr id="20" name="Line 20"/>
            <p:cNvSpPr/>
            <p:nvPr/>
          </p:nvSpPr>
          <p:spPr>
            <a:xfrm>
              <a:off x="6924675" y="3305175"/>
              <a:ext cx="523875" cy="9525"/>
            </a:xfrm>
            <a:custGeom>
              <a:avLst/>
              <a:gdLst/>
              <a:ahLst/>
              <a:cxnLst/>
              <a:rect l="l" t="t" r="r" b="b"/>
              <a:pathLst>
                <a:path w="523875" h="9525">
                  <a:moveTo>
                    <a:pt x="0" y="0"/>
                  </a:moveTo>
                  <a:lnTo>
                    <a:pt x="523875" y="0"/>
                  </a:lnTo>
                </a:path>
              </a:pathLst>
            </a:custGeom>
            <a:noFill/>
            <a:ln w="28575">
              <a:solidFill>
                <a:schemeClr val="accent3"/>
              </a:solidFill>
            </a:ln>
          </p:spPr>
        </p:sp>
        <p:sp>
          <p:nvSpPr>
            <p:cNvPr id="21" name="TextBox 21"/>
            <p:cNvSpPr txBox="1"/>
            <p:nvPr/>
          </p:nvSpPr>
          <p:spPr>
            <a:xfrm>
              <a:off x="7856220" y="2454275"/>
              <a:ext cx="2590587"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Reported calories</a:t>
              </a:r>
            </a:p>
          </p:txBody>
        </p:sp>
        <p:sp>
          <p:nvSpPr>
            <p:cNvPr id="22" name="TextBox 22"/>
            <p:cNvSpPr txBox="1"/>
            <p:nvPr/>
          </p:nvSpPr>
          <p:spPr>
            <a:xfrm>
              <a:off x="7858506" y="3019425"/>
              <a:ext cx="1683090"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Larger reduction</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in HKD</a:t>
              </a:r>
            </a:p>
          </p:txBody>
        </p:sp>
      </p:grpSp>
      <p:grpSp>
        <p:nvGrpSpPr>
          <p:cNvPr id="26" name="!!mechanism-caption"/>
          <p:cNvGrpSpPr/>
          <p:nvPr/>
        </p:nvGrpSpPr>
        <p:grpSpPr>
          <a:xfrm>
            <a:off x="2774518" y="5280025"/>
            <a:ext cx="6642963" cy="891794"/>
            <a:chOff x="2774518" y="5280025"/>
            <a:chExt cx="6642963" cy="891794"/>
          </a:xfrm>
        </p:grpSpPr>
        <p:sp>
          <p:nvSpPr>
            <p:cNvPr id="24" name="TextBox 24"/>
            <p:cNvSpPr txBox="1"/>
            <p:nvPr/>
          </p:nvSpPr>
          <p:spPr>
            <a:xfrm>
              <a:off x="2774518" y="5280025"/>
              <a:ext cx="6642963" cy="528066"/>
            </a:xfrm>
            <a:prstGeom prst="rect">
              <a:avLst/>
            </a:prstGeom>
            <a:noFill/>
            <a:ln>
              <a:noFill/>
            </a:ln>
          </p:spPr>
          <p:txBody>
            <a:bodyPr wrap="none" lIns="0" tIns="0" rIns="0" bIns="0" anchor="t" anchorCtr="0">
              <a:spAutoFit/>
            </a:bodyPr>
            <a:lstStyle/>
            <a:p>
              <a:pPr algn="ctr"/>
              <a:r>
                <a:rPr lang="en-GB" sz="2700" b="1" dirty="0">
                  <a:solidFill>
                    <a:schemeClr val="dk1"/>
                  </a:solidFill>
                  <a:latin typeface="+mj-lt"/>
                  <a:ea typeface="+mj-ea"/>
                  <a:cs typeface="+mj-cs"/>
                </a:rPr>
                <a:t>Both accompanied greater weight loss.</a:t>
              </a:r>
            </a:p>
          </p:txBody>
        </p:sp>
        <p:sp>
          <p:nvSpPr>
            <p:cNvPr id="25" name="TextBox 25"/>
            <p:cNvSpPr txBox="1"/>
            <p:nvPr/>
          </p:nvSpPr>
          <p:spPr>
            <a:xfrm>
              <a:off x="3288642" y="5819775"/>
              <a:ext cx="5614717" cy="352044"/>
            </a:xfrm>
            <a:prstGeom prst="rect">
              <a:avLst/>
            </a:prstGeom>
            <a:noFill/>
            <a:ln>
              <a:noFill/>
            </a:ln>
          </p:spPr>
          <p:txBody>
            <a:bodyPr wrap="none" lIns="0" tIns="0" rIns="0" bIns="0" anchor="t" anchorCtr="0">
              <a:spAutoFit/>
            </a:bodyPr>
            <a:lstStyle/>
            <a:p>
              <a:pPr algn="ctr"/>
              <a:r>
                <a:rPr lang="en-GB" sz="1800" dirty="0">
                  <a:solidFill>
                    <a:schemeClr val="accent5"/>
                  </a:solidFill>
                  <a:latin typeface="+mn-lt"/>
                  <a:ea typeface="+mn-ea"/>
                  <a:cs typeface="+mn-cs"/>
                </a:rPr>
                <a:t>Their contributions were not experimentally isolated.</a:t>
              </a:r>
            </a:p>
          </p:txBody>
        </p:sp>
      </p:grpSp>
      <p:sp>
        <p:nvSpPr>
          <p:cNvPr id="27" name="TextBox 27"/>
          <p:cNvSpPr txBox="1"/>
          <p:nvPr/>
        </p:nvSpPr>
        <p:spPr>
          <a:xfrm>
            <a:off x="508254" y="6467475"/>
            <a:ext cx="8309391"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Lim et al. 2024 · Table 5 + Discussion · This comparison does not apportion the causal contribution of each change.</a:t>
            </a:r>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childTnLst>
                          </p:cTn>
                        </p:par>
                        <p:par>
                          <p:cTn id="8" fill="hold">
                            <p:stCondLst>
                              <p:cond delay="0"/>
                            </p:stCondLst>
                            <p:childTnLst>
                              <p:par>
                                <p:cTn id="9" presetID="10"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5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7832664"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ENERGY · LIMIT TO ATTRIBUTION, NOT AUTOMATICALLY FAILED RANDOMISATION</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04 / 11</a:t>
              </a:r>
            </a:p>
          </p:txBody>
        </p:sp>
      </p:grpSp>
      <p:grpSp>
        <p:nvGrpSpPr>
          <p:cNvPr id="6" name="scene-title"/>
          <p:cNvGrpSpPr/>
          <p:nvPr/>
        </p:nvGrpSpPr>
        <p:grpSpPr>
          <a:xfrm>
            <a:off x="495300" y="609600"/>
            <a:ext cx="9167588" cy="847725"/>
            <a:chOff x="495300" y="609600"/>
            <a:chExt cx="9167588" cy="847725"/>
          </a:xfrm>
        </p:grpSpPr>
        <p:sp>
          <p:nvSpPr>
            <p:cNvPr id="5" name="TextBox 5"/>
            <p:cNvSpPr txBox="1"/>
            <p:nvPr/>
          </p:nvSpPr>
          <p:spPr>
            <a:xfrm>
              <a:off x="495300" y="609600"/>
              <a:ext cx="9167588"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The mechanism is still uncertain.</a:t>
              </a:r>
            </a:p>
          </p:txBody>
        </p:sp>
      </p:grpSp>
      <p:grpSp>
        <p:nvGrpSpPr>
          <p:cNvPr id="15" name="!!composition-evidence"/>
          <p:cNvGrpSpPr/>
          <p:nvPr/>
        </p:nvGrpSpPr>
        <p:grpSpPr>
          <a:xfrm>
            <a:off x="514350" y="1857375"/>
            <a:ext cx="5334000" cy="2571750"/>
            <a:chOff x="514350" y="1857375"/>
            <a:chExt cx="5334000" cy="2571750"/>
          </a:xfrm>
        </p:grpSpPr>
        <p:sp>
          <p:nvSpPr>
            <p:cNvPr id="7" name="Rectangle 7"/>
            <p:cNvSpPr/>
            <p:nvPr/>
          </p:nvSpPr>
          <p:spPr>
            <a:xfrm>
              <a:off x="514350" y="1857375"/>
              <a:ext cx="5334000" cy="2571750"/>
            </a:xfrm>
            <a:prstGeom prst="roundRect">
              <a:avLst>
                <a:gd name="adj" fmla="val 8148"/>
              </a:avLst>
            </a:prstGeom>
            <a:solidFill>
              <a:srgbClr val="FBE6DE"/>
            </a:solidFill>
            <a:ln>
              <a:noFill/>
            </a:ln>
          </p:spPr>
        </p:sp>
        <p:sp>
          <p:nvSpPr>
            <p:cNvPr id="8" name="Ellipse 8"/>
            <p:cNvSpPr/>
            <p:nvPr/>
          </p:nvSpPr>
          <p:spPr>
            <a:xfrm>
              <a:off x="904875" y="2286000"/>
              <a:ext cx="1181100" cy="1181100"/>
            </a:xfrm>
            <a:prstGeom prst="ellipse">
              <a:avLst/>
            </a:prstGeom>
            <a:noFill/>
            <a:ln w="38100">
              <a:solidFill>
                <a:schemeClr val="accent2"/>
              </a:solidFill>
            </a:ln>
          </p:spPr>
        </p:sp>
        <p:sp>
          <p:nvSpPr>
            <p:cNvPr id="9" name="Ellipse 9"/>
            <p:cNvSpPr/>
            <p:nvPr/>
          </p:nvSpPr>
          <p:spPr>
            <a:xfrm>
              <a:off x="1057275" y="2438400"/>
              <a:ext cx="876300" cy="876300"/>
            </a:xfrm>
            <a:prstGeom prst="ellipse">
              <a:avLst/>
            </a:prstGeom>
            <a:noFill/>
            <a:ln w="19050">
              <a:solidFill>
                <a:schemeClr val="accent2"/>
              </a:solidFill>
            </a:ln>
          </p:spPr>
        </p:sp>
        <p:sp>
          <p:nvSpPr>
            <p:cNvPr id="10" name="Ellipse 10"/>
            <p:cNvSpPr/>
            <p:nvPr/>
          </p:nvSpPr>
          <p:spPr>
            <a:xfrm>
              <a:off x="1171575" y="2657475"/>
              <a:ext cx="323850" cy="323850"/>
            </a:xfrm>
            <a:prstGeom prst="ellipse">
              <a:avLst/>
            </a:prstGeom>
            <a:solidFill>
              <a:schemeClr val="accent2"/>
            </a:solidFill>
            <a:ln>
              <a:noFill/>
            </a:ln>
          </p:spPr>
        </p:sp>
        <p:sp>
          <p:nvSpPr>
            <p:cNvPr id="11" name="Ellipse 11"/>
            <p:cNvSpPr/>
            <p:nvPr/>
          </p:nvSpPr>
          <p:spPr>
            <a:xfrm>
              <a:off x="1562100" y="2886075"/>
              <a:ext cx="247650" cy="247650"/>
            </a:xfrm>
            <a:prstGeom prst="ellipse">
              <a:avLst/>
            </a:prstGeom>
            <a:solidFill>
              <a:schemeClr val="accent2"/>
            </a:solidFill>
            <a:ln>
              <a:noFill/>
            </a:ln>
          </p:spPr>
        </p:sp>
        <p:sp>
          <p:nvSpPr>
            <p:cNvPr id="12" name="Ellipse 12"/>
            <p:cNvSpPr/>
            <p:nvPr/>
          </p:nvSpPr>
          <p:spPr>
            <a:xfrm>
              <a:off x="1552575" y="2571750"/>
              <a:ext cx="171450" cy="171450"/>
            </a:xfrm>
            <a:prstGeom prst="ellipse">
              <a:avLst/>
            </a:prstGeom>
            <a:solidFill>
              <a:schemeClr val="accent6"/>
            </a:solidFill>
            <a:ln>
              <a:noFill/>
            </a:ln>
          </p:spPr>
        </p:sp>
        <p:sp>
          <p:nvSpPr>
            <p:cNvPr id="13" name="TextBox 13"/>
            <p:cNvSpPr txBox="1"/>
            <p:nvPr/>
          </p:nvSpPr>
          <p:spPr>
            <a:xfrm>
              <a:off x="2465070" y="2282825"/>
              <a:ext cx="2488973"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Diet composition</a:t>
              </a:r>
            </a:p>
          </p:txBody>
        </p:sp>
        <p:sp>
          <p:nvSpPr>
            <p:cNvPr id="14" name="TextBox 14"/>
            <p:cNvSpPr txBox="1"/>
            <p:nvPr/>
          </p:nvSpPr>
          <p:spPr>
            <a:xfrm>
              <a:off x="2467356" y="2847975"/>
              <a:ext cx="1403467"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Carbohydrate</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restriction</a:t>
              </a:r>
            </a:p>
          </p:txBody>
        </p:sp>
      </p:grpSp>
      <p:grpSp>
        <p:nvGrpSpPr>
          <p:cNvPr id="23" name="!!calorie-evidence"/>
          <p:cNvGrpSpPr/>
          <p:nvPr/>
        </p:nvGrpSpPr>
        <p:grpSpPr>
          <a:xfrm>
            <a:off x="6343650" y="1857375"/>
            <a:ext cx="5334000" cy="2571750"/>
            <a:chOff x="6343650" y="1857375"/>
            <a:chExt cx="5334000" cy="2571750"/>
          </a:xfrm>
        </p:grpSpPr>
        <p:sp>
          <p:nvSpPr>
            <p:cNvPr id="16" name="Rectangle 16"/>
            <p:cNvSpPr/>
            <p:nvPr/>
          </p:nvSpPr>
          <p:spPr>
            <a:xfrm>
              <a:off x="6343650" y="1857375"/>
              <a:ext cx="5334000" cy="2571750"/>
            </a:xfrm>
            <a:prstGeom prst="roundRect">
              <a:avLst>
                <a:gd name="adj" fmla="val 8148"/>
              </a:avLst>
            </a:prstGeom>
            <a:solidFill>
              <a:schemeClr val="lt2"/>
            </a:solidFill>
            <a:ln>
              <a:noFill/>
            </a:ln>
          </p:spPr>
        </p:sp>
        <p:sp>
          <p:nvSpPr>
            <p:cNvPr id="17" name="Rectangle 17"/>
            <p:cNvSpPr/>
            <p:nvPr/>
          </p:nvSpPr>
          <p:spPr>
            <a:xfrm>
              <a:off x="6762750" y="2362200"/>
              <a:ext cx="857250" cy="1133475"/>
            </a:xfrm>
            <a:prstGeom prst="roundRect">
              <a:avLst>
                <a:gd name="adj" fmla="val 13333"/>
              </a:avLst>
            </a:prstGeom>
            <a:noFill/>
            <a:ln w="38100">
              <a:solidFill>
                <a:schemeClr val="accent3"/>
              </a:solidFill>
            </a:ln>
          </p:spPr>
        </p:sp>
        <p:sp>
          <p:nvSpPr>
            <p:cNvPr id="18" name="Line 18"/>
            <p:cNvSpPr/>
            <p:nvPr/>
          </p:nvSpPr>
          <p:spPr>
            <a:xfrm>
              <a:off x="6924675" y="2619375"/>
              <a:ext cx="523875" cy="9525"/>
            </a:xfrm>
            <a:custGeom>
              <a:avLst/>
              <a:gdLst/>
              <a:ahLst/>
              <a:cxnLst/>
              <a:rect l="l" t="t" r="r" b="b"/>
              <a:pathLst>
                <a:path w="523875" h="9525">
                  <a:moveTo>
                    <a:pt x="0" y="0"/>
                  </a:moveTo>
                  <a:lnTo>
                    <a:pt x="523875" y="0"/>
                  </a:lnTo>
                </a:path>
              </a:pathLst>
            </a:custGeom>
            <a:noFill/>
            <a:ln w="28575">
              <a:solidFill>
                <a:schemeClr val="accent3"/>
              </a:solidFill>
            </a:ln>
          </p:spPr>
        </p:sp>
        <p:sp>
          <p:nvSpPr>
            <p:cNvPr id="19" name="Line 19"/>
            <p:cNvSpPr/>
            <p:nvPr/>
          </p:nvSpPr>
          <p:spPr>
            <a:xfrm>
              <a:off x="6924675" y="2876550"/>
              <a:ext cx="523875" cy="9525"/>
            </a:xfrm>
            <a:custGeom>
              <a:avLst/>
              <a:gdLst/>
              <a:ahLst/>
              <a:cxnLst/>
              <a:rect l="l" t="t" r="r" b="b"/>
              <a:pathLst>
                <a:path w="523875" h="9525">
                  <a:moveTo>
                    <a:pt x="0" y="0"/>
                  </a:moveTo>
                  <a:lnTo>
                    <a:pt x="523875" y="0"/>
                  </a:lnTo>
                </a:path>
              </a:pathLst>
            </a:custGeom>
            <a:noFill/>
            <a:ln w="28575">
              <a:solidFill>
                <a:schemeClr val="accent3"/>
              </a:solidFill>
            </a:ln>
          </p:spPr>
        </p:sp>
        <p:sp>
          <p:nvSpPr>
            <p:cNvPr id="20" name="Line 20"/>
            <p:cNvSpPr/>
            <p:nvPr/>
          </p:nvSpPr>
          <p:spPr>
            <a:xfrm>
              <a:off x="6924675" y="3133725"/>
              <a:ext cx="523875" cy="9525"/>
            </a:xfrm>
            <a:custGeom>
              <a:avLst/>
              <a:gdLst/>
              <a:ahLst/>
              <a:cxnLst/>
              <a:rect l="l" t="t" r="r" b="b"/>
              <a:pathLst>
                <a:path w="523875" h="9525">
                  <a:moveTo>
                    <a:pt x="0" y="0"/>
                  </a:moveTo>
                  <a:lnTo>
                    <a:pt x="523875" y="0"/>
                  </a:lnTo>
                </a:path>
              </a:pathLst>
            </a:custGeom>
            <a:noFill/>
            <a:ln w="28575">
              <a:solidFill>
                <a:schemeClr val="accent3"/>
              </a:solidFill>
            </a:ln>
          </p:spPr>
        </p:sp>
        <p:sp>
          <p:nvSpPr>
            <p:cNvPr id="21" name="TextBox 21"/>
            <p:cNvSpPr txBox="1"/>
            <p:nvPr/>
          </p:nvSpPr>
          <p:spPr>
            <a:xfrm>
              <a:off x="7856220" y="2282825"/>
              <a:ext cx="2590587"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Reported calories</a:t>
              </a:r>
            </a:p>
          </p:txBody>
        </p:sp>
        <p:sp>
          <p:nvSpPr>
            <p:cNvPr id="22" name="TextBox 22"/>
            <p:cNvSpPr txBox="1"/>
            <p:nvPr/>
          </p:nvSpPr>
          <p:spPr>
            <a:xfrm>
              <a:off x="7858506" y="2847975"/>
              <a:ext cx="1683090" cy="704469"/>
            </a:xfrm>
            <a:prstGeom prst="rect">
              <a:avLst/>
            </a:prstGeom>
            <a:noFill/>
            <a:ln>
              <a:noFill/>
            </a:ln>
          </p:spPr>
          <p:txBody>
            <a:bodyPr wrap="none" lIns="0" tIns="0" rIns="0" bIns="0" anchor="t" anchorCtr="0">
              <a:spAutoFit/>
            </a:bodyPr>
            <a:lstStyle/>
            <a:p>
              <a:pPr algn="l">
                <a:lnSpc>
                  <a:spcPts val="2775"/>
                </a:lnSpc>
              </a:pPr>
              <a:r>
                <a:rPr lang="en-GB" sz="1800" dirty="0">
                  <a:solidFill>
                    <a:schemeClr val="accent5"/>
                  </a:solidFill>
                  <a:latin typeface="+mn-lt"/>
                  <a:ea typeface="+mn-ea"/>
                  <a:cs typeface="+mn-cs"/>
                </a:rPr>
                <a:t>Larger reduction</a:t>
              </a:r>
              <a:br>
                <a:rPr lang="en-GB" sz="1800" dirty="0">
                  <a:solidFill>
                    <a:schemeClr val="accent5"/>
                  </a:solidFill>
                  <a:latin typeface="+mn-lt"/>
                  <a:ea typeface="+mn-ea"/>
                  <a:cs typeface="+mn-cs"/>
                </a:rPr>
              </a:br>
              <a:r>
                <a:rPr lang="en-GB" sz="1800" dirty="0">
                  <a:solidFill>
                    <a:schemeClr val="accent5"/>
                  </a:solidFill>
                  <a:latin typeface="+mn-lt"/>
                  <a:ea typeface="+mn-ea"/>
                  <a:cs typeface="+mn-cs"/>
                </a:rPr>
                <a:t>in HKD</a:t>
              </a:r>
            </a:p>
          </p:txBody>
        </p:sp>
      </p:grpSp>
      <p:grpSp>
        <p:nvGrpSpPr>
          <p:cNvPr id="26" name="!!mechanism-caption"/>
          <p:cNvGrpSpPr/>
          <p:nvPr/>
        </p:nvGrpSpPr>
        <p:grpSpPr>
          <a:xfrm>
            <a:off x="2536832" y="5330825"/>
            <a:ext cx="7118335" cy="840994"/>
            <a:chOff x="2536832" y="5330825"/>
            <a:chExt cx="7118335" cy="840994"/>
          </a:xfrm>
        </p:grpSpPr>
        <p:sp>
          <p:nvSpPr>
            <p:cNvPr id="24" name="TextBox 24"/>
            <p:cNvSpPr txBox="1"/>
            <p:nvPr/>
          </p:nvSpPr>
          <p:spPr>
            <a:xfrm>
              <a:off x="2536832" y="5330825"/>
              <a:ext cx="7118335" cy="440055"/>
            </a:xfrm>
            <a:prstGeom prst="rect">
              <a:avLst/>
            </a:prstGeom>
            <a:noFill/>
            <a:ln>
              <a:noFill/>
            </a:ln>
          </p:spPr>
          <p:txBody>
            <a:bodyPr wrap="none" lIns="0" tIns="0" rIns="0" bIns="0" anchor="t" anchorCtr="0">
              <a:spAutoFit/>
            </a:bodyPr>
            <a:lstStyle/>
            <a:p>
              <a:pPr algn="ctr"/>
              <a:r>
                <a:rPr lang="en-GB" sz="2250" b="1" dirty="0">
                  <a:solidFill>
                    <a:schemeClr val="accent2"/>
                  </a:solidFill>
                  <a:latin typeface="+mn-lt"/>
                  <a:ea typeface="+mn-ea"/>
                  <a:cs typeface="+mn-cs"/>
                </a:rPr>
                <a:t>A calorie-independent ketosis effect is unproven.</a:t>
              </a:r>
            </a:p>
          </p:txBody>
        </p:sp>
        <p:sp>
          <p:nvSpPr>
            <p:cNvPr id="25" name="TextBox 25"/>
            <p:cNvSpPr txBox="1"/>
            <p:nvPr/>
          </p:nvSpPr>
          <p:spPr>
            <a:xfrm>
              <a:off x="3341969" y="5819775"/>
              <a:ext cx="5508062" cy="352044"/>
            </a:xfrm>
            <a:prstGeom prst="rect">
              <a:avLst/>
            </a:prstGeom>
            <a:noFill/>
            <a:ln>
              <a:noFill/>
            </a:ln>
          </p:spPr>
          <p:txBody>
            <a:bodyPr wrap="none" lIns="0" tIns="0" rIns="0" bIns="0" anchor="t" anchorCtr="0">
              <a:spAutoFit/>
            </a:bodyPr>
            <a:lstStyle/>
            <a:p>
              <a:pPr algn="ctr"/>
              <a:r>
                <a:rPr lang="en-GB" sz="1800" dirty="0">
                  <a:solidFill>
                    <a:schemeClr val="dk1"/>
                  </a:solidFill>
                  <a:latin typeface="+mn-lt"/>
                  <a:ea typeface="+mn-ea"/>
                  <a:cs typeface="+mn-cs"/>
                </a:rPr>
                <a:t>Eating less can be part of the programme’s benefit.</a:t>
              </a:r>
            </a:p>
          </p:txBody>
        </p:sp>
      </p:grpSp>
      <p:sp>
        <p:nvSpPr>
          <p:cNvPr id="27" name="TextBox 27"/>
          <p:cNvSpPr txBox="1"/>
          <p:nvPr/>
        </p:nvSpPr>
        <p:spPr>
          <a:xfrm>
            <a:off x="508254" y="6467475"/>
            <a:ext cx="7326060"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The two explanations may overlap; the trial did not isolate ketosis itself from energy-intake differences.</a:t>
            </a:r>
          </a:p>
        </p:txBody>
      </p:sp>
    </p:spTree>
  </p:cSld>
  <p:clrMapOvr>
    <a:masterClrMapping/>
  </p:clrMapOvr>
  <mc:AlternateContent>
    <mc:Choice Requires="p159">
      <p:transition p14:dur="1000">
        <p159:morph option="byObject"/>
      </p:transition>
    </mc:Choice>
    <mc:Fallback>
      <p:transition>
        <p:fade/>
      </p:transition>
    </mc:Fallback>
  </mc:AlternateContent>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4611961"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KETOSIS · INSTRUCTION VS ACTUAL EXPOSURE</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05 / 11</a:t>
              </a:r>
            </a:p>
          </p:txBody>
        </p:sp>
      </p:grpSp>
      <p:grpSp>
        <p:nvGrpSpPr>
          <p:cNvPr id="6" name="scene-title"/>
          <p:cNvGrpSpPr/>
          <p:nvPr/>
        </p:nvGrpSpPr>
        <p:grpSpPr>
          <a:xfrm>
            <a:off x="495300" y="609600"/>
            <a:ext cx="8781494" cy="847725"/>
            <a:chOff x="495300" y="609600"/>
            <a:chExt cx="8781494" cy="847725"/>
          </a:xfrm>
        </p:grpSpPr>
        <p:sp>
          <p:nvSpPr>
            <p:cNvPr id="5" name="TextBox 5"/>
            <p:cNvSpPr txBox="1"/>
            <p:nvPr/>
          </p:nvSpPr>
          <p:spPr>
            <a:xfrm>
              <a:off x="495300" y="609600"/>
              <a:ext cx="8781494"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Was ketosis actually confirmed?</a:t>
              </a:r>
            </a:p>
          </p:txBody>
        </p:sp>
      </p:grpSp>
      <p:grpSp>
        <p:nvGrpSpPr>
          <p:cNvPr id="10" name="carbohydrate-target"/>
          <p:cNvGrpSpPr/>
          <p:nvPr/>
        </p:nvGrpSpPr>
        <p:grpSpPr>
          <a:xfrm>
            <a:off x="628650" y="2416175"/>
            <a:ext cx="2520385" cy="1755394"/>
            <a:chOff x="628650" y="2416175"/>
            <a:chExt cx="2520385" cy="1755394"/>
          </a:xfrm>
        </p:grpSpPr>
        <p:sp>
          <p:nvSpPr>
            <p:cNvPr id="7" name="TextBox 7"/>
            <p:cNvSpPr txBox="1"/>
            <p:nvPr/>
          </p:nvSpPr>
          <p:spPr>
            <a:xfrm>
              <a:off x="678942" y="2416175"/>
              <a:ext cx="1891480"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THE PRESCRIPTION</a:t>
              </a:r>
            </a:p>
          </p:txBody>
        </p:sp>
        <p:sp>
          <p:nvSpPr>
            <p:cNvPr id="8" name="TextBox 8"/>
            <p:cNvSpPr txBox="1"/>
            <p:nvPr/>
          </p:nvSpPr>
          <p:spPr>
            <a:xfrm>
              <a:off x="628650" y="2673350"/>
              <a:ext cx="2520385" cy="1390650"/>
            </a:xfrm>
            <a:prstGeom prst="rect">
              <a:avLst/>
            </a:prstGeom>
            <a:noFill/>
            <a:ln>
              <a:noFill/>
            </a:ln>
          </p:spPr>
          <p:txBody>
            <a:bodyPr wrap="none" lIns="0" tIns="0" rIns="0" bIns="0" anchor="t" anchorCtr="0">
              <a:spAutoFit/>
            </a:bodyPr>
            <a:lstStyle/>
            <a:p>
              <a:pPr algn="l"/>
              <a:r>
                <a:rPr lang="en-GB" sz="7200" b="1" dirty="0">
                  <a:solidFill>
                    <a:schemeClr val="dk1"/>
                  </a:solidFill>
                  <a:latin typeface="+mj-lt"/>
                  <a:ea typeface="+mj-ea"/>
                  <a:cs typeface="+mj-cs"/>
                </a:rPr>
                <a:t>≤50 g</a:t>
              </a:r>
            </a:p>
          </p:txBody>
        </p:sp>
        <p:sp>
          <p:nvSpPr>
            <p:cNvPr id="9" name="TextBox 9"/>
            <p:cNvSpPr txBox="1"/>
            <p:nvPr/>
          </p:nvSpPr>
          <p:spPr>
            <a:xfrm>
              <a:off x="695706" y="3819525"/>
              <a:ext cx="2294944" cy="352044"/>
            </a:xfrm>
            <a:prstGeom prst="rect">
              <a:avLst/>
            </a:prstGeom>
            <a:noFill/>
            <a:ln>
              <a:noFill/>
            </a:ln>
          </p:spPr>
          <p:txBody>
            <a:bodyPr wrap="none" lIns="0" tIns="0" rIns="0" bIns="0" anchor="t" anchorCtr="0">
              <a:spAutoFit/>
            </a:bodyPr>
            <a:lstStyle/>
            <a:p>
              <a:pPr algn="l"/>
              <a:r>
                <a:rPr lang="en-GB" sz="1800" dirty="0">
                  <a:solidFill>
                    <a:schemeClr val="dk1"/>
                  </a:solidFill>
                  <a:latin typeface="+mn-lt"/>
                  <a:ea typeface="+mn-ea"/>
                  <a:cs typeface="+mn-cs"/>
                </a:rPr>
                <a:t>net carbohydrate/day</a:t>
              </a:r>
            </a:p>
          </p:txBody>
        </p:sp>
      </p:grpSp>
      <p:grpSp>
        <p:nvGrpSpPr>
          <p:cNvPr id="17" name="reported-intake"/>
          <p:cNvGrpSpPr/>
          <p:nvPr/>
        </p:nvGrpSpPr>
        <p:grpSpPr>
          <a:xfrm>
            <a:off x="4019550" y="2257425"/>
            <a:ext cx="2526318" cy="1951355"/>
            <a:chOff x="4019550" y="2257425"/>
            <a:chExt cx="2526318" cy="1951355"/>
          </a:xfrm>
        </p:grpSpPr>
        <p:sp>
          <p:nvSpPr>
            <p:cNvPr id="11" name="Line 11"/>
            <p:cNvSpPr/>
            <p:nvPr/>
          </p:nvSpPr>
          <p:spPr>
            <a:xfrm>
              <a:off x="4019550" y="3181350"/>
              <a:ext cx="361950" cy="1"/>
            </a:xfrm>
            <a:prstGeom prst="line">
              <a:avLst/>
            </a:prstGeom>
            <a:noFill/>
            <a:ln w="38100">
              <a:solidFill>
                <a:schemeClr val="accent6"/>
              </a:solidFill>
              <a:tailEnd type="triangle" w="lg" len="lg"/>
            </a:ln>
          </p:spPr>
        </p:sp>
        <p:sp>
          <p:nvSpPr>
            <p:cNvPr id="12" name="Rectangle 12"/>
            <p:cNvSpPr/>
            <p:nvPr/>
          </p:nvSpPr>
          <p:spPr>
            <a:xfrm>
              <a:off x="4762500" y="2257425"/>
              <a:ext cx="1114425" cy="1381125"/>
            </a:xfrm>
            <a:prstGeom prst="roundRect">
              <a:avLst>
                <a:gd name="adj" fmla="val 10256"/>
              </a:avLst>
            </a:prstGeom>
            <a:solidFill>
              <a:schemeClr val="lt2"/>
            </a:solidFill>
            <a:ln w="28575">
              <a:solidFill>
                <a:schemeClr val="accent3"/>
              </a:solidFill>
            </a:ln>
          </p:spPr>
        </p:sp>
        <p:sp>
          <p:nvSpPr>
            <p:cNvPr id="13" name="Line 13"/>
            <p:cNvSpPr/>
            <p:nvPr/>
          </p:nvSpPr>
          <p:spPr>
            <a:xfrm>
              <a:off x="4953000" y="2562225"/>
              <a:ext cx="704850" cy="9525"/>
            </a:xfrm>
            <a:custGeom>
              <a:avLst/>
              <a:gdLst/>
              <a:ahLst/>
              <a:cxnLst/>
              <a:rect l="l" t="t" r="r" b="b"/>
              <a:pathLst>
                <a:path w="704850" h="9525">
                  <a:moveTo>
                    <a:pt x="0" y="0"/>
                  </a:moveTo>
                  <a:lnTo>
                    <a:pt x="704850" y="0"/>
                  </a:lnTo>
                </a:path>
              </a:pathLst>
            </a:custGeom>
            <a:noFill/>
            <a:ln w="28575">
              <a:solidFill>
                <a:schemeClr val="accent3"/>
              </a:solidFill>
            </a:ln>
          </p:spPr>
        </p:sp>
        <p:sp>
          <p:nvSpPr>
            <p:cNvPr id="14" name="Line 14"/>
            <p:cNvSpPr/>
            <p:nvPr/>
          </p:nvSpPr>
          <p:spPr>
            <a:xfrm>
              <a:off x="4953000" y="2819400"/>
              <a:ext cx="704850" cy="9525"/>
            </a:xfrm>
            <a:custGeom>
              <a:avLst/>
              <a:gdLst/>
              <a:ahLst/>
              <a:cxnLst/>
              <a:rect l="l" t="t" r="r" b="b"/>
              <a:pathLst>
                <a:path w="704850" h="9525">
                  <a:moveTo>
                    <a:pt x="0" y="0"/>
                  </a:moveTo>
                  <a:lnTo>
                    <a:pt x="704850" y="0"/>
                  </a:lnTo>
                </a:path>
              </a:pathLst>
            </a:custGeom>
            <a:noFill/>
            <a:ln w="28575">
              <a:solidFill>
                <a:schemeClr val="accent3"/>
              </a:solidFill>
            </a:ln>
          </p:spPr>
        </p:sp>
        <p:sp>
          <p:nvSpPr>
            <p:cNvPr id="15" name="Line 15"/>
            <p:cNvSpPr/>
            <p:nvPr/>
          </p:nvSpPr>
          <p:spPr>
            <a:xfrm>
              <a:off x="4953000" y="3076575"/>
              <a:ext cx="542925" cy="9525"/>
            </a:xfrm>
            <a:custGeom>
              <a:avLst/>
              <a:gdLst/>
              <a:ahLst/>
              <a:cxnLst/>
              <a:rect l="l" t="t" r="r" b="b"/>
              <a:pathLst>
                <a:path w="542925" h="9525">
                  <a:moveTo>
                    <a:pt x="0" y="0"/>
                  </a:moveTo>
                  <a:lnTo>
                    <a:pt x="542925" y="0"/>
                  </a:lnTo>
                </a:path>
              </a:pathLst>
            </a:custGeom>
            <a:noFill/>
            <a:ln w="28575">
              <a:solidFill>
                <a:schemeClr val="accent3"/>
              </a:solidFill>
            </a:ln>
          </p:spPr>
        </p:sp>
        <p:sp>
          <p:nvSpPr>
            <p:cNvPr id="16" name="TextBox 16"/>
            <p:cNvSpPr txBox="1"/>
            <p:nvPr/>
          </p:nvSpPr>
          <p:spPr>
            <a:xfrm>
              <a:off x="4712970" y="3768725"/>
              <a:ext cx="1832898"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Food diaries</a:t>
              </a:r>
            </a:p>
          </p:txBody>
        </p:sp>
      </p:grpSp>
      <p:grpSp>
        <p:nvGrpSpPr>
          <p:cNvPr id="22" name="!!ketosis-question"/>
          <p:cNvGrpSpPr/>
          <p:nvPr/>
        </p:nvGrpSpPr>
        <p:grpSpPr>
          <a:xfrm>
            <a:off x="7848600" y="2152650"/>
            <a:ext cx="2609850" cy="2093341"/>
            <a:chOff x="7848600" y="2152650"/>
            <a:chExt cx="2609850" cy="2093341"/>
          </a:xfrm>
        </p:grpSpPr>
        <p:sp>
          <p:nvSpPr>
            <p:cNvPr id="18" name="Line 18"/>
            <p:cNvSpPr/>
            <p:nvPr/>
          </p:nvSpPr>
          <p:spPr>
            <a:xfrm>
              <a:off x="7848600" y="3181350"/>
              <a:ext cx="390525" cy="1"/>
            </a:xfrm>
            <a:prstGeom prst="line">
              <a:avLst/>
            </a:prstGeom>
            <a:noFill/>
            <a:ln w="38100">
              <a:solidFill>
                <a:schemeClr val="accent6"/>
              </a:solidFill>
              <a:tailEnd type="triangle" w="lg" len="lg"/>
            </a:ln>
          </p:spPr>
        </p:sp>
        <p:sp>
          <p:nvSpPr>
            <p:cNvPr id="19" name="Ellipse 19"/>
            <p:cNvSpPr/>
            <p:nvPr/>
          </p:nvSpPr>
          <p:spPr>
            <a:xfrm>
              <a:off x="8972550" y="2152650"/>
              <a:ext cx="1485900" cy="1485900"/>
            </a:xfrm>
            <a:prstGeom prst="ellipse">
              <a:avLst/>
            </a:prstGeom>
            <a:noFill/>
            <a:ln w="57150">
              <a:solidFill>
                <a:schemeClr val="accent2"/>
              </a:solidFill>
            </a:ln>
          </p:spPr>
        </p:sp>
        <p:sp>
          <p:nvSpPr>
            <p:cNvPr id="20" name="TextBox 20"/>
            <p:cNvSpPr txBox="1"/>
            <p:nvPr/>
          </p:nvSpPr>
          <p:spPr>
            <a:xfrm>
              <a:off x="9484181" y="2349500"/>
              <a:ext cx="462638" cy="1390650"/>
            </a:xfrm>
            <a:prstGeom prst="rect">
              <a:avLst/>
            </a:prstGeom>
            <a:noFill/>
            <a:ln>
              <a:noFill/>
            </a:ln>
          </p:spPr>
          <p:txBody>
            <a:bodyPr wrap="none" lIns="0" tIns="0" rIns="0" bIns="0" anchor="t" anchorCtr="0">
              <a:spAutoFit/>
            </a:bodyPr>
            <a:lstStyle/>
            <a:p>
              <a:pPr algn="ctr"/>
              <a:r>
                <a:rPr lang="en-GB" sz="7200" b="1" dirty="0">
                  <a:solidFill>
                    <a:schemeClr val="accent2"/>
                  </a:solidFill>
                  <a:latin typeface="+mj-lt"/>
                  <a:ea typeface="+mj-ea"/>
                  <a:cs typeface="+mj-cs"/>
                </a:rPr>
                <a:t>?</a:t>
              </a:r>
            </a:p>
          </p:txBody>
        </p:sp>
        <p:sp>
          <p:nvSpPr>
            <p:cNvPr id="21" name="TextBox 21"/>
            <p:cNvSpPr txBox="1"/>
            <p:nvPr/>
          </p:nvSpPr>
          <p:spPr>
            <a:xfrm>
              <a:off x="9014393" y="3717925"/>
              <a:ext cx="1402214" cy="528066"/>
            </a:xfrm>
            <a:prstGeom prst="rect">
              <a:avLst/>
            </a:prstGeom>
            <a:noFill/>
            <a:ln>
              <a:noFill/>
            </a:ln>
          </p:spPr>
          <p:txBody>
            <a:bodyPr wrap="none" lIns="0" tIns="0" rIns="0" bIns="0" anchor="t" anchorCtr="0">
              <a:spAutoFit/>
            </a:bodyPr>
            <a:lstStyle/>
            <a:p>
              <a:pPr algn="ctr"/>
              <a:r>
                <a:rPr lang="en-GB" sz="2700" b="1" dirty="0">
                  <a:solidFill>
                    <a:schemeClr val="accent2"/>
                  </a:solidFill>
                  <a:latin typeface="+mj-lt"/>
                  <a:ea typeface="+mj-ea"/>
                  <a:cs typeface="+mj-cs"/>
                </a:rPr>
                <a:t>Ketosis?</a:t>
              </a:r>
            </a:p>
          </p:txBody>
        </p:sp>
      </p:grpSp>
      <p:grpSp>
        <p:nvGrpSpPr>
          <p:cNvPr id="26" name="!!ketosis-caption"/>
          <p:cNvGrpSpPr/>
          <p:nvPr/>
        </p:nvGrpSpPr>
        <p:grpSpPr>
          <a:xfrm>
            <a:off x="514350" y="5153025"/>
            <a:ext cx="11163300" cy="981075"/>
            <a:chOff x="514350" y="5153025"/>
            <a:chExt cx="11163300" cy="981075"/>
          </a:xfrm>
        </p:grpSpPr>
        <p:sp>
          <p:nvSpPr>
            <p:cNvPr id="23" name="Rectangle 23"/>
            <p:cNvSpPr/>
            <p:nvPr/>
          </p:nvSpPr>
          <p:spPr>
            <a:xfrm>
              <a:off x="514350" y="5153025"/>
              <a:ext cx="11163300" cy="981075"/>
            </a:xfrm>
            <a:prstGeom prst="roundRect">
              <a:avLst>
                <a:gd name="adj" fmla="val 21359"/>
              </a:avLst>
            </a:prstGeom>
            <a:solidFill>
              <a:schemeClr val="lt2"/>
            </a:solidFill>
            <a:ln>
              <a:noFill/>
            </a:ln>
          </p:spPr>
        </p:sp>
        <p:sp>
          <p:nvSpPr>
            <p:cNvPr id="24" name="TextBox 24"/>
            <p:cNvSpPr txBox="1"/>
            <p:nvPr/>
          </p:nvSpPr>
          <p:spPr>
            <a:xfrm>
              <a:off x="748284" y="5241925"/>
              <a:ext cx="3899864" cy="528066"/>
            </a:xfrm>
            <a:prstGeom prst="rect">
              <a:avLst/>
            </a:prstGeom>
            <a:noFill/>
            <a:ln>
              <a:noFill/>
            </a:ln>
          </p:spPr>
          <p:txBody>
            <a:bodyPr wrap="none" lIns="0" tIns="0" rIns="0" bIns="0" anchor="t" anchorCtr="0">
              <a:spAutoFit/>
            </a:bodyPr>
            <a:lstStyle/>
            <a:p>
              <a:pPr algn="l"/>
              <a:r>
                <a:rPr lang="en-GB" sz="2700" b="1" dirty="0">
                  <a:solidFill>
                    <a:schemeClr val="dk1"/>
                  </a:solidFill>
                  <a:latin typeface="+mj-lt"/>
                  <a:ea typeface="+mj-ea"/>
                  <a:cs typeface="+mj-cs"/>
                </a:rPr>
                <a:t>A diary reports intake.</a:t>
              </a:r>
            </a:p>
          </p:txBody>
        </p:sp>
        <p:sp>
          <p:nvSpPr>
            <p:cNvPr id="25" name="TextBox 25"/>
            <p:cNvSpPr txBox="1"/>
            <p:nvPr/>
          </p:nvSpPr>
          <p:spPr>
            <a:xfrm>
              <a:off x="750570" y="5664200"/>
              <a:ext cx="5167518" cy="440055"/>
            </a:xfrm>
            <a:prstGeom prst="rect">
              <a:avLst/>
            </a:prstGeom>
            <a:noFill/>
            <a:ln>
              <a:noFill/>
            </a:ln>
          </p:spPr>
          <p:txBody>
            <a:bodyPr wrap="none" lIns="0" tIns="0" rIns="0" bIns="0" anchor="t" anchorCtr="0">
              <a:spAutoFit/>
            </a:bodyPr>
            <a:lstStyle/>
            <a:p>
              <a:pPr algn="l"/>
              <a:r>
                <a:rPr lang="en-GB" sz="2250" dirty="0">
                  <a:solidFill>
                    <a:schemeClr val="accent5"/>
                  </a:solidFill>
                  <a:latin typeface="+mn-lt"/>
                  <a:ea typeface="+mn-ea"/>
                  <a:cs typeface="+mn-cs"/>
                </a:rPr>
                <a:t>It does not measure a metabolic state.</a:t>
              </a:r>
            </a:p>
          </p:txBody>
        </p:sp>
      </p:grpSp>
      <p:sp>
        <p:nvSpPr>
          <p:cNvPr id="27" name="TextBox 27"/>
          <p:cNvSpPr txBox="1"/>
          <p:nvPr/>
        </p:nvSpPr>
        <p:spPr>
          <a:xfrm>
            <a:off x="508254" y="6467475"/>
            <a:ext cx="5717345"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Lim et al. 2024 · Methods 2.3, 2.7 + Discussion · Food diaries are self-reported.</a:t>
            </a:r>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600"/>
                                        <p:tgtEl>
                                          <p:spTgt spid="17"/>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5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4589955"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KETOSIS · LIMIT TO MECHANISTIC ATTRIBUTION</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06 / 11</a:t>
              </a:r>
            </a:p>
          </p:txBody>
        </p:sp>
      </p:grpSp>
      <p:grpSp>
        <p:nvGrpSpPr>
          <p:cNvPr id="6" name="scene-title"/>
          <p:cNvGrpSpPr/>
          <p:nvPr/>
        </p:nvGrpSpPr>
        <p:grpSpPr>
          <a:xfrm>
            <a:off x="495300" y="609600"/>
            <a:ext cx="9702295" cy="847725"/>
            <a:chOff x="495300" y="609600"/>
            <a:chExt cx="9702295" cy="847725"/>
          </a:xfrm>
        </p:grpSpPr>
        <p:sp>
          <p:nvSpPr>
            <p:cNvPr id="5" name="TextBox 5"/>
            <p:cNvSpPr txBox="1"/>
            <p:nvPr/>
          </p:nvSpPr>
          <p:spPr>
            <a:xfrm>
              <a:off x="495300" y="609600"/>
              <a:ext cx="9702295"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Weight loss does not prove ketosis.</a:t>
              </a:r>
            </a:p>
          </p:txBody>
        </p:sp>
      </p:grpSp>
      <p:grpSp>
        <p:nvGrpSpPr>
          <p:cNvPr id="12" name="weight-evidence"/>
          <p:cNvGrpSpPr/>
          <p:nvPr/>
        </p:nvGrpSpPr>
        <p:grpSpPr>
          <a:xfrm>
            <a:off x="748284" y="2381250"/>
            <a:ext cx="2191508" cy="2290191"/>
            <a:chOff x="748284" y="2381250"/>
            <a:chExt cx="2191508" cy="2290191"/>
          </a:xfrm>
        </p:grpSpPr>
        <p:sp>
          <p:nvSpPr>
            <p:cNvPr id="7" name="Rectangle 7"/>
            <p:cNvSpPr/>
            <p:nvPr/>
          </p:nvSpPr>
          <p:spPr>
            <a:xfrm>
              <a:off x="952500" y="2381250"/>
              <a:ext cx="1143000" cy="952500"/>
            </a:xfrm>
            <a:prstGeom prst="roundRect">
              <a:avLst>
                <a:gd name="adj" fmla="val 22000"/>
              </a:avLst>
            </a:prstGeom>
            <a:noFill/>
            <a:ln w="47625">
              <a:solidFill>
                <a:schemeClr val="accent3"/>
              </a:solidFill>
            </a:ln>
          </p:spPr>
        </p:sp>
        <p:sp>
          <p:nvSpPr>
            <p:cNvPr id="8" name="Rectangle 8"/>
            <p:cNvSpPr/>
            <p:nvPr/>
          </p:nvSpPr>
          <p:spPr>
            <a:xfrm>
              <a:off x="1266825" y="2552700"/>
              <a:ext cx="514350" cy="285750"/>
            </a:xfrm>
            <a:prstGeom prst="roundRect">
              <a:avLst>
                <a:gd name="adj" fmla="val 20000"/>
              </a:avLst>
            </a:prstGeom>
            <a:noFill/>
            <a:ln w="28575">
              <a:solidFill>
                <a:schemeClr val="accent3"/>
              </a:solidFill>
            </a:ln>
          </p:spPr>
        </p:sp>
        <p:sp>
          <p:nvSpPr>
            <p:cNvPr id="9" name="TextBox 9"/>
            <p:cNvSpPr txBox="1"/>
            <p:nvPr/>
          </p:nvSpPr>
          <p:spPr>
            <a:xfrm>
              <a:off x="1373465" y="2552700"/>
              <a:ext cx="301071" cy="352044"/>
            </a:xfrm>
            <a:prstGeom prst="rect">
              <a:avLst/>
            </a:prstGeom>
            <a:noFill/>
            <a:ln>
              <a:noFill/>
            </a:ln>
          </p:spPr>
          <p:txBody>
            <a:bodyPr wrap="none" lIns="0" tIns="0" rIns="0" bIns="0" anchor="t" anchorCtr="0">
              <a:spAutoFit/>
            </a:bodyPr>
            <a:lstStyle/>
            <a:p>
              <a:pPr algn="ctr"/>
              <a:r>
                <a:rPr lang="en-GB" sz="1800" b="1" dirty="0">
                  <a:solidFill>
                    <a:schemeClr val="accent3"/>
                  </a:solidFill>
                  <a:latin typeface="+mn-lt"/>
                  <a:ea typeface="+mn-ea"/>
                  <a:cs typeface="+mn-cs"/>
                </a:rPr>
                <a:t>kg</a:t>
              </a:r>
            </a:p>
          </p:txBody>
        </p:sp>
        <p:sp>
          <p:nvSpPr>
            <p:cNvPr id="10" name="Line 10"/>
            <p:cNvSpPr/>
            <p:nvPr/>
          </p:nvSpPr>
          <p:spPr>
            <a:xfrm>
              <a:off x="1181100" y="3048000"/>
              <a:ext cx="685800" cy="9525"/>
            </a:xfrm>
            <a:custGeom>
              <a:avLst/>
              <a:gdLst/>
              <a:ahLst/>
              <a:cxnLst/>
              <a:rect l="l" t="t" r="r" b="b"/>
              <a:pathLst>
                <a:path w="685800" h="9525">
                  <a:moveTo>
                    <a:pt x="0" y="0"/>
                  </a:moveTo>
                  <a:lnTo>
                    <a:pt x="685800" y="0"/>
                  </a:lnTo>
                </a:path>
              </a:pathLst>
            </a:custGeom>
            <a:noFill/>
            <a:ln w="28575">
              <a:solidFill>
                <a:schemeClr val="accent3"/>
              </a:solidFill>
            </a:ln>
          </p:spPr>
        </p:sp>
        <p:sp>
          <p:nvSpPr>
            <p:cNvPr id="11" name="TextBox 11"/>
            <p:cNvSpPr txBox="1"/>
            <p:nvPr/>
          </p:nvSpPr>
          <p:spPr>
            <a:xfrm>
              <a:off x="748284" y="3686175"/>
              <a:ext cx="2191508" cy="985266"/>
            </a:xfrm>
            <a:prstGeom prst="rect">
              <a:avLst/>
            </a:prstGeom>
            <a:noFill/>
            <a:ln>
              <a:noFill/>
            </a:ln>
          </p:spPr>
          <p:txBody>
            <a:bodyPr wrap="none" lIns="0" tIns="0" rIns="0" bIns="0" anchor="t" anchorCtr="0">
              <a:spAutoFit/>
            </a:bodyPr>
            <a:lstStyle/>
            <a:p>
              <a:pPr algn="l">
                <a:lnSpc>
                  <a:spcPts val="3600"/>
                </a:lnSpc>
              </a:pPr>
              <a:r>
                <a:rPr lang="en-GB" sz="2700" b="1" dirty="0">
                  <a:solidFill>
                    <a:schemeClr val="dk1"/>
                  </a:solidFill>
                  <a:latin typeface="+mj-lt"/>
                  <a:ea typeface="+mj-ea"/>
                  <a:cs typeface="+mj-cs"/>
                </a:rPr>
                <a:t>Weight loss</a:t>
              </a:r>
              <a:br>
                <a:rPr lang="en-GB" sz="2700" b="1" dirty="0">
                  <a:solidFill>
                    <a:schemeClr val="dk1"/>
                  </a:solidFill>
                  <a:latin typeface="+mj-lt"/>
                  <a:ea typeface="+mj-ea"/>
                  <a:cs typeface="+mj-cs"/>
                </a:rPr>
              </a:br>
              <a:r>
                <a:rPr lang="en-GB" sz="2700" b="1" dirty="0">
                  <a:solidFill>
                    <a:schemeClr val="dk1"/>
                  </a:solidFill>
                  <a:latin typeface="+mj-lt"/>
                  <a:ea typeface="+mj-ea"/>
                  <a:cs typeface="+mj-cs"/>
                </a:rPr>
                <a:t>was observed</a:t>
              </a:r>
            </a:p>
          </p:txBody>
        </p:sp>
      </p:grpSp>
      <p:grpSp>
        <p:nvGrpSpPr>
          <p:cNvPr id="17" name="invalid-inference"/>
          <p:cNvGrpSpPr/>
          <p:nvPr/>
        </p:nvGrpSpPr>
        <p:grpSpPr>
          <a:xfrm>
            <a:off x="4810125" y="2714625"/>
            <a:ext cx="2295525" cy="1571244"/>
            <a:chOff x="4810125" y="2714625"/>
            <a:chExt cx="2295525" cy="1571244"/>
          </a:xfrm>
        </p:grpSpPr>
        <p:sp>
          <p:nvSpPr>
            <p:cNvPr id="13" name="Line 13"/>
            <p:cNvSpPr/>
            <p:nvPr/>
          </p:nvSpPr>
          <p:spPr>
            <a:xfrm>
              <a:off x="4810125" y="3171825"/>
              <a:ext cx="2295525" cy="1"/>
            </a:xfrm>
            <a:prstGeom prst="line">
              <a:avLst/>
            </a:prstGeom>
            <a:noFill/>
            <a:ln w="57150">
              <a:solidFill>
                <a:schemeClr val="accent6"/>
              </a:solidFill>
              <a:tailEnd type="triangle" w="lg" len="lg"/>
            </a:ln>
          </p:spPr>
        </p:sp>
        <p:sp>
          <p:nvSpPr>
            <p:cNvPr id="14" name="Line 14"/>
            <p:cNvSpPr/>
            <p:nvPr/>
          </p:nvSpPr>
          <p:spPr>
            <a:xfrm>
              <a:off x="5534025" y="2714625"/>
              <a:ext cx="733425" cy="923925"/>
            </a:xfrm>
            <a:custGeom>
              <a:avLst/>
              <a:gdLst/>
              <a:ahLst/>
              <a:cxnLst/>
              <a:rect l="l" t="t" r="r" b="b"/>
              <a:pathLst>
                <a:path w="733425" h="923925">
                  <a:moveTo>
                    <a:pt x="0" y="0"/>
                  </a:moveTo>
                  <a:lnTo>
                    <a:pt x="733425" y="923925"/>
                  </a:lnTo>
                </a:path>
              </a:pathLst>
            </a:custGeom>
            <a:noFill/>
            <a:ln w="76200">
              <a:solidFill>
                <a:schemeClr val="accent2"/>
              </a:solidFill>
            </a:ln>
          </p:spPr>
        </p:sp>
        <p:sp>
          <p:nvSpPr>
            <p:cNvPr id="15" name="Line 15"/>
            <p:cNvSpPr/>
            <p:nvPr/>
          </p:nvSpPr>
          <p:spPr>
            <a:xfrm>
              <a:off x="5534025" y="2714625"/>
              <a:ext cx="733425" cy="923925"/>
            </a:xfrm>
            <a:custGeom>
              <a:avLst/>
              <a:gdLst/>
              <a:ahLst/>
              <a:cxnLst/>
              <a:rect l="l" t="t" r="r" b="b"/>
              <a:pathLst>
                <a:path w="733425" h="923925">
                  <a:moveTo>
                    <a:pt x="733425" y="0"/>
                  </a:moveTo>
                  <a:lnTo>
                    <a:pt x="0" y="923925"/>
                  </a:lnTo>
                </a:path>
              </a:pathLst>
            </a:custGeom>
            <a:noFill/>
            <a:ln w="76200">
              <a:solidFill>
                <a:schemeClr val="accent2"/>
              </a:solidFill>
            </a:ln>
          </p:spPr>
        </p:sp>
        <p:sp>
          <p:nvSpPr>
            <p:cNvPr id="16" name="TextBox 16"/>
            <p:cNvSpPr txBox="1"/>
            <p:nvPr/>
          </p:nvSpPr>
          <p:spPr>
            <a:xfrm>
              <a:off x="5105561" y="3933825"/>
              <a:ext cx="1790377" cy="352044"/>
            </a:xfrm>
            <a:prstGeom prst="rect">
              <a:avLst/>
            </a:prstGeom>
            <a:noFill/>
            <a:ln>
              <a:noFill/>
            </a:ln>
          </p:spPr>
          <p:txBody>
            <a:bodyPr wrap="none" lIns="0" tIns="0" rIns="0" bIns="0" anchor="t" anchorCtr="0">
              <a:spAutoFit/>
            </a:bodyPr>
            <a:lstStyle/>
            <a:p>
              <a:pPr algn="ctr"/>
              <a:r>
                <a:rPr lang="en-GB" sz="1800" b="1" dirty="0">
                  <a:solidFill>
                    <a:schemeClr val="accent2"/>
                  </a:solidFill>
                  <a:latin typeface="+mn-lt"/>
                  <a:ea typeface="+mn-ea"/>
                  <a:cs typeface="+mn-cs"/>
                </a:rPr>
                <a:t>Does not prove</a:t>
              </a:r>
            </a:p>
          </p:txBody>
        </p:sp>
      </p:grpSp>
      <p:grpSp>
        <p:nvGrpSpPr>
          <p:cNvPr id="21" name="!!ketosis-question"/>
          <p:cNvGrpSpPr/>
          <p:nvPr/>
        </p:nvGrpSpPr>
        <p:grpSpPr>
          <a:xfrm>
            <a:off x="8340037" y="1924050"/>
            <a:ext cx="2674725" cy="2560955"/>
            <a:chOff x="8340037" y="1924050"/>
            <a:chExt cx="2674725" cy="2560955"/>
          </a:xfrm>
        </p:grpSpPr>
        <p:sp>
          <p:nvSpPr>
            <p:cNvPr id="18" name="Ellipse 18"/>
            <p:cNvSpPr/>
            <p:nvPr/>
          </p:nvSpPr>
          <p:spPr>
            <a:xfrm>
              <a:off x="8763000" y="1924050"/>
              <a:ext cx="1828800" cy="1828800"/>
            </a:xfrm>
            <a:prstGeom prst="ellipse">
              <a:avLst/>
            </a:prstGeom>
            <a:noFill/>
            <a:ln w="57150">
              <a:solidFill>
                <a:schemeClr val="accent2"/>
              </a:solidFill>
            </a:ln>
          </p:spPr>
        </p:sp>
        <p:sp>
          <p:nvSpPr>
            <p:cNvPr id="19" name="TextBox 19"/>
            <p:cNvSpPr txBox="1"/>
            <p:nvPr/>
          </p:nvSpPr>
          <p:spPr>
            <a:xfrm>
              <a:off x="9446081" y="2320925"/>
              <a:ext cx="462638" cy="1390650"/>
            </a:xfrm>
            <a:prstGeom prst="rect">
              <a:avLst/>
            </a:prstGeom>
            <a:noFill/>
            <a:ln>
              <a:noFill/>
            </a:ln>
          </p:spPr>
          <p:txBody>
            <a:bodyPr wrap="none" lIns="0" tIns="0" rIns="0" bIns="0" anchor="t" anchorCtr="0">
              <a:spAutoFit/>
            </a:bodyPr>
            <a:lstStyle/>
            <a:p>
              <a:pPr algn="ctr"/>
              <a:r>
                <a:rPr lang="en-GB" sz="7200" b="1" dirty="0">
                  <a:solidFill>
                    <a:schemeClr val="accent2"/>
                  </a:solidFill>
                  <a:latin typeface="+mj-lt"/>
                  <a:ea typeface="+mj-ea"/>
                  <a:cs typeface="+mj-cs"/>
                </a:rPr>
                <a:t>?</a:t>
              </a:r>
            </a:p>
          </p:txBody>
        </p:sp>
        <p:sp>
          <p:nvSpPr>
            <p:cNvPr id="20" name="TextBox 20"/>
            <p:cNvSpPr txBox="1"/>
            <p:nvPr/>
          </p:nvSpPr>
          <p:spPr>
            <a:xfrm>
              <a:off x="8340037" y="4044950"/>
              <a:ext cx="2674725" cy="440055"/>
            </a:xfrm>
            <a:prstGeom prst="rect">
              <a:avLst/>
            </a:prstGeom>
            <a:noFill/>
            <a:ln>
              <a:noFill/>
            </a:ln>
          </p:spPr>
          <p:txBody>
            <a:bodyPr wrap="none" lIns="0" tIns="0" rIns="0" bIns="0" anchor="t" anchorCtr="0">
              <a:spAutoFit/>
            </a:bodyPr>
            <a:lstStyle/>
            <a:p>
              <a:pPr algn="ctr"/>
              <a:r>
                <a:rPr lang="en-GB" sz="2250" b="1" dirty="0">
                  <a:solidFill>
                    <a:schemeClr val="accent2"/>
                  </a:solidFill>
                  <a:latin typeface="+mn-lt"/>
                  <a:ea typeface="+mn-ea"/>
                  <a:cs typeface="+mn-cs"/>
                </a:rPr>
                <a:t>Confirmed ketosis</a:t>
              </a:r>
            </a:p>
          </p:txBody>
        </p:sp>
      </p:grpSp>
      <p:grpSp>
        <p:nvGrpSpPr>
          <p:cNvPr id="25" name="!!ketosis-caption"/>
          <p:cNvGrpSpPr/>
          <p:nvPr/>
        </p:nvGrpSpPr>
        <p:grpSpPr>
          <a:xfrm>
            <a:off x="514350" y="5153025"/>
            <a:ext cx="11163300" cy="981075"/>
            <a:chOff x="514350" y="5153025"/>
            <a:chExt cx="11163300" cy="981075"/>
          </a:xfrm>
        </p:grpSpPr>
        <p:sp>
          <p:nvSpPr>
            <p:cNvPr id="22" name="Rectangle 22"/>
            <p:cNvSpPr/>
            <p:nvPr/>
          </p:nvSpPr>
          <p:spPr>
            <a:xfrm>
              <a:off x="514350" y="5153025"/>
              <a:ext cx="11163300" cy="981075"/>
            </a:xfrm>
            <a:prstGeom prst="roundRect">
              <a:avLst>
                <a:gd name="adj" fmla="val 21359"/>
              </a:avLst>
            </a:prstGeom>
            <a:solidFill>
              <a:schemeClr val="accent1"/>
            </a:solidFill>
            <a:ln>
              <a:noFill/>
            </a:ln>
          </p:spPr>
        </p:sp>
        <p:sp>
          <p:nvSpPr>
            <p:cNvPr id="23" name="TextBox 23"/>
            <p:cNvSpPr txBox="1"/>
            <p:nvPr/>
          </p:nvSpPr>
          <p:spPr>
            <a:xfrm>
              <a:off x="748284" y="5241925"/>
              <a:ext cx="8100439" cy="528066"/>
            </a:xfrm>
            <a:prstGeom prst="rect">
              <a:avLst/>
            </a:prstGeom>
            <a:noFill/>
            <a:ln>
              <a:noFill/>
            </a:ln>
          </p:spPr>
          <p:txBody>
            <a:bodyPr wrap="none" lIns="0" tIns="0" rIns="0" bIns="0" anchor="t" anchorCtr="0">
              <a:spAutoFit/>
            </a:bodyPr>
            <a:lstStyle/>
            <a:p>
              <a:pPr algn="l"/>
              <a:r>
                <a:rPr lang="en-GB" sz="2700" b="1" dirty="0">
                  <a:solidFill>
                    <a:srgbClr val="F7F6F0"/>
                  </a:solidFill>
                  <a:latin typeface="+mj-lt"/>
                  <a:ea typeface="+mj-ea"/>
                  <a:cs typeface="+mj-cs"/>
                </a:rPr>
                <a:t>Calorie reduction can also produce weight loss.</a:t>
              </a:r>
            </a:p>
          </p:txBody>
        </p:sp>
        <p:sp>
          <p:nvSpPr>
            <p:cNvPr id="24" name="TextBox 24"/>
            <p:cNvSpPr txBox="1"/>
            <p:nvPr/>
          </p:nvSpPr>
          <p:spPr>
            <a:xfrm>
              <a:off x="752856" y="5715000"/>
              <a:ext cx="5911378" cy="352044"/>
            </a:xfrm>
            <a:prstGeom prst="rect">
              <a:avLst/>
            </a:prstGeom>
            <a:noFill/>
            <a:ln>
              <a:noFill/>
            </a:ln>
          </p:spPr>
          <p:txBody>
            <a:bodyPr wrap="none" lIns="0" tIns="0" rIns="0" bIns="0" anchor="t" anchorCtr="0">
              <a:spAutoFit/>
            </a:bodyPr>
            <a:lstStyle/>
            <a:p>
              <a:pPr algn="l"/>
              <a:r>
                <a:rPr lang="en-GB" sz="1800" dirty="0">
                  <a:solidFill>
                    <a:schemeClr val="accent6"/>
                  </a:solidFill>
                  <a:latin typeface="+mn-lt"/>
                  <a:ea typeface="+mn-ea"/>
                  <a:cs typeface="+mn-cs"/>
                </a:rPr>
                <a:t>The outcome does not identify a ketosis-specific effect.</a:t>
              </a:r>
            </a:p>
          </p:txBody>
        </p:sp>
      </p:grpSp>
      <p:sp>
        <p:nvSpPr>
          <p:cNvPr id="26" name="TextBox 26"/>
          <p:cNvSpPr txBox="1"/>
          <p:nvPr/>
        </p:nvSpPr>
        <p:spPr>
          <a:xfrm>
            <a:off x="508254" y="6467475"/>
            <a:ext cx="7781494"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Methods 2.3, 2.7 + Discussion · The trial tests assigned advice, not experimentally verified ketosis exposure.</a:t>
            </a:r>
          </a:p>
        </p:txBody>
      </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2573818"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LIMITATION 03 · ATTRITION</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07 / 11</a:t>
              </a:r>
            </a:p>
          </p:txBody>
        </p:sp>
      </p:grpSp>
      <p:grpSp>
        <p:nvGrpSpPr>
          <p:cNvPr id="6" name="scene-title"/>
          <p:cNvGrpSpPr/>
          <p:nvPr/>
        </p:nvGrpSpPr>
        <p:grpSpPr>
          <a:xfrm>
            <a:off x="495300" y="609600"/>
            <a:ext cx="6993775" cy="847725"/>
            <a:chOff x="495300" y="609600"/>
            <a:chExt cx="6993775" cy="847725"/>
          </a:xfrm>
        </p:grpSpPr>
        <p:sp>
          <p:nvSpPr>
            <p:cNvPr id="5" name="TextBox 5"/>
            <p:cNvSpPr txBox="1"/>
            <p:nvPr/>
          </p:nvSpPr>
          <p:spPr>
            <a:xfrm>
              <a:off x="495300" y="609600"/>
              <a:ext cx="6993775"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Who stays in the picture?</a:t>
              </a:r>
            </a:p>
          </p:txBody>
        </p:sp>
      </p:grpSp>
      <p:grpSp>
        <p:nvGrpSpPr>
          <p:cNvPr id="168" name="!!cohort-grid"/>
          <p:cNvGrpSpPr/>
          <p:nvPr/>
        </p:nvGrpSpPr>
        <p:grpSpPr>
          <a:xfrm>
            <a:off x="819150" y="2057400"/>
            <a:ext cx="5448300" cy="3476625"/>
            <a:chOff x="819150" y="2057400"/>
            <a:chExt cx="5448300" cy="3476625"/>
          </a:xfrm>
        </p:grpSpPr>
        <p:grpSp>
          <p:nvGrpSpPr>
            <p:cNvPr id="167" name="participant-followup-chartArea"/>
            <p:cNvGrpSpPr/>
            <p:nvPr/>
          </p:nvGrpSpPr>
          <p:grpSpPr>
            <a:xfrm>
              <a:off x="819150" y="2057400"/>
              <a:ext cx="5448300" cy="3476625"/>
              <a:chOff x="819150" y="2057400"/>
              <a:chExt cx="5448300" cy="3476625"/>
            </a:xfrm>
          </p:grpSpPr>
          <p:sp>
            <p:nvSpPr>
              <p:cNvPr id="7" name="Ellipse 7"/>
              <p:cNvSpPr/>
              <p:nvPr/>
            </p:nvSpPr>
            <p:spPr>
              <a:xfrm>
                <a:off x="828675" y="2057400"/>
                <a:ext cx="114300" cy="114300"/>
              </a:xfrm>
              <a:prstGeom prst="ellipse">
                <a:avLst/>
              </a:prstGeom>
              <a:solidFill>
                <a:schemeClr val="accent3"/>
              </a:solidFill>
              <a:ln w="15240">
                <a:solidFill>
                  <a:schemeClr val="accent3"/>
                </a:solidFill>
              </a:ln>
            </p:spPr>
          </p:sp>
          <p:sp>
            <p:nvSpPr>
              <p:cNvPr id="8" name="Rectangle 8"/>
              <p:cNvSpPr/>
              <p:nvPr/>
            </p:nvSpPr>
            <p:spPr>
              <a:xfrm>
                <a:off x="819150" y="2209800"/>
                <a:ext cx="133350" cy="190500"/>
              </a:xfrm>
              <a:prstGeom prst="roundRect">
                <a:avLst>
                  <a:gd name="adj" fmla="val 35714"/>
                </a:avLst>
              </a:prstGeom>
              <a:solidFill>
                <a:schemeClr val="accent3"/>
              </a:solidFill>
              <a:ln w="15240">
                <a:solidFill>
                  <a:schemeClr val="accent3"/>
                </a:solidFill>
              </a:ln>
            </p:spPr>
          </p:sp>
          <p:sp>
            <p:nvSpPr>
              <p:cNvPr id="9" name="Ellipse 9"/>
              <p:cNvSpPr/>
              <p:nvPr/>
            </p:nvSpPr>
            <p:spPr>
              <a:xfrm>
                <a:off x="1419225" y="2057400"/>
                <a:ext cx="114300" cy="114300"/>
              </a:xfrm>
              <a:prstGeom prst="ellipse">
                <a:avLst/>
              </a:prstGeom>
              <a:solidFill>
                <a:schemeClr val="accent3"/>
              </a:solidFill>
              <a:ln w="15240">
                <a:solidFill>
                  <a:schemeClr val="accent3"/>
                </a:solidFill>
              </a:ln>
            </p:spPr>
          </p:sp>
          <p:sp>
            <p:nvSpPr>
              <p:cNvPr id="10" name="Rectangle 10"/>
              <p:cNvSpPr/>
              <p:nvPr/>
            </p:nvSpPr>
            <p:spPr>
              <a:xfrm>
                <a:off x="1409700" y="2209800"/>
                <a:ext cx="133350" cy="190500"/>
              </a:xfrm>
              <a:prstGeom prst="roundRect">
                <a:avLst>
                  <a:gd name="adj" fmla="val 35714"/>
                </a:avLst>
              </a:prstGeom>
              <a:solidFill>
                <a:schemeClr val="accent3"/>
              </a:solidFill>
              <a:ln w="15240">
                <a:solidFill>
                  <a:schemeClr val="accent3"/>
                </a:solidFill>
              </a:ln>
            </p:spPr>
          </p:sp>
          <p:sp>
            <p:nvSpPr>
              <p:cNvPr id="11" name="Ellipse 11"/>
              <p:cNvSpPr/>
              <p:nvPr/>
            </p:nvSpPr>
            <p:spPr>
              <a:xfrm>
                <a:off x="2009775" y="2057400"/>
                <a:ext cx="114300" cy="114300"/>
              </a:xfrm>
              <a:prstGeom prst="ellipse">
                <a:avLst/>
              </a:prstGeom>
              <a:solidFill>
                <a:schemeClr val="accent3"/>
              </a:solidFill>
              <a:ln w="15240">
                <a:solidFill>
                  <a:schemeClr val="accent3"/>
                </a:solidFill>
              </a:ln>
            </p:spPr>
          </p:sp>
          <p:sp>
            <p:nvSpPr>
              <p:cNvPr id="12" name="Rectangle 12"/>
              <p:cNvSpPr/>
              <p:nvPr/>
            </p:nvSpPr>
            <p:spPr>
              <a:xfrm>
                <a:off x="2000250" y="2209800"/>
                <a:ext cx="133350" cy="190500"/>
              </a:xfrm>
              <a:prstGeom prst="roundRect">
                <a:avLst>
                  <a:gd name="adj" fmla="val 35714"/>
                </a:avLst>
              </a:prstGeom>
              <a:solidFill>
                <a:schemeClr val="accent3"/>
              </a:solidFill>
              <a:ln w="15240">
                <a:solidFill>
                  <a:schemeClr val="accent3"/>
                </a:solidFill>
              </a:ln>
            </p:spPr>
          </p:sp>
          <p:sp>
            <p:nvSpPr>
              <p:cNvPr id="13" name="Ellipse 13"/>
              <p:cNvSpPr/>
              <p:nvPr/>
            </p:nvSpPr>
            <p:spPr>
              <a:xfrm>
                <a:off x="2600325" y="2057400"/>
                <a:ext cx="114300" cy="114300"/>
              </a:xfrm>
              <a:prstGeom prst="ellipse">
                <a:avLst/>
              </a:prstGeom>
              <a:solidFill>
                <a:schemeClr val="accent3"/>
              </a:solidFill>
              <a:ln w="15240">
                <a:solidFill>
                  <a:schemeClr val="accent3"/>
                </a:solidFill>
              </a:ln>
            </p:spPr>
          </p:sp>
          <p:sp>
            <p:nvSpPr>
              <p:cNvPr id="14" name="Rectangle 14"/>
              <p:cNvSpPr/>
              <p:nvPr/>
            </p:nvSpPr>
            <p:spPr>
              <a:xfrm>
                <a:off x="2590800" y="2209800"/>
                <a:ext cx="133350" cy="190500"/>
              </a:xfrm>
              <a:prstGeom prst="roundRect">
                <a:avLst>
                  <a:gd name="adj" fmla="val 35714"/>
                </a:avLst>
              </a:prstGeom>
              <a:solidFill>
                <a:schemeClr val="accent3"/>
              </a:solidFill>
              <a:ln w="15240">
                <a:solidFill>
                  <a:schemeClr val="accent3"/>
                </a:solidFill>
              </a:ln>
            </p:spPr>
          </p:sp>
          <p:sp>
            <p:nvSpPr>
              <p:cNvPr id="15" name="Ellipse 15"/>
              <p:cNvSpPr/>
              <p:nvPr/>
            </p:nvSpPr>
            <p:spPr>
              <a:xfrm>
                <a:off x="3190875" y="2057400"/>
                <a:ext cx="114300" cy="114300"/>
              </a:xfrm>
              <a:prstGeom prst="ellipse">
                <a:avLst/>
              </a:prstGeom>
              <a:solidFill>
                <a:schemeClr val="accent3"/>
              </a:solidFill>
              <a:ln w="15240">
                <a:solidFill>
                  <a:schemeClr val="accent3"/>
                </a:solidFill>
              </a:ln>
            </p:spPr>
          </p:sp>
          <p:sp>
            <p:nvSpPr>
              <p:cNvPr id="16" name="Rectangle 16"/>
              <p:cNvSpPr/>
              <p:nvPr/>
            </p:nvSpPr>
            <p:spPr>
              <a:xfrm>
                <a:off x="3181350" y="2209800"/>
                <a:ext cx="133350" cy="190500"/>
              </a:xfrm>
              <a:prstGeom prst="roundRect">
                <a:avLst>
                  <a:gd name="adj" fmla="val 35714"/>
                </a:avLst>
              </a:prstGeom>
              <a:solidFill>
                <a:schemeClr val="accent3"/>
              </a:solidFill>
              <a:ln w="15240">
                <a:solidFill>
                  <a:schemeClr val="accent3"/>
                </a:solidFill>
              </a:ln>
            </p:spPr>
          </p:sp>
          <p:sp>
            <p:nvSpPr>
              <p:cNvPr id="17" name="Ellipse 17"/>
              <p:cNvSpPr/>
              <p:nvPr/>
            </p:nvSpPr>
            <p:spPr>
              <a:xfrm>
                <a:off x="3781425" y="2057400"/>
                <a:ext cx="114300" cy="114300"/>
              </a:xfrm>
              <a:prstGeom prst="ellipse">
                <a:avLst/>
              </a:prstGeom>
              <a:solidFill>
                <a:schemeClr val="accent3"/>
              </a:solidFill>
              <a:ln w="15240">
                <a:solidFill>
                  <a:schemeClr val="accent3"/>
                </a:solidFill>
              </a:ln>
            </p:spPr>
          </p:sp>
          <p:sp>
            <p:nvSpPr>
              <p:cNvPr id="18" name="Rectangle 18"/>
              <p:cNvSpPr/>
              <p:nvPr/>
            </p:nvSpPr>
            <p:spPr>
              <a:xfrm>
                <a:off x="3771900" y="2209800"/>
                <a:ext cx="133350" cy="190500"/>
              </a:xfrm>
              <a:prstGeom prst="roundRect">
                <a:avLst>
                  <a:gd name="adj" fmla="val 35714"/>
                </a:avLst>
              </a:prstGeom>
              <a:solidFill>
                <a:schemeClr val="accent3"/>
              </a:solidFill>
              <a:ln w="15240">
                <a:solidFill>
                  <a:schemeClr val="accent3"/>
                </a:solidFill>
              </a:ln>
            </p:spPr>
          </p:sp>
          <p:sp>
            <p:nvSpPr>
              <p:cNvPr id="19" name="Ellipse 19"/>
              <p:cNvSpPr/>
              <p:nvPr/>
            </p:nvSpPr>
            <p:spPr>
              <a:xfrm>
                <a:off x="4371975" y="2057400"/>
                <a:ext cx="114300" cy="114300"/>
              </a:xfrm>
              <a:prstGeom prst="ellipse">
                <a:avLst/>
              </a:prstGeom>
              <a:solidFill>
                <a:schemeClr val="accent3"/>
              </a:solidFill>
              <a:ln w="15240">
                <a:solidFill>
                  <a:schemeClr val="accent3"/>
                </a:solidFill>
              </a:ln>
            </p:spPr>
          </p:sp>
          <p:sp>
            <p:nvSpPr>
              <p:cNvPr id="20" name="Rectangle 20"/>
              <p:cNvSpPr/>
              <p:nvPr/>
            </p:nvSpPr>
            <p:spPr>
              <a:xfrm>
                <a:off x="4362450" y="2209800"/>
                <a:ext cx="133350" cy="190500"/>
              </a:xfrm>
              <a:prstGeom prst="roundRect">
                <a:avLst>
                  <a:gd name="adj" fmla="val 35714"/>
                </a:avLst>
              </a:prstGeom>
              <a:solidFill>
                <a:schemeClr val="accent3"/>
              </a:solidFill>
              <a:ln w="15240">
                <a:solidFill>
                  <a:schemeClr val="accent3"/>
                </a:solidFill>
              </a:ln>
            </p:spPr>
          </p:sp>
          <p:sp>
            <p:nvSpPr>
              <p:cNvPr id="21" name="Ellipse 21"/>
              <p:cNvSpPr/>
              <p:nvPr/>
            </p:nvSpPr>
            <p:spPr>
              <a:xfrm>
                <a:off x="4962525" y="2057400"/>
                <a:ext cx="114300" cy="114300"/>
              </a:xfrm>
              <a:prstGeom prst="ellipse">
                <a:avLst/>
              </a:prstGeom>
              <a:solidFill>
                <a:schemeClr val="accent3"/>
              </a:solidFill>
              <a:ln w="15240">
                <a:solidFill>
                  <a:schemeClr val="accent3"/>
                </a:solidFill>
              </a:ln>
            </p:spPr>
          </p:sp>
          <p:sp>
            <p:nvSpPr>
              <p:cNvPr id="22" name="Rectangle 22"/>
              <p:cNvSpPr/>
              <p:nvPr/>
            </p:nvSpPr>
            <p:spPr>
              <a:xfrm>
                <a:off x="4953000" y="2209800"/>
                <a:ext cx="133350" cy="190500"/>
              </a:xfrm>
              <a:prstGeom prst="roundRect">
                <a:avLst>
                  <a:gd name="adj" fmla="val 35714"/>
                </a:avLst>
              </a:prstGeom>
              <a:solidFill>
                <a:schemeClr val="accent3"/>
              </a:solidFill>
              <a:ln w="15240">
                <a:solidFill>
                  <a:schemeClr val="accent3"/>
                </a:solidFill>
              </a:ln>
            </p:spPr>
          </p:sp>
          <p:sp>
            <p:nvSpPr>
              <p:cNvPr id="23" name="Ellipse 23"/>
              <p:cNvSpPr/>
              <p:nvPr/>
            </p:nvSpPr>
            <p:spPr>
              <a:xfrm>
                <a:off x="5553075" y="2057400"/>
                <a:ext cx="114300" cy="114300"/>
              </a:xfrm>
              <a:prstGeom prst="ellipse">
                <a:avLst/>
              </a:prstGeom>
              <a:solidFill>
                <a:schemeClr val="accent3"/>
              </a:solidFill>
              <a:ln w="15240">
                <a:solidFill>
                  <a:schemeClr val="accent3"/>
                </a:solidFill>
              </a:ln>
            </p:spPr>
          </p:sp>
          <p:sp>
            <p:nvSpPr>
              <p:cNvPr id="24" name="Rectangle 24"/>
              <p:cNvSpPr/>
              <p:nvPr/>
            </p:nvSpPr>
            <p:spPr>
              <a:xfrm>
                <a:off x="5543550" y="2209800"/>
                <a:ext cx="133350" cy="190500"/>
              </a:xfrm>
              <a:prstGeom prst="roundRect">
                <a:avLst>
                  <a:gd name="adj" fmla="val 35714"/>
                </a:avLst>
              </a:prstGeom>
              <a:solidFill>
                <a:schemeClr val="accent3"/>
              </a:solidFill>
              <a:ln w="15240">
                <a:solidFill>
                  <a:schemeClr val="accent3"/>
                </a:solidFill>
              </a:ln>
            </p:spPr>
          </p:sp>
          <p:sp>
            <p:nvSpPr>
              <p:cNvPr id="25" name="Ellipse 25"/>
              <p:cNvSpPr/>
              <p:nvPr/>
            </p:nvSpPr>
            <p:spPr>
              <a:xfrm>
                <a:off x="6143625" y="2057400"/>
                <a:ext cx="114300" cy="114300"/>
              </a:xfrm>
              <a:prstGeom prst="ellipse">
                <a:avLst/>
              </a:prstGeom>
              <a:solidFill>
                <a:schemeClr val="accent3"/>
              </a:solidFill>
              <a:ln w="15240">
                <a:solidFill>
                  <a:schemeClr val="accent3"/>
                </a:solidFill>
              </a:ln>
            </p:spPr>
          </p:sp>
          <p:sp>
            <p:nvSpPr>
              <p:cNvPr id="26" name="Rectangle 26"/>
              <p:cNvSpPr/>
              <p:nvPr/>
            </p:nvSpPr>
            <p:spPr>
              <a:xfrm>
                <a:off x="6134100" y="2209800"/>
                <a:ext cx="133350" cy="190500"/>
              </a:xfrm>
              <a:prstGeom prst="roundRect">
                <a:avLst>
                  <a:gd name="adj" fmla="val 35714"/>
                </a:avLst>
              </a:prstGeom>
              <a:solidFill>
                <a:schemeClr val="accent3"/>
              </a:solidFill>
              <a:ln w="15240">
                <a:solidFill>
                  <a:schemeClr val="accent3"/>
                </a:solidFill>
              </a:ln>
            </p:spPr>
          </p:sp>
          <p:sp>
            <p:nvSpPr>
              <p:cNvPr id="27" name="Ellipse 27"/>
              <p:cNvSpPr/>
              <p:nvPr/>
            </p:nvSpPr>
            <p:spPr>
              <a:xfrm>
                <a:off x="828675" y="2505075"/>
                <a:ext cx="114300" cy="114300"/>
              </a:xfrm>
              <a:prstGeom prst="ellipse">
                <a:avLst/>
              </a:prstGeom>
              <a:solidFill>
                <a:schemeClr val="accent3"/>
              </a:solidFill>
              <a:ln w="15240">
                <a:solidFill>
                  <a:schemeClr val="accent3"/>
                </a:solidFill>
              </a:ln>
            </p:spPr>
          </p:sp>
          <p:sp>
            <p:nvSpPr>
              <p:cNvPr id="28" name="Rectangle 28"/>
              <p:cNvSpPr/>
              <p:nvPr/>
            </p:nvSpPr>
            <p:spPr>
              <a:xfrm>
                <a:off x="819150" y="2657475"/>
                <a:ext cx="133350" cy="190500"/>
              </a:xfrm>
              <a:prstGeom prst="roundRect">
                <a:avLst>
                  <a:gd name="adj" fmla="val 35714"/>
                </a:avLst>
              </a:prstGeom>
              <a:solidFill>
                <a:schemeClr val="accent3"/>
              </a:solidFill>
              <a:ln w="15240">
                <a:solidFill>
                  <a:schemeClr val="accent3"/>
                </a:solidFill>
              </a:ln>
            </p:spPr>
          </p:sp>
          <p:sp>
            <p:nvSpPr>
              <p:cNvPr id="29" name="Ellipse 29"/>
              <p:cNvSpPr/>
              <p:nvPr/>
            </p:nvSpPr>
            <p:spPr>
              <a:xfrm>
                <a:off x="1419225" y="2505075"/>
                <a:ext cx="114300" cy="114300"/>
              </a:xfrm>
              <a:prstGeom prst="ellipse">
                <a:avLst/>
              </a:prstGeom>
              <a:solidFill>
                <a:schemeClr val="accent3"/>
              </a:solidFill>
              <a:ln w="15240">
                <a:solidFill>
                  <a:schemeClr val="accent3"/>
                </a:solidFill>
              </a:ln>
            </p:spPr>
          </p:sp>
          <p:sp>
            <p:nvSpPr>
              <p:cNvPr id="30" name="Rectangle 30"/>
              <p:cNvSpPr/>
              <p:nvPr/>
            </p:nvSpPr>
            <p:spPr>
              <a:xfrm>
                <a:off x="1409700" y="2657475"/>
                <a:ext cx="133350" cy="190500"/>
              </a:xfrm>
              <a:prstGeom prst="roundRect">
                <a:avLst>
                  <a:gd name="adj" fmla="val 35714"/>
                </a:avLst>
              </a:prstGeom>
              <a:solidFill>
                <a:schemeClr val="accent3"/>
              </a:solidFill>
              <a:ln w="15240">
                <a:solidFill>
                  <a:schemeClr val="accent3"/>
                </a:solidFill>
              </a:ln>
            </p:spPr>
          </p:sp>
          <p:sp>
            <p:nvSpPr>
              <p:cNvPr id="31" name="Ellipse 31"/>
              <p:cNvSpPr/>
              <p:nvPr/>
            </p:nvSpPr>
            <p:spPr>
              <a:xfrm>
                <a:off x="2009775" y="2505075"/>
                <a:ext cx="114300" cy="114300"/>
              </a:xfrm>
              <a:prstGeom prst="ellipse">
                <a:avLst/>
              </a:prstGeom>
              <a:solidFill>
                <a:schemeClr val="accent3"/>
              </a:solidFill>
              <a:ln w="15240">
                <a:solidFill>
                  <a:schemeClr val="accent3"/>
                </a:solidFill>
              </a:ln>
            </p:spPr>
          </p:sp>
          <p:sp>
            <p:nvSpPr>
              <p:cNvPr id="32" name="Rectangle 32"/>
              <p:cNvSpPr/>
              <p:nvPr/>
            </p:nvSpPr>
            <p:spPr>
              <a:xfrm>
                <a:off x="2000250" y="2657475"/>
                <a:ext cx="133350" cy="190500"/>
              </a:xfrm>
              <a:prstGeom prst="roundRect">
                <a:avLst>
                  <a:gd name="adj" fmla="val 35714"/>
                </a:avLst>
              </a:prstGeom>
              <a:solidFill>
                <a:schemeClr val="accent3"/>
              </a:solidFill>
              <a:ln w="15240">
                <a:solidFill>
                  <a:schemeClr val="accent3"/>
                </a:solidFill>
              </a:ln>
            </p:spPr>
          </p:sp>
          <p:sp>
            <p:nvSpPr>
              <p:cNvPr id="33" name="Ellipse 33"/>
              <p:cNvSpPr/>
              <p:nvPr/>
            </p:nvSpPr>
            <p:spPr>
              <a:xfrm>
                <a:off x="2600325" y="2505075"/>
                <a:ext cx="114300" cy="114300"/>
              </a:xfrm>
              <a:prstGeom prst="ellipse">
                <a:avLst/>
              </a:prstGeom>
              <a:solidFill>
                <a:schemeClr val="accent3"/>
              </a:solidFill>
              <a:ln w="15240">
                <a:solidFill>
                  <a:schemeClr val="accent3"/>
                </a:solidFill>
              </a:ln>
            </p:spPr>
          </p:sp>
          <p:sp>
            <p:nvSpPr>
              <p:cNvPr id="34" name="Rectangle 34"/>
              <p:cNvSpPr/>
              <p:nvPr/>
            </p:nvSpPr>
            <p:spPr>
              <a:xfrm>
                <a:off x="2590800" y="2657475"/>
                <a:ext cx="133350" cy="190500"/>
              </a:xfrm>
              <a:prstGeom prst="roundRect">
                <a:avLst>
                  <a:gd name="adj" fmla="val 35714"/>
                </a:avLst>
              </a:prstGeom>
              <a:solidFill>
                <a:schemeClr val="accent3"/>
              </a:solidFill>
              <a:ln w="15240">
                <a:solidFill>
                  <a:schemeClr val="accent3"/>
                </a:solidFill>
              </a:ln>
            </p:spPr>
          </p:sp>
          <p:sp>
            <p:nvSpPr>
              <p:cNvPr id="35" name="Ellipse 35"/>
              <p:cNvSpPr/>
              <p:nvPr/>
            </p:nvSpPr>
            <p:spPr>
              <a:xfrm>
                <a:off x="3190875" y="2505075"/>
                <a:ext cx="114300" cy="114300"/>
              </a:xfrm>
              <a:prstGeom prst="ellipse">
                <a:avLst/>
              </a:prstGeom>
              <a:solidFill>
                <a:schemeClr val="accent3"/>
              </a:solidFill>
              <a:ln w="15240">
                <a:solidFill>
                  <a:schemeClr val="accent3"/>
                </a:solidFill>
              </a:ln>
            </p:spPr>
          </p:sp>
          <p:sp>
            <p:nvSpPr>
              <p:cNvPr id="36" name="Rectangle 36"/>
              <p:cNvSpPr/>
              <p:nvPr/>
            </p:nvSpPr>
            <p:spPr>
              <a:xfrm>
                <a:off x="3181350" y="2657475"/>
                <a:ext cx="133350" cy="190500"/>
              </a:xfrm>
              <a:prstGeom prst="roundRect">
                <a:avLst>
                  <a:gd name="adj" fmla="val 35714"/>
                </a:avLst>
              </a:prstGeom>
              <a:solidFill>
                <a:schemeClr val="accent3"/>
              </a:solidFill>
              <a:ln w="15240">
                <a:solidFill>
                  <a:schemeClr val="accent3"/>
                </a:solidFill>
              </a:ln>
            </p:spPr>
          </p:sp>
          <p:sp>
            <p:nvSpPr>
              <p:cNvPr id="37" name="Ellipse 37"/>
              <p:cNvSpPr/>
              <p:nvPr/>
            </p:nvSpPr>
            <p:spPr>
              <a:xfrm>
                <a:off x="3781425" y="2505075"/>
                <a:ext cx="114300" cy="114300"/>
              </a:xfrm>
              <a:prstGeom prst="ellipse">
                <a:avLst/>
              </a:prstGeom>
              <a:solidFill>
                <a:schemeClr val="accent3"/>
              </a:solidFill>
              <a:ln w="15240">
                <a:solidFill>
                  <a:schemeClr val="accent3"/>
                </a:solidFill>
              </a:ln>
            </p:spPr>
          </p:sp>
          <p:sp>
            <p:nvSpPr>
              <p:cNvPr id="38" name="Rectangle 38"/>
              <p:cNvSpPr/>
              <p:nvPr/>
            </p:nvSpPr>
            <p:spPr>
              <a:xfrm>
                <a:off x="3771900" y="2657475"/>
                <a:ext cx="133350" cy="190500"/>
              </a:xfrm>
              <a:prstGeom prst="roundRect">
                <a:avLst>
                  <a:gd name="adj" fmla="val 35714"/>
                </a:avLst>
              </a:prstGeom>
              <a:solidFill>
                <a:schemeClr val="accent3"/>
              </a:solidFill>
              <a:ln w="15240">
                <a:solidFill>
                  <a:schemeClr val="accent3"/>
                </a:solidFill>
              </a:ln>
            </p:spPr>
          </p:sp>
          <p:sp>
            <p:nvSpPr>
              <p:cNvPr id="39" name="Ellipse 39"/>
              <p:cNvSpPr/>
              <p:nvPr/>
            </p:nvSpPr>
            <p:spPr>
              <a:xfrm>
                <a:off x="4371975" y="2505075"/>
                <a:ext cx="114300" cy="114300"/>
              </a:xfrm>
              <a:prstGeom prst="ellipse">
                <a:avLst/>
              </a:prstGeom>
              <a:solidFill>
                <a:schemeClr val="accent3"/>
              </a:solidFill>
              <a:ln w="15240">
                <a:solidFill>
                  <a:schemeClr val="accent3"/>
                </a:solidFill>
              </a:ln>
            </p:spPr>
          </p:sp>
          <p:sp>
            <p:nvSpPr>
              <p:cNvPr id="40" name="Rectangle 40"/>
              <p:cNvSpPr/>
              <p:nvPr/>
            </p:nvSpPr>
            <p:spPr>
              <a:xfrm>
                <a:off x="4362450" y="2657475"/>
                <a:ext cx="133350" cy="190500"/>
              </a:xfrm>
              <a:prstGeom prst="roundRect">
                <a:avLst>
                  <a:gd name="adj" fmla="val 35714"/>
                </a:avLst>
              </a:prstGeom>
              <a:solidFill>
                <a:schemeClr val="accent3"/>
              </a:solidFill>
              <a:ln w="15240">
                <a:solidFill>
                  <a:schemeClr val="accent3"/>
                </a:solidFill>
              </a:ln>
            </p:spPr>
          </p:sp>
          <p:sp>
            <p:nvSpPr>
              <p:cNvPr id="41" name="Ellipse 41"/>
              <p:cNvSpPr/>
              <p:nvPr/>
            </p:nvSpPr>
            <p:spPr>
              <a:xfrm>
                <a:off x="4962525" y="2505075"/>
                <a:ext cx="114300" cy="114300"/>
              </a:xfrm>
              <a:prstGeom prst="ellipse">
                <a:avLst/>
              </a:prstGeom>
              <a:solidFill>
                <a:schemeClr val="accent3"/>
              </a:solidFill>
              <a:ln w="15240">
                <a:solidFill>
                  <a:schemeClr val="accent3"/>
                </a:solidFill>
              </a:ln>
            </p:spPr>
          </p:sp>
          <p:sp>
            <p:nvSpPr>
              <p:cNvPr id="42" name="Rectangle 42"/>
              <p:cNvSpPr/>
              <p:nvPr/>
            </p:nvSpPr>
            <p:spPr>
              <a:xfrm>
                <a:off x="4953000" y="2657475"/>
                <a:ext cx="133350" cy="190500"/>
              </a:xfrm>
              <a:prstGeom prst="roundRect">
                <a:avLst>
                  <a:gd name="adj" fmla="val 35714"/>
                </a:avLst>
              </a:prstGeom>
              <a:solidFill>
                <a:schemeClr val="accent3"/>
              </a:solidFill>
              <a:ln w="15240">
                <a:solidFill>
                  <a:schemeClr val="accent3"/>
                </a:solidFill>
              </a:ln>
            </p:spPr>
          </p:sp>
          <p:sp>
            <p:nvSpPr>
              <p:cNvPr id="43" name="Ellipse 43"/>
              <p:cNvSpPr/>
              <p:nvPr/>
            </p:nvSpPr>
            <p:spPr>
              <a:xfrm>
                <a:off x="5553075" y="2505075"/>
                <a:ext cx="114300" cy="114300"/>
              </a:xfrm>
              <a:prstGeom prst="ellipse">
                <a:avLst/>
              </a:prstGeom>
              <a:solidFill>
                <a:schemeClr val="accent3"/>
              </a:solidFill>
              <a:ln w="15240">
                <a:solidFill>
                  <a:schemeClr val="accent3"/>
                </a:solidFill>
              </a:ln>
            </p:spPr>
          </p:sp>
          <p:sp>
            <p:nvSpPr>
              <p:cNvPr id="44" name="Rectangle 44"/>
              <p:cNvSpPr/>
              <p:nvPr/>
            </p:nvSpPr>
            <p:spPr>
              <a:xfrm>
                <a:off x="5543550" y="2657475"/>
                <a:ext cx="133350" cy="190500"/>
              </a:xfrm>
              <a:prstGeom prst="roundRect">
                <a:avLst>
                  <a:gd name="adj" fmla="val 35714"/>
                </a:avLst>
              </a:prstGeom>
              <a:solidFill>
                <a:schemeClr val="accent3"/>
              </a:solidFill>
              <a:ln w="15240">
                <a:solidFill>
                  <a:schemeClr val="accent3"/>
                </a:solidFill>
              </a:ln>
            </p:spPr>
          </p:sp>
          <p:sp>
            <p:nvSpPr>
              <p:cNvPr id="45" name="Ellipse 45"/>
              <p:cNvSpPr/>
              <p:nvPr/>
            </p:nvSpPr>
            <p:spPr>
              <a:xfrm>
                <a:off x="6143625" y="2505075"/>
                <a:ext cx="114300" cy="114300"/>
              </a:xfrm>
              <a:prstGeom prst="ellipse">
                <a:avLst/>
              </a:prstGeom>
              <a:solidFill>
                <a:schemeClr val="accent3"/>
              </a:solidFill>
              <a:ln w="15240">
                <a:solidFill>
                  <a:schemeClr val="accent3"/>
                </a:solidFill>
              </a:ln>
            </p:spPr>
          </p:sp>
          <p:sp>
            <p:nvSpPr>
              <p:cNvPr id="46" name="Rectangle 46"/>
              <p:cNvSpPr/>
              <p:nvPr/>
            </p:nvSpPr>
            <p:spPr>
              <a:xfrm>
                <a:off x="6134100" y="2657475"/>
                <a:ext cx="133350" cy="190500"/>
              </a:xfrm>
              <a:prstGeom prst="roundRect">
                <a:avLst>
                  <a:gd name="adj" fmla="val 35714"/>
                </a:avLst>
              </a:prstGeom>
              <a:solidFill>
                <a:schemeClr val="accent3"/>
              </a:solidFill>
              <a:ln w="15240">
                <a:solidFill>
                  <a:schemeClr val="accent3"/>
                </a:solidFill>
              </a:ln>
            </p:spPr>
          </p:sp>
          <p:sp>
            <p:nvSpPr>
              <p:cNvPr id="47" name="Ellipse 47"/>
              <p:cNvSpPr/>
              <p:nvPr/>
            </p:nvSpPr>
            <p:spPr>
              <a:xfrm>
                <a:off x="828675" y="2952750"/>
                <a:ext cx="114300" cy="114300"/>
              </a:xfrm>
              <a:prstGeom prst="ellipse">
                <a:avLst/>
              </a:prstGeom>
              <a:solidFill>
                <a:schemeClr val="accent3"/>
              </a:solidFill>
              <a:ln w="15240">
                <a:solidFill>
                  <a:schemeClr val="accent3"/>
                </a:solidFill>
              </a:ln>
            </p:spPr>
          </p:sp>
          <p:sp>
            <p:nvSpPr>
              <p:cNvPr id="48" name="Rectangle 48"/>
              <p:cNvSpPr/>
              <p:nvPr/>
            </p:nvSpPr>
            <p:spPr>
              <a:xfrm>
                <a:off x="819150" y="3105150"/>
                <a:ext cx="133350" cy="190500"/>
              </a:xfrm>
              <a:prstGeom prst="roundRect">
                <a:avLst>
                  <a:gd name="adj" fmla="val 35714"/>
                </a:avLst>
              </a:prstGeom>
              <a:solidFill>
                <a:schemeClr val="accent3"/>
              </a:solidFill>
              <a:ln w="15240">
                <a:solidFill>
                  <a:schemeClr val="accent3"/>
                </a:solidFill>
              </a:ln>
            </p:spPr>
          </p:sp>
          <p:sp>
            <p:nvSpPr>
              <p:cNvPr id="49" name="Ellipse 49"/>
              <p:cNvSpPr/>
              <p:nvPr/>
            </p:nvSpPr>
            <p:spPr>
              <a:xfrm>
                <a:off x="1419225" y="2952750"/>
                <a:ext cx="114300" cy="114300"/>
              </a:xfrm>
              <a:prstGeom prst="ellipse">
                <a:avLst/>
              </a:prstGeom>
              <a:solidFill>
                <a:schemeClr val="accent3"/>
              </a:solidFill>
              <a:ln w="15240">
                <a:solidFill>
                  <a:schemeClr val="accent3"/>
                </a:solidFill>
              </a:ln>
            </p:spPr>
          </p:sp>
          <p:sp>
            <p:nvSpPr>
              <p:cNvPr id="50" name="Rectangle 50"/>
              <p:cNvSpPr/>
              <p:nvPr/>
            </p:nvSpPr>
            <p:spPr>
              <a:xfrm>
                <a:off x="1409700" y="3105150"/>
                <a:ext cx="133350" cy="190500"/>
              </a:xfrm>
              <a:prstGeom prst="roundRect">
                <a:avLst>
                  <a:gd name="adj" fmla="val 35714"/>
                </a:avLst>
              </a:prstGeom>
              <a:solidFill>
                <a:schemeClr val="accent3"/>
              </a:solidFill>
              <a:ln w="15240">
                <a:solidFill>
                  <a:schemeClr val="accent3"/>
                </a:solidFill>
              </a:ln>
            </p:spPr>
          </p:sp>
          <p:sp>
            <p:nvSpPr>
              <p:cNvPr id="51" name="Ellipse 51"/>
              <p:cNvSpPr/>
              <p:nvPr/>
            </p:nvSpPr>
            <p:spPr>
              <a:xfrm>
                <a:off x="2009775" y="2952750"/>
                <a:ext cx="114300" cy="114300"/>
              </a:xfrm>
              <a:prstGeom prst="ellipse">
                <a:avLst/>
              </a:prstGeom>
              <a:solidFill>
                <a:schemeClr val="accent3"/>
              </a:solidFill>
              <a:ln w="15240">
                <a:solidFill>
                  <a:schemeClr val="accent3"/>
                </a:solidFill>
              </a:ln>
            </p:spPr>
          </p:sp>
          <p:sp>
            <p:nvSpPr>
              <p:cNvPr id="52" name="Rectangle 52"/>
              <p:cNvSpPr/>
              <p:nvPr/>
            </p:nvSpPr>
            <p:spPr>
              <a:xfrm>
                <a:off x="2000250" y="3105150"/>
                <a:ext cx="133350" cy="190500"/>
              </a:xfrm>
              <a:prstGeom prst="roundRect">
                <a:avLst>
                  <a:gd name="adj" fmla="val 35714"/>
                </a:avLst>
              </a:prstGeom>
              <a:solidFill>
                <a:schemeClr val="accent3"/>
              </a:solidFill>
              <a:ln w="15240">
                <a:solidFill>
                  <a:schemeClr val="accent3"/>
                </a:solidFill>
              </a:ln>
            </p:spPr>
          </p:sp>
          <p:sp>
            <p:nvSpPr>
              <p:cNvPr id="53" name="Ellipse 53"/>
              <p:cNvSpPr/>
              <p:nvPr/>
            </p:nvSpPr>
            <p:spPr>
              <a:xfrm>
                <a:off x="2600325" y="2952750"/>
                <a:ext cx="114300" cy="114300"/>
              </a:xfrm>
              <a:prstGeom prst="ellipse">
                <a:avLst/>
              </a:prstGeom>
              <a:solidFill>
                <a:schemeClr val="accent3"/>
              </a:solidFill>
              <a:ln w="15240">
                <a:solidFill>
                  <a:schemeClr val="accent3"/>
                </a:solidFill>
              </a:ln>
            </p:spPr>
          </p:sp>
          <p:sp>
            <p:nvSpPr>
              <p:cNvPr id="54" name="Rectangle 54"/>
              <p:cNvSpPr/>
              <p:nvPr/>
            </p:nvSpPr>
            <p:spPr>
              <a:xfrm>
                <a:off x="2590800" y="3105150"/>
                <a:ext cx="133350" cy="190500"/>
              </a:xfrm>
              <a:prstGeom prst="roundRect">
                <a:avLst>
                  <a:gd name="adj" fmla="val 35714"/>
                </a:avLst>
              </a:prstGeom>
              <a:solidFill>
                <a:schemeClr val="accent3"/>
              </a:solidFill>
              <a:ln w="15240">
                <a:solidFill>
                  <a:schemeClr val="accent3"/>
                </a:solidFill>
              </a:ln>
            </p:spPr>
          </p:sp>
          <p:sp>
            <p:nvSpPr>
              <p:cNvPr id="55" name="Ellipse 55"/>
              <p:cNvSpPr/>
              <p:nvPr/>
            </p:nvSpPr>
            <p:spPr>
              <a:xfrm>
                <a:off x="3190875" y="2952750"/>
                <a:ext cx="114300" cy="114300"/>
              </a:xfrm>
              <a:prstGeom prst="ellipse">
                <a:avLst/>
              </a:prstGeom>
              <a:solidFill>
                <a:schemeClr val="accent3"/>
              </a:solidFill>
              <a:ln w="15240">
                <a:solidFill>
                  <a:schemeClr val="accent3"/>
                </a:solidFill>
              </a:ln>
            </p:spPr>
          </p:sp>
          <p:sp>
            <p:nvSpPr>
              <p:cNvPr id="56" name="Rectangle 56"/>
              <p:cNvSpPr/>
              <p:nvPr/>
            </p:nvSpPr>
            <p:spPr>
              <a:xfrm>
                <a:off x="3181350" y="3105150"/>
                <a:ext cx="133350" cy="190500"/>
              </a:xfrm>
              <a:prstGeom prst="roundRect">
                <a:avLst>
                  <a:gd name="adj" fmla="val 35714"/>
                </a:avLst>
              </a:prstGeom>
              <a:solidFill>
                <a:schemeClr val="accent3"/>
              </a:solidFill>
              <a:ln w="15240">
                <a:solidFill>
                  <a:schemeClr val="accent3"/>
                </a:solidFill>
              </a:ln>
            </p:spPr>
          </p:sp>
          <p:sp>
            <p:nvSpPr>
              <p:cNvPr id="57" name="Ellipse 57"/>
              <p:cNvSpPr/>
              <p:nvPr/>
            </p:nvSpPr>
            <p:spPr>
              <a:xfrm>
                <a:off x="3781425" y="2952750"/>
                <a:ext cx="114300" cy="114300"/>
              </a:xfrm>
              <a:prstGeom prst="ellipse">
                <a:avLst/>
              </a:prstGeom>
              <a:solidFill>
                <a:schemeClr val="accent3"/>
              </a:solidFill>
              <a:ln w="15240">
                <a:solidFill>
                  <a:schemeClr val="accent3"/>
                </a:solidFill>
              </a:ln>
            </p:spPr>
          </p:sp>
          <p:sp>
            <p:nvSpPr>
              <p:cNvPr id="58" name="Rectangle 58"/>
              <p:cNvSpPr/>
              <p:nvPr/>
            </p:nvSpPr>
            <p:spPr>
              <a:xfrm>
                <a:off x="3771900" y="3105150"/>
                <a:ext cx="133350" cy="190500"/>
              </a:xfrm>
              <a:prstGeom prst="roundRect">
                <a:avLst>
                  <a:gd name="adj" fmla="val 35714"/>
                </a:avLst>
              </a:prstGeom>
              <a:solidFill>
                <a:schemeClr val="accent3"/>
              </a:solidFill>
              <a:ln w="15240">
                <a:solidFill>
                  <a:schemeClr val="accent3"/>
                </a:solidFill>
              </a:ln>
            </p:spPr>
          </p:sp>
          <p:sp>
            <p:nvSpPr>
              <p:cNvPr id="59" name="Ellipse 59"/>
              <p:cNvSpPr/>
              <p:nvPr/>
            </p:nvSpPr>
            <p:spPr>
              <a:xfrm>
                <a:off x="4371975" y="2952750"/>
                <a:ext cx="114300" cy="114300"/>
              </a:xfrm>
              <a:prstGeom prst="ellipse">
                <a:avLst/>
              </a:prstGeom>
              <a:solidFill>
                <a:schemeClr val="accent3"/>
              </a:solidFill>
              <a:ln w="15240">
                <a:solidFill>
                  <a:schemeClr val="accent3"/>
                </a:solidFill>
              </a:ln>
            </p:spPr>
          </p:sp>
          <p:sp>
            <p:nvSpPr>
              <p:cNvPr id="60" name="Rectangle 60"/>
              <p:cNvSpPr/>
              <p:nvPr/>
            </p:nvSpPr>
            <p:spPr>
              <a:xfrm>
                <a:off x="4362450" y="3105150"/>
                <a:ext cx="133350" cy="190500"/>
              </a:xfrm>
              <a:prstGeom prst="roundRect">
                <a:avLst>
                  <a:gd name="adj" fmla="val 35714"/>
                </a:avLst>
              </a:prstGeom>
              <a:solidFill>
                <a:schemeClr val="accent3"/>
              </a:solidFill>
              <a:ln w="15240">
                <a:solidFill>
                  <a:schemeClr val="accent3"/>
                </a:solidFill>
              </a:ln>
            </p:spPr>
          </p:sp>
          <p:sp>
            <p:nvSpPr>
              <p:cNvPr id="61" name="Ellipse 61"/>
              <p:cNvSpPr/>
              <p:nvPr/>
            </p:nvSpPr>
            <p:spPr>
              <a:xfrm>
                <a:off x="4962525" y="2952750"/>
                <a:ext cx="114300" cy="114300"/>
              </a:xfrm>
              <a:prstGeom prst="ellipse">
                <a:avLst/>
              </a:prstGeom>
              <a:solidFill>
                <a:schemeClr val="accent3"/>
              </a:solidFill>
              <a:ln w="15240">
                <a:solidFill>
                  <a:schemeClr val="accent3"/>
                </a:solidFill>
              </a:ln>
            </p:spPr>
          </p:sp>
          <p:sp>
            <p:nvSpPr>
              <p:cNvPr id="62" name="Rectangle 62"/>
              <p:cNvSpPr/>
              <p:nvPr/>
            </p:nvSpPr>
            <p:spPr>
              <a:xfrm>
                <a:off x="4953000" y="3105150"/>
                <a:ext cx="133350" cy="190500"/>
              </a:xfrm>
              <a:prstGeom prst="roundRect">
                <a:avLst>
                  <a:gd name="adj" fmla="val 35714"/>
                </a:avLst>
              </a:prstGeom>
              <a:solidFill>
                <a:schemeClr val="accent3"/>
              </a:solidFill>
              <a:ln w="15240">
                <a:solidFill>
                  <a:schemeClr val="accent3"/>
                </a:solidFill>
              </a:ln>
            </p:spPr>
          </p:sp>
          <p:sp>
            <p:nvSpPr>
              <p:cNvPr id="63" name="Ellipse 63"/>
              <p:cNvSpPr/>
              <p:nvPr/>
            </p:nvSpPr>
            <p:spPr>
              <a:xfrm>
                <a:off x="5553075" y="2952750"/>
                <a:ext cx="114300" cy="114300"/>
              </a:xfrm>
              <a:prstGeom prst="ellipse">
                <a:avLst/>
              </a:prstGeom>
              <a:solidFill>
                <a:schemeClr val="accent3"/>
              </a:solidFill>
              <a:ln w="15240">
                <a:solidFill>
                  <a:schemeClr val="accent3"/>
                </a:solidFill>
              </a:ln>
            </p:spPr>
          </p:sp>
          <p:sp>
            <p:nvSpPr>
              <p:cNvPr id="64" name="Rectangle 64"/>
              <p:cNvSpPr/>
              <p:nvPr/>
            </p:nvSpPr>
            <p:spPr>
              <a:xfrm>
                <a:off x="5543550" y="3105150"/>
                <a:ext cx="133350" cy="190500"/>
              </a:xfrm>
              <a:prstGeom prst="roundRect">
                <a:avLst>
                  <a:gd name="adj" fmla="val 35714"/>
                </a:avLst>
              </a:prstGeom>
              <a:solidFill>
                <a:schemeClr val="accent3"/>
              </a:solidFill>
              <a:ln w="15240">
                <a:solidFill>
                  <a:schemeClr val="accent3"/>
                </a:solidFill>
              </a:ln>
            </p:spPr>
          </p:sp>
          <p:sp>
            <p:nvSpPr>
              <p:cNvPr id="65" name="Ellipse 65"/>
              <p:cNvSpPr/>
              <p:nvPr/>
            </p:nvSpPr>
            <p:spPr>
              <a:xfrm>
                <a:off x="6143625" y="2952750"/>
                <a:ext cx="114300" cy="114300"/>
              </a:xfrm>
              <a:prstGeom prst="ellipse">
                <a:avLst/>
              </a:prstGeom>
              <a:solidFill>
                <a:schemeClr val="accent3"/>
              </a:solidFill>
              <a:ln w="15240">
                <a:solidFill>
                  <a:schemeClr val="accent3"/>
                </a:solidFill>
              </a:ln>
            </p:spPr>
          </p:sp>
          <p:sp>
            <p:nvSpPr>
              <p:cNvPr id="66" name="Rectangle 66"/>
              <p:cNvSpPr/>
              <p:nvPr/>
            </p:nvSpPr>
            <p:spPr>
              <a:xfrm>
                <a:off x="6134100" y="3105150"/>
                <a:ext cx="133350" cy="190500"/>
              </a:xfrm>
              <a:prstGeom prst="roundRect">
                <a:avLst>
                  <a:gd name="adj" fmla="val 35714"/>
                </a:avLst>
              </a:prstGeom>
              <a:solidFill>
                <a:schemeClr val="accent3"/>
              </a:solidFill>
              <a:ln w="15240">
                <a:solidFill>
                  <a:schemeClr val="accent3"/>
                </a:solidFill>
              </a:ln>
            </p:spPr>
          </p:sp>
          <p:sp>
            <p:nvSpPr>
              <p:cNvPr id="67" name="Ellipse 67"/>
              <p:cNvSpPr/>
              <p:nvPr/>
            </p:nvSpPr>
            <p:spPr>
              <a:xfrm>
                <a:off x="828675" y="3400425"/>
                <a:ext cx="114300" cy="114300"/>
              </a:xfrm>
              <a:prstGeom prst="ellipse">
                <a:avLst/>
              </a:prstGeom>
              <a:solidFill>
                <a:schemeClr val="accent3"/>
              </a:solidFill>
              <a:ln w="15240">
                <a:solidFill>
                  <a:schemeClr val="accent3"/>
                </a:solidFill>
              </a:ln>
            </p:spPr>
          </p:sp>
          <p:sp>
            <p:nvSpPr>
              <p:cNvPr id="68" name="Rectangle 68"/>
              <p:cNvSpPr/>
              <p:nvPr/>
            </p:nvSpPr>
            <p:spPr>
              <a:xfrm>
                <a:off x="819150" y="3552825"/>
                <a:ext cx="133350" cy="190500"/>
              </a:xfrm>
              <a:prstGeom prst="roundRect">
                <a:avLst>
                  <a:gd name="adj" fmla="val 35714"/>
                </a:avLst>
              </a:prstGeom>
              <a:solidFill>
                <a:schemeClr val="accent3"/>
              </a:solidFill>
              <a:ln w="15240">
                <a:solidFill>
                  <a:schemeClr val="accent3"/>
                </a:solidFill>
              </a:ln>
            </p:spPr>
          </p:sp>
          <p:sp>
            <p:nvSpPr>
              <p:cNvPr id="69" name="Ellipse 69"/>
              <p:cNvSpPr/>
              <p:nvPr/>
            </p:nvSpPr>
            <p:spPr>
              <a:xfrm>
                <a:off x="1419225" y="3400425"/>
                <a:ext cx="114300" cy="114300"/>
              </a:xfrm>
              <a:prstGeom prst="ellipse">
                <a:avLst/>
              </a:prstGeom>
              <a:solidFill>
                <a:schemeClr val="accent3"/>
              </a:solidFill>
              <a:ln w="15240">
                <a:solidFill>
                  <a:schemeClr val="accent3"/>
                </a:solidFill>
              </a:ln>
            </p:spPr>
          </p:sp>
          <p:sp>
            <p:nvSpPr>
              <p:cNvPr id="70" name="Rectangle 70"/>
              <p:cNvSpPr/>
              <p:nvPr/>
            </p:nvSpPr>
            <p:spPr>
              <a:xfrm>
                <a:off x="1409700" y="3552825"/>
                <a:ext cx="133350" cy="190500"/>
              </a:xfrm>
              <a:prstGeom prst="roundRect">
                <a:avLst>
                  <a:gd name="adj" fmla="val 35714"/>
                </a:avLst>
              </a:prstGeom>
              <a:solidFill>
                <a:schemeClr val="accent3"/>
              </a:solidFill>
              <a:ln w="15240">
                <a:solidFill>
                  <a:schemeClr val="accent3"/>
                </a:solidFill>
              </a:ln>
            </p:spPr>
          </p:sp>
          <p:sp>
            <p:nvSpPr>
              <p:cNvPr id="71" name="Ellipse 71"/>
              <p:cNvSpPr/>
              <p:nvPr/>
            </p:nvSpPr>
            <p:spPr>
              <a:xfrm>
                <a:off x="2009775" y="3400425"/>
                <a:ext cx="114300" cy="114300"/>
              </a:xfrm>
              <a:prstGeom prst="ellipse">
                <a:avLst/>
              </a:prstGeom>
              <a:solidFill>
                <a:schemeClr val="accent3"/>
              </a:solidFill>
              <a:ln w="15240">
                <a:solidFill>
                  <a:schemeClr val="accent3"/>
                </a:solidFill>
              </a:ln>
            </p:spPr>
          </p:sp>
          <p:sp>
            <p:nvSpPr>
              <p:cNvPr id="72" name="Rectangle 72"/>
              <p:cNvSpPr/>
              <p:nvPr/>
            </p:nvSpPr>
            <p:spPr>
              <a:xfrm>
                <a:off x="2000250" y="3552825"/>
                <a:ext cx="133350" cy="190500"/>
              </a:xfrm>
              <a:prstGeom prst="roundRect">
                <a:avLst>
                  <a:gd name="adj" fmla="val 35714"/>
                </a:avLst>
              </a:prstGeom>
              <a:solidFill>
                <a:schemeClr val="accent3"/>
              </a:solidFill>
              <a:ln w="15240">
                <a:solidFill>
                  <a:schemeClr val="accent3"/>
                </a:solidFill>
              </a:ln>
            </p:spPr>
          </p:sp>
          <p:sp>
            <p:nvSpPr>
              <p:cNvPr id="73" name="Ellipse 73"/>
              <p:cNvSpPr/>
              <p:nvPr/>
            </p:nvSpPr>
            <p:spPr>
              <a:xfrm>
                <a:off x="2600325" y="3400425"/>
                <a:ext cx="114300" cy="114300"/>
              </a:xfrm>
              <a:prstGeom prst="ellipse">
                <a:avLst/>
              </a:prstGeom>
              <a:solidFill>
                <a:schemeClr val="accent3"/>
              </a:solidFill>
              <a:ln w="15240">
                <a:solidFill>
                  <a:schemeClr val="accent3"/>
                </a:solidFill>
              </a:ln>
            </p:spPr>
          </p:sp>
          <p:sp>
            <p:nvSpPr>
              <p:cNvPr id="74" name="Rectangle 74"/>
              <p:cNvSpPr/>
              <p:nvPr/>
            </p:nvSpPr>
            <p:spPr>
              <a:xfrm>
                <a:off x="2590800" y="3552825"/>
                <a:ext cx="133350" cy="190500"/>
              </a:xfrm>
              <a:prstGeom prst="roundRect">
                <a:avLst>
                  <a:gd name="adj" fmla="val 35714"/>
                </a:avLst>
              </a:prstGeom>
              <a:solidFill>
                <a:schemeClr val="accent3"/>
              </a:solidFill>
              <a:ln w="15240">
                <a:solidFill>
                  <a:schemeClr val="accent3"/>
                </a:solidFill>
              </a:ln>
            </p:spPr>
          </p:sp>
          <p:sp>
            <p:nvSpPr>
              <p:cNvPr id="75" name="Ellipse 75"/>
              <p:cNvSpPr/>
              <p:nvPr/>
            </p:nvSpPr>
            <p:spPr>
              <a:xfrm>
                <a:off x="3190875" y="3400425"/>
                <a:ext cx="114300" cy="114300"/>
              </a:xfrm>
              <a:prstGeom prst="ellipse">
                <a:avLst/>
              </a:prstGeom>
              <a:solidFill>
                <a:schemeClr val="accent3"/>
              </a:solidFill>
              <a:ln w="15240">
                <a:solidFill>
                  <a:schemeClr val="accent3"/>
                </a:solidFill>
              </a:ln>
            </p:spPr>
          </p:sp>
          <p:sp>
            <p:nvSpPr>
              <p:cNvPr id="76" name="Rectangle 76"/>
              <p:cNvSpPr/>
              <p:nvPr/>
            </p:nvSpPr>
            <p:spPr>
              <a:xfrm>
                <a:off x="3181350" y="3552825"/>
                <a:ext cx="133350" cy="190500"/>
              </a:xfrm>
              <a:prstGeom prst="roundRect">
                <a:avLst>
                  <a:gd name="adj" fmla="val 35714"/>
                </a:avLst>
              </a:prstGeom>
              <a:solidFill>
                <a:schemeClr val="accent3"/>
              </a:solidFill>
              <a:ln w="15240">
                <a:solidFill>
                  <a:schemeClr val="accent3"/>
                </a:solidFill>
              </a:ln>
            </p:spPr>
          </p:sp>
          <p:sp>
            <p:nvSpPr>
              <p:cNvPr id="77" name="Ellipse 77"/>
              <p:cNvSpPr/>
              <p:nvPr/>
            </p:nvSpPr>
            <p:spPr>
              <a:xfrm>
                <a:off x="3781425" y="3400425"/>
                <a:ext cx="114300" cy="114300"/>
              </a:xfrm>
              <a:prstGeom prst="ellipse">
                <a:avLst/>
              </a:prstGeom>
              <a:solidFill>
                <a:schemeClr val="accent3"/>
              </a:solidFill>
              <a:ln w="15240">
                <a:solidFill>
                  <a:schemeClr val="accent3"/>
                </a:solidFill>
              </a:ln>
            </p:spPr>
          </p:sp>
          <p:sp>
            <p:nvSpPr>
              <p:cNvPr id="78" name="Rectangle 78"/>
              <p:cNvSpPr/>
              <p:nvPr/>
            </p:nvSpPr>
            <p:spPr>
              <a:xfrm>
                <a:off x="3771900" y="3552825"/>
                <a:ext cx="133350" cy="190500"/>
              </a:xfrm>
              <a:prstGeom prst="roundRect">
                <a:avLst>
                  <a:gd name="adj" fmla="val 35714"/>
                </a:avLst>
              </a:prstGeom>
              <a:solidFill>
                <a:schemeClr val="accent3"/>
              </a:solidFill>
              <a:ln w="15240">
                <a:solidFill>
                  <a:schemeClr val="accent3"/>
                </a:solidFill>
              </a:ln>
            </p:spPr>
          </p:sp>
          <p:sp>
            <p:nvSpPr>
              <p:cNvPr id="79" name="Ellipse 79"/>
              <p:cNvSpPr/>
              <p:nvPr/>
            </p:nvSpPr>
            <p:spPr>
              <a:xfrm>
                <a:off x="4371975" y="3400425"/>
                <a:ext cx="114300" cy="114300"/>
              </a:xfrm>
              <a:prstGeom prst="ellipse">
                <a:avLst/>
              </a:prstGeom>
              <a:solidFill>
                <a:schemeClr val="accent3"/>
              </a:solidFill>
              <a:ln w="15240">
                <a:solidFill>
                  <a:schemeClr val="accent3"/>
                </a:solidFill>
              </a:ln>
            </p:spPr>
          </p:sp>
          <p:sp>
            <p:nvSpPr>
              <p:cNvPr id="80" name="Rectangle 80"/>
              <p:cNvSpPr/>
              <p:nvPr/>
            </p:nvSpPr>
            <p:spPr>
              <a:xfrm>
                <a:off x="4362450" y="3552825"/>
                <a:ext cx="133350" cy="190500"/>
              </a:xfrm>
              <a:prstGeom prst="roundRect">
                <a:avLst>
                  <a:gd name="adj" fmla="val 35714"/>
                </a:avLst>
              </a:prstGeom>
              <a:solidFill>
                <a:schemeClr val="accent3"/>
              </a:solidFill>
              <a:ln w="15240">
                <a:solidFill>
                  <a:schemeClr val="accent3"/>
                </a:solidFill>
              </a:ln>
            </p:spPr>
          </p:sp>
          <p:sp>
            <p:nvSpPr>
              <p:cNvPr id="81" name="Ellipse 81"/>
              <p:cNvSpPr/>
              <p:nvPr/>
            </p:nvSpPr>
            <p:spPr>
              <a:xfrm>
                <a:off x="4962525" y="3400425"/>
                <a:ext cx="114300" cy="114300"/>
              </a:xfrm>
              <a:prstGeom prst="ellipse">
                <a:avLst/>
              </a:prstGeom>
              <a:solidFill>
                <a:schemeClr val="accent3"/>
              </a:solidFill>
              <a:ln w="15240">
                <a:solidFill>
                  <a:schemeClr val="accent3"/>
                </a:solidFill>
              </a:ln>
            </p:spPr>
          </p:sp>
          <p:sp>
            <p:nvSpPr>
              <p:cNvPr id="82" name="Rectangle 82"/>
              <p:cNvSpPr/>
              <p:nvPr/>
            </p:nvSpPr>
            <p:spPr>
              <a:xfrm>
                <a:off x="4953000" y="3552825"/>
                <a:ext cx="133350" cy="190500"/>
              </a:xfrm>
              <a:prstGeom prst="roundRect">
                <a:avLst>
                  <a:gd name="adj" fmla="val 35714"/>
                </a:avLst>
              </a:prstGeom>
              <a:solidFill>
                <a:schemeClr val="accent3"/>
              </a:solidFill>
              <a:ln w="15240">
                <a:solidFill>
                  <a:schemeClr val="accent3"/>
                </a:solidFill>
              </a:ln>
            </p:spPr>
          </p:sp>
          <p:sp>
            <p:nvSpPr>
              <p:cNvPr id="83" name="Ellipse 83"/>
              <p:cNvSpPr/>
              <p:nvPr/>
            </p:nvSpPr>
            <p:spPr>
              <a:xfrm>
                <a:off x="5553075" y="3400425"/>
                <a:ext cx="114300" cy="114300"/>
              </a:xfrm>
              <a:prstGeom prst="ellipse">
                <a:avLst/>
              </a:prstGeom>
              <a:solidFill>
                <a:schemeClr val="accent3"/>
              </a:solidFill>
              <a:ln w="15240">
                <a:solidFill>
                  <a:schemeClr val="accent3"/>
                </a:solidFill>
              </a:ln>
            </p:spPr>
          </p:sp>
          <p:sp>
            <p:nvSpPr>
              <p:cNvPr id="84" name="Rectangle 84"/>
              <p:cNvSpPr/>
              <p:nvPr/>
            </p:nvSpPr>
            <p:spPr>
              <a:xfrm>
                <a:off x="5543550" y="3552825"/>
                <a:ext cx="133350" cy="190500"/>
              </a:xfrm>
              <a:prstGeom prst="roundRect">
                <a:avLst>
                  <a:gd name="adj" fmla="val 35714"/>
                </a:avLst>
              </a:prstGeom>
              <a:solidFill>
                <a:schemeClr val="accent3"/>
              </a:solidFill>
              <a:ln w="15240">
                <a:solidFill>
                  <a:schemeClr val="accent3"/>
                </a:solidFill>
              </a:ln>
            </p:spPr>
          </p:sp>
          <p:sp>
            <p:nvSpPr>
              <p:cNvPr id="85" name="Ellipse 85"/>
              <p:cNvSpPr/>
              <p:nvPr/>
            </p:nvSpPr>
            <p:spPr>
              <a:xfrm>
                <a:off x="6143625" y="3400425"/>
                <a:ext cx="114300" cy="114300"/>
              </a:xfrm>
              <a:prstGeom prst="ellipse">
                <a:avLst/>
              </a:prstGeom>
              <a:solidFill>
                <a:schemeClr val="accent3"/>
              </a:solidFill>
              <a:ln w="15240">
                <a:solidFill>
                  <a:schemeClr val="accent3"/>
                </a:solidFill>
              </a:ln>
            </p:spPr>
          </p:sp>
          <p:sp>
            <p:nvSpPr>
              <p:cNvPr id="86" name="Rectangle 86"/>
              <p:cNvSpPr/>
              <p:nvPr/>
            </p:nvSpPr>
            <p:spPr>
              <a:xfrm>
                <a:off x="6134100" y="3552825"/>
                <a:ext cx="133350" cy="190500"/>
              </a:xfrm>
              <a:prstGeom prst="roundRect">
                <a:avLst>
                  <a:gd name="adj" fmla="val 35714"/>
                </a:avLst>
              </a:prstGeom>
              <a:solidFill>
                <a:schemeClr val="accent3"/>
              </a:solidFill>
              <a:ln w="15240">
                <a:solidFill>
                  <a:schemeClr val="accent3"/>
                </a:solidFill>
              </a:ln>
            </p:spPr>
          </p:sp>
          <p:sp>
            <p:nvSpPr>
              <p:cNvPr id="87" name="Ellipse 87"/>
              <p:cNvSpPr/>
              <p:nvPr/>
            </p:nvSpPr>
            <p:spPr>
              <a:xfrm>
                <a:off x="828675" y="3848100"/>
                <a:ext cx="114300" cy="114300"/>
              </a:xfrm>
              <a:prstGeom prst="ellipse">
                <a:avLst/>
              </a:prstGeom>
              <a:solidFill>
                <a:schemeClr val="accent3"/>
              </a:solidFill>
              <a:ln w="15240">
                <a:solidFill>
                  <a:schemeClr val="accent3"/>
                </a:solidFill>
              </a:ln>
            </p:spPr>
          </p:sp>
          <p:sp>
            <p:nvSpPr>
              <p:cNvPr id="88" name="Rectangle 88"/>
              <p:cNvSpPr/>
              <p:nvPr/>
            </p:nvSpPr>
            <p:spPr>
              <a:xfrm>
                <a:off x="819150" y="4000500"/>
                <a:ext cx="133350" cy="190500"/>
              </a:xfrm>
              <a:prstGeom prst="roundRect">
                <a:avLst>
                  <a:gd name="adj" fmla="val 35714"/>
                </a:avLst>
              </a:prstGeom>
              <a:solidFill>
                <a:schemeClr val="accent3"/>
              </a:solidFill>
              <a:ln w="15240">
                <a:solidFill>
                  <a:schemeClr val="accent3"/>
                </a:solidFill>
              </a:ln>
            </p:spPr>
          </p:sp>
          <p:sp>
            <p:nvSpPr>
              <p:cNvPr id="89" name="Ellipse 89"/>
              <p:cNvSpPr/>
              <p:nvPr/>
            </p:nvSpPr>
            <p:spPr>
              <a:xfrm>
                <a:off x="1419225" y="3848100"/>
                <a:ext cx="114300" cy="114300"/>
              </a:xfrm>
              <a:prstGeom prst="ellipse">
                <a:avLst/>
              </a:prstGeom>
              <a:solidFill>
                <a:schemeClr val="accent3"/>
              </a:solidFill>
              <a:ln w="15240">
                <a:solidFill>
                  <a:schemeClr val="accent3"/>
                </a:solidFill>
              </a:ln>
            </p:spPr>
          </p:sp>
          <p:sp>
            <p:nvSpPr>
              <p:cNvPr id="90" name="Rectangle 90"/>
              <p:cNvSpPr/>
              <p:nvPr/>
            </p:nvSpPr>
            <p:spPr>
              <a:xfrm>
                <a:off x="1409700" y="4000500"/>
                <a:ext cx="133350" cy="190500"/>
              </a:xfrm>
              <a:prstGeom prst="roundRect">
                <a:avLst>
                  <a:gd name="adj" fmla="val 35714"/>
                </a:avLst>
              </a:prstGeom>
              <a:solidFill>
                <a:schemeClr val="accent3"/>
              </a:solidFill>
              <a:ln w="15240">
                <a:solidFill>
                  <a:schemeClr val="accent3"/>
                </a:solidFill>
              </a:ln>
            </p:spPr>
          </p:sp>
          <p:sp>
            <p:nvSpPr>
              <p:cNvPr id="91" name="Ellipse 91"/>
              <p:cNvSpPr/>
              <p:nvPr/>
            </p:nvSpPr>
            <p:spPr>
              <a:xfrm>
                <a:off x="2009775" y="3848100"/>
                <a:ext cx="114300" cy="114300"/>
              </a:xfrm>
              <a:prstGeom prst="ellipse">
                <a:avLst/>
              </a:prstGeom>
              <a:solidFill>
                <a:schemeClr val="accent3"/>
              </a:solidFill>
              <a:ln w="15240">
                <a:solidFill>
                  <a:schemeClr val="accent3"/>
                </a:solidFill>
              </a:ln>
            </p:spPr>
          </p:sp>
          <p:sp>
            <p:nvSpPr>
              <p:cNvPr id="92" name="Rectangle 92"/>
              <p:cNvSpPr/>
              <p:nvPr/>
            </p:nvSpPr>
            <p:spPr>
              <a:xfrm>
                <a:off x="2000250" y="4000500"/>
                <a:ext cx="133350" cy="190500"/>
              </a:xfrm>
              <a:prstGeom prst="roundRect">
                <a:avLst>
                  <a:gd name="adj" fmla="val 35714"/>
                </a:avLst>
              </a:prstGeom>
              <a:solidFill>
                <a:schemeClr val="accent3"/>
              </a:solidFill>
              <a:ln w="15240">
                <a:solidFill>
                  <a:schemeClr val="accent3"/>
                </a:solidFill>
              </a:ln>
            </p:spPr>
          </p:sp>
          <p:sp>
            <p:nvSpPr>
              <p:cNvPr id="93" name="Ellipse 93"/>
              <p:cNvSpPr/>
              <p:nvPr/>
            </p:nvSpPr>
            <p:spPr>
              <a:xfrm>
                <a:off x="2600325" y="3848100"/>
                <a:ext cx="114300" cy="114300"/>
              </a:xfrm>
              <a:prstGeom prst="ellipse">
                <a:avLst/>
              </a:prstGeom>
              <a:solidFill>
                <a:schemeClr val="accent3"/>
              </a:solidFill>
              <a:ln w="15240">
                <a:solidFill>
                  <a:schemeClr val="accent3"/>
                </a:solidFill>
              </a:ln>
            </p:spPr>
          </p:sp>
          <p:sp>
            <p:nvSpPr>
              <p:cNvPr id="94" name="Rectangle 94"/>
              <p:cNvSpPr/>
              <p:nvPr/>
            </p:nvSpPr>
            <p:spPr>
              <a:xfrm>
                <a:off x="2590800" y="4000500"/>
                <a:ext cx="133350" cy="190500"/>
              </a:xfrm>
              <a:prstGeom prst="roundRect">
                <a:avLst>
                  <a:gd name="adj" fmla="val 35714"/>
                </a:avLst>
              </a:prstGeom>
              <a:solidFill>
                <a:schemeClr val="accent3"/>
              </a:solidFill>
              <a:ln w="15240">
                <a:solidFill>
                  <a:schemeClr val="accent3"/>
                </a:solidFill>
              </a:ln>
            </p:spPr>
          </p:sp>
          <p:sp>
            <p:nvSpPr>
              <p:cNvPr id="95" name="Ellipse 95"/>
              <p:cNvSpPr/>
              <p:nvPr/>
            </p:nvSpPr>
            <p:spPr>
              <a:xfrm>
                <a:off x="3190875" y="3848100"/>
                <a:ext cx="114300" cy="114300"/>
              </a:xfrm>
              <a:prstGeom prst="ellipse">
                <a:avLst/>
              </a:prstGeom>
              <a:solidFill>
                <a:schemeClr val="accent3"/>
              </a:solidFill>
              <a:ln w="15240">
                <a:solidFill>
                  <a:schemeClr val="accent3"/>
                </a:solidFill>
              </a:ln>
            </p:spPr>
          </p:sp>
          <p:sp>
            <p:nvSpPr>
              <p:cNvPr id="96" name="Rectangle 96"/>
              <p:cNvSpPr/>
              <p:nvPr/>
            </p:nvSpPr>
            <p:spPr>
              <a:xfrm>
                <a:off x="3181350" y="4000500"/>
                <a:ext cx="133350" cy="190500"/>
              </a:xfrm>
              <a:prstGeom prst="roundRect">
                <a:avLst>
                  <a:gd name="adj" fmla="val 35714"/>
                </a:avLst>
              </a:prstGeom>
              <a:solidFill>
                <a:schemeClr val="accent3"/>
              </a:solidFill>
              <a:ln w="15240">
                <a:solidFill>
                  <a:schemeClr val="accent3"/>
                </a:solidFill>
              </a:ln>
            </p:spPr>
          </p:sp>
          <p:sp>
            <p:nvSpPr>
              <p:cNvPr id="97" name="Ellipse 97"/>
              <p:cNvSpPr/>
              <p:nvPr/>
            </p:nvSpPr>
            <p:spPr>
              <a:xfrm>
                <a:off x="3781425" y="3848100"/>
                <a:ext cx="114300" cy="114300"/>
              </a:xfrm>
              <a:prstGeom prst="ellipse">
                <a:avLst/>
              </a:prstGeom>
              <a:solidFill>
                <a:schemeClr val="accent3"/>
              </a:solidFill>
              <a:ln w="15240">
                <a:solidFill>
                  <a:schemeClr val="accent3"/>
                </a:solidFill>
              </a:ln>
            </p:spPr>
          </p:sp>
          <p:sp>
            <p:nvSpPr>
              <p:cNvPr id="98" name="Rectangle 98"/>
              <p:cNvSpPr/>
              <p:nvPr/>
            </p:nvSpPr>
            <p:spPr>
              <a:xfrm>
                <a:off x="3771900" y="4000500"/>
                <a:ext cx="133350" cy="190500"/>
              </a:xfrm>
              <a:prstGeom prst="roundRect">
                <a:avLst>
                  <a:gd name="adj" fmla="val 35714"/>
                </a:avLst>
              </a:prstGeom>
              <a:solidFill>
                <a:schemeClr val="accent3"/>
              </a:solidFill>
              <a:ln w="15240">
                <a:solidFill>
                  <a:schemeClr val="accent3"/>
                </a:solidFill>
              </a:ln>
            </p:spPr>
          </p:sp>
          <p:sp>
            <p:nvSpPr>
              <p:cNvPr id="99" name="Ellipse 99"/>
              <p:cNvSpPr/>
              <p:nvPr/>
            </p:nvSpPr>
            <p:spPr>
              <a:xfrm>
                <a:off x="4371975" y="3848100"/>
                <a:ext cx="114300" cy="114300"/>
              </a:xfrm>
              <a:prstGeom prst="ellipse">
                <a:avLst/>
              </a:prstGeom>
              <a:solidFill>
                <a:schemeClr val="accent3"/>
              </a:solidFill>
              <a:ln w="15240">
                <a:solidFill>
                  <a:schemeClr val="accent3"/>
                </a:solidFill>
              </a:ln>
            </p:spPr>
          </p:sp>
          <p:sp>
            <p:nvSpPr>
              <p:cNvPr id="100" name="Rectangle 100"/>
              <p:cNvSpPr/>
              <p:nvPr/>
            </p:nvSpPr>
            <p:spPr>
              <a:xfrm>
                <a:off x="4362450" y="4000500"/>
                <a:ext cx="133350" cy="190500"/>
              </a:xfrm>
              <a:prstGeom prst="roundRect">
                <a:avLst>
                  <a:gd name="adj" fmla="val 35714"/>
                </a:avLst>
              </a:prstGeom>
              <a:solidFill>
                <a:schemeClr val="accent3"/>
              </a:solidFill>
              <a:ln w="15240">
                <a:solidFill>
                  <a:schemeClr val="accent3"/>
                </a:solidFill>
              </a:ln>
            </p:spPr>
          </p:sp>
          <p:sp>
            <p:nvSpPr>
              <p:cNvPr id="101" name="Ellipse 101"/>
              <p:cNvSpPr/>
              <p:nvPr/>
            </p:nvSpPr>
            <p:spPr>
              <a:xfrm>
                <a:off x="4962525" y="3848100"/>
                <a:ext cx="114300" cy="114300"/>
              </a:xfrm>
              <a:prstGeom prst="ellipse">
                <a:avLst/>
              </a:prstGeom>
              <a:solidFill>
                <a:schemeClr val="accent3"/>
              </a:solidFill>
              <a:ln w="15240">
                <a:solidFill>
                  <a:schemeClr val="accent3"/>
                </a:solidFill>
              </a:ln>
            </p:spPr>
          </p:sp>
          <p:sp>
            <p:nvSpPr>
              <p:cNvPr id="102" name="Rectangle 102"/>
              <p:cNvSpPr/>
              <p:nvPr/>
            </p:nvSpPr>
            <p:spPr>
              <a:xfrm>
                <a:off x="4953000" y="4000500"/>
                <a:ext cx="133350" cy="190500"/>
              </a:xfrm>
              <a:prstGeom prst="roundRect">
                <a:avLst>
                  <a:gd name="adj" fmla="val 35714"/>
                </a:avLst>
              </a:prstGeom>
              <a:solidFill>
                <a:schemeClr val="accent3"/>
              </a:solidFill>
              <a:ln w="15240">
                <a:solidFill>
                  <a:schemeClr val="accent3"/>
                </a:solidFill>
              </a:ln>
            </p:spPr>
          </p:sp>
          <p:sp>
            <p:nvSpPr>
              <p:cNvPr id="103" name="Ellipse 103"/>
              <p:cNvSpPr/>
              <p:nvPr/>
            </p:nvSpPr>
            <p:spPr>
              <a:xfrm>
                <a:off x="5553075" y="3848100"/>
                <a:ext cx="114300" cy="114300"/>
              </a:xfrm>
              <a:prstGeom prst="ellipse">
                <a:avLst/>
              </a:prstGeom>
              <a:solidFill>
                <a:schemeClr val="accent3"/>
              </a:solidFill>
              <a:ln w="15240">
                <a:solidFill>
                  <a:schemeClr val="accent3"/>
                </a:solidFill>
              </a:ln>
            </p:spPr>
          </p:sp>
          <p:sp>
            <p:nvSpPr>
              <p:cNvPr id="104" name="Rectangle 104"/>
              <p:cNvSpPr/>
              <p:nvPr/>
            </p:nvSpPr>
            <p:spPr>
              <a:xfrm>
                <a:off x="5543550" y="4000500"/>
                <a:ext cx="133350" cy="190500"/>
              </a:xfrm>
              <a:prstGeom prst="roundRect">
                <a:avLst>
                  <a:gd name="adj" fmla="val 35714"/>
                </a:avLst>
              </a:prstGeom>
              <a:solidFill>
                <a:schemeClr val="accent3"/>
              </a:solidFill>
              <a:ln w="15240">
                <a:solidFill>
                  <a:schemeClr val="accent3"/>
                </a:solidFill>
              </a:ln>
            </p:spPr>
          </p:sp>
          <p:sp>
            <p:nvSpPr>
              <p:cNvPr id="105" name="Ellipse 105"/>
              <p:cNvSpPr/>
              <p:nvPr/>
            </p:nvSpPr>
            <p:spPr>
              <a:xfrm>
                <a:off x="6143625" y="3848100"/>
                <a:ext cx="114300" cy="114300"/>
              </a:xfrm>
              <a:prstGeom prst="ellipse">
                <a:avLst/>
              </a:prstGeom>
              <a:solidFill>
                <a:schemeClr val="accent3"/>
              </a:solidFill>
              <a:ln w="15240">
                <a:solidFill>
                  <a:schemeClr val="accent3"/>
                </a:solidFill>
              </a:ln>
            </p:spPr>
          </p:sp>
          <p:sp>
            <p:nvSpPr>
              <p:cNvPr id="106" name="Rectangle 106"/>
              <p:cNvSpPr/>
              <p:nvPr/>
            </p:nvSpPr>
            <p:spPr>
              <a:xfrm>
                <a:off x="6134100" y="4000500"/>
                <a:ext cx="133350" cy="190500"/>
              </a:xfrm>
              <a:prstGeom prst="roundRect">
                <a:avLst>
                  <a:gd name="adj" fmla="val 35714"/>
                </a:avLst>
              </a:prstGeom>
              <a:solidFill>
                <a:schemeClr val="accent3"/>
              </a:solidFill>
              <a:ln w="15240">
                <a:solidFill>
                  <a:schemeClr val="accent3"/>
                </a:solidFill>
              </a:ln>
            </p:spPr>
          </p:sp>
          <p:sp>
            <p:nvSpPr>
              <p:cNvPr id="107" name="Ellipse 107"/>
              <p:cNvSpPr/>
              <p:nvPr/>
            </p:nvSpPr>
            <p:spPr>
              <a:xfrm>
                <a:off x="828675" y="4295775"/>
                <a:ext cx="114300" cy="114300"/>
              </a:xfrm>
              <a:prstGeom prst="ellipse">
                <a:avLst/>
              </a:prstGeom>
              <a:solidFill>
                <a:schemeClr val="accent3"/>
              </a:solidFill>
              <a:ln w="15240">
                <a:solidFill>
                  <a:schemeClr val="accent3"/>
                </a:solidFill>
              </a:ln>
            </p:spPr>
          </p:sp>
          <p:sp>
            <p:nvSpPr>
              <p:cNvPr id="108" name="Rectangle 108"/>
              <p:cNvSpPr/>
              <p:nvPr/>
            </p:nvSpPr>
            <p:spPr>
              <a:xfrm>
                <a:off x="819150" y="4448175"/>
                <a:ext cx="133350" cy="190500"/>
              </a:xfrm>
              <a:prstGeom prst="roundRect">
                <a:avLst>
                  <a:gd name="adj" fmla="val 35714"/>
                </a:avLst>
              </a:prstGeom>
              <a:solidFill>
                <a:schemeClr val="accent3"/>
              </a:solidFill>
              <a:ln w="15240">
                <a:solidFill>
                  <a:schemeClr val="accent3"/>
                </a:solidFill>
              </a:ln>
            </p:spPr>
          </p:sp>
          <p:sp>
            <p:nvSpPr>
              <p:cNvPr id="109" name="Ellipse 109"/>
              <p:cNvSpPr/>
              <p:nvPr/>
            </p:nvSpPr>
            <p:spPr>
              <a:xfrm>
                <a:off x="1419225" y="4295775"/>
                <a:ext cx="114300" cy="114300"/>
              </a:xfrm>
              <a:prstGeom prst="ellipse">
                <a:avLst/>
              </a:prstGeom>
              <a:solidFill>
                <a:schemeClr val="accent3"/>
              </a:solidFill>
              <a:ln w="15240">
                <a:solidFill>
                  <a:schemeClr val="accent3"/>
                </a:solidFill>
              </a:ln>
            </p:spPr>
          </p:sp>
          <p:sp>
            <p:nvSpPr>
              <p:cNvPr id="110" name="Rectangle 110"/>
              <p:cNvSpPr/>
              <p:nvPr/>
            </p:nvSpPr>
            <p:spPr>
              <a:xfrm>
                <a:off x="1409700" y="4448175"/>
                <a:ext cx="133350" cy="190500"/>
              </a:xfrm>
              <a:prstGeom prst="roundRect">
                <a:avLst>
                  <a:gd name="adj" fmla="val 35714"/>
                </a:avLst>
              </a:prstGeom>
              <a:solidFill>
                <a:schemeClr val="accent3"/>
              </a:solidFill>
              <a:ln w="15240">
                <a:solidFill>
                  <a:schemeClr val="accent3"/>
                </a:solidFill>
              </a:ln>
            </p:spPr>
          </p:sp>
          <p:sp>
            <p:nvSpPr>
              <p:cNvPr id="111" name="Ellipse 111"/>
              <p:cNvSpPr/>
              <p:nvPr/>
            </p:nvSpPr>
            <p:spPr>
              <a:xfrm>
                <a:off x="2009775" y="4295775"/>
                <a:ext cx="114300" cy="114300"/>
              </a:xfrm>
              <a:prstGeom prst="ellipse">
                <a:avLst/>
              </a:prstGeom>
              <a:solidFill>
                <a:schemeClr val="accent3"/>
              </a:solidFill>
              <a:ln w="15240">
                <a:solidFill>
                  <a:schemeClr val="accent3"/>
                </a:solidFill>
              </a:ln>
            </p:spPr>
          </p:sp>
          <p:sp>
            <p:nvSpPr>
              <p:cNvPr id="112" name="Rectangle 112"/>
              <p:cNvSpPr/>
              <p:nvPr/>
            </p:nvSpPr>
            <p:spPr>
              <a:xfrm>
                <a:off x="2000250" y="4448175"/>
                <a:ext cx="133350" cy="190500"/>
              </a:xfrm>
              <a:prstGeom prst="roundRect">
                <a:avLst>
                  <a:gd name="adj" fmla="val 35714"/>
                </a:avLst>
              </a:prstGeom>
              <a:solidFill>
                <a:schemeClr val="accent3"/>
              </a:solidFill>
              <a:ln w="15240">
                <a:solidFill>
                  <a:schemeClr val="accent3"/>
                </a:solidFill>
              </a:ln>
            </p:spPr>
          </p:sp>
          <p:sp>
            <p:nvSpPr>
              <p:cNvPr id="113" name="Ellipse 113"/>
              <p:cNvSpPr/>
              <p:nvPr/>
            </p:nvSpPr>
            <p:spPr>
              <a:xfrm>
                <a:off x="2600325" y="4295775"/>
                <a:ext cx="114300" cy="114300"/>
              </a:xfrm>
              <a:prstGeom prst="ellipse">
                <a:avLst/>
              </a:prstGeom>
              <a:solidFill>
                <a:schemeClr val="accent3"/>
              </a:solidFill>
              <a:ln w="15240">
                <a:solidFill>
                  <a:schemeClr val="accent3"/>
                </a:solidFill>
              </a:ln>
            </p:spPr>
          </p:sp>
          <p:sp>
            <p:nvSpPr>
              <p:cNvPr id="114" name="Rectangle 114"/>
              <p:cNvSpPr/>
              <p:nvPr/>
            </p:nvSpPr>
            <p:spPr>
              <a:xfrm>
                <a:off x="2590800" y="4448175"/>
                <a:ext cx="133350" cy="190500"/>
              </a:xfrm>
              <a:prstGeom prst="roundRect">
                <a:avLst>
                  <a:gd name="adj" fmla="val 35714"/>
                </a:avLst>
              </a:prstGeom>
              <a:solidFill>
                <a:schemeClr val="accent3"/>
              </a:solidFill>
              <a:ln w="15240">
                <a:solidFill>
                  <a:schemeClr val="accent3"/>
                </a:solidFill>
              </a:ln>
            </p:spPr>
          </p:sp>
          <p:sp>
            <p:nvSpPr>
              <p:cNvPr id="115" name="Ellipse 115"/>
              <p:cNvSpPr/>
              <p:nvPr/>
            </p:nvSpPr>
            <p:spPr>
              <a:xfrm>
                <a:off x="3190875" y="4295775"/>
                <a:ext cx="114300" cy="114300"/>
              </a:xfrm>
              <a:prstGeom prst="ellipse">
                <a:avLst/>
              </a:prstGeom>
              <a:solidFill>
                <a:schemeClr val="accent3"/>
              </a:solidFill>
              <a:ln w="15240">
                <a:solidFill>
                  <a:schemeClr val="accent3"/>
                </a:solidFill>
              </a:ln>
            </p:spPr>
          </p:sp>
          <p:sp>
            <p:nvSpPr>
              <p:cNvPr id="116" name="Rectangle 116"/>
              <p:cNvSpPr/>
              <p:nvPr/>
            </p:nvSpPr>
            <p:spPr>
              <a:xfrm>
                <a:off x="3181350" y="4448175"/>
                <a:ext cx="133350" cy="190500"/>
              </a:xfrm>
              <a:prstGeom prst="roundRect">
                <a:avLst>
                  <a:gd name="adj" fmla="val 35714"/>
                </a:avLst>
              </a:prstGeom>
              <a:solidFill>
                <a:schemeClr val="accent3"/>
              </a:solidFill>
              <a:ln w="15240">
                <a:solidFill>
                  <a:schemeClr val="accent3"/>
                </a:solidFill>
              </a:ln>
            </p:spPr>
          </p:sp>
          <p:sp>
            <p:nvSpPr>
              <p:cNvPr id="117" name="Ellipse 117"/>
              <p:cNvSpPr/>
              <p:nvPr/>
            </p:nvSpPr>
            <p:spPr>
              <a:xfrm>
                <a:off x="3781425" y="4295775"/>
                <a:ext cx="114300" cy="114300"/>
              </a:xfrm>
              <a:prstGeom prst="ellipse">
                <a:avLst/>
              </a:prstGeom>
              <a:solidFill>
                <a:schemeClr val="accent3"/>
              </a:solidFill>
              <a:ln w="15240">
                <a:solidFill>
                  <a:schemeClr val="accent3"/>
                </a:solidFill>
              </a:ln>
            </p:spPr>
          </p:sp>
          <p:sp>
            <p:nvSpPr>
              <p:cNvPr id="118" name="Rectangle 118"/>
              <p:cNvSpPr/>
              <p:nvPr/>
            </p:nvSpPr>
            <p:spPr>
              <a:xfrm>
                <a:off x="3771900" y="4448175"/>
                <a:ext cx="133350" cy="190500"/>
              </a:xfrm>
              <a:prstGeom prst="roundRect">
                <a:avLst>
                  <a:gd name="adj" fmla="val 35714"/>
                </a:avLst>
              </a:prstGeom>
              <a:solidFill>
                <a:schemeClr val="accent3"/>
              </a:solidFill>
              <a:ln w="15240">
                <a:solidFill>
                  <a:schemeClr val="accent3"/>
                </a:solidFill>
              </a:ln>
            </p:spPr>
          </p:sp>
          <p:sp>
            <p:nvSpPr>
              <p:cNvPr id="119" name="Ellipse 119"/>
              <p:cNvSpPr/>
              <p:nvPr/>
            </p:nvSpPr>
            <p:spPr>
              <a:xfrm>
                <a:off x="4371975" y="4295775"/>
                <a:ext cx="114300" cy="114300"/>
              </a:xfrm>
              <a:prstGeom prst="ellipse">
                <a:avLst/>
              </a:prstGeom>
              <a:solidFill>
                <a:schemeClr val="accent3"/>
              </a:solidFill>
              <a:ln w="15240">
                <a:solidFill>
                  <a:schemeClr val="accent3"/>
                </a:solidFill>
              </a:ln>
            </p:spPr>
          </p:sp>
          <p:sp>
            <p:nvSpPr>
              <p:cNvPr id="120" name="Rectangle 120"/>
              <p:cNvSpPr/>
              <p:nvPr/>
            </p:nvSpPr>
            <p:spPr>
              <a:xfrm>
                <a:off x="4362450" y="4448175"/>
                <a:ext cx="133350" cy="190500"/>
              </a:xfrm>
              <a:prstGeom prst="roundRect">
                <a:avLst>
                  <a:gd name="adj" fmla="val 35714"/>
                </a:avLst>
              </a:prstGeom>
              <a:solidFill>
                <a:schemeClr val="accent3"/>
              </a:solidFill>
              <a:ln w="15240">
                <a:solidFill>
                  <a:schemeClr val="accent3"/>
                </a:solidFill>
              </a:ln>
            </p:spPr>
          </p:sp>
          <p:sp>
            <p:nvSpPr>
              <p:cNvPr id="121" name="Ellipse 121"/>
              <p:cNvSpPr/>
              <p:nvPr/>
            </p:nvSpPr>
            <p:spPr>
              <a:xfrm>
                <a:off x="4962525" y="4295775"/>
                <a:ext cx="114300" cy="114300"/>
              </a:xfrm>
              <a:prstGeom prst="ellipse">
                <a:avLst/>
              </a:prstGeom>
              <a:solidFill>
                <a:schemeClr val="accent3"/>
              </a:solidFill>
              <a:ln w="15240">
                <a:solidFill>
                  <a:schemeClr val="accent3"/>
                </a:solidFill>
              </a:ln>
            </p:spPr>
          </p:sp>
          <p:sp>
            <p:nvSpPr>
              <p:cNvPr id="122" name="Rectangle 122"/>
              <p:cNvSpPr/>
              <p:nvPr/>
            </p:nvSpPr>
            <p:spPr>
              <a:xfrm>
                <a:off x="4953000" y="4448175"/>
                <a:ext cx="133350" cy="190500"/>
              </a:xfrm>
              <a:prstGeom prst="roundRect">
                <a:avLst>
                  <a:gd name="adj" fmla="val 35714"/>
                </a:avLst>
              </a:prstGeom>
              <a:solidFill>
                <a:schemeClr val="accent3"/>
              </a:solidFill>
              <a:ln w="15240">
                <a:solidFill>
                  <a:schemeClr val="accent3"/>
                </a:solidFill>
              </a:ln>
            </p:spPr>
          </p:sp>
          <p:sp>
            <p:nvSpPr>
              <p:cNvPr id="123" name="Ellipse 123"/>
              <p:cNvSpPr/>
              <p:nvPr/>
            </p:nvSpPr>
            <p:spPr>
              <a:xfrm>
                <a:off x="5553075" y="4295775"/>
                <a:ext cx="114300" cy="114300"/>
              </a:xfrm>
              <a:prstGeom prst="ellipse">
                <a:avLst/>
              </a:prstGeom>
              <a:solidFill>
                <a:schemeClr val="accent3"/>
              </a:solidFill>
              <a:ln w="15240">
                <a:solidFill>
                  <a:schemeClr val="accent3"/>
                </a:solidFill>
              </a:ln>
            </p:spPr>
          </p:sp>
          <p:sp>
            <p:nvSpPr>
              <p:cNvPr id="124" name="Rectangle 124"/>
              <p:cNvSpPr/>
              <p:nvPr/>
            </p:nvSpPr>
            <p:spPr>
              <a:xfrm>
                <a:off x="5543550" y="4448175"/>
                <a:ext cx="133350" cy="190500"/>
              </a:xfrm>
              <a:prstGeom prst="roundRect">
                <a:avLst>
                  <a:gd name="adj" fmla="val 35714"/>
                </a:avLst>
              </a:prstGeom>
              <a:solidFill>
                <a:schemeClr val="accent3"/>
              </a:solidFill>
              <a:ln w="15240">
                <a:solidFill>
                  <a:schemeClr val="accent3"/>
                </a:solidFill>
              </a:ln>
            </p:spPr>
          </p:sp>
          <p:sp>
            <p:nvSpPr>
              <p:cNvPr id="125" name="Ellipse 125"/>
              <p:cNvSpPr/>
              <p:nvPr/>
            </p:nvSpPr>
            <p:spPr>
              <a:xfrm>
                <a:off x="6143625" y="4295775"/>
                <a:ext cx="114300" cy="114300"/>
              </a:xfrm>
              <a:prstGeom prst="ellipse">
                <a:avLst/>
              </a:prstGeom>
              <a:solidFill>
                <a:schemeClr val="accent3"/>
              </a:solidFill>
              <a:ln w="15240">
                <a:solidFill>
                  <a:schemeClr val="accent3"/>
                </a:solidFill>
              </a:ln>
            </p:spPr>
          </p:sp>
          <p:sp>
            <p:nvSpPr>
              <p:cNvPr id="126" name="Rectangle 126"/>
              <p:cNvSpPr/>
              <p:nvPr/>
            </p:nvSpPr>
            <p:spPr>
              <a:xfrm>
                <a:off x="6134100" y="4448175"/>
                <a:ext cx="133350" cy="190500"/>
              </a:xfrm>
              <a:prstGeom prst="roundRect">
                <a:avLst>
                  <a:gd name="adj" fmla="val 35714"/>
                </a:avLst>
              </a:prstGeom>
              <a:solidFill>
                <a:schemeClr val="accent3"/>
              </a:solidFill>
              <a:ln w="15240">
                <a:solidFill>
                  <a:schemeClr val="accent3"/>
                </a:solidFill>
              </a:ln>
            </p:spPr>
          </p:sp>
          <p:sp>
            <p:nvSpPr>
              <p:cNvPr id="127" name="Ellipse 127"/>
              <p:cNvSpPr/>
              <p:nvPr/>
            </p:nvSpPr>
            <p:spPr>
              <a:xfrm>
                <a:off x="828675" y="4743450"/>
                <a:ext cx="114300" cy="114300"/>
              </a:xfrm>
              <a:prstGeom prst="ellipse">
                <a:avLst/>
              </a:prstGeom>
              <a:solidFill>
                <a:schemeClr val="accent3"/>
              </a:solidFill>
              <a:ln w="15240">
                <a:solidFill>
                  <a:schemeClr val="accent3"/>
                </a:solidFill>
              </a:ln>
            </p:spPr>
          </p:sp>
          <p:sp>
            <p:nvSpPr>
              <p:cNvPr id="128" name="Rectangle 128"/>
              <p:cNvSpPr/>
              <p:nvPr/>
            </p:nvSpPr>
            <p:spPr>
              <a:xfrm>
                <a:off x="819150" y="4895850"/>
                <a:ext cx="133350" cy="190500"/>
              </a:xfrm>
              <a:prstGeom prst="roundRect">
                <a:avLst>
                  <a:gd name="adj" fmla="val 35714"/>
                </a:avLst>
              </a:prstGeom>
              <a:solidFill>
                <a:schemeClr val="accent3"/>
              </a:solidFill>
              <a:ln w="15240">
                <a:solidFill>
                  <a:schemeClr val="accent3"/>
                </a:solidFill>
              </a:ln>
            </p:spPr>
          </p:sp>
          <p:sp>
            <p:nvSpPr>
              <p:cNvPr id="129" name="Ellipse 129"/>
              <p:cNvSpPr/>
              <p:nvPr/>
            </p:nvSpPr>
            <p:spPr>
              <a:xfrm>
                <a:off x="1419225" y="4743450"/>
                <a:ext cx="114300" cy="114300"/>
              </a:xfrm>
              <a:prstGeom prst="ellipse">
                <a:avLst/>
              </a:prstGeom>
              <a:solidFill>
                <a:schemeClr val="accent3"/>
              </a:solidFill>
              <a:ln w="15240">
                <a:solidFill>
                  <a:schemeClr val="accent3"/>
                </a:solidFill>
              </a:ln>
            </p:spPr>
          </p:sp>
          <p:sp>
            <p:nvSpPr>
              <p:cNvPr id="130" name="Rectangle 130"/>
              <p:cNvSpPr/>
              <p:nvPr/>
            </p:nvSpPr>
            <p:spPr>
              <a:xfrm>
                <a:off x="1409700" y="4895850"/>
                <a:ext cx="133350" cy="190500"/>
              </a:xfrm>
              <a:prstGeom prst="roundRect">
                <a:avLst>
                  <a:gd name="adj" fmla="val 35714"/>
                </a:avLst>
              </a:prstGeom>
              <a:solidFill>
                <a:schemeClr val="accent3"/>
              </a:solidFill>
              <a:ln w="15240">
                <a:solidFill>
                  <a:schemeClr val="accent3"/>
                </a:solidFill>
              </a:ln>
            </p:spPr>
          </p:sp>
          <p:sp>
            <p:nvSpPr>
              <p:cNvPr id="131" name="Ellipse 131"/>
              <p:cNvSpPr/>
              <p:nvPr/>
            </p:nvSpPr>
            <p:spPr>
              <a:xfrm>
                <a:off x="2009775" y="4743450"/>
                <a:ext cx="114300" cy="114300"/>
              </a:xfrm>
              <a:prstGeom prst="ellipse">
                <a:avLst/>
              </a:prstGeom>
              <a:solidFill>
                <a:schemeClr val="accent3"/>
              </a:solidFill>
              <a:ln w="15240">
                <a:solidFill>
                  <a:schemeClr val="accent3"/>
                </a:solidFill>
              </a:ln>
            </p:spPr>
          </p:sp>
          <p:sp>
            <p:nvSpPr>
              <p:cNvPr id="132" name="Rectangle 132"/>
              <p:cNvSpPr/>
              <p:nvPr/>
            </p:nvSpPr>
            <p:spPr>
              <a:xfrm>
                <a:off x="2000250" y="4895850"/>
                <a:ext cx="133350" cy="190500"/>
              </a:xfrm>
              <a:prstGeom prst="roundRect">
                <a:avLst>
                  <a:gd name="adj" fmla="val 35714"/>
                </a:avLst>
              </a:prstGeom>
              <a:solidFill>
                <a:schemeClr val="accent3"/>
              </a:solidFill>
              <a:ln w="15240">
                <a:solidFill>
                  <a:schemeClr val="accent3"/>
                </a:solidFill>
              </a:ln>
            </p:spPr>
          </p:sp>
          <p:sp>
            <p:nvSpPr>
              <p:cNvPr id="133" name="Ellipse 133"/>
              <p:cNvSpPr/>
              <p:nvPr/>
            </p:nvSpPr>
            <p:spPr>
              <a:xfrm>
                <a:off x="2600325" y="4743450"/>
                <a:ext cx="114300" cy="114300"/>
              </a:xfrm>
              <a:prstGeom prst="ellipse">
                <a:avLst/>
              </a:prstGeom>
              <a:solidFill>
                <a:schemeClr val="accent3"/>
              </a:solidFill>
              <a:ln w="15240">
                <a:solidFill>
                  <a:schemeClr val="accent3"/>
                </a:solidFill>
              </a:ln>
            </p:spPr>
          </p:sp>
          <p:sp>
            <p:nvSpPr>
              <p:cNvPr id="134" name="Rectangle 134"/>
              <p:cNvSpPr/>
              <p:nvPr/>
            </p:nvSpPr>
            <p:spPr>
              <a:xfrm>
                <a:off x="2590800" y="4895850"/>
                <a:ext cx="133350" cy="190500"/>
              </a:xfrm>
              <a:prstGeom prst="roundRect">
                <a:avLst>
                  <a:gd name="adj" fmla="val 35714"/>
                </a:avLst>
              </a:prstGeom>
              <a:solidFill>
                <a:schemeClr val="accent3"/>
              </a:solidFill>
              <a:ln w="15240">
                <a:solidFill>
                  <a:schemeClr val="accent3"/>
                </a:solidFill>
              </a:ln>
            </p:spPr>
          </p:sp>
          <p:sp>
            <p:nvSpPr>
              <p:cNvPr id="135" name="Ellipse 135"/>
              <p:cNvSpPr/>
              <p:nvPr/>
            </p:nvSpPr>
            <p:spPr>
              <a:xfrm>
                <a:off x="3190875" y="4743450"/>
                <a:ext cx="114300" cy="114300"/>
              </a:xfrm>
              <a:prstGeom prst="ellipse">
                <a:avLst/>
              </a:prstGeom>
              <a:solidFill>
                <a:schemeClr val="accent3"/>
              </a:solidFill>
              <a:ln w="15240">
                <a:solidFill>
                  <a:schemeClr val="accent3"/>
                </a:solidFill>
              </a:ln>
            </p:spPr>
          </p:sp>
          <p:sp>
            <p:nvSpPr>
              <p:cNvPr id="136" name="Rectangle 136"/>
              <p:cNvSpPr/>
              <p:nvPr/>
            </p:nvSpPr>
            <p:spPr>
              <a:xfrm>
                <a:off x="3181350" y="4895850"/>
                <a:ext cx="133350" cy="190500"/>
              </a:xfrm>
              <a:prstGeom prst="roundRect">
                <a:avLst>
                  <a:gd name="adj" fmla="val 35714"/>
                </a:avLst>
              </a:prstGeom>
              <a:solidFill>
                <a:schemeClr val="accent3"/>
              </a:solidFill>
              <a:ln w="15240">
                <a:solidFill>
                  <a:schemeClr val="accent3"/>
                </a:solidFill>
              </a:ln>
            </p:spPr>
          </p:sp>
          <p:sp>
            <p:nvSpPr>
              <p:cNvPr id="137" name="Ellipse 137"/>
              <p:cNvSpPr/>
              <p:nvPr/>
            </p:nvSpPr>
            <p:spPr>
              <a:xfrm>
                <a:off x="3781425" y="4743450"/>
                <a:ext cx="114300" cy="114300"/>
              </a:xfrm>
              <a:prstGeom prst="ellipse">
                <a:avLst/>
              </a:prstGeom>
              <a:solidFill>
                <a:schemeClr val="accent3"/>
              </a:solidFill>
              <a:ln w="15240">
                <a:solidFill>
                  <a:schemeClr val="accent3"/>
                </a:solidFill>
              </a:ln>
            </p:spPr>
          </p:sp>
          <p:sp>
            <p:nvSpPr>
              <p:cNvPr id="138" name="Rectangle 138"/>
              <p:cNvSpPr/>
              <p:nvPr/>
            </p:nvSpPr>
            <p:spPr>
              <a:xfrm>
                <a:off x="3771900" y="4895850"/>
                <a:ext cx="133350" cy="190500"/>
              </a:xfrm>
              <a:prstGeom prst="roundRect">
                <a:avLst>
                  <a:gd name="adj" fmla="val 35714"/>
                </a:avLst>
              </a:prstGeom>
              <a:solidFill>
                <a:schemeClr val="accent3"/>
              </a:solidFill>
              <a:ln w="15240">
                <a:solidFill>
                  <a:schemeClr val="accent3"/>
                </a:solidFill>
              </a:ln>
            </p:spPr>
          </p:sp>
          <p:sp>
            <p:nvSpPr>
              <p:cNvPr id="139" name="Ellipse 139"/>
              <p:cNvSpPr/>
              <p:nvPr/>
            </p:nvSpPr>
            <p:spPr>
              <a:xfrm>
                <a:off x="4371975" y="4743450"/>
                <a:ext cx="114300" cy="114300"/>
              </a:xfrm>
              <a:prstGeom prst="ellipse">
                <a:avLst/>
              </a:prstGeom>
              <a:solidFill>
                <a:schemeClr val="accent3"/>
              </a:solidFill>
              <a:ln w="15240">
                <a:solidFill>
                  <a:schemeClr val="accent3"/>
                </a:solidFill>
              </a:ln>
            </p:spPr>
          </p:sp>
          <p:sp>
            <p:nvSpPr>
              <p:cNvPr id="140" name="Rectangle 140"/>
              <p:cNvSpPr/>
              <p:nvPr/>
            </p:nvSpPr>
            <p:spPr>
              <a:xfrm>
                <a:off x="4362450" y="4895850"/>
                <a:ext cx="133350" cy="190500"/>
              </a:xfrm>
              <a:prstGeom prst="roundRect">
                <a:avLst>
                  <a:gd name="adj" fmla="val 35714"/>
                </a:avLst>
              </a:prstGeom>
              <a:solidFill>
                <a:schemeClr val="accent3"/>
              </a:solidFill>
              <a:ln w="15240">
                <a:solidFill>
                  <a:schemeClr val="accent3"/>
                </a:solidFill>
              </a:ln>
            </p:spPr>
          </p:sp>
          <p:sp>
            <p:nvSpPr>
              <p:cNvPr id="141" name="Ellipse 141"/>
              <p:cNvSpPr/>
              <p:nvPr/>
            </p:nvSpPr>
            <p:spPr>
              <a:xfrm>
                <a:off x="4962525" y="4743450"/>
                <a:ext cx="114300" cy="114300"/>
              </a:xfrm>
              <a:prstGeom prst="ellipse">
                <a:avLst/>
              </a:prstGeom>
              <a:solidFill>
                <a:schemeClr val="accent3"/>
              </a:solidFill>
              <a:ln w="15240">
                <a:solidFill>
                  <a:schemeClr val="accent3"/>
                </a:solidFill>
              </a:ln>
            </p:spPr>
          </p:sp>
          <p:sp>
            <p:nvSpPr>
              <p:cNvPr id="142" name="Rectangle 142"/>
              <p:cNvSpPr/>
              <p:nvPr/>
            </p:nvSpPr>
            <p:spPr>
              <a:xfrm>
                <a:off x="4953000" y="4895850"/>
                <a:ext cx="133350" cy="190500"/>
              </a:xfrm>
              <a:prstGeom prst="roundRect">
                <a:avLst>
                  <a:gd name="adj" fmla="val 35714"/>
                </a:avLst>
              </a:prstGeom>
              <a:solidFill>
                <a:schemeClr val="accent3"/>
              </a:solidFill>
              <a:ln w="15240">
                <a:solidFill>
                  <a:schemeClr val="accent3"/>
                </a:solidFill>
              </a:ln>
            </p:spPr>
          </p:sp>
          <p:sp>
            <p:nvSpPr>
              <p:cNvPr id="143" name="Ellipse 143"/>
              <p:cNvSpPr/>
              <p:nvPr/>
            </p:nvSpPr>
            <p:spPr>
              <a:xfrm>
                <a:off x="5553075" y="4743450"/>
                <a:ext cx="114300" cy="114300"/>
              </a:xfrm>
              <a:prstGeom prst="ellipse">
                <a:avLst/>
              </a:prstGeom>
              <a:solidFill>
                <a:schemeClr val="accent3"/>
              </a:solidFill>
              <a:ln w="15240">
                <a:solidFill>
                  <a:schemeClr val="accent3"/>
                </a:solidFill>
              </a:ln>
            </p:spPr>
          </p:sp>
          <p:sp>
            <p:nvSpPr>
              <p:cNvPr id="144" name="Rectangle 144"/>
              <p:cNvSpPr/>
              <p:nvPr/>
            </p:nvSpPr>
            <p:spPr>
              <a:xfrm>
                <a:off x="5543550" y="4895850"/>
                <a:ext cx="133350" cy="190500"/>
              </a:xfrm>
              <a:prstGeom prst="roundRect">
                <a:avLst>
                  <a:gd name="adj" fmla="val 35714"/>
                </a:avLst>
              </a:prstGeom>
              <a:solidFill>
                <a:schemeClr val="accent3"/>
              </a:solidFill>
              <a:ln w="15240">
                <a:solidFill>
                  <a:schemeClr val="accent3"/>
                </a:solidFill>
              </a:ln>
            </p:spPr>
          </p:sp>
          <p:sp>
            <p:nvSpPr>
              <p:cNvPr id="145" name="Ellipse 145"/>
              <p:cNvSpPr/>
              <p:nvPr/>
            </p:nvSpPr>
            <p:spPr>
              <a:xfrm>
                <a:off x="6143625" y="4743450"/>
                <a:ext cx="114300" cy="114300"/>
              </a:xfrm>
              <a:prstGeom prst="ellipse">
                <a:avLst/>
              </a:prstGeom>
              <a:solidFill>
                <a:schemeClr val="accent3"/>
              </a:solidFill>
              <a:ln w="15240">
                <a:solidFill>
                  <a:schemeClr val="accent3"/>
                </a:solidFill>
              </a:ln>
            </p:spPr>
          </p:sp>
          <p:sp>
            <p:nvSpPr>
              <p:cNvPr id="146" name="Rectangle 146"/>
              <p:cNvSpPr/>
              <p:nvPr/>
            </p:nvSpPr>
            <p:spPr>
              <a:xfrm>
                <a:off x="6134100" y="4895850"/>
                <a:ext cx="133350" cy="190500"/>
              </a:xfrm>
              <a:prstGeom prst="roundRect">
                <a:avLst>
                  <a:gd name="adj" fmla="val 35714"/>
                </a:avLst>
              </a:prstGeom>
              <a:solidFill>
                <a:schemeClr val="accent3"/>
              </a:solidFill>
              <a:ln w="15240">
                <a:solidFill>
                  <a:schemeClr val="accent3"/>
                </a:solidFill>
              </a:ln>
            </p:spPr>
          </p:sp>
          <p:sp>
            <p:nvSpPr>
              <p:cNvPr id="147" name="Ellipse 147"/>
              <p:cNvSpPr/>
              <p:nvPr/>
            </p:nvSpPr>
            <p:spPr>
              <a:xfrm>
                <a:off x="828675" y="5191125"/>
                <a:ext cx="114300" cy="114300"/>
              </a:xfrm>
              <a:prstGeom prst="ellipse">
                <a:avLst/>
              </a:prstGeom>
              <a:solidFill>
                <a:schemeClr val="accent3"/>
              </a:solidFill>
              <a:ln w="15240">
                <a:solidFill>
                  <a:schemeClr val="accent3"/>
                </a:solidFill>
              </a:ln>
            </p:spPr>
          </p:sp>
          <p:sp>
            <p:nvSpPr>
              <p:cNvPr id="148" name="Rectangle 148"/>
              <p:cNvSpPr/>
              <p:nvPr/>
            </p:nvSpPr>
            <p:spPr>
              <a:xfrm>
                <a:off x="819150" y="5343525"/>
                <a:ext cx="133350" cy="190500"/>
              </a:xfrm>
              <a:prstGeom prst="roundRect">
                <a:avLst>
                  <a:gd name="adj" fmla="val 35714"/>
                </a:avLst>
              </a:prstGeom>
              <a:solidFill>
                <a:schemeClr val="accent3"/>
              </a:solidFill>
              <a:ln w="15240">
                <a:solidFill>
                  <a:schemeClr val="accent3"/>
                </a:solidFill>
              </a:ln>
            </p:spPr>
          </p:sp>
          <p:sp>
            <p:nvSpPr>
              <p:cNvPr id="149" name="Ellipse 149"/>
              <p:cNvSpPr/>
              <p:nvPr/>
            </p:nvSpPr>
            <p:spPr>
              <a:xfrm>
                <a:off x="1419225" y="5191125"/>
                <a:ext cx="114300" cy="114300"/>
              </a:xfrm>
              <a:prstGeom prst="ellipse">
                <a:avLst/>
              </a:prstGeom>
              <a:solidFill>
                <a:schemeClr val="accent3"/>
              </a:solidFill>
              <a:ln w="15240">
                <a:solidFill>
                  <a:schemeClr val="accent3"/>
                </a:solidFill>
              </a:ln>
            </p:spPr>
          </p:sp>
          <p:sp>
            <p:nvSpPr>
              <p:cNvPr id="150" name="Rectangle 150"/>
              <p:cNvSpPr/>
              <p:nvPr/>
            </p:nvSpPr>
            <p:spPr>
              <a:xfrm>
                <a:off x="1409700" y="5343525"/>
                <a:ext cx="133350" cy="190500"/>
              </a:xfrm>
              <a:prstGeom prst="roundRect">
                <a:avLst>
                  <a:gd name="adj" fmla="val 35714"/>
                </a:avLst>
              </a:prstGeom>
              <a:solidFill>
                <a:schemeClr val="accent3"/>
              </a:solidFill>
              <a:ln w="15240">
                <a:solidFill>
                  <a:schemeClr val="accent3"/>
                </a:solidFill>
              </a:ln>
            </p:spPr>
          </p:sp>
          <p:sp>
            <p:nvSpPr>
              <p:cNvPr id="151" name="Ellipse 151"/>
              <p:cNvSpPr/>
              <p:nvPr/>
            </p:nvSpPr>
            <p:spPr>
              <a:xfrm>
                <a:off x="2009775" y="5191125"/>
                <a:ext cx="114300" cy="114300"/>
              </a:xfrm>
              <a:prstGeom prst="ellipse">
                <a:avLst/>
              </a:prstGeom>
              <a:solidFill>
                <a:schemeClr val="accent3"/>
              </a:solidFill>
              <a:ln w="15240">
                <a:solidFill>
                  <a:schemeClr val="accent3"/>
                </a:solidFill>
              </a:ln>
            </p:spPr>
          </p:sp>
          <p:sp>
            <p:nvSpPr>
              <p:cNvPr id="152" name="Rectangle 152"/>
              <p:cNvSpPr/>
              <p:nvPr/>
            </p:nvSpPr>
            <p:spPr>
              <a:xfrm>
                <a:off x="2000250" y="5343525"/>
                <a:ext cx="133350" cy="190500"/>
              </a:xfrm>
              <a:prstGeom prst="roundRect">
                <a:avLst>
                  <a:gd name="adj" fmla="val 35714"/>
                </a:avLst>
              </a:prstGeom>
              <a:solidFill>
                <a:schemeClr val="accent3"/>
              </a:solidFill>
              <a:ln w="15240">
                <a:solidFill>
                  <a:schemeClr val="accent3"/>
                </a:solidFill>
              </a:ln>
            </p:spPr>
          </p:sp>
          <p:sp>
            <p:nvSpPr>
              <p:cNvPr id="153" name="Ellipse 153"/>
              <p:cNvSpPr/>
              <p:nvPr/>
            </p:nvSpPr>
            <p:spPr>
              <a:xfrm>
                <a:off x="2600325" y="5191125"/>
                <a:ext cx="114300" cy="114300"/>
              </a:xfrm>
              <a:prstGeom prst="ellipse">
                <a:avLst/>
              </a:prstGeom>
              <a:solidFill>
                <a:schemeClr val="accent3"/>
              </a:solidFill>
              <a:ln w="15240">
                <a:solidFill>
                  <a:schemeClr val="accent3"/>
                </a:solidFill>
              </a:ln>
            </p:spPr>
          </p:sp>
          <p:sp>
            <p:nvSpPr>
              <p:cNvPr id="154" name="Rectangle 154"/>
              <p:cNvSpPr/>
              <p:nvPr/>
            </p:nvSpPr>
            <p:spPr>
              <a:xfrm>
                <a:off x="2590800" y="5343525"/>
                <a:ext cx="133350" cy="190500"/>
              </a:xfrm>
              <a:prstGeom prst="roundRect">
                <a:avLst>
                  <a:gd name="adj" fmla="val 35714"/>
                </a:avLst>
              </a:prstGeom>
              <a:solidFill>
                <a:schemeClr val="accent3"/>
              </a:solidFill>
              <a:ln w="15240">
                <a:solidFill>
                  <a:schemeClr val="accent3"/>
                </a:solidFill>
              </a:ln>
            </p:spPr>
          </p:sp>
          <p:sp>
            <p:nvSpPr>
              <p:cNvPr id="155" name="Ellipse 155"/>
              <p:cNvSpPr/>
              <p:nvPr/>
            </p:nvSpPr>
            <p:spPr>
              <a:xfrm>
                <a:off x="3190875" y="5191125"/>
                <a:ext cx="114300" cy="114300"/>
              </a:xfrm>
              <a:prstGeom prst="ellipse">
                <a:avLst/>
              </a:prstGeom>
              <a:solidFill>
                <a:schemeClr val="accent3"/>
              </a:solidFill>
              <a:ln w="15240">
                <a:solidFill>
                  <a:schemeClr val="accent3"/>
                </a:solidFill>
              </a:ln>
            </p:spPr>
          </p:sp>
          <p:sp>
            <p:nvSpPr>
              <p:cNvPr id="156" name="Rectangle 156"/>
              <p:cNvSpPr/>
              <p:nvPr/>
            </p:nvSpPr>
            <p:spPr>
              <a:xfrm>
                <a:off x="3181350" y="5343525"/>
                <a:ext cx="133350" cy="190500"/>
              </a:xfrm>
              <a:prstGeom prst="roundRect">
                <a:avLst>
                  <a:gd name="adj" fmla="val 35714"/>
                </a:avLst>
              </a:prstGeom>
              <a:solidFill>
                <a:schemeClr val="accent3"/>
              </a:solidFill>
              <a:ln w="15240">
                <a:solidFill>
                  <a:schemeClr val="accent3"/>
                </a:solidFill>
              </a:ln>
            </p:spPr>
          </p:sp>
          <p:sp>
            <p:nvSpPr>
              <p:cNvPr id="157" name="Ellipse 157"/>
              <p:cNvSpPr/>
              <p:nvPr/>
            </p:nvSpPr>
            <p:spPr>
              <a:xfrm>
                <a:off x="3781425" y="5191125"/>
                <a:ext cx="114300" cy="114300"/>
              </a:xfrm>
              <a:prstGeom prst="ellipse">
                <a:avLst/>
              </a:prstGeom>
              <a:solidFill>
                <a:schemeClr val="accent3"/>
              </a:solidFill>
              <a:ln w="15240">
                <a:solidFill>
                  <a:schemeClr val="accent3"/>
                </a:solidFill>
              </a:ln>
            </p:spPr>
          </p:sp>
          <p:sp>
            <p:nvSpPr>
              <p:cNvPr id="158" name="Rectangle 158"/>
              <p:cNvSpPr/>
              <p:nvPr/>
            </p:nvSpPr>
            <p:spPr>
              <a:xfrm>
                <a:off x="3771900" y="5343525"/>
                <a:ext cx="133350" cy="190500"/>
              </a:xfrm>
              <a:prstGeom prst="roundRect">
                <a:avLst>
                  <a:gd name="adj" fmla="val 35714"/>
                </a:avLst>
              </a:prstGeom>
              <a:solidFill>
                <a:schemeClr val="accent3"/>
              </a:solidFill>
              <a:ln w="15240">
                <a:solidFill>
                  <a:schemeClr val="accent3"/>
                </a:solidFill>
              </a:ln>
            </p:spPr>
          </p:sp>
          <p:sp>
            <p:nvSpPr>
              <p:cNvPr id="159" name="Ellipse 159"/>
              <p:cNvSpPr/>
              <p:nvPr/>
            </p:nvSpPr>
            <p:spPr>
              <a:xfrm>
                <a:off x="4371975" y="5191125"/>
                <a:ext cx="114300" cy="114300"/>
              </a:xfrm>
              <a:prstGeom prst="ellipse">
                <a:avLst/>
              </a:prstGeom>
              <a:solidFill>
                <a:schemeClr val="accent3"/>
              </a:solidFill>
              <a:ln w="15240">
                <a:solidFill>
                  <a:schemeClr val="accent3"/>
                </a:solidFill>
              </a:ln>
            </p:spPr>
          </p:sp>
          <p:sp>
            <p:nvSpPr>
              <p:cNvPr id="160" name="Rectangle 160"/>
              <p:cNvSpPr/>
              <p:nvPr/>
            </p:nvSpPr>
            <p:spPr>
              <a:xfrm>
                <a:off x="4362450" y="5343525"/>
                <a:ext cx="133350" cy="190500"/>
              </a:xfrm>
              <a:prstGeom prst="roundRect">
                <a:avLst>
                  <a:gd name="adj" fmla="val 35714"/>
                </a:avLst>
              </a:prstGeom>
              <a:solidFill>
                <a:schemeClr val="accent3"/>
              </a:solidFill>
              <a:ln w="15240">
                <a:solidFill>
                  <a:schemeClr val="accent3"/>
                </a:solidFill>
              </a:ln>
            </p:spPr>
          </p:sp>
          <p:sp>
            <p:nvSpPr>
              <p:cNvPr id="161" name="Ellipse 161"/>
              <p:cNvSpPr/>
              <p:nvPr/>
            </p:nvSpPr>
            <p:spPr>
              <a:xfrm>
                <a:off x="4962525" y="5191125"/>
                <a:ext cx="114300" cy="114300"/>
              </a:xfrm>
              <a:prstGeom prst="ellipse">
                <a:avLst/>
              </a:prstGeom>
              <a:solidFill>
                <a:schemeClr val="accent3"/>
              </a:solidFill>
              <a:ln w="15240">
                <a:solidFill>
                  <a:schemeClr val="accent3"/>
                </a:solidFill>
              </a:ln>
            </p:spPr>
          </p:sp>
          <p:sp>
            <p:nvSpPr>
              <p:cNvPr id="162" name="Rectangle 162"/>
              <p:cNvSpPr/>
              <p:nvPr/>
            </p:nvSpPr>
            <p:spPr>
              <a:xfrm>
                <a:off x="4953000" y="5343525"/>
                <a:ext cx="133350" cy="190500"/>
              </a:xfrm>
              <a:prstGeom prst="roundRect">
                <a:avLst>
                  <a:gd name="adj" fmla="val 35714"/>
                </a:avLst>
              </a:prstGeom>
              <a:solidFill>
                <a:schemeClr val="accent3"/>
              </a:solidFill>
              <a:ln w="15240">
                <a:solidFill>
                  <a:schemeClr val="accent3"/>
                </a:solidFill>
              </a:ln>
            </p:spPr>
          </p:sp>
          <p:sp>
            <p:nvSpPr>
              <p:cNvPr id="163" name="Ellipse 163"/>
              <p:cNvSpPr/>
              <p:nvPr/>
            </p:nvSpPr>
            <p:spPr>
              <a:xfrm>
                <a:off x="5553075" y="5191125"/>
                <a:ext cx="114300" cy="114300"/>
              </a:xfrm>
              <a:prstGeom prst="ellipse">
                <a:avLst/>
              </a:prstGeom>
              <a:solidFill>
                <a:schemeClr val="accent3"/>
              </a:solidFill>
              <a:ln w="15240">
                <a:solidFill>
                  <a:schemeClr val="accent3"/>
                </a:solidFill>
              </a:ln>
            </p:spPr>
          </p:sp>
          <p:sp>
            <p:nvSpPr>
              <p:cNvPr id="164" name="Rectangle 164"/>
              <p:cNvSpPr/>
              <p:nvPr/>
            </p:nvSpPr>
            <p:spPr>
              <a:xfrm>
                <a:off x="5543550" y="5343525"/>
                <a:ext cx="133350" cy="190500"/>
              </a:xfrm>
              <a:prstGeom prst="roundRect">
                <a:avLst>
                  <a:gd name="adj" fmla="val 35714"/>
                </a:avLst>
              </a:prstGeom>
              <a:solidFill>
                <a:schemeClr val="accent3"/>
              </a:solidFill>
              <a:ln w="15240">
                <a:solidFill>
                  <a:schemeClr val="accent3"/>
                </a:solidFill>
              </a:ln>
            </p:spPr>
          </p:sp>
          <p:sp>
            <p:nvSpPr>
              <p:cNvPr id="165" name="Ellipse 165"/>
              <p:cNvSpPr/>
              <p:nvPr/>
            </p:nvSpPr>
            <p:spPr>
              <a:xfrm>
                <a:off x="6143625" y="5191125"/>
                <a:ext cx="114300" cy="114300"/>
              </a:xfrm>
              <a:prstGeom prst="ellipse">
                <a:avLst/>
              </a:prstGeom>
              <a:solidFill>
                <a:schemeClr val="accent3"/>
              </a:solidFill>
              <a:ln w="15240">
                <a:solidFill>
                  <a:schemeClr val="accent3"/>
                </a:solidFill>
              </a:ln>
            </p:spPr>
          </p:sp>
          <p:sp>
            <p:nvSpPr>
              <p:cNvPr id="166" name="Rectangle 166"/>
              <p:cNvSpPr/>
              <p:nvPr/>
            </p:nvSpPr>
            <p:spPr>
              <a:xfrm>
                <a:off x="6134100" y="5343525"/>
                <a:ext cx="133350" cy="190500"/>
              </a:xfrm>
              <a:prstGeom prst="roundRect">
                <a:avLst>
                  <a:gd name="adj" fmla="val 35714"/>
                </a:avLst>
              </a:prstGeom>
              <a:solidFill>
                <a:schemeClr val="accent3"/>
              </a:solidFill>
              <a:ln w="15240">
                <a:solidFill>
                  <a:schemeClr val="accent3"/>
                </a:solidFill>
              </a:ln>
            </p:spPr>
          </p:sp>
        </p:grpSp>
      </p:grpSp>
      <p:grpSp>
        <p:nvGrpSpPr>
          <p:cNvPr id="172" name="!!cohort-count"/>
          <p:cNvGrpSpPr/>
          <p:nvPr/>
        </p:nvGrpSpPr>
        <p:grpSpPr>
          <a:xfrm>
            <a:off x="7715250" y="2254250"/>
            <a:ext cx="3191110" cy="1955419"/>
            <a:chOff x="7715250" y="2254250"/>
            <a:chExt cx="3191110" cy="1955419"/>
          </a:xfrm>
        </p:grpSpPr>
        <p:sp>
          <p:nvSpPr>
            <p:cNvPr id="169" name="TextBox 169"/>
            <p:cNvSpPr txBox="1"/>
            <p:nvPr/>
          </p:nvSpPr>
          <p:spPr>
            <a:xfrm>
              <a:off x="7715250" y="2254250"/>
              <a:ext cx="1173884" cy="1390650"/>
            </a:xfrm>
            <a:prstGeom prst="rect">
              <a:avLst/>
            </a:prstGeom>
            <a:noFill/>
            <a:ln>
              <a:noFill/>
            </a:ln>
          </p:spPr>
          <p:txBody>
            <a:bodyPr wrap="none" lIns="0" tIns="0" rIns="0" bIns="0" anchor="t" anchorCtr="0">
              <a:spAutoFit/>
            </a:bodyPr>
            <a:lstStyle/>
            <a:p>
              <a:pPr algn="l"/>
              <a:r>
                <a:rPr lang="en-GB" sz="7200" b="1" dirty="0">
                  <a:solidFill>
                    <a:schemeClr val="dk1"/>
                  </a:solidFill>
                  <a:latin typeface="+mj-lt"/>
                  <a:ea typeface="+mj-ea"/>
                  <a:cs typeface="+mj-cs"/>
                </a:rPr>
                <a:t>80</a:t>
              </a:r>
            </a:p>
          </p:txBody>
        </p:sp>
        <p:sp>
          <p:nvSpPr>
            <p:cNvPr id="170" name="TextBox 170"/>
            <p:cNvSpPr txBox="1"/>
            <p:nvPr/>
          </p:nvSpPr>
          <p:spPr>
            <a:xfrm>
              <a:off x="7751445" y="3368675"/>
              <a:ext cx="3154915" cy="440055"/>
            </a:xfrm>
            <a:prstGeom prst="rect">
              <a:avLst/>
            </a:prstGeom>
            <a:noFill/>
            <a:ln>
              <a:noFill/>
            </a:ln>
          </p:spPr>
          <p:txBody>
            <a:bodyPr wrap="none" lIns="0" tIns="0" rIns="0" bIns="0" anchor="t" anchorCtr="0">
              <a:spAutoFit/>
            </a:bodyPr>
            <a:lstStyle/>
            <a:p>
              <a:pPr algn="l"/>
              <a:r>
                <a:rPr lang="en-GB" sz="2250" dirty="0">
                  <a:solidFill>
                    <a:schemeClr val="dk1"/>
                  </a:solidFill>
                  <a:latin typeface="+mn-lt"/>
                  <a:ea typeface="+mn-ea"/>
                  <a:cs typeface="+mn-cs"/>
                </a:rPr>
                <a:t>randomized at baseline</a:t>
              </a:r>
            </a:p>
          </p:txBody>
        </p:sp>
        <p:sp>
          <p:nvSpPr>
            <p:cNvPr id="171" name="TextBox 171"/>
            <p:cNvSpPr txBox="1"/>
            <p:nvPr/>
          </p:nvSpPr>
          <p:spPr>
            <a:xfrm>
              <a:off x="7753731" y="3857625"/>
              <a:ext cx="3128511" cy="352044"/>
            </a:xfrm>
            <a:prstGeom prst="rect">
              <a:avLst/>
            </a:prstGeom>
            <a:noFill/>
            <a:ln>
              <a:noFill/>
            </a:ln>
          </p:spPr>
          <p:txBody>
            <a:bodyPr wrap="none" lIns="0" tIns="0" rIns="0" bIns="0" anchor="t" anchorCtr="0">
              <a:spAutoFit/>
            </a:bodyPr>
            <a:lstStyle/>
            <a:p>
              <a:pPr algn="l"/>
              <a:r>
                <a:rPr lang="en-GB" sz="1800" b="1" dirty="0">
                  <a:solidFill>
                    <a:schemeClr val="accent3"/>
                  </a:solidFill>
                  <a:latin typeface="+mn-lt"/>
                  <a:ea typeface="+mn-ea"/>
                  <a:cs typeface="+mn-cs"/>
                </a:rPr>
                <a:t>100% in the starting cohort</a:t>
              </a:r>
            </a:p>
          </p:txBody>
        </p:sp>
      </p:grpSp>
      <p:grpSp>
        <p:nvGrpSpPr>
          <p:cNvPr id="176" name="followup-caveat"/>
          <p:cNvGrpSpPr/>
          <p:nvPr/>
        </p:nvGrpSpPr>
        <p:grpSpPr>
          <a:xfrm>
            <a:off x="7722870" y="4673600"/>
            <a:ext cx="3025303" cy="1250569"/>
            <a:chOff x="7722870" y="4673600"/>
            <a:chExt cx="3025303" cy="1250569"/>
          </a:xfrm>
        </p:grpSpPr>
        <p:sp>
          <p:nvSpPr>
            <p:cNvPr id="173" name="TextBox 173"/>
            <p:cNvSpPr txBox="1"/>
            <p:nvPr/>
          </p:nvSpPr>
          <p:spPr>
            <a:xfrm>
              <a:off x="7722870" y="4673600"/>
              <a:ext cx="2995804"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What happens next?</a:t>
              </a:r>
            </a:p>
          </p:txBody>
        </p:sp>
        <p:sp>
          <p:nvSpPr>
            <p:cNvPr id="174" name="TextBox 174"/>
            <p:cNvSpPr txBox="1"/>
            <p:nvPr/>
          </p:nvSpPr>
          <p:spPr>
            <a:xfrm>
              <a:off x="7725156" y="5133975"/>
              <a:ext cx="2598378"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Follow the same cohort.</a:t>
              </a:r>
            </a:p>
          </p:txBody>
        </p:sp>
        <p:sp>
          <p:nvSpPr>
            <p:cNvPr id="175" name="TextBox 175"/>
            <p:cNvSpPr txBox="1"/>
            <p:nvPr/>
          </p:nvSpPr>
          <p:spPr>
            <a:xfrm>
              <a:off x="7725156" y="5572125"/>
              <a:ext cx="3023017"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One figure = one participant</a:t>
              </a:r>
            </a:p>
          </p:txBody>
        </p:sp>
      </p:grpSp>
      <p:grpSp>
        <p:nvGrpSpPr>
          <p:cNvPr id="180" name="cohort-legend"/>
          <p:cNvGrpSpPr/>
          <p:nvPr/>
        </p:nvGrpSpPr>
        <p:grpSpPr>
          <a:xfrm>
            <a:off x="676275" y="5915025"/>
            <a:ext cx="4636425" cy="352044"/>
            <a:chOff x="676275" y="5915025"/>
            <a:chExt cx="4636425" cy="352044"/>
          </a:xfrm>
        </p:grpSpPr>
        <p:sp>
          <p:nvSpPr>
            <p:cNvPr id="177" name="Ellipse 177"/>
            <p:cNvSpPr/>
            <p:nvPr/>
          </p:nvSpPr>
          <p:spPr>
            <a:xfrm>
              <a:off x="676275" y="5991225"/>
              <a:ext cx="133350" cy="133350"/>
            </a:xfrm>
            <a:prstGeom prst="ellipse">
              <a:avLst/>
            </a:prstGeom>
            <a:solidFill>
              <a:schemeClr val="accent3"/>
            </a:solidFill>
            <a:ln>
              <a:noFill/>
            </a:ln>
          </p:spPr>
        </p:sp>
        <p:sp>
          <p:nvSpPr>
            <p:cNvPr id="178" name="TextBox 178"/>
            <p:cNvSpPr txBox="1"/>
            <p:nvPr/>
          </p:nvSpPr>
          <p:spPr>
            <a:xfrm>
              <a:off x="905256" y="5915025"/>
              <a:ext cx="1076307"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Observed</a:t>
              </a:r>
            </a:p>
          </p:txBody>
        </p:sp>
        <p:sp>
          <p:nvSpPr>
            <p:cNvPr id="179" name="TextBox 179"/>
            <p:cNvSpPr txBox="1"/>
            <p:nvPr/>
          </p:nvSpPr>
          <p:spPr>
            <a:xfrm>
              <a:off x="2753106" y="5915025"/>
              <a:ext cx="2559594"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Same 80-person cohort</a:t>
              </a:r>
            </a:p>
          </p:txBody>
        </p:sp>
      </p:grpSp>
      <p:sp>
        <p:nvSpPr>
          <p:cNvPr id="181" name="TextBox 181"/>
          <p:cNvSpPr txBox="1"/>
          <p:nvPr/>
        </p:nvSpPr>
        <p:spPr>
          <a:xfrm>
            <a:off x="508254" y="6467475"/>
            <a:ext cx="567415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Lim et al. 2024 · Figure 1 + Table 2 · 6-month counts: HKD 29/41; ERD 30/39.</a:t>
            </a:r>
          </a:p>
        </p:txBody>
      </p:sp>
    </p:spTree>
  </p:cSld>
  <p:clrMapOvr>
    <a:masterClrMapping/>
  </p:clrMapOvr>
  <p:transition p14:dur="350">
    <p:fade/>
  </p:transition>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2573818"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LIMITATION 03 · ATTRITION</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08 / 11</a:t>
              </a:r>
            </a:p>
          </p:txBody>
        </p:sp>
      </p:grpSp>
      <p:grpSp>
        <p:nvGrpSpPr>
          <p:cNvPr id="6" name="scene-title"/>
          <p:cNvGrpSpPr/>
          <p:nvPr/>
        </p:nvGrpSpPr>
        <p:grpSpPr>
          <a:xfrm>
            <a:off x="495300" y="609600"/>
            <a:ext cx="6993775" cy="847725"/>
            <a:chOff x="495300" y="609600"/>
            <a:chExt cx="6993775" cy="847725"/>
          </a:xfrm>
        </p:grpSpPr>
        <p:sp>
          <p:nvSpPr>
            <p:cNvPr id="5" name="TextBox 5"/>
            <p:cNvSpPr txBox="1"/>
            <p:nvPr/>
          </p:nvSpPr>
          <p:spPr>
            <a:xfrm>
              <a:off x="495300" y="609600"/>
              <a:ext cx="6993775"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Who stays in the picture?</a:t>
              </a:r>
            </a:p>
          </p:txBody>
        </p:sp>
      </p:grpSp>
      <p:grpSp>
        <p:nvGrpSpPr>
          <p:cNvPr id="168" name="!!cohort-grid"/>
          <p:cNvGrpSpPr/>
          <p:nvPr/>
        </p:nvGrpSpPr>
        <p:grpSpPr>
          <a:xfrm>
            <a:off x="819150" y="2057400"/>
            <a:ext cx="5448300" cy="3476625"/>
            <a:chOff x="819150" y="2057400"/>
            <a:chExt cx="5448300" cy="3476625"/>
          </a:xfrm>
        </p:grpSpPr>
        <p:grpSp>
          <p:nvGrpSpPr>
            <p:cNvPr id="167" name="participant-followup-chartArea"/>
            <p:cNvGrpSpPr/>
            <p:nvPr/>
          </p:nvGrpSpPr>
          <p:grpSpPr>
            <a:xfrm>
              <a:off x="819150" y="2057400"/>
              <a:ext cx="5448300" cy="3476625"/>
              <a:chOff x="819150" y="2057400"/>
              <a:chExt cx="5448300" cy="3476625"/>
            </a:xfrm>
          </p:grpSpPr>
          <p:sp>
            <p:nvSpPr>
              <p:cNvPr id="7" name="Ellipse 7"/>
              <p:cNvSpPr/>
              <p:nvPr/>
            </p:nvSpPr>
            <p:spPr>
              <a:xfrm>
                <a:off x="828675" y="2057400"/>
                <a:ext cx="114300" cy="114300"/>
              </a:xfrm>
              <a:prstGeom prst="ellipse">
                <a:avLst/>
              </a:prstGeom>
              <a:solidFill>
                <a:schemeClr val="accent3"/>
              </a:solidFill>
              <a:ln w="15240">
                <a:solidFill>
                  <a:schemeClr val="accent3"/>
                </a:solidFill>
              </a:ln>
            </p:spPr>
          </p:sp>
          <p:sp>
            <p:nvSpPr>
              <p:cNvPr id="8" name="Rectangle 8"/>
              <p:cNvSpPr/>
              <p:nvPr/>
            </p:nvSpPr>
            <p:spPr>
              <a:xfrm>
                <a:off x="819150" y="2209800"/>
                <a:ext cx="133350" cy="190500"/>
              </a:xfrm>
              <a:prstGeom prst="roundRect">
                <a:avLst>
                  <a:gd name="adj" fmla="val 35714"/>
                </a:avLst>
              </a:prstGeom>
              <a:solidFill>
                <a:schemeClr val="accent3"/>
              </a:solidFill>
              <a:ln w="15240">
                <a:solidFill>
                  <a:schemeClr val="accent3"/>
                </a:solidFill>
              </a:ln>
            </p:spPr>
          </p:sp>
          <p:sp>
            <p:nvSpPr>
              <p:cNvPr id="9" name="Ellipse 9"/>
              <p:cNvSpPr/>
              <p:nvPr/>
            </p:nvSpPr>
            <p:spPr>
              <a:xfrm>
                <a:off x="1419225" y="2057400"/>
                <a:ext cx="114300" cy="114300"/>
              </a:xfrm>
              <a:prstGeom prst="ellipse">
                <a:avLst/>
              </a:prstGeom>
              <a:solidFill>
                <a:schemeClr val="accent3"/>
              </a:solidFill>
              <a:ln w="15240">
                <a:solidFill>
                  <a:schemeClr val="accent3"/>
                </a:solidFill>
              </a:ln>
            </p:spPr>
          </p:sp>
          <p:sp>
            <p:nvSpPr>
              <p:cNvPr id="10" name="Rectangle 10"/>
              <p:cNvSpPr/>
              <p:nvPr/>
            </p:nvSpPr>
            <p:spPr>
              <a:xfrm>
                <a:off x="1409700" y="2209800"/>
                <a:ext cx="133350" cy="190500"/>
              </a:xfrm>
              <a:prstGeom prst="roundRect">
                <a:avLst>
                  <a:gd name="adj" fmla="val 35714"/>
                </a:avLst>
              </a:prstGeom>
              <a:solidFill>
                <a:schemeClr val="accent3"/>
              </a:solidFill>
              <a:ln w="15240">
                <a:solidFill>
                  <a:schemeClr val="accent3"/>
                </a:solidFill>
              </a:ln>
            </p:spPr>
          </p:sp>
          <p:sp>
            <p:nvSpPr>
              <p:cNvPr id="11" name="Ellipse 11"/>
              <p:cNvSpPr/>
              <p:nvPr/>
            </p:nvSpPr>
            <p:spPr>
              <a:xfrm>
                <a:off x="2009775" y="2057400"/>
                <a:ext cx="114300" cy="114300"/>
              </a:xfrm>
              <a:prstGeom prst="ellipse">
                <a:avLst/>
              </a:prstGeom>
              <a:solidFill>
                <a:schemeClr val="accent3"/>
              </a:solidFill>
              <a:ln w="15240">
                <a:solidFill>
                  <a:schemeClr val="accent3"/>
                </a:solidFill>
              </a:ln>
            </p:spPr>
          </p:sp>
          <p:sp>
            <p:nvSpPr>
              <p:cNvPr id="12" name="Rectangle 12"/>
              <p:cNvSpPr/>
              <p:nvPr/>
            </p:nvSpPr>
            <p:spPr>
              <a:xfrm>
                <a:off x="2000250" y="2209800"/>
                <a:ext cx="133350" cy="190500"/>
              </a:xfrm>
              <a:prstGeom prst="roundRect">
                <a:avLst>
                  <a:gd name="adj" fmla="val 35714"/>
                </a:avLst>
              </a:prstGeom>
              <a:solidFill>
                <a:schemeClr val="accent3"/>
              </a:solidFill>
              <a:ln w="15240">
                <a:solidFill>
                  <a:schemeClr val="accent3"/>
                </a:solidFill>
              </a:ln>
            </p:spPr>
          </p:sp>
          <p:sp>
            <p:nvSpPr>
              <p:cNvPr id="13" name="Ellipse 13"/>
              <p:cNvSpPr/>
              <p:nvPr/>
            </p:nvSpPr>
            <p:spPr>
              <a:xfrm>
                <a:off x="2600325" y="2057400"/>
                <a:ext cx="114300" cy="114300"/>
              </a:xfrm>
              <a:prstGeom prst="ellipse">
                <a:avLst/>
              </a:prstGeom>
              <a:solidFill>
                <a:schemeClr val="accent3"/>
              </a:solidFill>
              <a:ln w="15240">
                <a:solidFill>
                  <a:schemeClr val="accent3"/>
                </a:solidFill>
              </a:ln>
            </p:spPr>
          </p:sp>
          <p:sp>
            <p:nvSpPr>
              <p:cNvPr id="14" name="Rectangle 14"/>
              <p:cNvSpPr/>
              <p:nvPr/>
            </p:nvSpPr>
            <p:spPr>
              <a:xfrm>
                <a:off x="2590800" y="2209800"/>
                <a:ext cx="133350" cy="190500"/>
              </a:xfrm>
              <a:prstGeom prst="roundRect">
                <a:avLst>
                  <a:gd name="adj" fmla="val 35714"/>
                </a:avLst>
              </a:prstGeom>
              <a:solidFill>
                <a:schemeClr val="accent3"/>
              </a:solidFill>
              <a:ln w="15240">
                <a:solidFill>
                  <a:schemeClr val="accent3"/>
                </a:solidFill>
              </a:ln>
            </p:spPr>
          </p:sp>
          <p:sp>
            <p:nvSpPr>
              <p:cNvPr id="15" name="Ellipse 15"/>
              <p:cNvSpPr/>
              <p:nvPr/>
            </p:nvSpPr>
            <p:spPr>
              <a:xfrm>
                <a:off x="3190875" y="2057400"/>
                <a:ext cx="114300" cy="114300"/>
              </a:xfrm>
              <a:prstGeom prst="ellipse">
                <a:avLst/>
              </a:prstGeom>
              <a:solidFill>
                <a:schemeClr val="accent3"/>
              </a:solidFill>
              <a:ln w="15240">
                <a:solidFill>
                  <a:schemeClr val="accent3"/>
                </a:solidFill>
              </a:ln>
            </p:spPr>
          </p:sp>
          <p:sp>
            <p:nvSpPr>
              <p:cNvPr id="16" name="Rectangle 16"/>
              <p:cNvSpPr/>
              <p:nvPr/>
            </p:nvSpPr>
            <p:spPr>
              <a:xfrm>
                <a:off x="3181350" y="2209800"/>
                <a:ext cx="133350" cy="190500"/>
              </a:xfrm>
              <a:prstGeom prst="roundRect">
                <a:avLst>
                  <a:gd name="adj" fmla="val 35714"/>
                </a:avLst>
              </a:prstGeom>
              <a:solidFill>
                <a:schemeClr val="accent3"/>
              </a:solidFill>
              <a:ln w="15240">
                <a:solidFill>
                  <a:schemeClr val="accent3"/>
                </a:solidFill>
              </a:ln>
            </p:spPr>
          </p:sp>
          <p:sp>
            <p:nvSpPr>
              <p:cNvPr id="17" name="Ellipse 17"/>
              <p:cNvSpPr/>
              <p:nvPr/>
            </p:nvSpPr>
            <p:spPr>
              <a:xfrm>
                <a:off x="3781425" y="2057400"/>
                <a:ext cx="114300" cy="114300"/>
              </a:xfrm>
              <a:prstGeom prst="ellipse">
                <a:avLst/>
              </a:prstGeom>
              <a:solidFill>
                <a:schemeClr val="accent3"/>
              </a:solidFill>
              <a:ln w="15240">
                <a:solidFill>
                  <a:schemeClr val="accent3"/>
                </a:solidFill>
              </a:ln>
            </p:spPr>
          </p:sp>
          <p:sp>
            <p:nvSpPr>
              <p:cNvPr id="18" name="Rectangle 18"/>
              <p:cNvSpPr/>
              <p:nvPr/>
            </p:nvSpPr>
            <p:spPr>
              <a:xfrm>
                <a:off x="3771900" y="2209800"/>
                <a:ext cx="133350" cy="190500"/>
              </a:xfrm>
              <a:prstGeom prst="roundRect">
                <a:avLst>
                  <a:gd name="adj" fmla="val 35714"/>
                </a:avLst>
              </a:prstGeom>
              <a:solidFill>
                <a:schemeClr val="accent3"/>
              </a:solidFill>
              <a:ln w="15240">
                <a:solidFill>
                  <a:schemeClr val="accent3"/>
                </a:solidFill>
              </a:ln>
            </p:spPr>
          </p:sp>
          <p:sp>
            <p:nvSpPr>
              <p:cNvPr id="19" name="Ellipse 19"/>
              <p:cNvSpPr/>
              <p:nvPr/>
            </p:nvSpPr>
            <p:spPr>
              <a:xfrm>
                <a:off x="4371975" y="2057400"/>
                <a:ext cx="114300" cy="114300"/>
              </a:xfrm>
              <a:prstGeom prst="ellipse">
                <a:avLst/>
              </a:prstGeom>
              <a:solidFill>
                <a:schemeClr val="accent3"/>
              </a:solidFill>
              <a:ln w="15240">
                <a:solidFill>
                  <a:schemeClr val="accent3"/>
                </a:solidFill>
              </a:ln>
            </p:spPr>
          </p:sp>
          <p:sp>
            <p:nvSpPr>
              <p:cNvPr id="20" name="Rectangle 20"/>
              <p:cNvSpPr/>
              <p:nvPr/>
            </p:nvSpPr>
            <p:spPr>
              <a:xfrm>
                <a:off x="4362450" y="2209800"/>
                <a:ext cx="133350" cy="190500"/>
              </a:xfrm>
              <a:prstGeom prst="roundRect">
                <a:avLst>
                  <a:gd name="adj" fmla="val 35714"/>
                </a:avLst>
              </a:prstGeom>
              <a:solidFill>
                <a:schemeClr val="accent3"/>
              </a:solidFill>
              <a:ln w="15240">
                <a:solidFill>
                  <a:schemeClr val="accent3"/>
                </a:solidFill>
              </a:ln>
            </p:spPr>
          </p:sp>
          <p:sp>
            <p:nvSpPr>
              <p:cNvPr id="21" name="Ellipse 21"/>
              <p:cNvSpPr/>
              <p:nvPr/>
            </p:nvSpPr>
            <p:spPr>
              <a:xfrm>
                <a:off x="4962525" y="2057400"/>
                <a:ext cx="114300" cy="114300"/>
              </a:xfrm>
              <a:prstGeom prst="ellipse">
                <a:avLst/>
              </a:prstGeom>
              <a:solidFill>
                <a:schemeClr val="accent3"/>
              </a:solidFill>
              <a:ln w="15240">
                <a:solidFill>
                  <a:schemeClr val="accent3"/>
                </a:solidFill>
              </a:ln>
            </p:spPr>
          </p:sp>
          <p:sp>
            <p:nvSpPr>
              <p:cNvPr id="22" name="Rectangle 22"/>
              <p:cNvSpPr/>
              <p:nvPr/>
            </p:nvSpPr>
            <p:spPr>
              <a:xfrm>
                <a:off x="4953000" y="2209800"/>
                <a:ext cx="133350" cy="190500"/>
              </a:xfrm>
              <a:prstGeom prst="roundRect">
                <a:avLst>
                  <a:gd name="adj" fmla="val 35714"/>
                </a:avLst>
              </a:prstGeom>
              <a:solidFill>
                <a:schemeClr val="accent3"/>
              </a:solidFill>
              <a:ln w="15240">
                <a:solidFill>
                  <a:schemeClr val="accent3"/>
                </a:solidFill>
              </a:ln>
            </p:spPr>
          </p:sp>
          <p:sp>
            <p:nvSpPr>
              <p:cNvPr id="23" name="Ellipse 23"/>
              <p:cNvSpPr/>
              <p:nvPr/>
            </p:nvSpPr>
            <p:spPr>
              <a:xfrm>
                <a:off x="5553075" y="2057400"/>
                <a:ext cx="114300" cy="114300"/>
              </a:xfrm>
              <a:prstGeom prst="ellipse">
                <a:avLst/>
              </a:prstGeom>
              <a:solidFill>
                <a:schemeClr val="accent3"/>
              </a:solidFill>
              <a:ln w="15240">
                <a:solidFill>
                  <a:schemeClr val="accent3"/>
                </a:solidFill>
              </a:ln>
            </p:spPr>
          </p:sp>
          <p:sp>
            <p:nvSpPr>
              <p:cNvPr id="24" name="Rectangle 24"/>
              <p:cNvSpPr/>
              <p:nvPr/>
            </p:nvSpPr>
            <p:spPr>
              <a:xfrm>
                <a:off x="5543550" y="2209800"/>
                <a:ext cx="133350" cy="190500"/>
              </a:xfrm>
              <a:prstGeom prst="roundRect">
                <a:avLst>
                  <a:gd name="adj" fmla="val 35714"/>
                </a:avLst>
              </a:prstGeom>
              <a:solidFill>
                <a:schemeClr val="accent3"/>
              </a:solidFill>
              <a:ln w="15240">
                <a:solidFill>
                  <a:schemeClr val="accent3"/>
                </a:solidFill>
              </a:ln>
            </p:spPr>
          </p:sp>
          <p:sp>
            <p:nvSpPr>
              <p:cNvPr id="25" name="Ellipse 25"/>
              <p:cNvSpPr/>
              <p:nvPr/>
            </p:nvSpPr>
            <p:spPr>
              <a:xfrm>
                <a:off x="6143625" y="2057400"/>
                <a:ext cx="114300" cy="114300"/>
              </a:xfrm>
              <a:prstGeom prst="ellipse">
                <a:avLst/>
              </a:prstGeom>
              <a:solidFill>
                <a:schemeClr val="accent3"/>
              </a:solidFill>
              <a:ln w="15240">
                <a:solidFill>
                  <a:schemeClr val="accent3"/>
                </a:solidFill>
              </a:ln>
            </p:spPr>
          </p:sp>
          <p:sp>
            <p:nvSpPr>
              <p:cNvPr id="26" name="Rectangle 26"/>
              <p:cNvSpPr/>
              <p:nvPr/>
            </p:nvSpPr>
            <p:spPr>
              <a:xfrm>
                <a:off x="6134100" y="2209800"/>
                <a:ext cx="133350" cy="190500"/>
              </a:xfrm>
              <a:prstGeom prst="roundRect">
                <a:avLst>
                  <a:gd name="adj" fmla="val 35714"/>
                </a:avLst>
              </a:prstGeom>
              <a:solidFill>
                <a:schemeClr val="accent3"/>
              </a:solidFill>
              <a:ln w="15240">
                <a:solidFill>
                  <a:schemeClr val="accent3"/>
                </a:solidFill>
              </a:ln>
            </p:spPr>
          </p:sp>
          <p:sp>
            <p:nvSpPr>
              <p:cNvPr id="27" name="Ellipse 27"/>
              <p:cNvSpPr/>
              <p:nvPr/>
            </p:nvSpPr>
            <p:spPr>
              <a:xfrm>
                <a:off x="828675" y="2505075"/>
                <a:ext cx="114300" cy="114300"/>
              </a:xfrm>
              <a:prstGeom prst="ellipse">
                <a:avLst/>
              </a:prstGeom>
              <a:solidFill>
                <a:schemeClr val="accent3"/>
              </a:solidFill>
              <a:ln w="15240">
                <a:solidFill>
                  <a:schemeClr val="accent3"/>
                </a:solidFill>
              </a:ln>
            </p:spPr>
          </p:sp>
          <p:sp>
            <p:nvSpPr>
              <p:cNvPr id="28" name="Rectangle 28"/>
              <p:cNvSpPr/>
              <p:nvPr/>
            </p:nvSpPr>
            <p:spPr>
              <a:xfrm>
                <a:off x="819150" y="2657475"/>
                <a:ext cx="133350" cy="190500"/>
              </a:xfrm>
              <a:prstGeom prst="roundRect">
                <a:avLst>
                  <a:gd name="adj" fmla="val 35714"/>
                </a:avLst>
              </a:prstGeom>
              <a:solidFill>
                <a:schemeClr val="accent3"/>
              </a:solidFill>
              <a:ln w="15240">
                <a:solidFill>
                  <a:schemeClr val="accent3"/>
                </a:solidFill>
              </a:ln>
            </p:spPr>
          </p:sp>
          <p:sp>
            <p:nvSpPr>
              <p:cNvPr id="29" name="Ellipse 29"/>
              <p:cNvSpPr/>
              <p:nvPr/>
            </p:nvSpPr>
            <p:spPr>
              <a:xfrm>
                <a:off x="1419225" y="2505075"/>
                <a:ext cx="114300" cy="114300"/>
              </a:xfrm>
              <a:prstGeom prst="ellipse">
                <a:avLst/>
              </a:prstGeom>
              <a:solidFill>
                <a:schemeClr val="accent3"/>
              </a:solidFill>
              <a:ln w="15240">
                <a:solidFill>
                  <a:schemeClr val="accent3"/>
                </a:solidFill>
              </a:ln>
            </p:spPr>
          </p:sp>
          <p:sp>
            <p:nvSpPr>
              <p:cNvPr id="30" name="Rectangle 30"/>
              <p:cNvSpPr/>
              <p:nvPr/>
            </p:nvSpPr>
            <p:spPr>
              <a:xfrm>
                <a:off x="1409700" y="2657475"/>
                <a:ext cx="133350" cy="190500"/>
              </a:xfrm>
              <a:prstGeom prst="roundRect">
                <a:avLst>
                  <a:gd name="adj" fmla="val 35714"/>
                </a:avLst>
              </a:prstGeom>
              <a:solidFill>
                <a:schemeClr val="accent3"/>
              </a:solidFill>
              <a:ln w="15240">
                <a:solidFill>
                  <a:schemeClr val="accent3"/>
                </a:solidFill>
              </a:ln>
            </p:spPr>
          </p:sp>
          <p:sp>
            <p:nvSpPr>
              <p:cNvPr id="31" name="Ellipse 31"/>
              <p:cNvSpPr/>
              <p:nvPr/>
            </p:nvSpPr>
            <p:spPr>
              <a:xfrm>
                <a:off x="2009775" y="2505075"/>
                <a:ext cx="114300" cy="114300"/>
              </a:xfrm>
              <a:prstGeom prst="ellipse">
                <a:avLst/>
              </a:prstGeom>
              <a:solidFill>
                <a:schemeClr val="accent3"/>
              </a:solidFill>
              <a:ln w="15240">
                <a:solidFill>
                  <a:schemeClr val="accent3"/>
                </a:solidFill>
              </a:ln>
            </p:spPr>
          </p:sp>
          <p:sp>
            <p:nvSpPr>
              <p:cNvPr id="32" name="Rectangle 32"/>
              <p:cNvSpPr/>
              <p:nvPr/>
            </p:nvSpPr>
            <p:spPr>
              <a:xfrm>
                <a:off x="2000250" y="2657475"/>
                <a:ext cx="133350" cy="190500"/>
              </a:xfrm>
              <a:prstGeom prst="roundRect">
                <a:avLst>
                  <a:gd name="adj" fmla="val 35714"/>
                </a:avLst>
              </a:prstGeom>
              <a:solidFill>
                <a:schemeClr val="accent3"/>
              </a:solidFill>
              <a:ln w="15240">
                <a:solidFill>
                  <a:schemeClr val="accent3"/>
                </a:solidFill>
              </a:ln>
            </p:spPr>
          </p:sp>
          <p:sp>
            <p:nvSpPr>
              <p:cNvPr id="33" name="Ellipse 33"/>
              <p:cNvSpPr/>
              <p:nvPr/>
            </p:nvSpPr>
            <p:spPr>
              <a:xfrm>
                <a:off x="2600325" y="2505075"/>
                <a:ext cx="114300" cy="114300"/>
              </a:xfrm>
              <a:prstGeom prst="ellipse">
                <a:avLst/>
              </a:prstGeom>
              <a:solidFill>
                <a:schemeClr val="accent3"/>
              </a:solidFill>
              <a:ln w="15240">
                <a:solidFill>
                  <a:schemeClr val="accent3"/>
                </a:solidFill>
              </a:ln>
            </p:spPr>
          </p:sp>
          <p:sp>
            <p:nvSpPr>
              <p:cNvPr id="34" name="Rectangle 34"/>
              <p:cNvSpPr/>
              <p:nvPr/>
            </p:nvSpPr>
            <p:spPr>
              <a:xfrm>
                <a:off x="2590800" y="2657475"/>
                <a:ext cx="133350" cy="190500"/>
              </a:xfrm>
              <a:prstGeom prst="roundRect">
                <a:avLst>
                  <a:gd name="adj" fmla="val 35714"/>
                </a:avLst>
              </a:prstGeom>
              <a:solidFill>
                <a:schemeClr val="accent3"/>
              </a:solidFill>
              <a:ln w="15240">
                <a:solidFill>
                  <a:schemeClr val="accent3"/>
                </a:solidFill>
              </a:ln>
            </p:spPr>
          </p:sp>
          <p:sp>
            <p:nvSpPr>
              <p:cNvPr id="35" name="Ellipse 35"/>
              <p:cNvSpPr/>
              <p:nvPr/>
            </p:nvSpPr>
            <p:spPr>
              <a:xfrm>
                <a:off x="3190875" y="2505075"/>
                <a:ext cx="114300" cy="114300"/>
              </a:xfrm>
              <a:prstGeom prst="ellipse">
                <a:avLst/>
              </a:prstGeom>
              <a:solidFill>
                <a:schemeClr val="accent3"/>
              </a:solidFill>
              <a:ln w="15240">
                <a:solidFill>
                  <a:schemeClr val="accent3"/>
                </a:solidFill>
              </a:ln>
            </p:spPr>
          </p:sp>
          <p:sp>
            <p:nvSpPr>
              <p:cNvPr id="36" name="Rectangle 36"/>
              <p:cNvSpPr/>
              <p:nvPr/>
            </p:nvSpPr>
            <p:spPr>
              <a:xfrm>
                <a:off x="3181350" y="2657475"/>
                <a:ext cx="133350" cy="190500"/>
              </a:xfrm>
              <a:prstGeom prst="roundRect">
                <a:avLst>
                  <a:gd name="adj" fmla="val 35714"/>
                </a:avLst>
              </a:prstGeom>
              <a:solidFill>
                <a:schemeClr val="accent3"/>
              </a:solidFill>
              <a:ln w="15240">
                <a:solidFill>
                  <a:schemeClr val="accent3"/>
                </a:solidFill>
              </a:ln>
            </p:spPr>
          </p:sp>
          <p:sp>
            <p:nvSpPr>
              <p:cNvPr id="37" name="Ellipse 37"/>
              <p:cNvSpPr/>
              <p:nvPr/>
            </p:nvSpPr>
            <p:spPr>
              <a:xfrm>
                <a:off x="3781425" y="2505075"/>
                <a:ext cx="114300" cy="114300"/>
              </a:xfrm>
              <a:prstGeom prst="ellipse">
                <a:avLst/>
              </a:prstGeom>
              <a:solidFill>
                <a:schemeClr val="accent3"/>
              </a:solidFill>
              <a:ln w="15240">
                <a:solidFill>
                  <a:schemeClr val="accent3"/>
                </a:solidFill>
              </a:ln>
            </p:spPr>
          </p:sp>
          <p:sp>
            <p:nvSpPr>
              <p:cNvPr id="38" name="Rectangle 38"/>
              <p:cNvSpPr/>
              <p:nvPr/>
            </p:nvSpPr>
            <p:spPr>
              <a:xfrm>
                <a:off x="3771900" y="2657475"/>
                <a:ext cx="133350" cy="190500"/>
              </a:xfrm>
              <a:prstGeom prst="roundRect">
                <a:avLst>
                  <a:gd name="adj" fmla="val 35714"/>
                </a:avLst>
              </a:prstGeom>
              <a:solidFill>
                <a:schemeClr val="accent3"/>
              </a:solidFill>
              <a:ln w="15240">
                <a:solidFill>
                  <a:schemeClr val="accent3"/>
                </a:solidFill>
              </a:ln>
            </p:spPr>
          </p:sp>
          <p:sp>
            <p:nvSpPr>
              <p:cNvPr id="39" name="Ellipse 39"/>
              <p:cNvSpPr/>
              <p:nvPr/>
            </p:nvSpPr>
            <p:spPr>
              <a:xfrm>
                <a:off x="4371975" y="2505075"/>
                <a:ext cx="114300" cy="114300"/>
              </a:xfrm>
              <a:prstGeom prst="ellipse">
                <a:avLst/>
              </a:prstGeom>
              <a:solidFill>
                <a:schemeClr val="accent3"/>
              </a:solidFill>
              <a:ln w="15240">
                <a:solidFill>
                  <a:schemeClr val="accent3"/>
                </a:solidFill>
              </a:ln>
            </p:spPr>
          </p:sp>
          <p:sp>
            <p:nvSpPr>
              <p:cNvPr id="40" name="Rectangle 40"/>
              <p:cNvSpPr/>
              <p:nvPr/>
            </p:nvSpPr>
            <p:spPr>
              <a:xfrm>
                <a:off x="4362450" y="2657475"/>
                <a:ext cx="133350" cy="190500"/>
              </a:xfrm>
              <a:prstGeom prst="roundRect">
                <a:avLst>
                  <a:gd name="adj" fmla="val 35714"/>
                </a:avLst>
              </a:prstGeom>
              <a:solidFill>
                <a:schemeClr val="accent3"/>
              </a:solidFill>
              <a:ln w="15240">
                <a:solidFill>
                  <a:schemeClr val="accent3"/>
                </a:solidFill>
              </a:ln>
            </p:spPr>
          </p:sp>
          <p:sp>
            <p:nvSpPr>
              <p:cNvPr id="41" name="Ellipse 41"/>
              <p:cNvSpPr/>
              <p:nvPr/>
            </p:nvSpPr>
            <p:spPr>
              <a:xfrm>
                <a:off x="4962525" y="2505075"/>
                <a:ext cx="114300" cy="114300"/>
              </a:xfrm>
              <a:prstGeom prst="ellipse">
                <a:avLst/>
              </a:prstGeom>
              <a:solidFill>
                <a:schemeClr val="accent3"/>
              </a:solidFill>
              <a:ln w="15240">
                <a:solidFill>
                  <a:schemeClr val="accent3"/>
                </a:solidFill>
              </a:ln>
            </p:spPr>
          </p:sp>
          <p:sp>
            <p:nvSpPr>
              <p:cNvPr id="42" name="Rectangle 42"/>
              <p:cNvSpPr/>
              <p:nvPr/>
            </p:nvSpPr>
            <p:spPr>
              <a:xfrm>
                <a:off x="4953000" y="2657475"/>
                <a:ext cx="133350" cy="190500"/>
              </a:xfrm>
              <a:prstGeom prst="roundRect">
                <a:avLst>
                  <a:gd name="adj" fmla="val 35714"/>
                </a:avLst>
              </a:prstGeom>
              <a:solidFill>
                <a:schemeClr val="accent3"/>
              </a:solidFill>
              <a:ln w="15240">
                <a:solidFill>
                  <a:schemeClr val="accent3"/>
                </a:solidFill>
              </a:ln>
            </p:spPr>
          </p:sp>
          <p:sp>
            <p:nvSpPr>
              <p:cNvPr id="43" name="Ellipse 43"/>
              <p:cNvSpPr/>
              <p:nvPr/>
            </p:nvSpPr>
            <p:spPr>
              <a:xfrm>
                <a:off x="5553075" y="2505075"/>
                <a:ext cx="114300" cy="114300"/>
              </a:xfrm>
              <a:prstGeom prst="ellipse">
                <a:avLst/>
              </a:prstGeom>
              <a:solidFill>
                <a:schemeClr val="accent3"/>
              </a:solidFill>
              <a:ln w="15240">
                <a:solidFill>
                  <a:schemeClr val="accent3"/>
                </a:solidFill>
              </a:ln>
            </p:spPr>
          </p:sp>
          <p:sp>
            <p:nvSpPr>
              <p:cNvPr id="44" name="Rectangle 44"/>
              <p:cNvSpPr/>
              <p:nvPr/>
            </p:nvSpPr>
            <p:spPr>
              <a:xfrm>
                <a:off x="5543550" y="2657475"/>
                <a:ext cx="133350" cy="190500"/>
              </a:xfrm>
              <a:prstGeom prst="roundRect">
                <a:avLst>
                  <a:gd name="adj" fmla="val 35714"/>
                </a:avLst>
              </a:prstGeom>
              <a:solidFill>
                <a:schemeClr val="accent3"/>
              </a:solidFill>
              <a:ln w="15240">
                <a:solidFill>
                  <a:schemeClr val="accent3"/>
                </a:solidFill>
              </a:ln>
            </p:spPr>
          </p:sp>
          <p:sp>
            <p:nvSpPr>
              <p:cNvPr id="45" name="Ellipse 45"/>
              <p:cNvSpPr/>
              <p:nvPr/>
            </p:nvSpPr>
            <p:spPr>
              <a:xfrm>
                <a:off x="6143625" y="2505075"/>
                <a:ext cx="114300" cy="114300"/>
              </a:xfrm>
              <a:prstGeom prst="ellipse">
                <a:avLst/>
              </a:prstGeom>
              <a:solidFill>
                <a:schemeClr val="accent3"/>
              </a:solidFill>
              <a:ln w="15240">
                <a:solidFill>
                  <a:schemeClr val="accent3"/>
                </a:solidFill>
              </a:ln>
            </p:spPr>
          </p:sp>
          <p:sp>
            <p:nvSpPr>
              <p:cNvPr id="46" name="Rectangle 46"/>
              <p:cNvSpPr/>
              <p:nvPr/>
            </p:nvSpPr>
            <p:spPr>
              <a:xfrm>
                <a:off x="6134100" y="2657475"/>
                <a:ext cx="133350" cy="190500"/>
              </a:xfrm>
              <a:prstGeom prst="roundRect">
                <a:avLst>
                  <a:gd name="adj" fmla="val 35714"/>
                </a:avLst>
              </a:prstGeom>
              <a:solidFill>
                <a:schemeClr val="accent3"/>
              </a:solidFill>
              <a:ln w="15240">
                <a:solidFill>
                  <a:schemeClr val="accent3"/>
                </a:solidFill>
              </a:ln>
            </p:spPr>
          </p:sp>
          <p:sp>
            <p:nvSpPr>
              <p:cNvPr id="47" name="Ellipse 47"/>
              <p:cNvSpPr/>
              <p:nvPr/>
            </p:nvSpPr>
            <p:spPr>
              <a:xfrm>
                <a:off x="828675" y="2952750"/>
                <a:ext cx="114300" cy="114300"/>
              </a:xfrm>
              <a:prstGeom prst="ellipse">
                <a:avLst/>
              </a:prstGeom>
              <a:solidFill>
                <a:schemeClr val="accent3"/>
              </a:solidFill>
              <a:ln w="15240">
                <a:solidFill>
                  <a:schemeClr val="accent3"/>
                </a:solidFill>
              </a:ln>
            </p:spPr>
          </p:sp>
          <p:sp>
            <p:nvSpPr>
              <p:cNvPr id="48" name="Rectangle 48"/>
              <p:cNvSpPr/>
              <p:nvPr/>
            </p:nvSpPr>
            <p:spPr>
              <a:xfrm>
                <a:off x="819150" y="3105150"/>
                <a:ext cx="133350" cy="190500"/>
              </a:xfrm>
              <a:prstGeom prst="roundRect">
                <a:avLst>
                  <a:gd name="adj" fmla="val 35714"/>
                </a:avLst>
              </a:prstGeom>
              <a:solidFill>
                <a:schemeClr val="accent3"/>
              </a:solidFill>
              <a:ln w="15240">
                <a:solidFill>
                  <a:schemeClr val="accent3"/>
                </a:solidFill>
              </a:ln>
            </p:spPr>
          </p:sp>
          <p:sp>
            <p:nvSpPr>
              <p:cNvPr id="49" name="Ellipse 49"/>
              <p:cNvSpPr/>
              <p:nvPr/>
            </p:nvSpPr>
            <p:spPr>
              <a:xfrm>
                <a:off x="1419225" y="2952750"/>
                <a:ext cx="114300" cy="114300"/>
              </a:xfrm>
              <a:prstGeom prst="ellipse">
                <a:avLst/>
              </a:prstGeom>
              <a:solidFill>
                <a:schemeClr val="accent3"/>
              </a:solidFill>
              <a:ln w="15240">
                <a:solidFill>
                  <a:schemeClr val="accent3"/>
                </a:solidFill>
              </a:ln>
            </p:spPr>
          </p:sp>
          <p:sp>
            <p:nvSpPr>
              <p:cNvPr id="50" name="Rectangle 50"/>
              <p:cNvSpPr/>
              <p:nvPr/>
            </p:nvSpPr>
            <p:spPr>
              <a:xfrm>
                <a:off x="1409700" y="3105150"/>
                <a:ext cx="133350" cy="190500"/>
              </a:xfrm>
              <a:prstGeom prst="roundRect">
                <a:avLst>
                  <a:gd name="adj" fmla="val 35714"/>
                </a:avLst>
              </a:prstGeom>
              <a:solidFill>
                <a:schemeClr val="accent3"/>
              </a:solidFill>
              <a:ln w="15240">
                <a:solidFill>
                  <a:schemeClr val="accent3"/>
                </a:solidFill>
              </a:ln>
            </p:spPr>
          </p:sp>
          <p:sp>
            <p:nvSpPr>
              <p:cNvPr id="51" name="Ellipse 51"/>
              <p:cNvSpPr/>
              <p:nvPr/>
            </p:nvSpPr>
            <p:spPr>
              <a:xfrm>
                <a:off x="2009775" y="2952750"/>
                <a:ext cx="114300" cy="114300"/>
              </a:xfrm>
              <a:prstGeom prst="ellipse">
                <a:avLst/>
              </a:prstGeom>
              <a:solidFill>
                <a:schemeClr val="accent3"/>
              </a:solidFill>
              <a:ln w="15240">
                <a:solidFill>
                  <a:schemeClr val="accent3"/>
                </a:solidFill>
              </a:ln>
            </p:spPr>
          </p:sp>
          <p:sp>
            <p:nvSpPr>
              <p:cNvPr id="52" name="Rectangle 52"/>
              <p:cNvSpPr/>
              <p:nvPr/>
            </p:nvSpPr>
            <p:spPr>
              <a:xfrm>
                <a:off x="2000250" y="3105150"/>
                <a:ext cx="133350" cy="190500"/>
              </a:xfrm>
              <a:prstGeom prst="roundRect">
                <a:avLst>
                  <a:gd name="adj" fmla="val 35714"/>
                </a:avLst>
              </a:prstGeom>
              <a:solidFill>
                <a:schemeClr val="accent3"/>
              </a:solidFill>
              <a:ln w="15240">
                <a:solidFill>
                  <a:schemeClr val="accent3"/>
                </a:solidFill>
              </a:ln>
            </p:spPr>
          </p:sp>
          <p:sp>
            <p:nvSpPr>
              <p:cNvPr id="53" name="Ellipse 53"/>
              <p:cNvSpPr/>
              <p:nvPr/>
            </p:nvSpPr>
            <p:spPr>
              <a:xfrm>
                <a:off x="2600325" y="2952750"/>
                <a:ext cx="114300" cy="114300"/>
              </a:xfrm>
              <a:prstGeom prst="ellipse">
                <a:avLst/>
              </a:prstGeom>
              <a:solidFill>
                <a:schemeClr val="accent3"/>
              </a:solidFill>
              <a:ln w="15240">
                <a:solidFill>
                  <a:schemeClr val="accent3"/>
                </a:solidFill>
              </a:ln>
            </p:spPr>
          </p:sp>
          <p:sp>
            <p:nvSpPr>
              <p:cNvPr id="54" name="Rectangle 54"/>
              <p:cNvSpPr/>
              <p:nvPr/>
            </p:nvSpPr>
            <p:spPr>
              <a:xfrm>
                <a:off x="2590800" y="3105150"/>
                <a:ext cx="133350" cy="190500"/>
              </a:xfrm>
              <a:prstGeom prst="roundRect">
                <a:avLst>
                  <a:gd name="adj" fmla="val 35714"/>
                </a:avLst>
              </a:prstGeom>
              <a:solidFill>
                <a:schemeClr val="accent3"/>
              </a:solidFill>
              <a:ln w="15240">
                <a:solidFill>
                  <a:schemeClr val="accent3"/>
                </a:solidFill>
              </a:ln>
            </p:spPr>
          </p:sp>
          <p:sp>
            <p:nvSpPr>
              <p:cNvPr id="55" name="Ellipse 55"/>
              <p:cNvSpPr/>
              <p:nvPr/>
            </p:nvSpPr>
            <p:spPr>
              <a:xfrm>
                <a:off x="3190875" y="2952750"/>
                <a:ext cx="114300" cy="114300"/>
              </a:xfrm>
              <a:prstGeom prst="ellipse">
                <a:avLst/>
              </a:prstGeom>
              <a:solidFill>
                <a:schemeClr val="accent3"/>
              </a:solidFill>
              <a:ln w="15240">
                <a:solidFill>
                  <a:schemeClr val="accent3"/>
                </a:solidFill>
              </a:ln>
            </p:spPr>
          </p:sp>
          <p:sp>
            <p:nvSpPr>
              <p:cNvPr id="56" name="Rectangle 56"/>
              <p:cNvSpPr/>
              <p:nvPr/>
            </p:nvSpPr>
            <p:spPr>
              <a:xfrm>
                <a:off x="3181350" y="3105150"/>
                <a:ext cx="133350" cy="190500"/>
              </a:xfrm>
              <a:prstGeom prst="roundRect">
                <a:avLst>
                  <a:gd name="adj" fmla="val 35714"/>
                </a:avLst>
              </a:prstGeom>
              <a:solidFill>
                <a:schemeClr val="accent3"/>
              </a:solidFill>
              <a:ln w="15240">
                <a:solidFill>
                  <a:schemeClr val="accent3"/>
                </a:solidFill>
              </a:ln>
            </p:spPr>
          </p:sp>
          <p:sp>
            <p:nvSpPr>
              <p:cNvPr id="57" name="Ellipse 57"/>
              <p:cNvSpPr/>
              <p:nvPr/>
            </p:nvSpPr>
            <p:spPr>
              <a:xfrm>
                <a:off x="3781425" y="2952750"/>
                <a:ext cx="114300" cy="114300"/>
              </a:xfrm>
              <a:prstGeom prst="ellipse">
                <a:avLst/>
              </a:prstGeom>
              <a:solidFill>
                <a:schemeClr val="accent3"/>
              </a:solidFill>
              <a:ln w="15240">
                <a:solidFill>
                  <a:schemeClr val="accent3"/>
                </a:solidFill>
              </a:ln>
            </p:spPr>
          </p:sp>
          <p:sp>
            <p:nvSpPr>
              <p:cNvPr id="58" name="Rectangle 58"/>
              <p:cNvSpPr/>
              <p:nvPr/>
            </p:nvSpPr>
            <p:spPr>
              <a:xfrm>
                <a:off x="3771900" y="3105150"/>
                <a:ext cx="133350" cy="190500"/>
              </a:xfrm>
              <a:prstGeom prst="roundRect">
                <a:avLst>
                  <a:gd name="adj" fmla="val 35714"/>
                </a:avLst>
              </a:prstGeom>
              <a:solidFill>
                <a:schemeClr val="accent3"/>
              </a:solidFill>
              <a:ln w="15240">
                <a:solidFill>
                  <a:schemeClr val="accent3"/>
                </a:solidFill>
              </a:ln>
            </p:spPr>
          </p:sp>
          <p:sp>
            <p:nvSpPr>
              <p:cNvPr id="59" name="Ellipse 59"/>
              <p:cNvSpPr/>
              <p:nvPr/>
            </p:nvSpPr>
            <p:spPr>
              <a:xfrm>
                <a:off x="4371975" y="2952750"/>
                <a:ext cx="114300" cy="114300"/>
              </a:xfrm>
              <a:prstGeom prst="ellipse">
                <a:avLst/>
              </a:prstGeom>
              <a:solidFill>
                <a:schemeClr val="accent3"/>
              </a:solidFill>
              <a:ln w="15240">
                <a:solidFill>
                  <a:schemeClr val="accent3"/>
                </a:solidFill>
              </a:ln>
            </p:spPr>
          </p:sp>
          <p:sp>
            <p:nvSpPr>
              <p:cNvPr id="60" name="Rectangle 60"/>
              <p:cNvSpPr/>
              <p:nvPr/>
            </p:nvSpPr>
            <p:spPr>
              <a:xfrm>
                <a:off x="4362450" y="3105150"/>
                <a:ext cx="133350" cy="190500"/>
              </a:xfrm>
              <a:prstGeom prst="roundRect">
                <a:avLst>
                  <a:gd name="adj" fmla="val 35714"/>
                </a:avLst>
              </a:prstGeom>
              <a:solidFill>
                <a:schemeClr val="accent3"/>
              </a:solidFill>
              <a:ln w="15240">
                <a:solidFill>
                  <a:schemeClr val="accent3"/>
                </a:solidFill>
              </a:ln>
            </p:spPr>
          </p:sp>
          <p:sp>
            <p:nvSpPr>
              <p:cNvPr id="61" name="Ellipse 61"/>
              <p:cNvSpPr/>
              <p:nvPr/>
            </p:nvSpPr>
            <p:spPr>
              <a:xfrm>
                <a:off x="4962525" y="2952750"/>
                <a:ext cx="114300" cy="114300"/>
              </a:xfrm>
              <a:prstGeom prst="ellipse">
                <a:avLst/>
              </a:prstGeom>
              <a:solidFill>
                <a:schemeClr val="accent3"/>
              </a:solidFill>
              <a:ln w="15240">
                <a:solidFill>
                  <a:schemeClr val="accent3"/>
                </a:solidFill>
              </a:ln>
            </p:spPr>
          </p:sp>
          <p:sp>
            <p:nvSpPr>
              <p:cNvPr id="62" name="Rectangle 62"/>
              <p:cNvSpPr/>
              <p:nvPr/>
            </p:nvSpPr>
            <p:spPr>
              <a:xfrm>
                <a:off x="4953000" y="3105150"/>
                <a:ext cx="133350" cy="190500"/>
              </a:xfrm>
              <a:prstGeom prst="roundRect">
                <a:avLst>
                  <a:gd name="adj" fmla="val 35714"/>
                </a:avLst>
              </a:prstGeom>
              <a:solidFill>
                <a:schemeClr val="accent3"/>
              </a:solidFill>
              <a:ln w="15240">
                <a:solidFill>
                  <a:schemeClr val="accent3"/>
                </a:solidFill>
              </a:ln>
            </p:spPr>
          </p:sp>
          <p:sp>
            <p:nvSpPr>
              <p:cNvPr id="63" name="Ellipse 63"/>
              <p:cNvSpPr/>
              <p:nvPr/>
            </p:nvSpPr>
            <p:spPr>
              <a:xfrm>
                <a:off x="5553075" y="2952750"/>
                <a:ext cx="114300" cy="114300"/>
              </a:xfrm>
              <a:prstGeom prst="ellipse">
                <a:avLst/>
              </a:prstGeom>
              <a:solidFill>
                <a:schemeClr val="accent3"/>
              </a:solidFill>
              <a:ln w="15240">
                <a:solidFill>
                  <a:schemeClr val="accent3"/>
                </a:solidFill>
              </a:ln>
            </p:spPr>
          </p:sp>
          <p:sp>
            <p:nvSpPr>
              <p:cNvPr id="64" name="Rectangle 64"/>
              <p:cNvSpPr/>
              <p:nvPr/>
            </p:nvSpPr>
            <p:spPr>
              <a:xfrm>
                <a:off x="5543550" y="3105150"/>
                <a:ext cx="133350" cy="190500"/>
              </a:xfrm>
              <a:prstGeom prst="roundRect">
                <a:avLst>
                  <a:gd name="adj" fmla="val 35714"/>
                </a:avLst>
              </a:prstGeom>
              <a:solidFill>
                <a:schemeClr val="accent3"/>
              </a:solidFill>
              <a:ln w="15240">
                <a:solidFill>
                  <a:schemeClr val="accent3"/>
                </a:solidFill>
              </a:ln>
            </p:spPr>
          </p:sp>
          <p:sp>
            <p:nvSpPr>
              <p:cNvPr id="65" name="Ellipse 65"/>
              <p:cNvSpPr/>
              <p:nvPr/>
            </p:nvSpPr>
            <p:spPr>
              <a:xfrm>
                <a:off x="6143625" y="2952750"/>
                <a:ext cx="114300" cy="114300"/>
              </a:xfrm>
              <a:prstGeom prst="ellipse">
                <a:avLst/>
              </a:prstGeom>
              <a:solidFill>
                <a:schemeClr val="accent3"/>
              </a:solidFill>
              <a:ln w="15240">
                <a:solidFill>
                  <a:schemeClr val="accent3"/>
                </a:solidFill>
              </a:ln>
            </p:spPr>
          </p:sp>
          <p:sp>
            <p:nvSpPr>
              <p:cNvPr id="66" name="Rectangle 66"/>
              <p:cNvSpPr/>
              <p:nvPr/>
            </p:nvSpPr>
            <p:spPr>
              <a:xfrm>
                <a:off x="6134100" y="3105150"/>
                <a:ext cx="133350" cy="190500"/>
              </a:xfrm>
              <a:prstGeom prst="roundRect">
                <a:avLst>
                  <a:gd name="adj" fmla="val 35714"/>
                </a:avLst>
              </a:prstGeom>
              <a:solidFill>
                <a:schemeClr val="accent3"/>
              </a:solidFill>
              <a:ln w="15240">
                <a:solidFill>
                  <a:schemeClr val="accent3"/>
                </a:solidFill>
              </a:ln>
            </p:spPr>
          </p:sp>
          <p:sp>
            <p:nvSpPr>
              <p:cNvPr id="67" name="Ellipse 67"/>
              <p:cNvSpPr/>
              <p:nvPr/>
            </p:nvSpPr>
            <p:spPr>
              <a:xfrm>
                <a:off x="828675" y="3400425"/>
                <a:ext cx="114300" cy="114300"/>
              </a:xfrm>
              <a:prstGeom prst="ellipse">
                <a:avLst/>
              </a:prstGeom>
              <a:solidFill>
                <a:schemeClr val="accent3"/>
              </a:solidFill>
              <a:ln w="15240">
                <a:solidFill>
                  <a:schemeClr val="accent3"/>
                </a:solidFill>
              </a:ln>
            </p:spPr>
          </p:sp>
          <p:sp>
            <p:nvSpPr>
              <p:cNvPr id="68" name="Rectangle 68"/>
              <p:cNvSpPr/>
              <p:nvPr/>
            </p:nvSpPr>
            <p:spPr>
              <a:xfrm>
                <a:off x="819150" y="3552825"/>
                <a:ext cx="133350" cy="190500"/>
              </a:xfrm>
              <a:prstGeom prst="roundRect">
                <a:avLst>
                  <a:gd name="adj" fmla="val 35714"/>
                </a:avLst>
              </a:prstGeom>
              <a:solidFill>
                <a:schemeClr val="accent3"/>
              </a:solidFill>
              <a:ln w="15240">
                <a:solidFill>
                  <a:schemeClr val="accent3"/>
                </a:solidFill>
              </a:ln>
            </p:spPr>
          </p:sp>
          <p:sp>
            <p:nvSpPr>
              <p:cNvPr id="69" name="Ellipse 69"/>
              <p:cNvSpPr/>
              <p:nvPr/>
            </p:nvSpPr>
            <p:spPr>
              <a:xfrm>
                <a:off x="1419225" y="3400425"/>
                <a:ext cx="114300" cy="114300"/>
              </a:xfrm>
              <a:prstGeom prst="ellipse">
                <a:avLst/>
              </a:prstGeom>
              <a:solidFill>
                <a:schemeClr val="accent3"/>
              </a:solidFill>
              <a:ln w="15240">
                <a:solidFill>
                  <a:schemeClr val="accent3"/>
                </a:solidFill>
              </a:ln>
            </p:spPr>
          </p:sp>
          <p:sp>
            <p:nvSpPr>
              <p:cNvPr id="70" name="Rectangle 70"/>
              <p:cNvSpPr/>
              <p:nvPr/>
            </p:nvSpPr>
            <p:spPr>
              <a:xfrm>
                <a:off x="1409700" y="3552825"/>
                <a:ext cx="133350" cy="190500"/>
              </a:xfrm>
              <a:prstGeom prst="roundRect">
                <a:avLst>
                  <a:gd name="adj" fmla="val 35714"/>
                </a:avLst>
              </a:prstGeom>
              <a:solidFill>
                <a:schemeClr val="accent3"/>
              </a:solidFill>
              <a:ln w="15240">
                <a:solidFill>
                  <a:schemeClr val="accent3"/>
                </a:solidFill>
              </a:ln>
            </p:spPr>
          </p:sp>
          <p:sp>
            <p:nvSpPr>
              <p:cNvPr id="71" name="Ellipse 71"/>
              <p:cNvSpPr/>
              <p:nvPr/>
            </p:nvSpPr>
            <p:spPr>
              <a:xfrm>
                <a:off x="2009775" y="3400425"/>
                <a:ext cx="114300" cy="114300"/>
              </a:xfrm>
              <a:prstGeom prst="ellipse">
                <a:avLst/>
              </a:prstGeom>
              <a:solidFill>
                <a:schemeClr val="accent3"/>
              </a:solidFill>
              <a:ln w="15240">
                <a:solidFill>
                  <a:schemeClr val="accent3"/>
                </a:solidFill>
              </a:ln>
            </p:spPr>
          </p:sp>
          <p:sp>
            <p:nvSpPr>
              <p:cNvPr id="72" name="Rectangle 72"/>
              <p:cNvSpPr/>
              <p:nvPr/>
            </p:nvSpPr>
            <p:spPr>
              <a:xfrm>
                <a:off x="2000250" y="3552825"/>
                <a:ext cx="133350" cy="190500"/>
              </a:xfrm>
              <a:prstGeom prst="roundRect">
                <a:avLst>
                  <a:gd name="adj" fmla="val 35714"/>
                </a:avLst>
              </a:prstGeom>
              <a:solidFill>
                <a:schemeClr val="accent3"/>
              </a:solidFill>
              <a:ln w="15240">
                <a:solidFill>
                  <a:schemeClr val="accent3"/>
                </a:solidFill>
              </a:ln>
            </p:spPr>
          </p:sp>
          <p:sp>
            <p:nvSpPr>
              <p:cNvPr id="73" name="Ellipse 73"/>
              <p:cNvSpPr/>
              <p:nvPr/>
            </p:nvSpPr>
            <p:spPr>
              <a:xfrm>
                <a:off x="2600325" y="3400425"/>
                <a:ext cx="114300" cy="114300"/>
              </a:xfrm>
              <a:prstGeom prst="ellipse">
                <a:avLst/>
              </a:prstGeom>
              <a:solidFill>
                <a:schemeClr val="accent3"/>
              </a:solidFill>
              <a:ln w="15240">
                <a:solidFill>
                  <a:schemeClr val="accent3"/>
                </a:solidFill>
              </a:ln>
            </p:spPr>
          </p:sp>
          <p:sp>
            <p:nvSpPr>
              <p:cNvPr id="74" name="Rectangle 74"/>
              <p:cNvSpPr/>
              <p:nvPr/>
            </p:nvSpPr>
            <p:spPr>
              <a:xfrm>
                <a:off x="2590800" y="3552825"/>
                <a:ext cx="133350" cy="190500"/>
              </a:xfrm>
              <a:prstGeom prst="roundRect">
                <a:avLst>
                  <a:gd name="adj" fmla="val 35714"/>
                </a:avLst>
              </a:prstGeom>
              <a:solidFill>
                <a:schemeClr val="accent3"/>
              </a:solidFill>
              <a:ln w="15240">
                <a:solidFill>
                  <a:schemeClr val="accent3"/>
                </a:solidFill>
              </a:ln>
            </p:spPr>
          </p:sp>
          <p:sp>
            <p:nvSpPr>
              <p:cNvPr id="75" name="Ellipse 75"/>
              <p:cNvSpPr/>
              <p:nvPr/>
            </p:nvSpPr>
            <p:spPr>
              <a:xfrm>
                <a:off x="3190875" y="3400425"/>
                <a:ext cx="114300" cy="114300"/>
              </a:xfrm>
              <a:prstGeom prst="ellipse">
                <a:avLst/>
              </a:prstGeom>
              <a:solidFill>
                <a:schemeClr val="accent3"/>
              </a:solidFill>
              <a:ln w="15240">
                <a:solidFill>
                  <a:schemeClr val="accent3"/>
                </a:solidFill>
              </a:ln>
            </p:spPr>
          </p:sp>
          <p:sp>
            <p:nvSpPr>
              <p:cNvPr id="76" name="Rectangle 76"/>
              <p:cNvSpPr/>
              <p:nvPr/>
            </p:nvSpPr>
            <p:spPr>
              <a:xfrm>
                <a:off x="3181350" y="3552825"/>
                <a:ext cx="133350" cy="190500"/>
              </a:xfrm>
              <a:prstGeom prst="roundRect">
                <a:avLst>
                  <a:gd name="adj" fmla="val 35714"/>
                </a:avLst>
              </a:prstGeom>
              <a:solidFill>
                <a:schemeClr val="accent3"/>
              </a:solidFill>
              <a:ln w="15240">
                <a:solidFill>
                  <a:schemeClr val="accent3"/>
                </a:solidFill>
              </a:ln>
            </p:spPr>
          </p:sp>
          <p:sp>
            <p:nvSpPr>
              <p:cNvPr id="77" name="Ellipse 77"/>
              <p:cNvSpPr/>
              <p:nvPr/>
            </p:nvSpPr>
            <p:spPr>
              <a:xfrm>
                <a:off x="3781425" y="3400425"/>
                <a:ext cx="114300" cy="114300"/>
              </a:xfrm>
              <a:prstGeom prst="ellipse">
                <a:avLst/>
              </a:prstGeom>
              <a:solidFill>
                <a:schemeClr val="accent3"/>
              </a:solidFill>
              <a:ln w="15240">
                <a:solidFill>
                  <a:schemeClr val="accent3"/>
                </a:solidFill>
              </a:ln>
            </p:spPr>
          </p:sp>
          <p:sp>
            <p:nvSpPr>
              <p:cNvPr id="78" name="Rectangle 78"/>
              <p:cNvSpPr/>
              <p:nvPr/>
            </p:nvSpPr>
            <p:spPr>
              <a:xfrm>
                <a:off x="3771900" y="3552825"/>
                <a:ext cx="133350" cy="190500"/>
              </a:xfrm>
              <a:prstGeom prst="roundRect">
                <a:avLst>
                  <a:gd name="adj" fmla="val 35714"/>
                </a:avLst>
              </a:prstGeom>
              <a:solidFill>
                <a:schemeClr val="accent3"/>
              </a:solidFill>
              <a:ln w="15240">
                <a:solidFill>
                  <a:schemeClr val="accent3"/>
                </a:solidFill>
              </a:ln>
            </p:spPr>
          </p:sp>
          <p:sp>
            <p:nvSpPr>
              <p:cNvPr id="79" name="Ellipse 79"/>
              <p:cNvSpPr/>
              <p:nvPr/>
            </p:nvSpPr>
            <p:spPr>
              <a:xfrm>
                <a:off x="4371975" y="3400425"/>
                <a:ext cx="114300" cy="114300"/>
              </a:xfrm>
              <a:prstGeom prst="ellipse">
                <a:avLst/>
              </a:prstGeom>
              <a:solidFill>
                <a:schemeClr val="accent3"/>
              </a:solidFill>
              <a:ln w="15240">
                <a:solidFill>
                  <a:schemeClr val="accent3"/>
                </a:solidFill>
              </a:ln>
            </p:spPr>
          </p:sp>
          <p:sp>
            <p:nvSpPr>
              <p:cNvPr id="80" name="Rectangle 80"/>
              <p:cNvSpPr/>
              <p:nvPr/>
            </p:nvSpPr>
            <p:spPr>
              <a:xfrm>
                <a:off x="4362450" y="3552825"/>
                <a:ext cx="133350" cy="190500"/>
              </a:xfrm>
              <a:prstGeom prst="roundRect">
                <a:avLst>
                  <a:gd name="adj" fmla="val 35714"/>
                </a:avLst>
              </a:prstGeom>
              <a:solidFill>
                <a:schemeClr val="accent3"/>
              </a:solidFill>
              <a:ln w="15240">
                <a:solidFill>
                  <a:schemeClr val="accent3"/>
                </a:solidFill>
              </a:ln>
            </p:spPr>
          </p:sp>
          <p:sp>
            <p:nvSpPr>
              <p:cNvPr id="81" name="Ellipse 81"/>
              <p:cNvSpPr/>
              <p:nvPr/>
            </p:nvSpPr>
            <p:spPr>
              <a:xfrm>
                <a:off x="4962525" y="3400425"/>
                <a:ext cx="114300" cy="114300"/>
              </a:xfrm>
              <a:prstGeom prst="ellipse">
                <a:avLst/>
              </a:prstGeom>
              <a:solidFill>
                <a:schemeClr val="accent3"/>
              </a:solidFill>
              <a:ln w="15240">
                <a:solidFill>
                  <a:schemeClr val="accent3"/>
                </a:solidFill>
              </a:ln>
            </p:spPr>
          </p:sp>
          <p:sp>
            <p:nvSpPr>
              <p:cNvPr id="82" name="Rectangle 82"/>
              <p:cNvSpPr/>
              <p:nvPr/>
            </p:nvSpPr>
            <p:spPr>
              <a:xfrm>
                <a:off x="4953000" y="3552825"/>
                <a:ext cx="133350" cy="190500"/>
              </a:xfrm>
              <a:prstGeom prst="roundRect">
                <a:avLst>
                  <a:gd name="adj" fmla="val 35714"/>
                </a:avLst>
              </a:prstGeom>
              <a:solidFill>
                <a:schemeClr val="accent3"/>
              </a:solidFill>
              <a:ln w="15240">
                <a:solidFill>
                  <a:schemeClr val="accent3"/>
                </a:solidFill>
              </a:ln>
            </p:spPr>
          </p:sp>
          <p:sp>
            <p:nvSpPr>
              <p:cNvPr id="83" name="Ellipse 83"/>
              <p:cNvSpPr/>
              <p:nvPr/>
            </p:nvSpPr>
            <p:spPr>
              <a:xfrm>
                <a:off x="5553075" y="3400425"/>
                <a:ext cx="114300" cy="114300"/>
              </a:xfrm>
              <a:prstGeom prst="ellipse">
                <a:avLst/>
              </a:prstGeom>
              <a:solidFill>
                <a:schemeClr val="accent3"/>
              </a:solidFill>
              <a:ln w="15240">
                <a:solidFill>
                  <a:schemeClr val="accent3"/>
                </a:solidFill>
              </a:ln>
            </p:spPr>
          </p:sp>
          <p:sp>
            <p:nvSpPr>
              <p:cNvPr id="84" name="Rectangle 84"/>
              <p:cNvSpPr/>
              <p:nvPr/>
            </p:nvSpPr>
            <p:spPr>
              <a:xfrm>
                <a:off x="5543550" y="3552825"/>
                <a:ext cx="133350" cy="190500"/>
              </a:xfrm>
              <a:prstGeom prst="roundRect">
                <a:avLst>
                  <a:gd name="adj" fmla="val 35714"/>
                </a:avLst>
              </a:prstGeom>
              <a:solidFill>
                <a:schemeClr val="accent3"/>
              </a:solidFill>
              <a:ln w="15240">
                <a:solidFill>
                  <a:schemeClr val="accent3"/>
                </a:solidFill>
              </a:ln>
            </p:spPr>
          </p:sp>
          <p:sp>
            <p:nvSpPr>
              <p:cNvPr id="85" name="Ellipse 85"/>
              <p:cNvSpPr/>
              <p:nvPr/>
            </p:nvSpPr>
            <p:spPr>
              <a:xfrm>
                <a:off x="6143625" y="3400425"/>
                <a:ext cx="114300" cy="114300"/>
              </a:xfrm>
              <a:prstGeom prst="ellipse">
                <a:avLst/>
              </a:prstGeom>
              <a:solidFill>
                <a:schemeClr val="accent3"/>
              </a:solidFill>
              <a:ln w="15240">
                <a:solidFill>
                  <a:schemeClr val="accent3"/>
                </a:solidFill>
              </a:ln>
            </p:spPr>
          </p:sp>
          <p:sp>
            <p:nvSpPr>
              <p:cNvPr id="86" name="Rectangle 86"/>
              <p:cNvSpPr/>
              <p:nvPr/>
            </p:nvSpPr>
            <p:spPr>
              <a:xfrm>
                <a:off x="6134100" y="3552825"/>
                <a:ext cx="133350" cy="190500"/>
              </a:xfrm>
              <a:prstGeom prst="roundRect">
                <a:avLst>
                  <a:gd name="adj" fmla="val 35714"/>
                </a:avLst>
              </a:prstGeom>
              <a:solidFill>
                <a:schemeClr val="accent3"/>
              </a:solidFill>
              <a:ln w="15240">
                <a:solidFill>
                  <a:schemeClr val="accent3"/>
                </a:solidFill>
              </a:ln>
            </p:spPr>
          </p:sp>
          <p:sp>
            <p:nvSpPr>
              <p:cNvPr id="87" name="Ellipse 87"/>
              <p:cNvSpPr/>
              <p:nvPr/>
            </p:nvSpPr>
            <p:spPr>
              <a:xfrm>
                <a:off x="828675" y="3848100"/>
                <a:ext cx="114300" cy="114300"/>
              </a:xfrm>
              <a:prstGeom prst="ellipse">
                <a:avLst/>
              </a:prstGeom>
              <a:solidFill>
                <a:schemeClr val="accent3"/>
              </a:solidFill>
              <a:ln w="15240">
                <a:solidFill>
                  <a:schemeClr val="accent3"/>
                </a:solidFill>
              </a:ln>
            </p:spPr>
          </p:sp>
          <p:sp>
            <p:nvSpPr>
              <p:cNvPr id="88" name="Rectangle 88"/>
              <p:cNvSpPr/>
              <p:nvPr/>
            </p:nvSpPr>
            <p:spPr>
              <a:xfrm>
                <a:off x="819150" y="4000500"/>
                <a:ext cx="133350" cy="190500"/>
              </a:xfrm>
              <a:prstGeom prst="roundRect">
                <a:avLst>
                  <a:gd name="adj" fmla="val 35714"/>
                </a:avLst>
              </a:prstGeom>
              <a:solidFill>
                <a:schemeClr val="accent3"/>
              </a:solidFill>
              <a:ln w="15240">
                <a:solidFill>
                  <a:schemeClr val="accent3"/>
                </a:solidFill>
              </a:ln>
            </p:spPr>
          </p:sp>
          <p:sp>
            <p:nvSpPr>
              <p:cNvPr id="89" name="Ellipse 89"/>
              <p:cNvSpPr/>
              <p:nvPr/>
            </p:nvSpPr>
            <p:spPr>
              <a:xfrm>
                <a:off x="1419225" y="3848100"/>
                <a:ext cx="114300" cy="114300"/>
              </a:xfrm>
              <a:prstGeom prst="ellipse">
                <a:avLst/>
              </a:prstGeom>
              <a:solidFill>
                <a:schemeClr val="accent3"/>
              </a:solidFill>
              <a:ln w="15240">
                <a:solidFill>
                  <a:schemeClr val="accent3"/>
                </a:solidFill>
              </a:ln>
            </p:spPr>
          </p:sp>
          <p:sp>
            <p:nvSpPr>
              <p:cNvPr id="90" name="Rectangle 90"/>
              <p:cNvSpPr/>
              <p:nvPr/>
            </p:nvSpPr>
            <p:spPr>
              <a:xfrm>
                <a:off x="1409700" y="4000500"/>
                <a:ext cx="133350" cy="190500"/>
              </a:xfrm>
              <a:prstGeom prst="roundRect">
                <a:avLst>
                  <a:gd name="adj" fmla="val 35714"/>
                </a:avLst>
              </a:prstGeom>
              <a:solidFill>
                <a:schemeClr val="accent3"/>
              </a:solidFill>
              <a:ln w="15240">
                <a:solidFill>
                  <a:schemeClr val="accent3"/>
                </a:solidFill>
              </a:ln>
            </p:spPr>
          </p:sp>
          <p:sp>
            <p:nvSpPr>
              <p:cNvPr id="91" name="Ellipse 91"/>
              <p:cNvSpPr/>
              <p:nvPr/>
            </p:nvSpPr>
            <p:spPr>
              <a:xfrm>
                <a:off x="2009775" y="3848100"/>
                <a:ext cx="114300" cy="114300"/>
              </a:xfrm>
              <a:prstGeom prst="ellipse">
                <a:avLst/>
              </a:prstGeom>
              <a:solidFill>
                <a:schemeClr val="accent3"/>
              </a:solidFill>
              <a:ln w="15240">
                <a:solidFill>
                  <a:schemeClr val="accent3"/>
                </a:solidFill>
              </a:ln>
            </p:spPr>
          </p:sp>
          <p:sp>
            <p:nvSpPr>
              <p:cNvPr id="92" name="Rectangle 92"/>
              <p:cNvSpPr/>
              <p:nvPr/>
            </p:nvSpPr>
            <p:spPr>
              <a:xfrm>
                <a:off x="2000250" y="4000500"/>
                <a:ext cx="133350" cy="190500"/>
              </a:xfrm>
              <a:prstGeom prst="roundRect">
                <a:avLst>
                  <a:gd name="adj" fmla="val 35714"/>
                </a:avLst>
              </a:prstGeom>
              <a:solidFill>
                <a:schemeClr val="accent3"/>
              </a:solidFill>
              <a:ln w="15240">
                <a:solidFill>
                  <a:schemeClr val="accent3"/>
                </a:solidFill>
              </a:ln>
            </p:spPr>
          </p:sp>
          <p:sp>
            <p:nvSpPr>
              <p:cNvPr id="93" name="Ellipse 93"/>
              <p:cNvSpPr/>
              <p:nvPr/>
            </p:nvSpPr>
            <p:spPr>
              <a:xfrm>
                <a:off x="2600325" y="3848100"/>
                <a:ext cx="114300" cy="114300"/>
              </a:xfrm>
              <a:prstGeom prst="ellipse">
                <a:avLst/>
              </a:prstGeom>
              <a:solidFill>
                <a:schemeClr val="accent3"/>
              </a:solidFill>
              <a:ln w="15240">
                <a:solidFill>
                  <a:schemeClr val="accent3"/>
                </a:solidFill>
              </a:ln>
            </p:spPr>
          </p:sp>
          <p:sp>
            <p:nvSpPr>
              <p:cNvPr id="94" name="Rectangle 94"/>
              <p:cNvSpPr/>
              <p:nvPr/>
            </p:nvSpPr>
            <p:spPr>
              <a:xfrm>
                <a:off x="2590800" y="4000500"/>
                <a:ext cx="133350" cy="190500"/>
              </a:xfrm>
              <a:prstGeom prst="roundRect">
                <a:avLst>
                  <a:gd name="adj" fmla="val 35714"/>
                </a:avLst>
              </a:prstGeom>
              <a:solidFill>
                <a:schemeClr val="accent3"/>
              </a:solidFill>
              <a:ln w="15240">
                <a:solidFill>
                  <a:schemeClr val="accent3"/>
                </a:solidFill>
              </a:ln>
            </p:spPr>
          </p:sp>
          <p:sp>
            <p:nvSpPr>
              <p:cNvPr id="95" name="Ellipse 95"/>
              <p:cNvSpPr/>
              <p:nvPr/>
            </p:nvSpPr>
            <p:spPr>
              <a:xfrm>
                <a:off x="3190875" y="3848100"/>
                <a:ext cx="114300" cy="114300"/>
              </a:xfrm>
              <a:prstGeom prst="ellipse">
                <a:avLst/>
              </a:prstGeom>
              <a:solidFill>
                <a:schemeClr val="accent3"/>
              </a:solidFill>
              <a:ln w="15240">
                <a:solidFill>
                  <a:schemeClr val="accent3"/>
                </a:solidFill>
              </a:ln>
            </p:spPr>
          </p:sp>
          <p:sp>
            <p:nvSpPr>
              <p:cNvPr id="96" name="Rectangle 96"/>
              <p:cNvSpPr/>
              <p:nvPr/>
            </p:nvSpPr>
            <p:spPr>
              <a:xfrm>
                <a:off x="3181350" y="4000500"/>
                <a:ext cx="133350" cy="190500"/>
              </a:xfrm>
              <a:prstGeom prst="roundRect">
                <a:avLst>
                  <a:gd name="adj" fmla="val 35714"/>
                </a:avLst>
              </a:prstGeom>
              <a:solidFill>
                <a:schemeClr val="accent3"/>
              </a:solidFill>
              <a:ln w="15240">
                <a:solidFill>
                  <a:schemeClr val="accent3"/>
                </a:solidFill>
              </a:ln>
            </p:spPr>
          </p:sp>
          <p:sp>
            <p:nvSpPr>
              <p:cNvPr id="97" name="Ellipse 97"/>
              <p:cNvSpPr/>
              <p:nvPr/>
            </p:nvSpPr>
            <p:spPr>
              <a:xfrm>
                <a:off x="3781425" y="3848100"/>
                <a:ext cx="114300" cy="114300"/>
              </a:xfrm>
              <a:prstGeom prst="ellipse">
                <a:avLst/>
              </a:prstGeom>
              <a:solidFill>
                <a:schemeClr val="accent3"/>
              </a:solidFill>
              <a:ln w="15240">
                <a:solidFill>
                  <a:schemeClr val="accent3"/>
                </a:solidFill>
              </a:ln>
            </p:spPr>
          </p:sp>
          <p:sp>
            <p:nvSpPr>
              <p:cNvPr id="98" name="Rectangle 98"/>
              <p:cNvSpPr/>
              <p:nvPr/>
            </p:nvSpPr>
            <p:spPr>
              <a:xfrm>
                <a:off x="3771900" y="4000500"/>
                <a:ext cx="133350" cy="190500"/>
              </a:xfrm>
              <a:prstGeom prst="roundRect">
                <a:avLst>
                  <a:gd name="adj" fmla="val 35714"/>
                </a:avLst>
              </a:prstGeom>
              <a:solidFill>
                <a:schemeClr val="accent3"/>
              </a:solidFill>
              <a:ln w="15240">
                <a:solidFill>
                  <a:schemeClr val="accent3"/>
                </a:solidFill>
              </a:ln>
            </p:spPr>
          </p:sp>
          <p:sp>
            <p:nvSpPr>
              <p:cNvPr id="99" name="Ellipse 99"/>
              <p:cNvSpPr/>
              <p:nvPr/>
            </p:nvSpPr>
            <p:spPr>
              <a:xfrm>
                <a:off x="4371975" y="3848100"/>
                <a:ext cx="114300" cy="114300"/>
              </a:xfrm>
              <a:prstGeom prst="ellipse">
                <a:avLst/>
              </a:prstGeom>
              <a:solidFill>
                <a:schemeClr val="accent3"/>
              </a:solidFill>
              <a:ln w="15240">
                <a:solidFill>
                  <a:schemeClr val="accent3"/>
                </a:solidFill>
              </a:ln>
            </p:spPr>
          </p:sp>
          <p:sp>
            <p:nvSpPr>
              <p:cNvPr id="100" name="Rectangle 100"/>
              <p:cNvSpPr/>
              <p:nvPr/>
            </p:nvSpPr>
            <p:spPr>
              <a:xfrm>
                <a:off x="4362450" y="4000500"/>
                <a:ext cx="133350" cy="190500"/>
              </a:xfrm>
              <a:prstGeom prst="roundRect">
                <a:avLst>
                  <a:gd name="adj" fmla="val 35714"/>
                </a:avLst>
              </a:prstGeom>
              <a:solidFill>
                <a:schemeClr val="accent3"/>
              </a:solidFill>
              <a:ln w="15240">
                <a:solidFill>
                  <a:schemeClr val="accent3"/>
                </a:solidFill>
              </a:ln>
            </p:spPr>
          </p:sp>
          <p:sp>
            <p:nvSpPr>
              <p:cNvPr id="101" name="Ellipse 101"/>
              <p:cNvSpPr/>
              <p:nvPr/>
            </p:nvSpPr>
            <p:spPr>
              <a:xfrm>
                <a:off x="4962525" y="3848100"/>
                <a:ext cx="114300" cy="114300"/>
              </a:xfrm>
              <a:prstGeom prst="ellipse">
                <a:avLst/>
              </a:prstGeom>
              <a:solidFill>
                <a:schemeClr val="accent3"/>
              </a:solidFill>
              <a:ln w="15240">
                <a:solidFill>
                  <a:schemeClr val="accent3"/>
                </a:solidFill>
              </a:ln>
            </p:spPr>
          </p:sp>
          <p:sp>
            <p:nvSpPr>
              <p:cNvPr id="102" name="Rectangle 102"/>
              <p:cNvSpPr/>
              <p:nvPr/>
            </p:nvSpPr>
            <p:spPr>
              <a:xfrm>
                <a:off x="4953000" y="4000500"/>
                <a:ext cx="133350" cy="190500"/>
              </a:xfrm>
              <a:prstGeom prst="roundRect">
                <a:avLst>
                  <a:gd name="adj" fmla="val 35714"/>
                </a:avLst>
              </a:prstGeom>
              <a:solidFill>
                <a:schemeClr val="accent3"/>
              </a:solidFill>
              <a:ln w="15240">
                <a:solidFill>
                  <a:schemeClr val="accent3"/>
                </a:solidFill>
              </a:ln>
            </p:spPr>
          </p:sp>
          <p:sp>
            <p:nvSpPr>
              <p:cNvPr id="103" name="Ellipse 103"/>
              <p:cNvSpPr/>
              <p:nvPr/>
            </p:nvSpPr>
            <p:spPr>
              <a:xfrm>
                <a:off x="5553075" y="3848100"/>
                <a:ext cx="114300" cy="114300"/>
              </a:xfrm>
              <a:prstGeom prst="ellipse">
                <a:avLst/>
              </a:prstGeom>
              <a:solidFill>
                <a:schemeClr val="accent3"/>
              </a:solidFill>
              <a:ln w="15240">
                <a:solidFill>
                  <a:schemeClr val="accent3"/>
                </a:solidFill>
              </a:ln>
            </p:spPr>
          </p:sp>
          <p:sp>
            <p:nvSpPr>
              <p:cNvPr id="104" name="Rectangle 104"/>
              <p:cNvSpPr/>
              <p:nvPr/>
            </p:nvSpPr>
            <p:spPr>
              <a:xfrm>
                <a:off x="5543550" y="4000500"/>
                <a:ext cx="133350" cy="190500"/>
              </a:xfrm>
              <a:prstGeom prst="roundRect">
                <a:avLst>
                  <a:gd name="adj" fmla="val 35714"/>
                </a:avLst>
              </a:prstGeom>
              <a:solidFill>
                <a:schemeClr val="accent3"/>
              </a:solidFill>
              <a:ln w="15240">
                <a:solidFill>
                  <a:schemeClr val="accent3"/>
                </a:solidFill>
              </a:ln>
            </p:spPr>
          </p:sp>
          <p:sp>
            <p:nvSpPr>
              <p:cNvPr id="105" name="Ellipse 105"/>
              <p:cNvSpPr/>
              <p:nvPr/>
            </p:nvSpPr>
            <p:spPr>
              <a:xfrm>
                <a:off x="6143625" y="3848100"/>
                <a:ext cx="114300" cy="114300"/>
              </a:xfrm>
              <a:prstGeom prst="ellipse">
                <a:avLst/>
              </a:prstGeom>
              <a:solidFill>
                <a:schemeClr val="accent3"/>
              </a:solidFill>
              <a:ln w="15240">
                <a:solidFill>
                  <a:schemeClr val="accent3"/>
                </a:solidFill>
              </a:ln>
            </p:spPr>
          </p:sp>
          <p:sp>
            <p:nvSpPr>
              <p:cNvPr id="106" name="Rectangle 106"/>
              <p:cNvSpPr/>
              <p:nvPr/>
            </p:nvSpPr>
            <p:spPr>
              <a:xfrm>
                <a:off x="6134100" y="4000500"/>
                <a:ext cx="133350" cy="190500"/>
              </a:xfrm>
              <a:prstGeom prst="roundRect">
                <a:avLst>
                  <a:gd name="adj" fmla="val 35714"/>
                </a:avLst>
              </a:prstGeom>
              <a:solidFill>
                <a:schemeClr val="accent3"/>
              </a:solidFill>
              <a:ln w="15240">
                <a:solidFill>
                  <a:schemeClr val="accent3"/>
                </a:solidFill>
              </a:ln>
            </p:spPr>
          </p:sp>
          <p:sp>
            <p:nvSpPr>
              <p:cNvPr id="107" name="Ellipse 107"/>
              <p:cNvSpPr/>
              <p:nvPr/>
            </p:nvSpPr>
            <p:spPr>
              <a:xfrm>
                <a:off x="828675" y="4295775"/>
                <a:ext cx="114300" cy="114300"/>
              </a:xfrm>
              <a:prstGeom prst="ellipse">
                <a:avLst/>
              </a:prstGeom>
              <a:solidFill>
                <a:schemeClr val="accent3"/>
              </a:solidFill>
              <a:ln w="15240">
                <a:solidFill>
                  <a:schemeClr val="accent3"/>
                </a:solidFill>
              </a:ln>
            </p:spPr>
          </p:sp>
          <p:sp>
            <p:nvSpPr>
              <p:cNvPr id="108" name="Rectangle 108"/>
              <p:cNvSpPr/>
              <p:nvPr/>
            </p:nvSpPr>
            <p:spPr>
              <a:xfrm>
                <a:off x="819150" y="4448175"/>
                <a:ext cx="133350" cy="190500"/>
              </a:xfrm>
              <a:prstGeom prst="roundRect">
                <a:avLst>
                  <a:gd name="adj" fmla="val 35714"/>
                </a:avLst>
              </a:prstGeom>
              <a:solidFill>
                <a:schemeClr val="accent3"/>
              </a:solidFill>
              <a:ln w="15240">
                <a:solidFill>
                  <a:schemeClr val="accent3"/>
                </a:solidFill>
              </a:ln>
            </p:spPr>
          </p:sp>
          <p:sp>
            <p:nvSpPr>
              <p:cNvPr id="109" name="Ellipse 109"/>
              <p:cNvSpPr/>
              <p:nvPr/>
            </p:nvSpPr>
            <p:spPr>
              <a:xfrm>
                <a:off x="1419225" y="4295775"/>
                <a:ext cx="114300" cy="114300"/>
              </a:xfrm>
              <a:prstGeom prst="ellipse">
                <a:avLst/>
              </a:prstGeom>
              <a:solidFill>
                <a:schemeClr val="accent3"/>
              </a:solidFill>
              <a:ln w="15240">
                <a:solidFill>
                  <a:schemeClr val="accent3"/>
                </a:solidFill>
              </a:ln>
            </p:spPr>
          </p:sp>
          <p:sp>
            <p:nvSpPr>
              <p:cNvPr id="110" name="Rectangle 110"/>
              <p:cNvSpPr/>
              <p:nvPr/>
            </p:nvSpPr>
            <p:spPr>
              <a:xfrm>
                <a:off x="1409700" y="4448175"/>
                <a:ext cx="133350" cy="190500"/>
              </a:xfrm>
              <a:prstGeom prst="roundRect">
                <a:avLst>
                  <a:gd name="adj" fmla="val 35714"/>
                </a:avLst>
              </a:prstGeom>
              <a:solidFill>
                <a:schemeClr val="accent3"/>
              </a:solidFill>
              <a:ln w="15240">
                <a:solidFill>
                  <a:schemeClr val="accent3"/>
                </a:solidFill>
              </a:ln>
            </p:spPr>
          </p:sp>
          <p:sp>
            <p:nvSpPr>
              <p:cNvPr id="111" name="Ellipse 111"/>
              <p:cNvSpPr/>
              <p:nvPr/>
            </p:nvSpPr>
            <p:spPr>
              <a:xfrm>
                <a:off x="2009775" y="4295775"/>
                <a:ext cx="114300" cy="114300"/>
              </a:xfrm>
              <a:prstGeom prst="ellipse">
                <a:avLst/>
              </a:prstGeom>
              <a:solidFill>
                <a:schemeClr val="accent3"/>
              </a:solidFill>
              <a:ln w="15240">
                <a:solidFill>
                  <a:schemeClr val="accent3"/>
                </a:solidFill>
              </a:ln>
            </p:spPr>
          </p:sp>
          <p:sp>
            <p:nvSpPr>
              <p:cNvPr id="112" name="Rectangle 112"/>
              <p:cNvSpPr/>
              <p:nvPr/>
            </p:nvSpPr>
            <p:spPr>
              <a:xfrm>
                <a:off x="2000250" y="4448175"/>
                <a:ext cx="133350" cy="190500"/>
              </a:xfrm>
              <a:prstGeom prst="roundRect">
                <a:avLst>
                  <a:gd name="adj" fmla="val 35714"/>
                </a:avLst>
              </a:prstGeom>
              <a:solidFill>
                <a:schemeClr val="accent3"/>
              </a:solidFill>
              <a:ln w="15240">
                <a:solidFill>
                  <a:schemeClr val="accent3"/>
                </a:solidFill>
              </a:ln>
            </p:spPr>
          </p:sp>
          <p:sp>
            <p:nvSpPr>
              <p:cNvPr id="113" name="Ellipse 113"/>
              <p:cNvSpPr/>
              <p:nvPr/>
            </p:nvSpPr>
            <p:spPr>
              <a:xfrm>
                <a:off x="2600325" y="4295775"/>
                <a:ext cx="114300" cy="114300"/>
              </a:xfrm>
              <a:prstGeom prst="ellipse">
                <a:avLst/>
              </a:prstGeom>
              <a:solidFill>
                <a:schemeClr val="accent3"/>
              </a:solidFill>
              <a:ln w="15240">
                <a:solidFill>
                  <a:schemeClr val="accent3"/>
                </a:solidFill>
              </a:ln>
            </p:spPr>
          </p:sp>
          <p:sp>
            <p:nvSpPr>
              <p:cNvPr id="114" name="Rectangle 114"/>
              <p:cNvSpPr/>
              <p:nvPr/>
            </p:nvSpPr>
            <p:spPr>
              <a:xfrm>
                <a:off x="2590800" y="4448175"/>
                <a:ext cx="133350" cy="190500"/>
              </a:xfrm>
              <a:prstGeom prst="roundRect">
                <a:avLst>
                  <a:gd name="adj" fmla="val 35714"/>
                </a:avLst>
              </a:prstGeom>
              <a:solidFill>
                <a:schemeClr val="accent3"/>
              </a:solidFill>
              <a:ln w="15240">
                <a:solidFill>
                  <a:schemeClr val="accent3"/>
                </a:solidFill>
              </a:ln>
            </p:spPr>
          </p:sp>
          <p:sp>
            <p:nvSpPr>
              <p:cNvPr id="115" name="Ellipse 115"/>
              <p:cNvSpPr/>
              <p:nvPr/>
            </p:nvSpPr>
            <p:spPr>
              <a:xfrm>
                <a:off x="3190875" y="4295775"/>
                <a:ext cx="114300" cy="114300"/>
              </a:xfrm>
              <a:prstGeom prst="ellipse">
                <a:avLst/>
              </a:prstGeom>
              <a:solidFill>
                <a:schemeClr val="accent3"/>
              </a:solidFill>
              <a:ln w="15240">
                <a:solidFill>
                  <a:schemeClr val="accent3"/>
                </a:solidFill>
              </a:ln>
            </p:spPr>
          </p:sp>
          <p:sp>
            <p:nvSpPr>
              <p:cNvPr id="116" name="Rectangle 116"/>
              <p:cNvSpPr/>
              <p:nvPr/>
            </p:nvSpPr>
            <p:spPr>
              <a:xfrm>
                <a:off x="3181350" y="4448175"/>
                <a:ext cx="133350" cy="190500"/>
              </a:xfrm>
              <a:prstGeom prst="roundRect">
                <a:avLst>
                  <a:gd name="adj" fmla="val 35714"/>
                </a:avLst>
              </a:prstGeom>
              <a:solidFill>
                <a:schemeClr val="accent3"/>
              </a:solidFill>
              <a:ln w="15240">
                <a:solidFill>
                  <a:schemeClr val="accent3"/>
                </a:solidFill>
              </a:ln>
            </p:spPr>
          </p:sp>
          <p:sp>
            <p:nvSpPr>
              <p:cNvPr id="117" name="Ellipse 117"/>
              <p:cNvSpPr/>
              <p:nvPr/>
            </p:nvSpPr>
            <p:spPr>
              <a:xfrm>
                <a:off x="3781425" y="4295775"/>
                <a:ext cx="114300" cy="114300"/>
              </a:xfrm>
              <a:prstGeom prst="ellipse">
                <a:avLst/>
              </a:prstGeom>
              <a:solidFill>
                <a:schemeClr val="accent3"/>
              </a:solidFill>
              <a:ln w="15240">
                <a:solidFill>
                  <a:schemeClr val="accent3"/>
                </a:solidFill>
              </a:ln>
            </p:spPr>
          </p:sp>
          <p:sp>
            <p:nvSpPr>
              <p:cNvPr id="118" name="Rectangle 118"/>
              <p:cNvSpPr/>
              <p:nvPr/>
            </p:nvSpPr>
            <p:spPr>
              <a:xfrm>
                <a:off x="3771900" y="4448175"/>
                <a:ext cx="133350" cy="190500"/>
              </a:xfrm>
              <a:prstGeom prst="roundRect">
                <a:avLst>
                  <a:gd name="adj" fmla="val 35714"/>
                </a:avLst>
              </a:prstGeom>
              <a:solidFill>
                <a:schemeClr val="accent3"/>
              </a:solidFill>
              <a:ln w="15240">
                <a:solidFill>
                  <a:schemeClr val="accent3"/>
                </a:solidFill>
              </a:ln>
            </p:spPr>
          </p:sp>
          <p:sp>
            <p:nvSpPr>
              <p:cNvPr id="119" name="Ellipse 119"/>
              <p:cNvSpPr/>
              <p:nvPr/>
            </p:nvSpPr>
            <p:spPr>
              <a:xfrm>
                <a:off x="4371975" y="4295775"/>
                <a:ext cx="114300" cy="114300"/>
              </a:xfrm>
              <a:prstGeom prst="ellipse">
                <a:avLst/>
              </a:prstGeom>
              <a:solidFill>
                <a:schemeClr val="accent3"/>
              </a:solidFill>
              <a:ln w="15240">
                <a:solidFill>
                  <a:schemeClr val="accent3"/>
                </a:solidFill>
              </a:ln>
            </p:spPr>
          </p:sp>
          <p:sp>
            <p:nvSpPr>
              <p:cNvPr id="120" name="Rectangle 120"/>
              <p:cNvSpPr/>
              <p:nvPr/>
            </p:nvSpPr>
            <p:spPr>
              <a:xfrm>
                <a:off x="4362450" y="4448175"/>
                <a:ext cx="133350" cy="190500"/>
              </a:xfrm>
              <a:prstGeom prst="roundRect">
                <a:avLst>
                  <a:gd name="adj" fmla="val 35714"/>
                </a:avLst>
              </a:prstGeom>
              <a:solidFill>
                <a:schemeClr val="accent3"/>
              </a:solidFill>
              <a:ln w="15240">
                <a:solidFill>
                  <a:schemeClr val="accent3"/>
                </a:solidFill>
              </a:ln>
            </p:spPr>
          </p:sp>
          <p:sp>
            <p:nvSpPr>
              <p:cNvPr id="121" name="Ellipse 121"/>
              <p:cNvSpPr/>
              <p:nvPr/>
            </p:nvSpPr>
            <p:spPr>
              <a:xfrm>
                <a:off x="4962525" y="4295775"/>
                <a:ext cx="114300" cy="114300"/>
              </a:xfrm>
              <a:prstGeom prst="ellipse">
                <a:avLst/>
              </a:prstGeom>
              <a:solidFill>
                <a:schemeClr val="accent3"/>
              </a:solidFill>
              <a:ln w="15240">
                <a:solidFill>
                  <a:schemeClr val="accent3"/>
                </a:solidFill>
              </a:ln>
            </p:spPr>
          </p:sp>
          <p:sp>
            <p:nvSpPr>
              <p:cNvPr id="122" name="Rectangle 122"/>
              <p:cNvSpPr/>
              <p:nvPr/>
            </p:nvSpPr>
            <p:spPr>
              <a:xfrm>
                <a:off x="4953000" y="4448175"/>
                <a:ext cx="133350" cy="190500"/>
              </a:xfrm>
              <a:prstGeom prst="roundRect">
                <a:avLst>
                  <a:gd name="adj" fmla="val 35714"/>
                </a:avLst>
              </a:prstGeom>
              <a:solidFill>
                <a:schemeClr val="accent3"/>
              </a:solidFill>
              <a:ln w="15240">
                <a:solidFill>
                  <a:schemeClr val="accent3"/>
                </a:solidFill>
              </a:ln>
            </p:spPr>
          </p:sp>
          <p:sp>
            <p:nvSpPr>
              <p:cNvPr id="123" name="Ellipse 123"/>
              <p:cNvSpPr/>
              <p:nvPr/>
            </p:nvSpPr>
            <p:spPr>
              <a:xfrm>
                <a:off x="5553075" y="4295775"/>
                <a:ext cx="114300" cy="114300"/>
              </a:xfrm>
              <a:prstGeom prst="ellipse">
                <a:avLst/>
              </a:prstGeom>
              <a:solidFill>
                <a:schemeClr val="accent3"/>
              </a:solidFill>
              <a:ln w="15240">
                <a:solidFill>
                  <a:schemeClr val="accent3"/>
                </a:solidFill>
              </a:ln>
            </p:spPr>
          </p:sp>
          <p:sp>
            <p:nvSpPr>
              <p:cNvPr id="124" name="Rectangle 124"/>
              <p:cNvSpPr/>
              <p:nvPr/>
            </p:nvSpPr>
            <p:spPr>
              <a:xfrm>
                <a:off x="5543550" y="4448175"/>
                <a:ext cx="133350" cy="190500"/>
              </a:xfrm>
              <a:prstGeom prst="roundRect">
                <a:avLst>
                  <a:gd name="adj" fmla="val 35714"/>
                </a:avLst>
              </a:prstGeom>
              <a:solidFill>
                <a:schemeClr val="accent3"/>
              </a:solidFill>
              <a:ln w="15240">
                <a:solidFill>
                  <a:schemeClr val="accent3"/>
                </a:solidFill>
              </a:ln>
            </p:spPr>
          </p:sp>
          <p:sp>
            <p:nvSpPr>
              <p:cNvPr id="125" name="Ellipse 125"/>
              <p:cNvSpPr/>
              <p:nvPr/>
            </p:nvSpPr>
            <p:spPr>
              <a:xfrm>
                <a:off x="6143625" y="4295775"/>
                <a:ext cx="114300" cy="114300"/>
              </a:xfrm>
              <a:prstGeom prst="ellipse">
                <a:avLst/>
              </a:prstGeom>
              <a:noFill/>
              <a:ln w="15240">
                <a:solidFill>
                  <a:schemeClr val="accent2"/>
                </a:solidFill>
              </a:ln>
            </p:spPr>
          </p:sp>
          <p:sp>
            <p:nvSpPr>
              <p:cNvPr id="126" name="Rectangle 126"/>
              <p:cNvSpPr/>
              <p:nvPr/>
            </p:nvSpPr>
            <p:spPr>
              <a:xfrm>
                <a:off x="6134100" y="4448175"/>
                <a:ext cx="133350" cy="190500"/>
              </a:xfrm>
              <a:prstGeom prst="roundRect">
                <a:avLst>
                  <a:gd name="adj" fmla="val 35714"/>
                </a:avLst>
              </a:prstGeom>
              <a:noFill/>
              <a:ln w="15240">
                <a:solidFill>
                  <a:schemeClr val="accent2"/>
                </a:solidFill>
              </a:ln>
            </p:spPr>
          </p:sp>
          <p:sp>
            <p:nvSpPr>
              <p:cNvPr id="127" name="Ellipse 127"/>
              <p:cNvSpPr/>
              <p:nvPr/>
            </p:nvSpPr>
            <p:spPr>
              <a:xfrm>
                <a:off x="828675" y="4743450"/>
                <a:ext cx="114300" cy="114300"/>
              </a:xfrm>
              <a:prstGeom prst="ellipse">
                <a:avLst/>
              </a:prstGeom>
              <a:noFill/>
              <a:ln w="15240">
                <a:solidFill>
                  <a:schemeClr val="accent2"/>
                </a:solidFill>
              </a:ln>
            </p:spPr>
          </p:sp>
          <p:sp>
            <p:nvSpPr>
              <p:cNvPr id="128" name="Rectangle 128"/>
              <p:cNvSpPr/>
              <p:nvPr/>
            </p:nvSpPr>
            <p:spPr>
              <a:xfrm>
                <a:off x="819150" y="4895850"/>
                <a:ext cx="133350" cy="190500"/>
              </a:xfrm>
              <a:prstGeom prst="roundRect">
                <a:avLst>
                  <a:gd name="adj" fmla="val 35714"/>
                </a:avLst>
              </a:prstGeom>
              <a:noFill/>
              <a:ln w="15240">
                <a:solidFill>
                  <a:schemeClr val="accent2"/>
                </a:solidFill>
              </a:ln>
            </p:spPr>
          </p:sp>
          <p:sp>
            <p:nvSpPr>
              <p:cNvPr id="129" name="Ellipse 129"/>
              <p:cNvSpPr/>
              <p:nvPr/>
            </p:nvSpPr>
            <p:spPr>
              <a:xfrm>
                <a:off x="1419225" y="4743450"/>
                <a:ext cx="114300" cy="114300"/>
              </a:xfrm>
              <a:prstGeom prst="ellipse">
                <a:avLst/>
              </a:prstGeom>
              <a:noFill/>
              <a:ln w="15240">
                <a:solidFill>
                  <a:schemeClr val="accent2"/>
                </a:solidFill>
              </a:ln>
            </p:spPr>
          </p:sp>
          <p:sp>
            <p:nvSpPr>
              <p:cNvPr id="130" name="Rectangle 130"/>
              <p:cNvSpPr/>
              <p:nvPr/>
            </p:nvSpPr>
            <p:spPr>
              <a:xfrm>
                <a:off x="1409700" y="4895850"/>
                <a:ext cx="133350" cy="190500"/>
              </a:xfrm>
              <a:prstGeom prst="roundRect">
                <a:avLst>
                  <a:gd name="adj" fmla="val 35714"/>
                </a:avLst>
              </a:prstGeom>
              <a:noFill/>
              <a:ln w="15240">
                <a:solidFill>
                  <a:schemeClr val="accent2"/>
                </a:solidFill>
              </a:ln>
            </p:spPr>
          </p:sp>
          <p:sp>
            <p:nvSpPr>
              <p:cNvPr id="131" name="Ellipse 131"/>
              <p:cNvSpPr/>
              <p:nvPr/>
            </p:nvSpPr>
            <p:spPr>
              <a:xfrm>
                <a:off x="2009775" y="4743450"/>
                <a:ext cx="114300" cy="114300"/>
              </a:xfrm>
              <a:prstGeom prst="ellipse">
                <a:avLst/>
              </a:prstGeom>
              <a:noFill/>
              <a:ln w="15240">
                <a:solidFill>
                  <a:schemeClr val="accent2"/>
                </a:solidFill>
              </a:ln>
            </p:spPr>
          </p:sp>
          <p:sp>
            <p:nvSpPr>
              <p:cNvPr id="132" name="Rectangle 132"/>
              <p:cNvSpPr/>
              <p:nvPr/>
            </p:nvSpPr>
            <p:spPr>
              <a:xfrm>
                <a:off x="2000250" y="4895850"/>
                <a:ext cx="133350" cy="190500"/>
              </a:xfrm>
              <a:prstGeom prst="roundRect">
                <a:avLst>
                  <a:gd name="adj" fmla="val 35714"/>
                </a:avLst>
              </a:prstGeom>
              <a:noFill/>
              <a:ln w="15240">
                <a:solidFill>
                  <a:schemeClr val="accent2"/>
                </a:solidFill>
              </a:ln>
            </p:spPr>
          </p:sp>
          <p:sp>
            <p:nvSpPr>
              <p:cNvPr id="133" name="Ellipse 133"/>
              <p:cNvSpPr/>
              <p:nvPr/>
            </p:nvSpPr>
            <p:spPr>
              <a:xfrm>
                <a:off x="2600325" y="4743450"/>
                <a:ext cx="114300" cy="114300"/>
              </a:xfrm>
              <a:prstGeom prst="ellipse">
                <a:avLst/>
              </a:prstGeom>
              <a:noFill/>
              <a:ln w="15240">
                <a:solidFill>
                  <a:schemeClr val="accent2"/>
                </a:solidFill>
              </a:ln>
            </p:spPr>
          </p:sp>
          <p:sp>
            <p:nvSpPr>
              <p:cNvPr id="134" name="Rectangle 134"/>
              <p:cNvSpPr/>
              <p:nvPr/>
            </p:nvSpPr>
            <p:spPr>
              <a:xfrm>
                <a:off x="2590800" y="4895850"/>
                <a:ext cx="133350" cy="190500"/>
              </a:xfrm>
              <a:prstGeom prst="roundRect">
                <a:avLst>
                  <a:gd name="adj" fmla="val 35714"/>
                </a:avLst>
              </a:prstGeom>
              <a:noFill/>
              <a:ln w="15240">
                <a:solidFill>
                  <a:schemeClr val="accent2"/>
                </a:solidFill>
              </a:ln>
            </p:spPr>
          </p:sp>
          <p:sp>
            <p:nvSpPr>
              <p:cNvPr id="135" name="Ellipse 135"/>
              <p:cNvSpPr/>
              <p:nvPr/>
            </p:nvSpPr>
            <p:spPr>
              <a:xfrm>
                <a:off x="3190875" y="4743450"/>
                <a:ext cx="114300" cy="114300"/>
              </a:xfrm>
              <a:prstGeom prst="ellipse">
                <a:avLst/>
              </a:prstGeom>
              <a:noFill/>
              <a:ln w="15240">
                <a:solidFill>
                  <a:schemeClr val="accent2"/>
                </a:solidFill>
              </a:ln>
            </p:spPr>
          </p:sp>
          <p:sp>
            <p:nvSpPr>
              <p:cNvPr id="136" name="Rectangle 136"/>
              <p:cNvSpPr/>
              <p:nvPr/>
            </p:nvSpPr>
            <p:spPr>
              <a:xfrm>
                <a:off x="3181350" y="4895850"/>
                <a:ext cx="133350" cy="190500"/>
              </a:xfrm>
              <a:prstGeom prst="roundRect">
                <a:avLst>
                  <a:gd name="adj" fmla="val 35714"/>
                </a:avLst>
              </a:prstGeom>
              <a:noFill/>
              <a:ln w="15240">
                <a:solidFill>
                  <a:schemeClr val="accent2"/>
                </a:solidFill>
              </a:ln>
            </p:spPr>
          </p:sp>
          <p:sp>
            <p:nvSpPr>
              <p:cNvPr id="137" name="Ellipse 137"/>
              <p:cNvSpPr/>
              <p:nvPr/>
            </p:nvSpPr>
            <p:spPr>
              <a:xfrm>
                <a:off x="3781425" y="4743450"/>
                <a:ext cx="114300" cy="114300"/>
              </a:xfrm>
              <a:prstGeom prst="ellipse">
                <a:avLst/>
              </a:prstGeom>
              <a:noFill/>
              <a:ln w="15240">
                <a:solidFill>
                  <a:schemeClr val="accent2"/>
                </a:solidFill>
              </a:ln>
            </p:spPr>
          </p:sp>
          <p:sp>
            <p:nvSpPr>
              <p:cNvPr id="138" name="Rectangle 138"/>
              <p:cNvSpPr/>
              <p:nvPr/>
            </p:nvSpPr>
            <p:spPr>
              <a:xfrm>
                <a:off x="3771900" y="4895850"/>
                <a:ext cx="133350" cy="190500"/>
              </a:xfrm>
              <a:prstGeom prst="roundRect">
                <a:avLst>
                  <a:gd name="adj" fmla="val 35714"/>
                </a:avLst>
              </a:prstGeom>
              <a:noFill/>
              <a:ln w="15240">
                <a:solidFill>
                  <a:schemeClr val="accent2"/>
                </a:solidFill>
              </a:ln>
            </p:spPr>
          </p:sp>
          <p:sp>
            <p:nvSpPr>
              <p:cNvPr id="139" name="Ellipse 139"/>
              <p:cNvSpPr/>
              <p:nvPr/>
            </p:nvSpPr>
            <p:spPr>
              <a:xfrm>
                <a:off x="4371975" y="4743450"/>
                <a:ext cx="114300" cy="114300"/>
              </a:xfrm>
              <a:prstGeom prst="ellipse">
                <a:avLst/>
              </a:prstGeom>
              <a:noFill/>
              <a:ln w="15240">
                <a:solidFill>
                  <a:schemeClr val="accent2"/>
                </a:solidFill>
              </a:ln>
            </p:spPr>
          </p:sp>
          <p:sp>
            <p:nvSpPr>
              <p:cNvPr id="140" name="Rectangle 140"/>
              <p:cNvSpPr/>
              <p:nvPr/>
            </p:nvSpPr>
            <p:spPr>
              <a:xfrm>
                <a:off x="4362450" y="4895850"/>
                <a:ext cx="133350" cy="190500"/>
              </a:xfrm>
              <a:prstGeom prst="roundRect">
                <a:avLst>
                  <a:gd name="adj" fmla="val 35714"/>
                </a:avLst>
              </a:prstGeom>
              <a:noFill/>
              <a:ln w="15240">
                <a:solidFill>
                  <a:schemeClr val="accent2"/>
                </a:solidFill>
              </a:ln>
            </p:spPr>
          </p:sp>
          <p:sp>
            <p:nvSpPr>
              <p:cNvPr id="141" name="Ellipse 141"/>
              <p:cNvSpPr/>
              <p:nvPr/>
            </p:nvSpPr>
            <p:spPr>
              <a:xfrm>
                <a:off x="4962525" y="4743450"/>
                <a:ext cx="114300" cy="114300"/>
              </a:xfrm>
              <a:prstGeom prst="ellipse">
                <a:avLst/>
              </a:prstGeom>
              <a:noFill/>
              <a:ln w="15240">
                <a:solidFill>
                  <a:schemeClr val="accent2"/>
                </a:solidFill>
              </a:ln>
            </p:spPr>
          </p:sp>
          <p:sp>
            <p:nvSpPr>
              <p:cNvPr id="142" name="Rectangle 142"/>
              <p:cNvSpPr/>
              <p:nvPr/>
            </p:nvSpPr>
            <p:spPr>
              <a:xfrm>
                <a:off x="4953000" y="4895850"/>
                <a:ext cx="133350" cy="190500"/>
              </a:xfrm>
              <a:prstGeom prst="roundRect">
                <a:avLst>
                  <a:gd name="adj" fmla="val 35714"/>
                </a:avLst>
              </a:prstGeom>
              <a:noFill/>
              <a:ln w="15240">
                <a:solidFill>
                  <a:schemeClr val="accent2"/>
                </a:solidFill>
              </a:ln>
            </p:spPr>
          </p:sp>
          <p:sp>
            <p:nvSpPr>
              <p:cNvPr id="143" name="Ellipse 143"/>
              <p:cNvSpPr/>
              <p:nvPr/>
            </p:nvSpPr>
            <p:spPr>
              <a:xfrm>
                <a:off x="5553075" y="4743450"/>
                <a:ext cx="114300" cy="114300"/>
              </a:xfrm>
              <a:prstGeom prst="ellipse">
                <a:avLst/>
              </a:prstGeom>
              <a:noFill/>
              <a:ln w="15240">
                <a:solidFill>
                  <a:schemeClr val="accent2"/>
                </a:solidFill>
              </a:ln>
            </p:spPr>
          </p:sp>
          <p:sp>
            <p:nvSpPr>
              <p:cNvPr id="144" name="Rectangle 144"/>
              <p:cNvSpPr/>
              <p:nvPr/>
            </p:nvSpPr>
            <p:spPr>
              <a:xfrm>
                <a:off x="5543550" y="4895850"/>
                <a:ext cx="133350" cy="190500"/>
              </a:xfrm>
              <a:prstGeom prst="roundRect">
                <a:avLst>
                  <a:gd name="adj" fmla="val 35714"/>
                </a:avLst>
              </a:prstGeom>
              <a:noFill/>
              <a:ln w="15240">
                <a:solidFill>
                  <a:schemeClr val="accent2"/>
                </a:solidFill>
              </a:ln>
            </p:spPr>
          </p:sp>
          <p:sp>
            <p:nvSpPr>
              <p:cNvPr id="145" name="Ellipse 145"/>
              <p:cNvSpPr/>
              <p:nvPr/>
            </p:nvSpPr>
            <p:spPr>
              <a:xfrm>
                <a:off x="6143625" y="4743450"/>
                <a:ext cx="114300" cy="114300"/>
              </a:xfrm>
              <a:prstGeom prst="ellipse">
                <a:avLst/>
              </a:prstGeom>
              <a:noFill/>
              <a:ln w="15240">
                <a:solidFill>
                  <a:schemeClr val="accent2"/>
                </a:solidFill>
              </a:ln>
            </p:spPr>
          </p:sp>
          <p:sp>
            <p:nvSpPr>
              <p:cNvPr id="146" name="Rectangle 146"/>
              <p:cNvSpPr/>
              <p:nvPr/>
            </p:nvSpPr>
            <p:spPr>
              <a:xfrm>
                <a:off x="6134100" y="4895850"/>
                <a:ext cx="133350" cy="190500"/>
              </a:xfrm>
              <a:prstGeom prst="roundRect">
                <a:avLst>
                  <a:gd name="adj" fmla="val 35714"/>
                </a:avLst>
              </a:prstGeom>
              <a:noFill/>
              <a:ln w="15240">
                <a:solidFill>
                  <a:schemeClr val="accent2"/>
                </a:solidFill>
              </a:ln>
            </p:spPr>
          </p:sp>
          <p:sp>
            <p:nvSpPr>
              <p:cNvPr id="147" name="Ellipse 147"/>
              <p:cNvSpPr/>
              <p:nvPr/>
            </p:nvSpPr>
            <p:spPr>
              <a:xfrm>
                <a:off x="828675" y="5191125"/>
                <a:ext cx="114300" cy="114300"/>
              </a:xfrm>
              <a:prstGeom prst="ellipse">
                <a:avLst/>
              </a:prstGeom>
              <a:noFill/>
              <a:ln w="15240">
                <a:solidFill>
                  <a:schemeClr val="accent2"/>
                </a:solidFill>
              </a:ln>
            </p:spPr>
          </p:sp>
          <p:sp>
            <p:nvSpPr>
              <p:cNvPr id="148" name="Rectangle 148"/>
              <p:cNvSpPr/>
              <p:nvPr/>
            </p:nvSpPr>
            <p:spPr>
              <a:xfrm>
                <a:off x="819150" y="5343525"/>
                <a:ext cx="133350" cy="190500"/>
              </a:xfrm>
              <a:prstGeom prst="roundRect">
                <a:avLst>
                  <a:gd name="adj" fmla="val 35714"/>
                </a:avLst>
              </a:prstGeom>
              <a:noFill/>
              <a:ln w="15240">
                <a:solidFill>
                  <a:schemeClr val="accent2"/>
                </a:solidFill>
              </a:ln>
            </p:spPr>
          </p:sp>
          <p:sp>
            <p:nvSpPr>
              <p:cNvPr id="149" name="Ellipse 149"/>
              <p:cNvSpPr/>
              <p:nvPr/>
            </p:nvSpPr>
            <p:spPr>
              <a:xfrm>
                <a:off x="1419225" y="5191125"/>
                <a:ext cx="114300" cy="114300"/>
              </a:xfrm>
              <a:prstGeom prst="ellipse">
                <a:avLst/>
              </a:prstGeom>
              <a:noFill/>
              <a:ln w="15240">
                <a:solidFill>
                  <a:schemeClr val="accent2"/>
                </a:solidFill>
              </a:ln>
            </p:spPr>
          </p:sp>
          <p:sp>
            <p:nvSpPr>
              <p:cNvPr id="150" name="Rectangle 150"/>
              <p:cNvSpPr/>
              <p:nvPr/>
            </p:nvSpPr>
            <p:spPr>
              <a:xfrm>
                <a:off x="1409700" y="5343525"/>
                <a:ext cx="133350" cy="190500"/>
              </a:xfrm>
              <a:prstGeom prst="roundRect">
                <a:avLst>
                  <a:gd name="adj" fmla="val 35714"/>
                </a:avLst>
              </a:prstGeom>
              <a:noFill/>
              <a:ln w="15240">
                <a:solidFill>
                  <a:schemeClr val="accent2"/>
                </a:solidFill>
              </a:ln>
            </p:spPr>
          </p:sp>
          <p:sp>
            <p:nvSpPr>
              <p:cNvPr id="151" name="Ellipse 151"/>
              <p:cNvSpPr/>
              <p:nvPr/>
            </p:nvSpPr>
            <p:spPr>
              <a:xfrm>
                <a:off x="2009775" y="5191125"/>
                <a:ext cx="114300" cy="114300"/>
              </a:xfrm>
              <a:prstGeom prst="ellipse">
                <a:avLst/>
              </a:prstGeom>
              <a:noFill/>
              <a:ln w="15240">
                <a:solidFill>
                  <a:schemeClr val="accent2"/>
                </a:solidFill>
              </a:ln>
            </p:spPr>
          </p:sp>
          <p:sp>
            <p:nvSpPr>
              <p:cNvPr id="152" name="Rectangle 152"/>
              <p:cNvSpPr/>
              <p:nvPr/>
            </p:nvSpPr>
            <p:spPr>
              <a:xfrm>
                <a:off x="2000250" y="5343525"/>
                <a:ext cx="133350" cy="190500"/>
              </a:xfrm>
              <a:prstGeom prst="roundRect">
                <a:avLst>
                  <a:gd name="adj" fmla="val 35714"/>
                </a:avLst>
              </a:prstGeom>
              <a:noFill/>
              <a:ln w="15240">
                <a:solidFill>
                  <a:schemeClr val="accent2"/>
                </a:solidFill>
              </a:ln>
            </p:spPr>
          </p:sp>
          <p:sp>
            <p:nvSpPr>
              <p:cNvPr id="153" name="Ellipse 153"/>
              <p:cNvSpPr/>
              <p:nvPr/>
            </p:nvSpPr>
            <p:spPr>
              <a:xfrm>
                <a:off x="2600325" y="5191125"/>
                <a:ext cx="114300" cy="114300"/>
              </a:xfrm>
              <a:prstGeom prst="ellipse">
                <a:avLst/>
              </a:prstGeom>
              <a:noFill/>
              <a:ln w="15240">
                <a:solidFill>
                  <a:schemeClr val="accent2"/>
                </a:solidFill>
              </a:ln>
            </p:spPr>
          </p:sp>
          <p:sp>
            <p:nvSpPr>
              <p:cNvPr id="154" name="Rectangle 154"/>
              <p:cNvSpPr/>
              <p:nvPr/>
            </p:nvSpPr>
            <p:spPr>
              <a:xfrm>
                <a:off x="2590800" y="5343525"/>
                <a:ext cx="133350" cy="190500"/>
              </a:xfrm>
              <a:prstGeom prst="roundRect">
                <a:avLst>
                  <a:gd name="adj" fmla="val 35714"/>
                </a:avLst>
              </a:prstGeom>
              <a:noFill/>
              <a:ln w="15240">
                <a:solidFill>
                  <a:schemeClr val="accent2"/>
                </a:solidFill>
              </a:ln>
            </p:spPr>
          </p:sp>
          <p:sp>
            <p:nvSpPr>
              <p:cNvPr id="155" name="Ellipse 155"/>
              <p:cNvSpPr/>
              <p:nvPr/>
            </p:nvSpPr>
            <p:spPr>
              <a:xfrm>
                <a:off x="3190875" y="5191125"/>
                <a:ext cx="114300" cy="114300"/>
              </a:xfrm>
              <a:prstGeom prst="ellipse">
                <a:avLst/>
              </a:prstGeom>
              <a:noFill/>
              <a:ln w="15240">
                <a:solidFill>
                  <a:schemeClr val="accent2"/>
                </a:solidFill>
              </a:ln>
            </p:spPr>
          </p:sp>
          <p:sp>
            <p:nvSpPr>
              <p:cNvPr id="156" name="Rectangle 156"/>
              <p:cNvSpPr/>
              <p:nvPr/>
            </p:nvSpPr>
            <p:spPr>
              <a:xfrm>
                <a:off x="3181350" y="5343525"/>
                <a:ext cx="133350" cy="190500"/>
              </a:xfrm>
              <a:prstGeom prst="roundRect">
                <a:avLst>
                  <a:gd name="adj" fmla="val 35714"/>
                </a:avLst>
              </a:prstGeom>
              <a:noFill/>
              <a:ln w="15240">
                <a:solidFill>
                  <a:schemeClr val="accent2"/>
                </a:solidFill>
              </a:ln>
            </p:spPr>
          </p:sp>
          <p:sp>
            <p:nvSpPr>
              <p:cNvPr id="157" name="Ellipse 157"/>
              <p:cNvSpPr/>
              <p:nvPr/>
            </p:nvSpPr>
            <p:spPr>
              <a:xfrm>
                <a:off x="3781425" y="5191125"/>
                <a:ext cx="114300" cy="114300"/>
              </a:xfrm>
              <a:prstGeom prst="ellipse">
                <a:avLst/>
              </a:prstGeom>
              <a:noFill/>
              <a:ln w="15240">
                <a:solidFill>
                  <a:schemeClr val="accent2"/>
                </a:solidFill>
              </a:ln>
            </p:spPr>
          </p:sp>
          <p:sp>
            <p:nvSpPr>
              <p:cNvPr id="158" name="Rectangle 158"/>
              <p:cNvSpPr/>
              <p:nvPr/>
            </p:nvSpPr>
            <p:spPr>
              <a:xfrm>
                <a:off x="3771900" y="5343525"/>
                <a:ext cx="133350" cy="190500"/>
              </a:xfrm>
              <a:prstGeom prst="roundRect">
                <a:avLst>
                  <a:gd name="adj" fmla="val 35714"/>
                </a:avLst>
              </a:prstGeom>
              <a:noFill/>
              <a:ln w="15240">
                <a:solidFill>
                  <a:schemeClr val="accent2"/>
                </a:solidFill>
              </a:ln>
            </p:spPr>
          </p:sp>
          <p:sp>
            <p:nvSpPr>
              <p:cNvPr id="159" name="Ellipse 159"/>
              <p:cNvSpPr/>
              <p:nvPr/>
            </p:nvSpPr>
            <p:spPr>
              <a:xfrm>
                <a:off x="4371975" y="5191125"/>
                <a:ext cx="114300" cy="114300"/>
              </a:xfrm>
              <a:prstGeom prst="ellipse">
                <a:avLst/>
              </a:prstGeom>
              <a:noFill/>
              <a:ln w="15240">
                <a:solidFill>
                  <a:schemeClr val="accent2"/>
                </a:solidFill>
              </a:ln>
            </p:spPr>
          </p:sp>
          <p:sp>
            <p:nvSpPr>
              <p:cNvPr id="160" name="Rectangle 160"/>
              <p:cNvSpPr/>
              <p:nvPr/>
            </p:nvSpPr>
            <p:spPr>
              <a:xfrm>
                <a:off x="4362450" y="5343525"/>
                <a:ext cx="133350" cy="190500"/>
              </a:xfrm>
              <a:prstGeom prst="roundRect">
                <a:avLst>
                  <a:gd name="adj" fmla="val 35714"/>
                </a:avLst>
              </a:prstGeom>
              <a:noFill/>
              <a:ln w="15240">
                <a:solidFill>
                  <a:schemeClr val="accent2"/>
                </a:solidFill>
              </a:ln>
            </p:spPr>
          </p:sp>
          <p:sp>
            <p:nvSpPr>
              <p:cNvPr id="161" name="Ellipse 161"/>
              <p:cNvSpPr/>
              <p:nvPr/>
            </p:nvSpPr>
            <p:spPr>
              <a:xfrm>
                <a:off x="4962525" y="5191125"/>
                <a:ext cx="114300" cy="114300"/>
              </a:xfrm>
              <a:prstGeom prst="ellipse">
                <a:avLst/>
              </a:prstGeom>
              <a:noFill/>
              <a:ln w="15240">
                <a:solidFill>
                  <a:schemeClr val="accent2"/>
                </a:solidFill>
              </a:ln>
            </p:spPr>
          </p:sp>
          <p:sp>
            <p:nvSpPr>
              <p:cNvPr id="162" name="Rectangle 162"/>
              <p:cNvSpPr/>
              <p:nvPr/>
            </p:nvSpPr>
            <p:spPr>
              <a:xfrm>
                <a:off x="4953000" y="5343525"/>
                <a:ext cx="133350" cy="190500"/>
              </a:xfrm>
              <a:prstGeom prst="roundRect">
                <a:avLst>
                  <a:gd name="adj" fmla="val 35714"/>
                </a:avLst>
              </a:prstGeom>
              <a:noFill/>
              <a:ln w="15240">
                <a:solidFill>
                  <a:schemeClr val="accent2"/>
                </a:solidFill>
              </a:ln>
            </p:spPr>
          </p:sp>
          <p:sp>
            <p:nvSpPr>
              <p:cNvPr id="163" name="Ellipse 163"/>
              <p:cNvSpPr/>
              <p:nvPr/>
            </p:nvSpPr>
            <p:spPr>
              <a:xfrm>
                <a:off x="5553075" y="5191125"/>
                <a:ext cx="114300" cy="114300"/>
              </a:xfrm>
              <a:prstGeom prst="ellipse">
                <a:avLst/>
              </a:prstGeom>
              <a:noFill/>
              <a:ln w="15240">
                <a:solidFill>
                  <a:schemeClr val="accent2"/>
                </a:solidFill>
              </a:ln>
            </p:spPr>
          </p:sp>
          <p:sp>
            <p:nvSpPr>
              <p:cNvPr id="164" name="Rectangle 164"/>
              <p:cNvSpPr/>
              <p:nvPr/>
            </p:nvSpPr>
            <p:spPr>
              <a:xfrm>
                <a:off x="5543550" y="5343525"/>
                <a:ext cx="133350" cy="190500"/>
              </a:xfrm>
              <a:prstGeom prst="roundRect">
                <a:avLst>
                  <a:gd name="adj" fmla="val 35714"/>
                </a:avLst>
              </a:prstGeom>
              <a:noFill/>
              <a:ln w="15240">
                <a:solidFill>
                  <a:schemeClr val="accent2"/>
                </a:solidFill>
              </a:ln>
            </p:spPr>
          </p:sp>
          <p:sp>
            <p:nvSpPr>
              <p:cNvPr id="165" name="Ellipse 165"/>
              <p:cNvSpPr/>
              <p:nvPr/>
            </p:nvSpPr>
            <p:spPr>
              <a:xfrm>
                <a:off x="6143625" y="5191125"/>
                <a:ext cx="114300" cy="114300"/>
              </a:xfrm>
              <a:prstGeom prst="ellipse">
                <a:avLst/>
              </a:prstGeom>
              <a:noFill/>
              <a:ln w="15240">
                <a:solidFill>
                  <a:schemeClr val="accent2"/>
                </a:solidFill>
              </a:ln>
            </p:spPr>
          </p:sp>
          <p:sp>
            <p:nvSpPr>
              <p:cNvPr id="166" name="Rectangle 166"/>
              <p:cNvSpPr/>
              <p:nvPr/>
            </p:nvSpPr>
            <p:spPr>
              <a:xfrm>
                <a:off x="6134100" y="5343525"/>
                <a:ext cx="133350" cy="190500"/>
              </a:xfrm>
              <a:prstGeom prst="roundRect">
                <a:avLst>
                  <a:gd name="adj" fmla="val 35714"/>
                </a:avLst>
              </a:prstGeom>
              <a:noFill/>
              <a:ln w="15240">
                <a:solidFill>
                  <a:schemeClr val="accent2"/>
                </a:solidFill>
              </a:ln>
            </p:spPr>
          </p:sp>
        </p:grpSp>
      </p:grpSp>
      <p:grpSp>
        <p:nvGrpSpPr>
          <p:cNvPr id="172" name="!!cohort-count"/>
          <p:cNvGrpSpPr/>
          <p:nvPr/>
        </p:nvGrpSpPr>
        <p:grpSpPr>
          <a:xfrm>
            <a:off x="7715250" y="2254250"/>
            <a:ext cx="3072860" cy="1955419"/>
            <a:chOff x="7715250" y="2254250"/>
            <a:chExt cx="3072860" cy="1955419"/>
          </a:xfrm>
        </p:grpSpPr>
        <p:sp>
          <p:nvSpPr>
            <p:cNvPr id="169" name="TextBox 169"/>
            <p:cNvSpPr txBox="1"/>
            <p:nvPr/>
          </p:nvSpPr>
          <p:spPr>
            <a:xfrm>
              <a:off x="7715250" y="2254250"/>
              <a:ext cx="1173884" cy="1390650"/>
            </a:xfrm>
            <a:prstGeom prst="rect">
              <a:avLst/>
            </a:prstGeom>
            <a:noFill/>
            <a:ln>
              <a:noFill/>
            </a:ln>
          </p:spPr>
          <p:txBody>
            <a:bodyPr wrap="none" lIns="0" tIns="0" rIns="0" bIns="0" anchor="t" anchorCtr="0">
              <a:spAutoFit/>
            </a:bodyPr>
            <a:lstStyle/>
            <a:p>
              <a:pPr algn="l"/>
              <a:r>
                <a:rPr lang="en-GB" sz="7200" b="1" dirty="0">
                  <a:solidFill>
                    <a:schemeClr val="dk1"/>
                  </a:solidFill>
                  <a:latin typeface="+mj-lt"/>
                  <a:ea typeface="+mj-ea"/>
                  <a:cs typeface="+mj-cs"/>
                </a:rPr>
                <a:t>59</a:t>
              </a:r>
            </a:p>
          </p:txBody>
        </p:sp>
        <p:sp>
          <p:nvSpPr>
            <p:cNvPr id="170" name="TextBox 170"/>
            <p:cNvSpPr txBox="1"/>
            <p:nvPr/>
          </p:nvSpPr>
          <p:spPr>
            <a:xfrm>
              <a:off x="7751445" y="3368675"/>
              <a:ext cx="3036665" cy="440055"/>
            </a:xfrm>
            <a:prstGeom prst="rect">
              <a:avLst/>
            </a:prstGeom>
            <a:noFill/>
            <a:ln>
              <a:noFill/>
            </a:ln>
          </p:spPr>
          <p:txBody>
            <a:bodyPr wrap="none" lIns="0" tIns="0" rIns="0" bIns="0" anchor="t" anchorCtr="0">
              <a:spAutoFit/>
            </a:bodyPr>
            <a:lstStyle/>
            <a:p>
              <a:pPr algn="l"/>
              <a:r>
                <a:rPr lang="en-GB" sz="2250" dirty="0">
                  <a:solidFill>
                    <a:schemeClr val="dk1"/>
                  </a:solidFill>
                  <a:latin typeface="+mn-lt"/>
                  <a:ea typeface="+mn-ea"/>
                  <a:cs typeface="+mn-cs"/>
                </a:rPr>
                <a:t>measured at 6 months</a:t>
              </a:r>
            </a:p>
          </p:txBody>
        </p:sp>
        <p:sp>
          <p:nvSpPr>
            <p:cNvPr id="171" name="TextBox 171"/>
            <p:cNvSpPr txBox="1"/>
            <p:nvPr/>
          </p:nvSpPr>
          <p:spPr>
            <a:xfrm>
              <a:off x="7753731" y="3857625"/>
              <a:ext cx="1513281" cy="352044"/>
            </a:xfrm>
            <a:prstGeom prst="rect">
              <a:avLst/>
            </a:prstGeom>
            <a:noFill/>
            <a:ln>
              <a:noFill/>
            </a:ln>
          </p:spPr>
          <p:txBody>
            <a:bodyPr wrap="none" lIns="0" tIns="0" rIns="0" bIns="0" anchor="t" anchorCtr="0">
              <a:spAutoFit/>
            </a:bodyPr>
            <a:lstStyle/>
            <a:p>
              <a:pPr algn="l"/>
              <a:r>
                <a:rPr lang="en-GB" sz="1800" b="1" dirty="0">
                  <a:solidFill>
                    <a:schemeClr val="accent3"/>
                  </a:solidFill>
                  <a:latin typeface="+mn-lt"/>
                  <a:ea typeface="+mn-ea"/>
                  <a:cs typeface="+mn-cs"/>
                </a:rPr>
                <a:t>74% retained</a:t>
              </a:r>
            </a:p>
          </p:txBody>
        </p:sp>
      </p:grpSp>
      <p:grpSp>
        <p:nvGrpSpPr>
          <p:cNvPr id="176" name="followup-caveat"/>
          <p:cNvGrpSpPr/>
          <p:nvPr/>
        </p:nvGrpSpPr>
        <p:grpSpPr>
          <a:xfrm>
            <a:off x="7722870" y="4673600"/>
            <a:ext cx="3287826" cy="1250569"/>
            <a:chOff x="7722870" y="4673600"/>
            <a:chExt cx="3287826" cy="1250569"/>
          </a:xfrm>
        </p:grpSpPr>
        <p:sp>
          <p:nvSpPr>
            <p:cNvPr id="173" name="TextBox 173"/>
            <p:cNvSpPr txBox="1"/>
            <p:nvPr/>
          </p:nvSpPr>
          <p:spPr>
            <a:xfrm>
              <a:off x="7722870" y="4673600"/>
              <a:ext cx="3287826" cy="440055"/>
            </a:xfrm>
            <a:prstGeom prst="rect">
              <a:avLst/>
            </a:prstGeom>
            <a:noFill/>
            <a:ln>
              <a:noFill/>
            </a:ln>
          </p:spPr>
          <p:txBody>
            <a:bodyPr wrap="none" lIns="0" tIns="0" rIns="0" bIns="0" anchor="t" anchorCtr="0">
              <a:spAutoFit/>
            </a:bodyPr>
            <a:lstStyle/>
            <a:p>
              <a:pPr algn="l"/>
              <a:r>
                <a:rPr lang="en-GB" sz="2250" b="1" dirty="0">
                  <a:solidFill>
                    <a:schemeClr val="accent2"/>
                  </a:solidFill>
                  <a:latin typeface="+mn-lt"/>
                  <a:ea typeface="+mn-ea"/>
                  <a:cs typeface="+mn-cs"/>
                </a:rPr>
                <a:t>21 outcomes unknown</a:t>
              </a:r>
            </a:p>
          </p:txBody>
        </p:sp>
        <p:sp>
          <p:nvSpPr>
            <p:cNvPr id="174" name="TextBox 174"/>
            <p:cNvSpPr txBox="1"/>
            <p:nvPr/>
          </p:nvSpPr>
          <p:spPr>
            <a:xfrm>
              <a:off x="7725156" y="5133975"/>
              <a:ext cx="2987066"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Missing weight ≠ failed diet.</a:t>
              </a:r>
            </a:p>
          </p:txBody>
        </p:sp>
        <p:sp>
          <p:nvSpPr>
            <p:cNvPr id="175" name="TextBox 175"/>
            <p:cNvSpPr txBox="1"/>
            <p:nvPr/>
          </p:nvSpPr>
          <p:spPr>
            <a:xfrm>
              <a:off x="7725156" y="5572125"/>
              <a:ext cx="2892343"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HKD missing: 12 · ERD: 9</a:t>
              </a:r>
            </a:p>
          </p:txBody>
        </p:sp>
      </p:grpSp>
      <p:grpSp>
        <p:nvGrpSpPr>
          <p:cNvPr id="181" name="cohort-legend"/>
          <p:cNvGrpSpPr/>
          <p:nvPr/>
        </p:nvGrpSpPr>
        <p:grpSpPr>
          <a:xfrm>
            <a:off x="676275" y="5915025"/>
            <a:ext cx="4515293" cy="352044"/>
            <a:chOff x="676275" y="5915025"/>
            <a:chExt cx="4515293" cy="352044"/>
          </a:xfrm>
        </p:grpSpPr>
        <p:sp>
          <p:nvSpPr>
            <p:cNvPr id="177" name="Ellipse 177"/>
            <p:cNvSpPr/>
            <p:nvPr/>
          </p:nvSpPr>
          <p:spPr>
            <a:xfrm>
              <a:off x="676275" y="5991225"/>
              <a:ext cx="133350" cy="133350"/>
            </a:xfrm>
            <a:prstGeom prst="ellipse">
              <a:avLst/>
            </a:prstGeom>
            <a:solidFill>
              <a:schemeClr val="accent3"/>
            </a:solidFill>
            <a:ln>
              <a:noFill/>
            </a:ln>
          </p:spPr>
        </p:sp>
        <p:sp>
          <p:nvSpPr>
            <p:cNvPr id="178" name="TextBox 178"/>
            <p:cNvSpPr txBox="1"/>
            <p:nvPr/>
          </p:nvSpPr>
          <p:spPr>
            <a:xfrm>
              <a:off x="905256" y="5915025"/>
              <a:ext cx="1076307"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Observed</a:t>
              </a:r>
            </a:p>
          </p:txBody>
        </p:sp>
        <p:sp>
          <p:nvSpPr>
            <p:cNvPr id="179" name="Ellipse 179"/>
            <p:cNvSpPr/>
            <p:nvPr/>
          </p:nvSpPr>
          <p:spPr>
            <a:xfrm>
              <a:off x="2781300" y="5991225"/>
              <a:ext cx="133350" cy="133350"/>
            </a:xfrm>
            <a:prstGeom prst="ellipse">
              <a:avLst/>
            </a:prstGeom>
            <a:noFill/>
            <a:ln w="19050">
              <a:solidFill>
                <a:schemeClr val="accent2"/>
              </a:solidFill>
            </a:ln>
          </p:spPr>
        </p:sp>
        <p:sp>
          <p:nvSpPr>
            <p:cNvPr id="180" name="TextBox 180"/>
            <p:cNvSpPr txBox="1"/>
            <p:nvPr/>
          </p:nvSpPr>
          <p:spPr>
            <a:xfrm>
              <a:off x="3010281" y="5915025"/>
              <a:ext cx="2181287"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Missing at 6 months</a:t>
              </a:r>
            </a:p>
          </p:txBody>
        </p:sp>
      </p:grpSp>
      <p:sp>
        <p:nvSpPr>
          <p:cNvPr id="182" name="TextBox 182"/>
          <p:cNvSpPr txBox="1"/>
          <p:nvPr/>
        </p:nvSpPr>
        <p:spPr>
          <a:xfrm>
            <a:off x="508254" y="6467475"/>
            <a:ext cx="567415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Lim et al. 2024 · Figure 1 + Table 2 · 6-month counts: HKD 29/41; ERD 30/39.</a:t>
            </a:r>
          </a:p>
        </p:txBody>
      </p:sp>
    </p:spTree>
  </p:cSld>
  <p:clrMapOvr>
    <a:masterClrMapping/>
  </p:clrMapOvr>
  <mc:AlternateContent>
    <mc:Choice Requires="p159">
      <p:transition p14:dur="1000">
        <p159:morph option="byObject"/>
      </p:transition>
    </mc:Choice>
    <mc:Fallback>
      <p:transition>
        <p:fade/>
      </p:transition>
    </mc:Fallback>
  </mc:AlternateContent>
</p:sld>
</file>

<file path=ppt/slides/slide9.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4771802"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ATTRITION · FOCUS ON THE 41 ASSIGNED TO HKD</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09 / 11</a:t>
              </a:r>
            </a:p>
          </p:txBody>
        </p:sp>
      </p:grpSp>
      <p:grpSp>
        <p:nvGrpSpPr>
          <p:cNvPr id="6" name="scene-title"/>
          <p:cNvGrpSpPr/>
          <p:nvPr/>
        </p:nvGrpSpPr>
        <p:grpSpPr>
          <a:xfrm>
            <a:off x="495300" y="609600"/>
            <a:ext cx="9468313" cy="847725"/>
            <a:chOff x="495300" y="609600"/>
            <a:chExt cx="9468313" cy="847725"/>
          </a:xfrm>
        </p:grpSpPr>
        <p:sp>
          <p:nvSpPr>
            <p:cNvPr id="5" name="TextBox 5"/>
            <p:cNvSpPr txBox="1"/>
            <p:nvPr/>
          </p:nvSpPr>
          <p:spPr>
            <a:xfrm>
              <a:off x="495300" y="609600"/>
              <a:ext cx="9468313"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The missing weights could matter.</a:t>
              </a:r>
            </a:p>
          </p:txBody>
        </p:sp>
      </p:grpSp>
      <p:grpSp>
        <p:nvGrpSpPr>
          <p:cNvPr id="91" name="!!hkd-focus"/>
          <p:cNvGrpSpPr/>
          <p:nvPr/>
        </p:nvGrpSpPr>
        <p:grpSpPr>
          <a:xfrm>
            <a:off x="752856" y="2105025"/>
            <a:ext cx="3736483" cy="3257169"/>
            <a:chOff x="752856" y="2105025"/>
            <a:chExt cx="3736483" cy="3257169"/>
          </a:xfrm>
        </p:grpSpPr>
        <p:grpSp>
          <p:nvGrpSpPr>
            <p:cNvPr id="89" name="hkd-subset-chartArea"/>
            <p:cNvGrpSpPr/>
            <p:nvPr/>
          </p:nvGrpSpPr>
          <p:grpSpPr>
            <a:xfrm>
              <a:off x="781050" y="2105025"/>
              <a:ext cx="3467100" cy="2724150"/>
              <a:chOff x="781050" y="2105025"/>
              <a:chExt cx="3467100" cy="2724150"/>
            </a:xfrm>
          </p:grpSpPr>
          <p:sp>
            <p:nvSpPr>
              <p:cNvPr id="7" name="Ellipse 7"/>
              <p:cNvSpPr/>
              <p:nvPr/>
            </p:nvSpPr>
            <p:spPr>
              <a:xfrm>
                <a:off x="790575" y="2105025"/>
                <a:ext cx="114300" cy="114300"/>
              </a:xfrm>
              <a:prstGeom prst="ellipse">
                <a:avLst/>
              </a:prstGeom>
              <a:solidFill>
                <a:schemeClr val="accent3"/>
              </a:solidFill>
              <a:ln w="15240">
                <a:solidFill>
                  <a:schemeClr val="accent3"/>
                </a:solidFill>
              </a:ln>
            </p:spPr>
          </p:sp>
          <p:sp>
            <p:nvSpPr>
              <p:cNvPr id="8" name="Rectangle 8"/>
              <p:cNvSpPr/>
              <p:nvPr/>
            </p:nvSpPr>
            <p:spPr>
              <a:xfrm>
                <a:off x="781050" y="2257425"/>
                <a:ext cx="133350" cy="190500"/>
              </a:xfrm>
              <a:prstGeom prst="roundRect">
                <a:avLst>
                  <a:gd name="adj" fmla="val 35714"/>
                </a:avLst>
              </a:prstGeom>
              <a:solidFill>
                <a:schemeClr val="accent3"/>
              </a:solidFill>
              <a:ln w="15240">
                <a:solidFill>
                  <a:schemeClr val="accent3"/>
                </a:solidFill>
              </a:ln>
            </p:spPr>
          </p:sp>
          <p:sp>
            <p:nvSpPr>
              <p:cNvPr id="9" name="Ellipse 9"/>
              <p:cNvSpPr/>
              <p:nvPr/>
            </p:nvSpPr>
            <p:spPr>
              <a:xfrm>
                <a:off x="1266825" y="2105025"/>
                <a:ext cx="114300" cy="114300"/>
              </a:xfrm>
              <a:prstGeom prst="ellipse">
                <a:avLst/>
              </a:prstGeom>
              <a:solidFill>
                <a:schemeClr val="accent3"/>
              </a:solidFill>
              <a:ln w="15240">
                <a:solidFill>
                  <a:schemeClr val="accent3"/>
                </a:solidFill>
              </a:ln>
            </p:spPr>
          </p:sp>
          <p:sp>
            <p:nvSpPr>
              <p:cNvPr id="10" name="Rectangle 10"/>
              <p:cNvSpPr/>
              <p:nvPr/>
            </p:nvSpPr>
            <p:spPr>
              <a:xfrm>
                <a:off x="1257300" y="2257425"/>
                <a:ext cx="133350" cy="190500"/>
              </a:xfrm>
              <a:prstGeom prst="roundRect">
                <a:avLst>
                  <a:gd name="adj" fmla="val 35714"/>
                </a:avLst>
              </a:prstGeom>
              <a:solidFill>
                <a:schemeClr val="accent3"/>
              </a:solidFill>
              <a:ln w="15240">
                <a:solidFill>
                  <a:schemeClr val="accent3"/>
                </a:solidFill>
              </a:ln>
            </p:spPr>
          </p:sp>
          <p:sp>
            <p:nvSpPr>
              <p:cNvPr id="11" name="Ellipse 11"/>
              <p:cNvSpPr/>
              <p:nvPr/>
            </p:nvSpPr>
            <p:spPr>
              <a:xfrm>
                <a:off x="1743075" y="2105025"/>
                <a:ext cx="114300" cy="114300"/>
              </a:xfrm>
              <a:prstGeom prst="ellipse">
                <a:avLst/>
              </a:prstGeom>
              <a:solidFill>
                <a:schemeClr val="accent3"/>
              </a:solidFill>
              <a:ln w="15240">
                <a:solidFill>
                  <a:schemeClr val="accent3"/>
                </a:solidFill>
              </a:ln>
            </p:spPr>
          </p:sp>
          <p:sp>
            <p:nvSpPr>
              <p:cNvPr id="12" name="Rectangle 12"/>
              <p:cNvSpPr/>
              <p:nvPr/>
            </p:nvSpPr>
            <p:spPr>
              <a:xfrm>
                <a:off x="1733550" y="2257425"/>
                <a:ext cx="133350" cy="190500"/>
              </a:xfrm>
              <a:prstGeom prst="roundRect">
                <a:avLst>
                  <a:gd name="adj" fmla="val 35714"/>
                </a:avLst>
              </a:prstGeom>
              <a:solidFill>
                <a:schemeClr val="accent3"/>
              </a:solidFill>
              <a:ln w="15240">
                <a:solidFill>
                  <a:schemeClr val="accent3"/>
                </a:solidFill>
              </a:ln>
            </p:spPr>
          </p:sp>
          <p:sp>
            <p:nvSpPr>
              <p:cNvPr id="13" name="Ellipse 13"/>
              <p:cNvSpPr/>
              <p:nvPr/>
            </p:nvSpPr>
            <p:spPr>
              <a:xfrm>
                <a:off x="2219325" y="2105025"/>
                <a:ext cx="114300" cy="114300"/>
              </a:xfrm>
              <a:prstGeom prst="ellipse">
                <a:avLst/>
              </a:prstGeom>
              <a:solidFill>
                <a:schemeClr val="accent3"/>
              </a:solidFill>
              <a:ln w="15240">
                <a:solidFill>
                  <a:schemeClr val="accent3"/>
                </a:solidFill>
              </a:ln>
            </p:spPr>
          </p:sp>
          <p:sp>
            <p:nvSpPr>
              <p:cNvPr id="14" name="Rectangle 14"/>
              <p:cNvSpPr/>
              <p:nvPr/>
            </p:nvSpPr>
            <p:spPr>
              <a:xfrm>
                <a:off x="2209800" y="2257425"/>
                <a:ext cx="133350" cy="190500"/>
              </a:xfrm>
              <a:prstGeom prst="roundRect">
                <a:avLst>
                  <a:gd name="adj" fmla="val 35714"/>
                </a:avLst>
              </a:prstGeom>
              <a:solidFill>
                <a:schemeClr val="accent3"/>
              </a:solidFill>
              <a:ln w="15240">
                <a:solidFill>
                  <a:schemeClr val="accent3"/>
                </a:solidFill>
              </a:ln>
            </p:spPr>
          </p:sp>
          <p:sp>
            <p:nvSpPr>
              <p:cNvPr id="15" name="Ellipse 15"/>
              <p:cNvSpPr/>
              <p:nvPr/>
            </p:nvSpPr>
            <p:spPr>
              <a:xfrm>
                <a:off x="2695575" y="2105025"/>
                <a:ext cx="114300" cy="114300"/>
              </a:xfrm>
              <a:prstGeom prst="ellipse">
                <a:avLst/>
              </a:prstGeom>
              <a:solidFill>
                <a:schemeClr val="accent3"/>
              </a:solidFill>
              <a:ln w="15240">
                <a:solidFill>
                  <a:schemeClr val="accent3"/>
                </a:solidFill>
              </a:ln>
            </p:spPr>
          </p:sp>
          <p:sp>
            <p:nvSpPr>
              <p:cNvPr id="16" name="Rectangle 16"/>
              <p:cNvSpPr/>
              <p:nvPr/>
            </p:nvSpPr>
            <p:spPr>
              <a:xfrm>
                <a:off x="2686050" y="2257425"/>
                <a:ext cx="133350" cy="190500"/>
              </a:xfrm>
              <a:prstGeom prst="roundRect">
                <a:avLst>
                  <a:gd name="adj" fmla="val 35714"/>
                </a:avLst>
              </a:prstGeom>
              <a:solidFill>
                <a:schemeClr val="accent3"/>
              </a:solidFill>
              <a:ln w="15240">
                <a:solidFill>
                  <a:schemeClr val="accent3"/>
                </a:solidFill>
              </a:ln>
            </p:spPr>
          </p:sp>
          <p:sp>
            <p:nvSpPr>
              <p:cNvPr id="17" name="Ellipse 17"/>
              <p:cNvSpPr/>
              <p:nvPr/>
            </p:nvSpPr>
            <p:spPr>
              <a:xfrm>
                <a:off x="3171825" y="2105025"/>
                <a:ext cx="114300" cy="114300"/>
              </a:xfrm>
              <a:prstGeom prst="ellipse">
                <a:avLst/>
              </a:prstGeom>
              <a:solidFill>
                <a:schemeClr val="accent3"/>
              </a:solidFill>
              <a:ln w="15240">
                <a:solidFill>
                  <a:schemeClr val="accent3"/>
                </a:solidFill>
              </a:ln>
            </p:spPr>
          </p:sp>
          <p:sp>
            <p:nvSpPr>
              <p:cNvPr id="18" name="Rectangle 18"/>
              <p:cNvSpPr/>
              <p:nvPr/>
            </p:nvSpPr>
            <p:spPr>
              <a:xfrm>
                <a:off x="3162300" y="2257425"/>
                <a:ext cx="133350" cy="190500"/>
              </a:xfrm>
              <a:prstGeom prst="roundRect">
                <a:avLst>
                  <a:gd name="adj" fmla="val 35714"/>
                </a:avLst>
              </a:prstGeom>
              <a:solidFill>
                <a:schemeClr val="accent3"/>
              </a:solidFill>
              <a:ln w="15240">
                <a:solidFill>
                  <a:schemeClr val="accent3"/>
                </a:solidFill>
              </a:ln>
            </p:spPr>
          </p:sp>
          <p:sp>
            <p:nvSpPr>
              <p:cNvPr id="19" name="Ellipse 19"/>
              <p:cNvSpPr/>
              <p:nvPr/>
            </p:nvSpPr>
            <p:spPr>
              <a:xfrm>
                <a:off x="3648075" y="2105025"/>
                <a:ext cx="114300" cy="114300"/>
              </a:xfrm>
              <a:prstGeom prst="ellipse">
                <a:avLst/>
              </a:prstGeom>
              <a:solidFill>
                <a:schemeClr val="accent3"/>
              </a:solidFill>
              <a:ln w="15240">
                <a:solidFill>
                  <a:schemeClr val="accent3"/>
                </a:solidFill>
              </a:ln>
            </p:spPr>
          </p:sp>
          <p:sp>
            <p:nvSpPr>
              <p:cNvPr id="20" name="Rectangle 20"/>
              <p:cNvSpPr/>
              <p:nvPr/>
            </p:nvSpPr>
            <p:spPr>
              <a:xfrm>
                <a:off x="3638550" y="2257425"/>
                <a:ext cx="133350" cy="190500"/>
              </a:xfrm>
              <a:prstGeom prst="roundRect">
                <a:avLst>
                  <a:gd name="adj" fmla="val 35714"/>
                </a:avLst>
              </a:prstGeom>
              <a:solidFill>
                <a:schemeClr val="accent3"/>
              </a:solidFill>
              <a:ln w="15240">
                <a:solidFill>
                  <a:schemeClr val="accent3"/>
                </a:solidFill>
              </a:ln>
            </p:spPr>
          </p:sp>
          <p:sp>
            <p:nvSpPr>
              <p:cNvPr id="21" name="Ellipse 21"/>
              <p:cNvSpPr/>
              <p:nvPr/>
            </p:nvSpPr>
            <p:spPr>
              <a:xfrm>
                <a:off x="4124325" y="2105025"/>
                <a:ext cx="114300" cy="114300"/>
              </a:xfrm>
              <a:prstGeom prst="ellipse">
                <a:avLst/>
              </a:prstGeom>
              <a:solidFill>
                <a:schemeClr val="accent3"/>
              </a:solidFill>
              <a:ln w="15240">
                <a:solidFill>
                  <a:schemeClr val="accent3"/>
                </a:solidFill>
              </a:ln>
            </p:spPr>
          </p:sp>
          <p:sp>
            <p:nvSpPr>
              <p:cNvPr id="22" name="Rectangle 22"/>
              <p:cNvSpPr/>
              <p:nvPr/>
            </p:nvSpPr>
            <p:spPr>
              <a:xfrm>
                <a:off x="4114800" y="2257425"/>
                <a:ext cx="133350" cy="190500"/>
              </a:xfrm>
              <a:prstGeom prst="roundRect">
                <a:avLst>
                  <a:gd name="adj" fmla="val 35714"/>
                </a:avLst>
              </a:prstGeom>
              <a:solidFill>
                <a:schemeClr val="accent3"/>
              </a:solidFill>
              <a:ln w="15240">
                <a:solidFill>
                  <a:schemeClr val="accent3"/>
                </a:solidFill>
              </a:ln>
            </p:spPr>
          </p:sp>
          <p:sp>
            <p:nvSpPr>
              <p:cNvPr id="23" name="Ellipse 23"/>
              <p:cNvSpPr/>
              <p:nvPr/>
            </p:nvSpPr>
            <p:spPr>
              <a:xfrm>
                <a:off x="790575" y="2581275"/>
                <a:ext cx="114300" cy="114300"/>
              </a:xfrm>
              <a:prstGeom prst="ellipse">
                <a:avLst/>
              </a:prstGeom>
              <a:solidFill>
                <a:schemeClr val="accent3"/>
              </a:solidFill>
              <a:ln w="15240">
                <a:solidFill>
                  <a:schemeClr val="accent3"/>
                </a:solidFill>
              </a:ln>
            </p:spPr>
          </p:sp>
          <p:sp>
            <p:nvSpPr>
              <p:cNvPr id="24" name="Rectangle 24"/>
              <p:cNvSpPr/>
              <p:nvPr/>
            </p:nvSpPr>
            <p:spPr>
              <a:xfrm>
                <a:off x="781050" y="2733675"/>
                <a:ext cx="133350" cy="190500"/>
              </a:xfrm>
              <a:prstGeom prst="roundRect">
                <a:avLst>
                  <a:gd name="adj" fmla="val 35714"/>
                </a:avLst>
              </a:prstGeom>
              <a:solidFill>
                <a:schemeClr val="accent3"/>
              </a:solidFill>
              <a:ln w="15240">
                <a:solidFill>
                  <a:schemeClr val="accent3"/>
                </a:solidFill>
              </a:ln>
            </p:spPr>
          </p:sp>
          <p:sp>
            <p:nvSpPr>
              <p:cNvPr id="25" name="Ellipse 25"/>
              <p:cNvSpPr/>
              <p:nvPr/>
            </p:nvSpPr>
            <p:spPr>
              <a:xfrm>
                <a:off x="1266825" y="2581275"/>
                <a:ext cx="114300" cy="114300"/>
              </a:xfrm>
              <a:prstGeom prst="ellipse">
                <a:avLst/>
              </a:prstGeom>
              <a:solidFill>
                <a:schemeClr val="accent3"/>
              </a:solidFill>
              <a:ln w="15240">
                <a:solidFill>
                  <a:schemeClr val="accent3"/>
                </a:solidFill>
              </a:ln>
            </p:spPr>
          </p:sp>
          <p:sp>
            <p:nvSpPr>
              <p:cNvPr id="26" name="Rectangle 26"/>
              <p:cNvSpPr/>
              <p:nvPr/>
            </p:nvSpPr>
            <p:spPr>
              <a:xfrm>
                <a:off x="1257300" y="2733675"/>
                <a:ext cx="133350" cy="190500"/>
              </a:xfrm>
              <a:prstGeom prst="roundRect">
                <a:avLst>
                  <a:gd name="adj" fmla="val 35714"/>
                </a:avLst>
              </a:prstGeom>
              <a:solidFill>
                <a:schemeClr val="accent3"/>
              </a:solidFill>
              <a:ln w="15240">
                <a:solidFill>
                  <a:schemeClr val="accent3"/>
                </a:solidFill>
              </a:ln>
            </p:spPr>
          </p:sp>
          <p:sp>
            <p:nvSpPr>
              <p:cNvPr id="27" name="Ellipse 27"/>
              <p:cNvSpPr/>
              <p:nvPr/>
            </p:nvSpPr>
            <p:spPr>
              <a:xfrm>
                <a:off x="1743075" y="2581275"/>
                <a:ext cx="114300" cy="114300"/>
              </a:xfrm>
              <a:prstGeom prst="ellipse">
                <a:avLst/>
              </a:prstGeom>
              <a:solidFill>
                <a:schemeClr val="accent3"/>
              </a:solidFill>
              <a:ln w="15240">
                <a:solidFill>
                  <a:schemeClr val="accent3"/>
                </a:solidFill>
              </a:ln>
            </p:spPr>
          </p:sp>
          <p:sp>
            <p:nvSpPr>
              <p:cNvPr id="28" name="Rectangle 28"/>
              <p:cNvSpPr/>
              <p:nvPr/>
            </p:nvSpPr>
            <p:spPr>
              <a:xfrm>
                <a:off x="1733550" y="2733675"/>
                <a:ext cx="133350" cy="190500"/>
              </a:xfrm>
              <a:prstGeom prst="roundRect">
                <a:avLst>
                  <a:gd name="adj" fmla="val 35714"/>
                </a:avLst>
              </a:prstGeom>
              <a:solidFill>
                <a:schemeClr val="accent3"/>
              </a:solidFill>
              <a:ln w="15240">
                <a:solidFill>
                  <a:schemeClr val="accent3"/>
                </a:solidFill>
              </a:ln>
            </p:spPr>
          </p:sp>
          <p:sp>
            <p:nvSpPr>
              <p:cNvPr id="29" name="Ellipse 29"/>
              <p:cNvSpPr/>
              <p:nvPr/>
            </p:nvSpPr>
            <p:spPr>
              <a:xfrm>
                <a:off x="2219325" y="2581275"/>
                <a:ext cx="114300" cy="114300"/>
              </a:xfrm>
              <a:prstGeom prst="ellipse">
                <a:avLst/>
              </a:prstGeom>
              <a:solidFill>
                <a:schemeClr val="accent3"/>
              </a:solidFill>
              <a:ln w="15240">
                <a:solidFill>
                  <a:schemeClr val="accent3"/>
                </a:solidFill>
              </a:ln>
            </p:spPr>
          </p:sp>
          <p:sp>
            <p:nvSpPr>
              <p:cNvPr id="30" name="Rectangle 30"/>
              <p:cNvSpPr/>
              <p:nvPr/>
            </p:nvSpPr>
            <p:spPr>
              <a:xfrm>
                <a:off x="2209800" y="2733675"/>
                <a:ext cx="133350" cy="190500"/>
              </a:xfrm>
              <a:prstGeom prst="roundRect">
                <a:avLst>
                  <a:gd name="adj" fmla="val 35714"/>
                </a:avLst>
              </a:prstGeom>
              <a:solidFill>
                <a:schemeClr val="accent3"/>
              </a:solidFill>
              <a:ln w="15240">
                <a:solidFill>
                  <a:schemeClr val="accent3"/>
                </a:solidFill>
              </a:ln>
            </p:spPr>
          </p:sp>
          <p:sp>
            <p:nvSpPr>
              <p:cNvPr id="31" name="Ellipse 31"/>
              <p:cNvSpPr/>
              <p:nvPr/>
            </p:nvSpPr>
            <p:spPr>
              <a:xfrm>
                <a:off x="2695575" y="2581275"/>
                <a:ext cx="114300" cy="114300"/>
              </a:xfrm>
              <a:prstGeom prst="ellipse">
                <a:avLst/>
              </a:prstGeom>
              <a:solidFill>
                <a:schemeClr val="accent3"/>
              </a:solidFill>
              <a:ln w="15240">
                <a:solidFill>
                  <a:schemeClr val="accent3"/>
                </a:solidFill>
              </a:ln>
            </p:spPr>
          </p:sp>
          <p:sp>
            <p:nvSpPr>
              <p:cNvPr id="32" name="Rectangle 32"/>
              <p:cNvSpPr/>
              <p:nvPr/>
            </p:nvSpPr>
            <p:spPr>
              <a:xfrm>
                <a:off x="2686050" y="2733675"/>
                <a:ext cx="133350" cy="190500"/>
              </a:xfrm>
              <a:prstGeom prst="roundRect">
                <a:avLst>
                  <a:gd name="adj" fmla="val 35714"/>
                </a:avLst>
              </a:prstGeom>
              <a:solidFill>
                <a:schemeClr val="accent3"/>
              </a:solidFill>
              <a:ln w="15240">
                <a:solidFill>
                  <a:schemeClr val="accent3"/>
                </a:solidFill>
              </a:ln>
            </p:spPr>
          </p:sp>
          <p:sp>
            <p:nvSpPr>
              <p:cNvPr id="33" name="Ellipse 33"/>
              <p:cNvSpPr/>
              <p:nvPr/>
            </p:nvSpPr>
            <p:spPr>
              <a:xfrm>
                <a:off x="3171825" y="2581275"/>
                <a:ext cx="114300" cy="114300"/>
              </a:xfrm>
              <a:prstGeom prst="ellipse">
                <a:avLst/>
              </a:prstGeom>
              <a:solidFill>
                <a:schemeClr val="accent3"/>
              </a:solidFill>
              <a:ln w="15240">
                <a:solidFill>
                  <a:schemeClr val="accent3"/>
                </a:solidFill>
              </a:ln>
            </p:spPr>
          </p:sp>
          <p:sp>
            <p:nvSpPr>
              <p:cNvPr id="34" name="Rectangle 34"/>
              <p:cNvSpPr/>
              <p:nvPr/>
            </p:nvSpPr>
            <p:spPr>
              <a:xfrm>
                <a:off x="3162300" y="2733675"/>
                <a:ext cx="133350" cy="190500"/>
              </a:xfrm>
              <a:prstGeom prst="roundRect">
                <a:avLst>
                  <a:gd name="adj" fmla="val 35714"/>
                </a:avLst>
              </a:prstGeom>
              <a:solidFill>
                <a:schemeClr val="accent3"/>
              </a:solidFill>
              <a:ln w="15240">
                <a:solidFill>
                  <a:schemeClr val="accent3"/>
                </a:solidFill>
              </a:ln>
            </p:spPr>
          </p:sp>
          <p:sp>
            <p:nvSpPr>
              <p:cNvPr id="35" name="Ellipse 35"/>
              <p:cNvSpPr/>
              <p:nvPr/>
            </p:nvSpPr>
            <p:spPr>
              <a:xfrm>
                <a:off x="3648075" y="2581275"/>
                <a:ext cx="114300" cy="114300"/>
              </a:xfrm>
              <a:prstGeom prst="ellipse">
                <a:avLst/>
              </a:prstGeom>
              <a:solidFill>
                <a:schemeClr val="accent3"/>
              </a:solidFill>
              <a:ln w="15240">
                <a:solidFill>
                  <a:schemeClr val="accent3"/>
                </a:solidFill>
              </a:ln>
            </p:spPr>
          </p:sp>
          <p:sp>
            <p:nvSpPr>
              <p:cNvPr id="36" name="Rectangle 36"/>
              <p:cNvSpPr/>
              <p:nvPr/>
            </p:nvSpPr>
            <p:spPr>
              <a:xfrm>
                <a:off x="3638550" y="2733675"/>
                <a:ext cx="133350" cy="190500"/>
              </a:xfrm>
              <a:prstGeom prst="roundRect">
                <a:avLst>
                  <a:gd name="adj" fmla="val 35714"/>
                </a:avLst>
              </a:prstGeom>
              <a:solidFill>
                <a:schemeClr val="accent3"/>
              </a:solidFill>
              <a:ln w="15240">
                <a:solidFill>
                  <a:schemeClr val="accent3"/>
                </a:solidFill>
              </a:ln>
            </p:spPr>
          </p:sp>
          <p:sp>
            <p:nvSpPr>
              <p:cNvPr id="37" name="Ellipse 37"/>
              <p:cNvSpPr/>
              <p:nvPr/>
            </p:nvSpPr>
            <p:spPr>
              <a:xfrm>
                <a:off x="4124325" y="2581275"/>
                <a:ext cx="114300" cy="114300"/>
              </a:xfrm>
              <a:prstGeom prst="ellipse">
                <a:avLst/>
              </a:prstGeom>
              <a:solidFill>
                <a:schemeClr val="accent3"/>
              </a:solidFill>
              <a:ln w="15240">
                <a:solidFill>
                  <a:schemeClr val="accent3"/>
                </a:solidFill>
              </a:ln>
            </p:spPr>
          </p:sp>
          <p:sp>
            <p:nvSpPr>
              <p:cNvPr id="38" name="Rectangle 38"/>
              <p:cNvSpPr/>
              <p:nvPr/>
            </p:nvSpPr>
            <p:spPr>
              <a:xfrm>
                <a:off x="4114800" y="2733675"/>
                <a:ext cx="133350" cy="190500"/>
              </a:xfrm>
              <a:prstGeom prst="roundRect">
                <a:avLst>
                  <a:gd name="adj" fmla="val 35714"/>
                </a:avLst>
              </a:prstGeom>
              <a:solidFill>
                <a:schemeClr val="accent3"/>
              </a:solidFill>
              <a:ln w="15240">
                <a:solidFill>
                  <a:schemeClr val="accent3"/>
                </a:solidFill>
              </a:ln>
            </p:spPr>
          </p:sp>
          <p:sp>
            <p:nvSpPr>
              <p:cNvPr id="39" name="Ellipse 39"/>
              <p:cNvSpPr/>
              <p:nvPr/>
            </p:nvSpPr>
            <p:spPr>
              <a:xfrm>
                <a:off x="790575" y="3057525"/>
                <a:ext cx="114300" cy="114300"/>
              </a:xfrm>
              <a:prstGeom prst="ellipse">
                <a:avLst/>
              </a:prstGeom>
              <a:solidFill>
                <a:schemeClr val="accent3"/>
              </a:solidFill>
              <a:ln w="15240">
                <a:solidFill>
                  <a:schemeClr val="accent3"/>
                </a:solidFill>
              </a:ln>
            </p:spPr>
          </p:sp>
          <p:sp>
            <p:nvSpPr>
              <p:cNvPr id="40" name="Rectangle 40"/>
              <p:cNvSpPr/>
              <p:nvPr/>
            </p:nvSpPr>
            <p:spPr>
              <a:xfrm>
                <a:off x="781050" y="3209925"/>
                <a:ext cx="133350" cy="190500"/>
              </a:xfrm>
              <a:prstGeom prst="roundRect">
                <a:avLst>
                  <a:gd name="adj" fmla="val 35714"/>
                </a:avLst>
              </a:prstGeom>
              <a:solidFill>
                <a:schemeClr val="accent3"/>
              </a:solidFill>
              <a:ln w="15240">
                <a:solidFill>
                  <a:schemeClr val="accent3"/>
                </a:solidFill>
              </a:ln>
            </p:spPr>
          </p:sp>
          <p:sp>
            <p:nvSpPr>
              <p:cNvPr id="41" name="Ellipse 41"/>
              <p:cNvSpPr/>
              <p:nvPr/>
            </p:nvSpPr>
            <p:spPr>
              <a:xfrm>
                <a:off x="1266825" y="3057525"/>
                <a:ext cx="114300" cy="114300"/>
              </a:xfrm>
              <a:prstGeom prst="ellipse">
                <a:avLst/>
              </a:prstGeom>
              <a:solidFill>
                <a:schemeClr val="accent3"/>
              </a:solidFill>
              <a:ln w="15240">
                <a:solidFill>
                  <a:schemeClr val="accent3"/>
                </a:solidFill>
              </a:ln>
            </p:spPr>
          </p:sp>
          <p:sp>
            <p:nvSpPr>
              <p:cNvPr id="42" name="Rectangle 42"/>
              <p:cNvSpPr/>
              <p:nvPr/>
            </p:nvSpPr>
            <p:spPr>
              <a:xfrm>
                <a:off x="1257300" y="3209925"/>
                <a:ext cx="133350" cy="190500"/>
              </a:xfrm>
              <a:prstGeom prst="roundRect">
                <a:avLst>
                  <a:gd name="adj" fmla="val 35714"/>
                </a:avLst>
              </a:prstGeom>
              <a:solidFill>
                <a:schemeClr val="accent3"/>
              </a:solidFill>
              <a:ln w="15240">
                <a:solidFill>
                  <a:schemeClr val="accent3"/>
                </a:solidFill>
              </a:ln>
            </p:spPr>
          </p:sp>
          <p:sp>
            <p:nvSpPr>
              <p:cNvPr id="43" name="Ellipse 43"/>
              <p:cNvSpPr/>
              <p:nvPr/>
            </p:nvSpPr>
            <p:spPr>
              <a:xfrm>
                <a:off x="1743075" y="3057525"/>
                <a:ext cx="114300" cy="114300"/>
              </a:xfrm>
              <a:prstGeom prst="ellipse">
                <a:avLst/>
              </a:prstGeom>
              <a:solidFill>
                <a:schemeClr val="accent3"/>
              </a:solidFill>
              <a:ln w="15240">
                <a:solidFill>
                  <a:schemeClr val="accent3"/>
                </a:solidFill>
              </a:ln>
            </p:spPr>
          </p:sp>
          <p:sp>
            <p:nvSpPr>
              <p:cNvPr id="44" name="Rectangle 44"/>
              <p:cNvSpPr/>
              <p:nvPr/>
            </p:nvSpPr>
            <p:spPr>
              <a:xfrm>
                <a:off x="1733550" y="3209925"/>
                <a:ext cx="133350" cy="190500"/>
              </a:xfrm>
              <a:prstGeom prst="roundRect">
                <a:avLst>
                  <a:gd name="adj" fmla="val 35714"/>
                </a:avLst>
              </a:prstGeom>
              <a:solidFill>
                <a:schemeClr val="accent3"/>
              </a:solidFill>
              <a:ln w="15240">
                <a:solidFill>
                  <a:schemeClr val="accent3"/>
                </a:solidFill>
              </a:ln>
            </p:spPr>
          </p:sp>
          <p:sp>
            <p:nvSpPr>
              <p:cNvPr id="45" name="Ellipse 45"/>
              <p:cNvSpPr/>
              <p:nvPr/>
            </p:nvSpPr>
            <p:spPr>
              <a:xfrm>
                <a:off x="2219325" y="3057525"/>
                <a:ext cx="114300" cy="114300"/>
              </a:xfrm>
              <a:prstGeom prst="ellipse">
                <a:avLst/>
              </a:prstGeom>
              <a:solidFill>
                <a:schemeClr val="accent3"/>
              </a:solidFill>
              <a:ln w="15240">
                <a:solidFill>
                  <a:schemeClr val="accent3"/>
                </a:solidFill>
              </a:ln>
            </p:spPr>
          </p:sp>
          <p:sp>
            <p:nvSpPr>
              <p:cNvPr id="46" name="Rectangle 46"/>
              <p:cNvSpPr/>
              <p:nvPr/>
            </p:nvSpPr>
            <p:spPr>
              <a:xfrm>
                <a:off x="2209800" y="3209925"/>
                <a:ext cx="133350" cy="190500"/>
              </a:xfrm>
              <a:prstGeom prst="roundRect">
                <a:avLst>
                  <a:gd name="adj" fmla="val 35714"/>
                </a:avLst>
              </a:prstGeom>
              <a:solidFill>
                <a:schemeClr val="accent3"/>
              </a:solidFill>
              <a:ln w="15240">
                <a:solidFill>
                  <a:schemeClr val="accent3"/>
                </a:solidFill>
              </a:ln>
            </p:spPr>
          </p:sp>
          <p:sp>
            <p:nvSpPr>
              <p:cNvPr id="47" name="Ellipse 47"/>
              <p:cNvSpPr/>
              <p:nvPr/>
            </p:nvSpPr>
            <p:spPr>
              <a:xfrm>
                <a:off x="2695575" y="3057525"/>
                <a:ext cx="114300" cy="114300"/>
              </a:xfrm>
              <a:prstGeom prst="ellipse">
                <a:avLst/>
              </a:prstGeom>
              <a:solidFill>
                <a:schemeClr val="accent3"/>
              </a:solidFill>
              <a:ln w="15240">
                <a:solidFill>
                  <a:schemeClr val="accent3"/>
                </a:solidFill>
              </a:ln>
            </p:spPr>
          </p:sp>
          <p:sp>
            <p:nvSpPr>
              <p:cNvPr id="48" name="Rectangle 48"/>
              <p:cNvSpPr/>
              <p:nvPr/>
            </p:nvSpPr>
            <p:spPr>
              <a:xfrm>
                <a:off x="2686050" y="3209925"/>
                <a:ext cx="133350" cy="190500"/>
              </a:xfrm>
              <a:prstGeom prst="roundRect">
                <a:avLst>
                  <a:gd name="adj" fmla="val 35714"/>
                </a:avLst>
              </a:prstGeom>
              <a:solidFill>
                <a:schemeClr val="accent3"/>
              </a:solidFill>
              <a:ln w="15240">
                <a:solidFill>
                  <a:schemeClr val="accent3"/>
                </a:solidFill>
              </a:ln>
            </p:spPr>
          </p:sp>
          <p:sp>
            <p:nvSpPr>
              <p:cNvPr id="49" name="Ellipse 49"/>
              <p:cNvSpPr/>
              <p:nvPr/>
            </p:nvSpPr>
            <p:spPr>
              <a:xfrm>
                <a:off x="3171825" y="3057525"/>
                <a:ext cx="114300" cy="114300"/>
              </a:xfrm>
              <a:prstGeom prst="ellipse">
                <a:avLst/>
              </a:prstGeom>
              <a:solidFill>
                <a:schemeClr val="accent3"/>
              </a:solidFill>
              <a:ln w="15240">
                <a:solidFill>
                  <a:schemeClr val="accent3"/>
                </a:solidFill>
              </a:ln>
            </p:spPr>
          </p:sp>
          <p:sp>
            <p:nvSpPr>
              <p:cNvPr id="50" name="Rectangle 50"/>
              <p:cNvSpPr/>
              <p:nvPr/>
            </p:nvSpPr>
            <p:spPr>
              <a:xfrm>
                <a:off x="3162300" y="3209925"/>
                <a:ext cx="133350" cy="190500"/>
              </a:xfrm>
              <a:prstGeom prst="roundRect">
                <a:avLst>
                  <a:gd name="adj" fmla="val 35714"/>
                </a:avLst>
              </a:prstGeom>
              <a:solidFill>
                <a:schemeClr val="accent3"/>
              </a:solidFill>
              <a:ln w="15240">
                <a:solidFill>
                  <a:schemeClr val="accent3"/>
                </a:solidFill>
              </a:ln>
            </p:spPr>
          </p:sp>
          <p:sp>
            <p:nvSpPr>
              <p:cNvPr id="51" name="Ellipse 51"/>
              <p:cNvSpPr/>
              <p:nvPr/>
            </p:nvSpPr>
            <p:spPr>
              <a:xfrm>
                <a:off x="3648075" y="3057525"/>
                <a:ext cx="114300" cy="114300"/>
              </a:xfrm>
              <a:prstGeom prst="ellipse">
                <a:avLst/>
              </a:prstGeom>
              <a:solidFill>
                <a:schemeClr val="accent3"/>
              </a:solidFill>
              <a:ln w="15240">
                <a:solidFill>
                  <a:schemeClr val="accent3"/>
                </a:solidFill>
              </a:ln>
            </p:spPr>
          </p:sp>
          <p:sp>
            <p:nvSpPr>
              <p:cNvPr id="52" name="Rectangle 52"/>
              <p:cNvSpPr/>
              <p:nvPr/>
            </p:nvSpPr>
            <p:spPr>
              <a:xfrm>
                <a:off x="3638550" y="3209925"/>
                <a:ext cx="133350" cy="190500"/>
              </a:xfrm>
              <a:prstGeom prst="roundRect">
                <a:avLst>
                  <a:gd name="adj" fmla="val 35714"/>
                </a:avLst>
              </a:prstGeom>
              <a:solidFill>
                <a:schemeClr val="accent3"/>
              </a:solidFill>
              <a:ln w="15240">
                <a:solidFill>
                  <a:schemeClr val="accent3"/>
                </a:solidFill>
              </a:ln>
            </p:spPr>
          </p:sp>
          <p:sp>
            <p:nvSpPr>
              <p:cNvPr id="53" name="Ellipse 53"/>
              <p:cNvSpPr/>
              <p:nvPr/>
            </p:nvSpPr>
            <p:spPr>
              <a:xfrm>
                <a:off x="4124325" y="3057525"/>
                <a:ext cx="114300" cy="114300"/>
              </a:xfrm>
              <a:prstGeom prst="ellipse">
                <a:avLst/>
              </a:prstGeom>
              <a:solidFill>
                <a:schemeClr val="accent3"/>
              </a:solidFill>
              <a:ln w="15240">
                <a:solidFill>
                  <a:schemeClr val="accent3"/>
                </a:solidFill>
              </a:ln>
            </p:spPr>
          </p:sp>
          <p:sp>
            <p:nvSpPr>
              <p:cNvPr id="54" name="Rectangle 54"/>
              <p:cNvSpPr/>
              <p:nvPr/>
            </p:nvSpPr>
            <p:spPr>
              <a:xfrm>
                <a:off x="4114800" y="3209925"/>
                <a:ext cx="133350" cy="190500"/>
              </a:xfrm>
              <a:prstGeom prst="roundRect">
                <a:avLst>
                  <a:gd name="adj" fmla="val 35714"/>
                </a:avLst>
              </a:prstGeom>
              <a:solidFill>
                <a:schemeClr val="accent3"/>
              </a:solidFill>
              <a:ln w="15240">
                <a:solidFill>
                  <a:schemeClr val="accent3"/>
                </a:solidFill>
              </a:ln>
            </p:spPr>
          </p:sp>
          <p:sp>
            <p:nvSpPr>
              <p:cNvPr id="55" name="Ellipse 55"/>
              <p:cNvSpPr/>
              <p:nvPr/>
            </p:nvSpPr>
            <p:spPr>
              <a:xfrm>
                <a:off x="790575" y="3533775"/>
                <a:ext cx="114300" cy="114300"/>
              </a:xfrm>
              <a:prstGeom prst="ellipse">
                <a:avLst/>
              </a:prstGeom>
              <a:solidFill>
                <a:schemeClr val="accent3"/>
              </a:solidFill>
              <a:ln w="15240">
                <a:solidFill>
                  <a:schemeClr val="accent3"/>
                </a:solidFill>
              </a:ln>
            </p:spPr>
          </p:sp>
          <p:sp>
            <p:nvSpPr>
              <p:cNvPr id="56" name="Rectangle 56"/>
              <p:cNvSpPr/>
              <p:nvPr/>
            </p:nvSpPr>
            <p:spPr>
              <a:xfrm>
                <a:off x="781050" y="3686175"/>
                <a:ext cx="133350" cy="190500"/>
              </a:xfrm>
              <a:prstGeom prst="roundRect">
                <a:avLst>
                  <a:gd name="adj" fmla="val 35714"/>
                </a:avLst>
              </a:prstGeom>
              <a:solidFill>
                <a:schemeClr val="accent3"/>
              </a:solidFill>
              <a:ln w="15240">
                <a:solidFill>
                  <a:schemeClr val="accent3"/>
                </a:solidFill>
              </a:ln>
            </p:spPr>
          </p:sp>
          <p:sp>
            <p:nvSpPr>
              <p:cNvPr id="57" name="Ellipse 57"/>
              <p:cNvSpPr/>
              <p:nvPr/>
            </p:nvSpPr>
            <p:spPr>
              <a:xfrm>
                <a:off x="1266825" y="3533775"/>
                <a:ext cx="114300" cy="114300"/>
              </a:xfrm>
              <a:prstGeom prst="ellipse">
                <a:avLst/>
              </a:prstGeom>
              <a:solidFill>
                <a:schemeClr val="accent3"/>
              </a:solidFill>
              <a:ln w="15240">
                <a:solidFill>
                  <a:schemeClr val="accent3"/>
                </a:solidFill>
              </a:ln>
            </p:spPr>
          </p:sp>
          <p:sp>
            <p:nvSpPr>
              <p:cNvPr id="58" name="Rectangle 58"/>
              <p:cNvSpPr/>
              <p:nvPr/>
            </p:nvSpPr>
            <p:spPr>
              <a:xfrm>
                <a:off x="1257300" y="3686175"/>
                <a:ext cx="133350" cy="190500"/>
              </a:xfrm>
              <a:prstGeom prst="roundRect">
                <a:avLst>
                  <a:gd name="adj" fmla="val 35714"/>
                </a:avLst>
              </a:prstGeom>
              <a:solidFill>
                <a:schemeClr val="accent3"/>
              </a:solidFill>
              <a:ln w="15240">
                <a:solidFill>
                  <a:schemeClr val="accent3"/>
                </a:solidFill>
              </a:ln>
            </p:spPr>
          </p:sp>
          <p:sp>
            <p:nvSpPr>
              <p:cNvPr id="59" name="Ellipse 59"/>
              <p:cNvSpPr/>
              <p:nvPr/>
            </p:nvSpPr>
            <p:spPr>
              <a:xfrm>
                <a:off x="1743075" y="3533775"/>
                <a:ext cx="114300" cy="114300"/>
              </a:xfrm>
              <a:prstGeom prst="ellipse">
                <a:avLst/>
              </a:prstGeom>
              <a:solidFill>
                <a:schemeClr val="accent3"/>
              </a:solidFill>
              <a:ln w="15240">
                <a:solidFill>
                  <a:schemeClr val="accent3"/>
                </a:solidFill>
              </a:ln>
            </p:spPr>
          </p:sp>
          <p:sp>
            <p:nvSpPr>
              <p:cNvPr id="60" name="Rectangle 60"/>
              <p:cNvSpPr/>
              <p:nvPr/>
            </p:nvSpPr>
            <p:spPr>
              <a:xfrm>
                <a:off x="1733550" y="3686175"/>
                <a:ext cx="133350" cy="190500"/>
              </a:xfrm>
              <a:prstGeom prst="roundRect">
                <a:avLst>
                  <a:gd name="adj" fmla="val 35714"/>
                </a:avLst>
              </a:prstGeom>
              <a:solidFill>
                <a:schemeClr val="accent3"/>
              </a:solidFill>
              <a:ln w="15240">
                <a:solidFill>
                  <a:schemeClr val="accent3"/>
                </a:solidFill>
              </a:ln>
            </p:spPr>
          </p:sp>
          <p:sp>
            <p:nvSpPr>
              <p:cNvPr id="61" name="Ellipse 61"/>
              <p:cNvSpPr/>
              <p:nvPr/>
            </p:nvSpPr>
            <p:spPr>
              <a:xfrm>
                <a:off x="2219325" y="3533775"/>
                <a:ext cx="114300" cy="114300"/>
              </a:xfrm>
              <a:prstGeom prst="ellipse">
                <a:avLst/>
              </a:prstGeom>
              <a:solidFill>
                <a:schemeClr val="accent3"/>
              </a:solidFill>
              <a:ln w="15240">
                <a:solidFill>
                  <a:schemeClr val="accent3"/>
                </a:solidFill>
              </a:ln>
            </p:spPr>
          </p:sp>
          <p:sp>
            <p:nvSpPr>
              <p:cNvPr id="62" name="Rectangle 62"/>
              <p:cNvSpPr/>
              <p:nvPr/>
            </p:nvSpPr>
            <p:spPr>
              <a:xfrm>
                <a:off x="2209800" y="3686175"/>
                <a:ext cx="133350" cy="190500"/>
              </a:xfrm>
              <a:prstGeom prst="roundRect">
                <a:avLst>
                  <a:gd name="adj" fmla="val 35714"/>
                </a:avLst>
              </a:prstGeom>
              <a:solidFill>
                <a:schemeClr val="accent3"/>
              </a:solidFill>
              <a:ln w="15240">
                <a:solidFill>
                  <a:schemeClr val="accent3"/>
                </a:solidFill>
              </a:ln>
            </p:spPr>
          </p:sp>
          <p:sp>
            <p:nvSpPr>
              <p:cNvPr id="63" name="Ellipse 63"/>
              <p:cNvSpPr/>
              <p:nvPr/>
            </p:nvSpPr>
            <p:spPr>
              <a:xfrm>
                <a:off x="2695575" y="3533775"/>
                <a:ext cx="114300" cy="114300"/>
              </a:xfrm>
              <a:prstGeom prst="ellipse">
                <a:avLst/>
              </a:prstGeom>
              <a:solidFill>
                <a:schemeClr val="accent3"/>
              </a:solidFill>
              <a:ln w="15240">
                <a:solidFill>
                  <a:schemeClr val="accent3"/>
                </a:solidFill>
              </a:ln>
            </p:spPr>
          </p:sp>
          <p:sp>
            <p:nvSpPr>
              <p:cNvPr id="64" name="Rectangle 64"/>
              <p:cNvSpPr/>
              <p:nvPr/>
            </p:nvSpPr>
            <p:spPr>
              <a:xfrm>
                <a:off x="2686050" y="3686175"/>
                <a:ext cx="133350" cy="190500"/>
              </a:xfrm>
              <a:prstGeom prst="roundRect">
                <a:avLst>
                  <a:gd name="adj" fmla="val 35714"/>
                </a:avLst>
              </a:prstGeom>
              <a:solidFill>
                <a:schemeClr val="accent3"/>
              </a:solidFill>
              <a:ln w="15240">
                <a:solidFill>
                  <a:schemeClr val="accent3"/>
                </a:solidFill>
              </a:ln>
            </p:spPr>
          </p:sp>
          <p:sp>
            <p:nvSpPr>
              <p:cNvPr id="65" name="Ellipse 65"/>
              <p:cNvSpPr/>
              <p:nvPr/>
            </p:nvSpPr>
            <p:spPr>
              <a:xfrm>
                <a:off x="3171825" y="3533775"/>
                <a:ext cx="114300" cy="114300"/>
              </a:xfrm>
              <a:prstGeom prst="ellipse">
                <a:avLst/>
              </a:prstGeom>
              <a:noFill/>
              <a:ln w="15240">
                <a:solidFill>
                  <a:schemeClr val="accent2"/>
                </a:solidFill>
              </a:ln>
            </p:spPr>
          </p:sp>
          <p:sp>
            <p:nvSpPr>
              <p:cNvPr id="66" name="Rectangle 66"/>
              <p:cNvSpPr/>
              <p:nvPr/>
            </p:nvSpPr>
            <p:spPr>
              <a:xfrm>
                <a:off x="3162300" y="3686175"/>
                <a:ext cx="133350" cy="190500"/>
              </a:xfrm>
              <a:prstGeom prst="roundRect">
                <a:avLst>
                  <a:gd name="adj" fmla="val 35714"/>
                </a:avLst>
              </a:prstGeom>
              <a:noFill/>
              <a:ln w="15240">
                <a:solidFill>
                  <a:schemeClr val="accent2"/>
                </a:solidFill>
              </a:ln>
            </p:spPr>
          </p:sp>
          <p:sp>
            <p:nvSpPr>
              <p:cNvPr id="67" name="Ellipse 67"/>
              <p:cNvSpPr/>
              <p:nvPr/>
            </p:nvSpPr>
            <p:spPr>
              <a:xfrm>
                <a:off x="3648075" y="3533775"/>
                <a:ext cx="114300" cy="114300"/>
              </a:xfrm>
              <a:prstGeom prst="ellipse">
                <a:avLst/>
              </a:prstGeom>
              <a:noFill/>
              <a:ln w="15240">
                <a:solidFill>
                  <a:schemeClr val="accent2"/>
                </a:solidFill>
              </a:ln>
            </p:spPr>
          </p:sp>
          <p:sp>
            <p:nvSpPr>
              <p:cNvPr id="68" name="Rectangle 68"/>
              <p:cNvSpPr/>
              <p:nvPr/>
            </p:nvSpPr>
            <p:spPr>
              <a:xfrm>
                <a:off x="3638550" y="3686175"/>
                <a:ext cx="133350" cy="190500"/>
              </a:xfrm>
              <a:prstGeom prst="roundRect">
                <a:avLst>
                  <a:gd name="adj" fmla="val 35714"/>
                </a:avLst>
              </a:prstGeom>
              <a:noFill/>
              <a:ln w="15240">
                <a:solidFill>
                  <a:schemeClr val="accent2"/>
                </a:solidFill>
              </a:ln>
            </p:spPr>
          </p:sp>
          <p:sp>
            <p:nvSpPr>
              <p:cNvPr id="69" name="Ellipse 69"/>
              <p:cNvSpPr/>
              <p:nvPr/>
            </p:nvSpPr>
            <p:spPr>
              <a:xfrm>
                <a:off x="4124325" y="3533775"/>
                <a:ext cx="114300" cy="114300"/>
              </a:xfrm>
              <a:prstGeom prst="ellipse">
                <a:avLst/>
              </a:prstGeom>
              <a:noFill/>
              <a:ln w="15240">
                <a:solidFill>
                  <a:schemeClr val="accent2"/>
                </a:solidFill>
              </a:ln>
            </p:spPr>
          </p:sp>
          <p:sp>
            <p:nvSpPr>
              <p:cNvPr id="70" name="Rectangle 70"/>
              <p:cNvSpPr/>
              <p:nvPr/>
            </p:nvSpPr>
            <p:spPr>
              <a:xfrm>
                <a:off x="4114800" y="3686175"/>
                <a:ext cx="133350" cy="190500"/>
              </a:xfrm>
              <a:prstGeom prst="roundRect">
                <a:avLst>
                  <a:gd name="adj" fmla="val 35714"/>
                </a:avLst>
              </a:prstGeom>
              <a:noFill/>
              <a:ln w="15240">
                <a:solidFill>
                  <a:schemeClr val="accent2"/>
                </a:solidFill>
              </a:ln>
            </p:spPr>
          </p:sp>
          <p:sp>
            <p:nvSpPr>
              <p:cNvPr id="71" name="Ellipse 71"/>
              <p:cNvSpPr/>
              <p:nvPr/>
            </p:nvSpPr>
            <p:spPr>
              <a:xfrm>
                <a:off x="790575" y="4010025"/>
                <a:ext cx="114300" cy="114300"/>
              </a:xfrm>
              <a:prstGeom prst="ellipse">
                <a:avLst/>
              </a:prstGeom>
              <a:noFill/>
              <a:ln w="15240">
                <a:solidFill>
                  <a:schemeClr val="accent2"/>
                </a:solidFill>
              </a:ln>
            </p:spPr>
          </p:sp>
          <p:sp>
            <p:nvSpPr>
              <p:cNvPr id="72" name="Rectangle 72"/>
              <p:cNvSpPr/>
              <p:nvPr/>
            </p:nvSpPr>
            <p:spPr>
              <a:xfrm>
                <a:off x="781050" y="4162425"/>
                <a:ext cx="133350" cy="190500"/>
              </a:xfrm>
              <a:prstGeom prst="roundRect">
                <a:avLst>
                  <a:gd name="adj" fmla="val 35714"/>
                </a:avLst>
              </a:prstGeom>
              <a:noFill/>
              <a:ln w="15240">
                <a:solidFill>
                  <a:schemeClr val="accent2"/>
                </a:solidFill>
              </a:ln>
            </p:spPr>
          </p:sp>
          <p:sp>
            <p:nvSpPr>
              <p:cNvPr id="73" name="Ellipse 73"/>
              <p:cNvSpPr/>
              <p:nvPr/>
            </p:nvSpPr>
            <p:spPr>
              <a:xfrm>
                <a:off x="1266825" y="4010025"/>
                <a:ext cx="114300" cy="114300"/>
              </a:xfrm>
              <a:prstGeom prst="ellipse">
                <a:avLst/>
              </a:prstGeom>
              <a:noFill/>
              <a:ln w="15240">
                <a:solidFill>
                  <a:schemeClr val="accent2"/>
                </a:solidFill>
              </a:ln>
            </p:spPr>
          </p:sp>
          <p:sp>
            <p:nvSpPr>
              <p:cNvPr id="74" name="Rectangle 74"/>
              <p:cNvSpPr/>
              <p:nvPr/>
            </p:nvSpPr>
            <p:spPr>
              <a:xfrm>
                <a:off x="1257300" y="4162425"/>
                <a:ext cx="133350" cy="190500"/>
              </a:xfrm>
              <a:prstGeom prst="roundRect">
                <a:avLst>
                  <a:gd name="adj" fmla="val 35714"/>
                </a:avLst>
              </a:prstGeom>
              <a:noFill/>
              <a:ln w="15240">
                <a:solidFill>
                  <a:schemeClr val="accent2"/>
                </a:solidFill>
              </a:ln>
            </p:spPr>
          </p:sp>
          <p:sp>
            <p:nvSpPr>
              <p:cNvPr id="75" name="Ellipse 75"/>
              <p:cNvSpPr/>
              <p:nvPr/>
            </p:nvSpPr>
            <p:spPr>
              <a:xfrm>
                <a:off x="1743075" y="4010025"/>
                <a:ext cx="114300" cy="114300"/>
              </a:xfrm>
              <a:prstGeom prst="ellipse">
                <a:avLst/>
              </a:prstGeom>
              <a:noFill/>
              <a:ln w="15240">
                <a:solidFill>
                  <a:schemeClr val="accent2"/>
                </a:solidFill>
              </a:ln>
            </p:spPr>
          </p:sp>
          <p:sp>
            <p:nvSpPr>
              <p:cNvPr id="76" name="Rectangle 76"/>
              <p:cNvSpPr/>
              <p:nvPr/>
            </p:nvSpPr>
            <p:spPr>
              <a:xfrm>
                <a:off x="1733550" y="4162425"/>
                <a:ext cx="133350" cy="190500"/>
              </a:xfrm>
              <a:prstGeom prst="roundRect">
                <a:avLst>
                  <a:gd name="adj" fmla="val 35714"/>
                </a:avLst>
              </a:prstGeom>
              <a:noFill/>
              <a:ln w="15240">
                <a:solidFill>
                  <a:schemeClr val="accent2"/>
                </a:solidFill>
              </a:ln>
            </p:spPr>
          </p:sp>
          <p:sp>
            <p:nvSpPr>
              <p:cNvPr id="77" name="Ellipse 77"/>
              <p:cNvSpPr/>
              <p:nvPr/>
            </p:nvSpPr>
            <p:spPr>
              <a:xfrm>
                <a:off x="2219325" y="4010025"/>
                <a:ext cx="114300" cy="114300"/>
              </a:xfrm>
              <a:prstGeom prst="ellipse">
                <a:avLst/>
              </a:prstGeom>
              <a:noFill/>
              <a:ln w="15240">
                <a:solidFill>
                  <a:schemeClr val="accent2"/>
                </a:solidFill>
              </a:ln>
            </p:spPr>
          </p:sp>
          <p:sp>
            <p:nvSpPr>
              <p:cNvPr id="78" name="Rectangle 78"/>
              <p:cNvSpPr/>
              <p:nvPr/>
            </p:nvSpPr>
            <p:spPr>
              <a:xfrm>
                <a:off x="2209800" y="4162425"/>
                <a:ext cx="133350" cy="190500"/>
              </a:xfrm>
              <a:prstGeom prst="roundRect">
                <a:avLst>
                  <a:gd name="adj" fmla="val 35714"/>
                </a:avLst>
              </a:prstGeom>
              <a:noFill/>
              <a:ln w="15240">
                <a:solidFill>
                  <a:schemeClr val="accent2"/>
                </a:solidFill>
              </a:ln>
            </p:spPr>
          </p:sp>
          <p:sp>
            <p:nvSpPr>
              <p:cNvPr id="79" name="Ellipse 79"/>
              <p:cNvSpPr/>
              <p:nvPr/>
            </p:nvSpPr>
            <p:spPr>
              <a:xfrm>
                <a:off x="2695575" y="4010025"/>
                <a:ext cx="114300" cy="114300"/>
              </a:xfrm>
              <a:prstGeom prst="ellipse">
                <a:avLst/>
              </a:prstGeom>
              <a:noFill/>
              <a:ln w="15240">
                <a:solidFill>
                  <a:schemeClr val="accent2"/>
                </a:solidFill>
              </a:ln>
            </p:spPr>
          </p:sp>
          <p:sp>
            <p:nvSpPr>
              <p:cNvPr id="80" name="Rectangle 80"/>
              <p:cNvSpPr/>
              <p:nvPr/>
            </p:nvSpPr>
            <p:spPr>
              <a:xfrm>
                <a:off x="2686050" y="4162425"/>
                <a:ext cx="133350" cy="190500"/>
              </a:xfrm>
              <a:prstGeom prst="roundRect">
                <a:avLst>
                  <a:gd name="adj" fmla="val 35714"/>
                </a:avLst>
              </a:prstGeom>
              <a:noFill/>
              <a:ln w="15240">
                <a:solidFill>
                  <a:schemeClr val="accent2"/>
                </a:solidFill>
              </a:ln>
            </p:spPr>
          </p:sp>
          <p:sp>
            <p:nvSpPr>
              <p:cNvPr id="81" name="Ellipse 81"/>
              <p:cNvSpPr/>
              <p:nvPr/>
            </p:nvSpPr>
            <p:spPr>
              <a:xfrm>
                <a:off x="3171825" y="4010025"/>
                <a:ext cx="114300" cy="114300"/>
              </a:xfrm>
              <a:prstGeom prst="ellipse">
                <a:avLst/>
              </a:prstGeom>
              <a:noFill/>
              <a:ln w="15240">
                <a:solidFill>
                  <a:schemeClr val="accent2"/>
                </a:solidFill>
              </a:ln>
            </p:spPr>
          </p:sp>
          <p:sp>
            <p:nvSpPr>
              <p:cNvPr id="82" name="Rectangle 82"/>
              <p:cNvSpPr/>
              <p:nvPr/>
            </p:nvSpPr>
            <p:spPr>
              <a:xfrm>
                <a:off x="3162300" y="4162425"/>
                <a:ext cx="133350" cy="190500"/>
              </a:xfrm>
              <a:prstGeom prst="roundRect">
                <a:avLst>
                  <a:gd name="adj" fmla="val 35714"/>
                </a:avLst>
              </a:prstGeom>
              <a:noFill/>
              <a:ln w="15240">
                <a:solidFill>
                  <a:schemeClr val="accent2"/>
                </a:solidFill>
              </a:ln>
            </p:spPr>
          </p:sp>
          <p:sp>
            <p:nvSpPr>
              <p:cNvPr id="83" name="Ellipse 83"/>
              <p:cNvSpPr/>
              <p:nvPr/>
            </p:nvSpPr>
            <p:spPr>
              <a:xfrm>
                <a:off x="3648075" y="4010025"/>
                <a:ext cx="114300" cy="114300"/>
              </a:xfrm>
              <a:prstGeom prst="ellipse">
                <a:avLst/>
              </a:prstGeom>
              <a:noFill/>
              <a:ln w="15240">
                <a:solidFill>
                  <a:schemeClr val="accent2"/>
                </a:solidFill>
              </a:ln>
            </p:spPr>
          </p:sp>
          <p:sp>
            <p:nvSpPr>
              <p:cNvPr id="84" name="Rectangle 84"/>
              <p:cNvSpPr/>
              <p:nvPr/>
            </p:nvSpPr>
            <p:spPr>
              <a:xfrm>
                <a:off x="3638550" y="4162425"/>
                <a:ext cx="133350" cy="190500"/>
              </a:xfrm>
              <a:prstGeom prst="roundRect">
                <a:avLst>
                  <a:gd name="adj" fmla="val 35714"/>
                </a:avLst>
              </a:prstGeom>
              <a:noFill/>
              <a:ln w="15240">
                <a:solidFill>
                  <a:schemeClr val="accent2"/>
                </a:solidFill>
              </a:ln>
            </p:spPr>
          </p:sp>
          <p:sp>
            <p:nvSpPr>
              <p:cNvPr id="85" name="Ellipse 85"/>
              <p:cNvSpPr/>
              <p:nvPr/>
            </p:nvSpPr>
            <p:spPr>
              <a:xfrm>
                <a:off x="4124325" y="4010025"/>
                <a:ext cx="114300" cy="114300"/>
              </a:xfrm>
              <a:prstGeom prst="ellipse">
                <a:avLst/>
              </a:prstGeom>
              <a:noFill/>
              <a:ln w="15240">
                <a:solidFill>
                  <a:schemeClr val="accent2"/>
                </a:solidFill>
              </a:ln>
            </p:spPr>
          </p:sp>
          <p:sp>
            <p:nvSpPr>
              <p:cNvPr id="86" name="Rectangle 86"/>
              <p:cNvSpPr/>
              <p:nvPr/>
            </p:nvSpPr>
            <p:spPr>
              <a:xfrm>
                <a:off x="4114800" y="4162425"/>
                <a:ext cx="133350" cy="190500"/>
              </a:xfrm>
              <a:prstGeom prst="roundRect">
                <a:avLst>
                  <a:gd name="adj" fmla="val 35714"/>
                </a:avLst>
              </a:prstGeom>
              <a:noFill/>
              <a:ln w="15240">
                <a:solidFill>
                  <a:schemeClr val="accent2"/>
                </a:solidFill>
              </a:ln>
            </p:spPr>
          </p:sp>
          <p:sp>
            <p:nvSpPr>
              <p:cNvPr id="87" name="Ellipse 87"/>
              <p:cNvSpPr/>
              <p:nvPr/>
            </p:nvSpPr>
            <p:spPr>
              <a:xfrm>
                <a:off x="790575" y="4486275"/>
                <a:ext cx="114300" cy="114300"/>
              </a:xfrm>
              <a:prstGeom prst="ellipse">
                <a:avLst/>
              </a:prstGeom>
              <a:noFill/>
              <a:ln w="15240">
                <a:solidFill>
                  <a:schemeClr val="accent2"/>
                </a:solidFill>
              </a:ln>
            </p:spPr>
          </p:sp>
          <p:sp>
            <p:nvSpPr>
              <p:cNvPr id="88" name="Rectangle 88"/>
              <p:cNvSpPr/>
              <p:nvPr/>
            </p:nvSpPr>
            <p:spPr>
              <a:xfrm>
                <a:off x="781050" y="4638675"/>
                <a:ext cx="133350" cy="190500"/>
              </a:xfrm>
              <a:prstGeom prst="roundRect">
                <a:avLst>
                  <a:gd name="adj" fmla="val 35714"/>
                </a:avLst>
              </a:prstGeom>
              <a:noFill/>
              <a:ln w="15240">
                <a:solidFill>
                  <a:schemeClr val="accent2"/>
                </a:solidFill>
              </a:ln>
            </p:spPr>
          </p:sp>
        </p:grpSp>
        <p:sp>
          <p:nvSpPr>
            <p:cNvPr id="90" name="TextBox 90"/>
            <p:cNvSpPr txBox="1"/>
            <p:nvPr/>
          </p:nvSpPr>
          <p:spPr>
            <a:xfrm>
              <a:off x="752856" y="5010150"/>
              <a:ext cx="3736483" cy="352044"/>
            </a:xfrm>
            <a:prstGeom prst="rect">
              <a:avLst/>
            </a:prstGeom>
            <a:noFill/>
            <a:ln>
              <a:noFill/>
            </a:ln>
          </p:spPr>
          <p:txBody>
            <a:bodyPr wrap="none" lIns="0" tIns="0" rIns="0" bIns="0" anchor="t" anchorCtr="0">
              <a:spAutoFit/>
            </a:bodyPr>
            <a:lstStyle/>
            <a:p>
              <a:pPr algn="l"/>
              <a:r>
                <a:rPr lang="en-GB" sz="1800" b="1" dirty="0">
                  <a:solidFill>
                    <a:schemeClr val="dk1"/>
                  </a:solidFill>
                  <a:latin typeface="+mn-lt"/>
                  <a:ea typeface="+mn-ea"/>
                  <a:cs typeface="+mn-cs"/>
                </a:rPr>
                <a:t>HKD: 29 measured + 12 missing</a:t>
              </a:r>
            </a:p>
          </p:txBody>
        </p:sp>
      </p:grpSp>
      <p:grpSp>
        <p:nvGrpSpPr>
          <p:cNvPr id="97" name="unknown-outcomes"/>
          <p:cNvGrpSpPr/>
          <p:nvPr/>
        </p:nvGrpSpPr>
        <p:grpSpPr>
          <a:xfrm>
            <a:off x="6484620" y="2235200"/>
            <a:ext cx="4500496" cy="3012694"/>
            <a:chOff x="6484620" y="2235200"/>
            <a:chExt cx="4500496" cy="3012694"/>
          </a:xfrm>
        </p:grpSpPr>
        <p:sp>
          <p:nvSpPr>
            <p:cNvPr id="92" name="TextBox 92"/>
            <p:cNvSpPr txBox="1"/>
            <p:nvPr/>
          </p:nvSpPr>
          <p:spPr>
            <a:xfrm>
              <a:off x="6489192" y="2235200"/>
              <a:ext cx="760344"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KNOWN</a:t>
              </a:r>
            </a:p>
          </p:txBody>
        </p:sp>
        <p:sp>
          <p:nvSpPr>
            <p:cNvPr id="93" name="TextBox 93"/>
            <p:cNvSpPr txBox="1"/>
            <p:nvPr/>
          </p:nvSpPr>
          <p:spPr>
            <a:xfrm>
              <a:off x="6484620" y="2549525"/>
              <a:ext cx="4500496" cy="440055"/>
            </a:xfrm>
            <a:prstGeom prst="rect">
              <a:avLst/>
            </a:prstGeom>
            <a:noFill/>
            <a:ln>
              <a:noFill/>
            </a:ln>
          </p:spPr>
          <p:txBody>
            <a:bodyPr wrap="none" lIns="0" tIns="0" rIns="0" bIns="0" anchor="t" anchorCtr="0">
              <a:spAutoFit/>
            </a:bodyPr>
            <a:lstStyle/>
            <a:p>
              <a:pPr algn="l"/>
              <a:r>
                <a:rPr lang="en-GB" sz="2250" b="1" dirty="0">
                  <a:solidFill>
                    <a:schemeClr val="dk1"/>
                  </a:solidFill>
                  <a:latin typeface="+mn-lt"/>
                  <a:ea typeface="+mn-ea"/>
                  <a:cs typeface="+mn-cs"/>
                </a:rPr>
                <a:t>12 weights were not measured.</a:t>
              </a:r>
            </a:p>
          </p:txBody>
        </p:sp>
        <p:sp>
          <p:nvSpPr>
            <p:cNvPr id="94" name="TextBox 94"/>
            <p:cNvSpPr txBox="1"/>
            <p:nvPr/>
          </p:nvSpPr>
          <p:spPr>
            <a:xfrm>
              <a:off x="6489192" y="3282950"/>
              <a:ext cx="1037703"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UNKNOWN</a:t>
              </a:r>
            </a:p>
          </p:txBody>
        </p:sp>
        <p:sp>
          <p:nvSpPr>
            <p:cNvPr id="95" name="TextBox 95"/>
            <p:cNvSpPr txBox="1"/>
            <p:nvPr/>
          </p:nvSpPr>
          <p:spPr>
            <a:xfrm>
              <a:off x="6484620" y="3575050"/>
              <a:ext cx="2928995" cy="868680"/>
            </a:xfrm>
            <a:prstGeom prst="rect">
              <a:avLst/>
            </a:prstGeom>
            <a:noFill/>
            <a:ln>
              <a:noFill/>
            </a:ln>
          </p:spPr>
          <p:txBody>
            <a:bodyPr wrap="none" lIns="0" tIns="0" rIns="0" bIns="0" anchor="t" anchorCtr="0">
              <a:spAutoFit/>
            </a:bodyPr>
            <a:lstStyle/>
            <a:p>
              <a:pPr algn="l">
                <a:lnSpc>
                  <a:spcPts val="3375"/>
                </a:lnSpc>
              </a:pPr>
              <a:r>
                <a:rPr lang="en-GB" sz="2250" dirty="0">
                  <a:solidFill>
                    <a:schemeClr val="dk1"/>
                  </a:solidFill>
                  <a:latin typeface="+mn-lt"/>
                  <a:ea typeface="+mn-ea"/>
                  <a:cs typeface="+mn-cs"/>
                </a:rPr>
                <a:t>Less, similar or greater</a:t>
              </a:r>
              <a:br>
                <a:rPr lang="en-GB" sz="2250" dirty="0">
                  <a:solidFill>
                    <a:schemeClr val="dk1"/>
                  </a:solidFill>
                  <a:latin typeface="+mn-lt"/>
                  <a:ea typeface="+mn-ea"/>
                  <a:cs typeface="+mn-cs"/>
                </a:rPr>
              </a:br>
              <a:r>
                <a:rPr lang="en-GB" sz="2250" dirty="0">
                  <a:solidFill>
                    <a:schemeClr val="dk1"/>
                  </a:solidFill>
                  <a:latin typeface="+mn-lt"/>
                  <a:ea typeface="+mn-ea"/>
                  <a:cs typeface="+mn-cs"/>
                </a:rPr>
                <a:t>weight loss?</a:t>
              </a:r>
            </a:p>
          </p:txBody>
        </p:sp>
        <p:sp>
          <p:nvSpPr>
            <p:cNvPr id="96" name="TextBox 96"/>
            <p:cNvSpPr txBox="1"/>
            <p:nvPr/>
          </p:nvSpPr>
          <p:spPr>
            <a:xfrm>
              <a:off x="6486906" y="4895850"/>
              <a:ext cx="4121058" cy="352044"/>
            </a:xfrm>
            <a:prstGeom prst="rect">
              <a:avLst/>
            </a:prstGeom>
            <a:noFill/>
            <a:ln>
              <a:noFill/>
            </a:ln>
          </p:spPr>
          <p:txBody>
            <a:bodyPr wrap="none" lIns="0" tIns="0" rIns="0" bIns="0" anchor="t" anchorCtr="0">
              <a:spAutoFit/>
            </a:bodyPr>
            <a:lstStyle/>
            <a:p>
              <a:pPr algn="l"/>
              <a:r>
                <a:rPr lang="en-GB" sz="1800" dirty="0">
                  <a:solidFill>
                    <a:schemeClr val="accent5"/>
                  </a:solidFill>
                  <a:latin typeface="+mn-lt"/>
                  <a:ea typeface="+mn-ea"/>
                  <a:cs typeface="+mn-cs"/>
                </a:rPr>
                <a:t>Their dietary adherence may be good.</a:t>
              </a:r>
            </a:p>
          </p:txBody>
        </p:sp>
      </p:grpSp>
      <p:grpSp>
        <p:nvGrpSpPr>
          <p:cNvPr id="99" name="missing-consequence"/>
          <p:cNvGrpSpPr/>
          <p:nvPr/>
        </p:nvGrpSpPr>
        <p:grpSpPr>
          <a:xfrm>
            <a:off x="1787985" y="5788025"/>
            <a:ext cx="8616029" cy="440055"/>
            <a:chOff x="1787985" y="5788025"/>
            <a:chExt cx="8616029" cy="440055"/>
          </a:xfrm>
        </p:grpSpPr>
        <p:sp>
          <p:nvSpPr>
            <p:cNvPr id="98" name="TextBox 98"/>
            <p:cNvSpPr txBox="1"/>
            <p:nvPr/>
          </p:nvSpPr>
          <p:spPr>
            <a:xfrm>
              <a:off x="1787985" y="5788025"/>
              <a:ext cx="8616029" cy="440055"/>
            </a:xfrm>
            <a:prstGeom prst="rect">
              <a:avLst/>
            </a:prstGeom>
            <a:noFill/>
            <a:ln>
              <a:noFill/>
            </a:ln>
          </p:spPr>
          <p:txBody>
            <a:bodyPr wrap="none" lIns="0" tIns="0" rIns="0" bIns="0" anchor="t" anchorCtr="0">
              <a:spAutoFit/>
            </a:bodyPr>
            <a:lstStyle/>
            <a:p>
              <a:pPr algn="ctr"/>
              <a:r>
                <a:rPr lang="en-GB" sz="2250" b="1" dirty="0">
                  <a:solidFill>
                    <a:schemeClr val="dk1"/>
                  </a:solidFill>
                  <a:latin typeface="+mn-lt"/>
                  <a:ea typeface="+mn-ea"/>
                  <a:cs typeface="+mn-cs"/>
                </a:rPr>
                <a:t>Their unknown outcomes could change the group estimate.</a:t>
              </a:r>
            </a:p>
          </p:txBody>
        </p:sp>
      </p:grpSp>
      <p:sp>
        <p:nvSpPr>
          <p:cNvPr id="100" name="TextBox 100"/>
          <p:cNvSpPr txBox="1"/>
          <p:nvPr/>
        </p:nvSpPr>
        <p:spPr>
          <a:xfrm>
            <a:off x="508254" y="6467475"/>
            <a:ext cx="7950760"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Lim et al. 2024 · Figure 1 + Table 2 · Missing outcome measurements do not establish poor dietary adherence.</a:t>
            </a:r>
          </a:p>
        </p:txBody>
      </p:sp>
    </p:spTree>
  </p:cSld>
  <p:clrMapOvr>
    <a:masterClrMapping/>
  </p:clrMapOvr>
  <p:transitio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45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45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6190283" cy="264033"/>
            </a:xfrm>
            <a:prstGeom prst="rect">
              <a:avLst/>
            </a:prstGeom>
            <a:noFill/>
            <a:ln>
              <a:noFill/>
            </a:ln>
          </p:spPr>
          <p:txBody>
            <a:bodyPr wrap="none" lIns="0" tIns="0" rIns="0" bIns="0" anchor="t" anchorCtr="0">
              <a:spAutoFit/>
            </a:bodyPr>
            <a:lstStyle/>
            <a:p>
              <a:pPr algn="l"/>
              <a:r>
                <a:rPr lang="en-GB" sz="1350" b="1" dirty="0">
                  <a:solidFill>
                    <a:schemeClr val="accent3"/>
                  </a:solidFill>
                  <a:latin typeface="+mn-lt"/>
                  <a:ea typeface="+mn-ea"/>
                  <a:cs typeface="+mn-cs"/>
                </a:rPr>
                <a:t>ATTRITION · CONDITIONAL EXAMPLE, NOT A REPORTED FINDING</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5"/>
                  </a:solidFill>
                  <a:latin typeface="+mn-lt"/>
                  <a:ea typeface="+mn-ea"/>
                  <a:cs typeface="+mn-cs"/>
                </a:rPr>
                <a:t>10 / 11</a:t>
              </a:r>
            </a:p>
          </p:txBody>
        </p:sp>
      </p:grpSp>
      <p:grpSp>
        <p:nvGrpSpPr>
          <p:cNvPr id="6" name="scene-title"/>
          <p:cNvGrpSpPr/>
          <p:nvPr/>
        </p:nvGrpSpPr>
        <p:grpSpPr>
          <a:xfrm>
            <a:off x="495300" y="609600"/>
            <a:ext cx="9892169" cy="847725"/>
            <a:chOff x="495300" y="609600"/>
            <a:chExt cx="9892169" cy="847725"/>
          </a:xfrm>
        </p:grpSpPr>
        <p:sp>
          <p:nvSpPr>
            <p:cNvPr id="5" name="TextBox 5"/>
            <p:cNvSpPr txBox="1"/>
            <p:nvPr/>
          </p:nvSpPr>
          <p:spPr>
            <a:xfrm>
              <a:off x="495300" y="609600"/>
              <a:ext cx="9892169" cy="847725"/>
            </a:xfrm>
            <a:prstGeom prst="rect">
              <a:avLst/>
            </a:prstGeom>
            <a:noFill/>
            <a:ln>
              <a:noFill/>
            </a:ln>
          </p:spPr>
          <p:txBody>
            <a:bodyPr wrap="none" lIns="0" tIns="0" rIns="0" bIns="0" anchor="t" anchorCtr="0">
              <a:spAutoFit/>
            </a:bodyPr>
            <a:lstStyle/>
            <a:p>
              <a:pPr algn="l"/>
              <a:r>
                <a:rPr lang="en-GB" sz="4350" b="1" dirty="0">
                  <a:solidFill>
                    <a:schemeClr val="dk1"/>
                  </a:solidFill>
                  <a:latin typeface="+mj-lt"/>
                  <a:ea typeface="+mj-ea"/>
                  <a:cs typeface="+mj-cs"/>
                </a:rPr>
                <a:t>Missing weights may bias the result.</a:t>
              </a:r>
            </a:p>
          </p:txBody>
        </p:sp>
      </p:grpSp>
      <p:grpSp>
        <p:nvGrpSpPr>
          <p:cNvPr id="91" name="!!hkd-focus"/>
          <p:cNvGrpSpPr/>
          <p:nvPr/>
        </p:nvGrpSpPr>
        <p:grpSpPr>
          <a:xfrm>
            <a:off x="733806" y="2265045"/>
            <a:ext cx="2531364" cy="3005074"/>
            <a:chOff x="733806" y="2265045"/>
            <a:chExt cx="2531364" cy="3005074"/>
          </a:xfrm>
        </p:grpSpPr>
        <p:grpSp>
          <p:nvGrpSpPr>
            <p:cNvPr id="89" name="hkd-subset-chartArea"/>
            <p:cNvGrpSpPr/>
            <p:nvPr/>
          </p:nvGrpSpPr>
          <p:grpSpPr>
            <a:xfrm>
              <a:off x="758190" y="2265045"/>
              <a:ext cx="2506980" cy="1988820"/>
              <a:chOff x="758190" y="2265045"/>
              <a:chExt cx="2506980" cy="1988820"/>
            </a:xfrm>
          </p:grpSpPr>
          <p:sp>
            <p:nvSpPr>
              <p:cNvPr id="7" name="Ellipse 7"/>
              <p:cNvSpPr/>
              <p:nvPr/>
            </p:nvSpPr>
            <p:spPr>
              <a:xfrm>
                <a:off x="765810" y="2265045"/>
                <a:ext cx="91440" cy="91440"/>
              </a:xfrm>
              <a:prstGeom prst="ellipse">
                <a:avLst/>
              </a:prstGeom>
              <a:solidFill>
                <a:schemeClr val="accent3"/>
              </a:solidFill>
              <a:ln w="15240">
                <a:solidFill>
                  <a:schemeClr val="accent3"/>
                </a:solidFill>
              </a:ln>
            </p:spPr>
          </p:sp>
          <p:sp>
            <p:nvSpPr>
              <p:cNvPr id="8" name="Rectangle 8"/>
              <p:cNvSpPr/>
              <p:nvPr/>
            </p:nvSpPr>
            <p:spPr>
              <a:xfrm>
                <a:off x="758190" y="2386965"/>
                <a:ext cx="106680" cy="152400"/>
              </a:xfrm>
              <a:prstGeom prst="roundRect">
                <a:avLst>
                  <a:gd name="adj" fmla="val 35714"/>
                </a:avLst>
              </a:prstGeom>
              <a:solidFill>
                <a:schemeClr val="accent3"/>
              </a:solidFill>
              <a:ln w="15240">
                <a:solidFill>
                  <a:schemeClr val="accent3"/>
                </a:solidFill>
              </a:ln>
            </p:spPr>
          </p:sp>
          <p:sp>
            <p:nvSpPr>
              <p:cNvPr id="9" name="Ellipse 9"/>
              <p:cNvSpPr/>
              <p:nvPr/>
            </p:nvSpPr>
            <p:spPr>
              <a:xfrm>
                <a:off x="1108710" y="2265045"/>
                <a:ext cx="91440" cy="91440"/>
              </a:xfrm>
              <a:prstGeom prst="ellipse">
                <a:avLst/>
              </a:prstGeom>
              <a:solidFill>
                <a:schemeClr val="accent3"/>
              </a:solidFill>
              <a:ln w="15240">
                <a:solidFill>
                  <a:schemeClr val="accent3"/>
                </a:solidFill>
              </a:ln>
            </p:spPr>
          </p:sp>
          <p:sp>
            <p:nvSpPr>
              <p:cNvPr id="10" name="Rectangle 10"/>
              <p:cNvSpPr/>
              <p:nvPr/>
            </p:nvSpPr>
            <p:spPr>
              <a:xfrm>
                <a:off x="1101090" y="2386965"/>
                <a:ext cx="106680" cy="152400"/>
              </a:xfrm>
              <a:prstGeom prst="roundRect">
                <a:avLst>
                  <a:gd name="adj" fmla="val 35714"/>
                </a:avLst>
              </a:prstGeom>
              <a:solidFill>
                <a:schemeClr val="accent3"/>
              </a:solidFill>
              <a:ln w="15240">
                <a:solidFill>
                  <a:schemeClr val="accent3"/>
                </a:solidFill>
              </a:ln>
            </p:spPr>
          </p:sp>
          <p:sp>
            <p:nvSpPr>
              <p:cNvPr id="11" name="Ellipse 11"/>
              <p:cNvSpPr/>
              <p:nvPr/>
            </p:nvSpPr>
            <p:spPr>
              <a:xfrm>
                <a:off x="1451610" y="2265045"/>
                <a:ext cx="91440" cy="91440"/>
              </a:xfrm>
              <a:prstGeom prst="ellipse">
                <a:avLst/>
              </a:prstGeom>
              <a:solidFill>
                <a:schemeClr val="accent3"/>
              </a:solidFill>
              <a:ln w="15240">
                <a:solidFill>
                  <a:schemeClr val="accent3"/>
                </a:solidFill>
              </a:ln>
            </p:spPr>
          </p:sp>
          <p:sp>
            <p:nvSpPr>
              <p:cNvPr id="12" name="Rectangle 12"/>
              <p:cNvSpPr/>
              <p:nvPr/>
            </p:nvSpPr>
            <p:spPr>
              <a:xfrm>
                <a:off x="1443990" y="2386965"/>
                <a:ext cx="106680" cy="152400"/>
              </a:xfrm>
              <a:prstGeom prst="roundRect">
                <a:avLst>
                  <a:gd name="adj" fmla="val 35714"/>
                </a:avLst>
              </a:prstGeom>
              <a:solidFill>
                <a:schemeClr val="accent3"/>
              </a:solidFill>
              <a:ln w="15240">
                <a:solidFill>
                  <a:schemeClr val="accent3"/>
                </a:solidFill>
              </a:ln>
            </p:spPr>
          </p:sp>
          <p:sp>
            <p:nvSpPr>
              <p:cNvPr id="13" name="Ellipse 13"/>
              <p:cNvSpPr/>
              <p:nvPr/>
            </p:nvSpPr>
            <p:spPr>
              <a:xfrm>
                <a:off x="1794510" y="2265045"/>
                <a:ext cx="91440" cy="91440"/>
              </a:xfrm>
              <a:prstGeom prst="ellipse">
                <a:avLst/>
              </a:prstGeom>
              <a:solidFill>
                <a:schemeClr val="accent3"/>
              </a:solidFill>
              <a:ln w="15240">
                <a:solidFill>
                  <a:schemeClr val="accent3"/>
                </a:solidFill>
              </a:ln>
            </p:spPr>
          </p:sp>
          <p:sp>
            <p:nvSpPr>
              <p:cNvPr id="14" name="Rectangle 14"/>
              <p:cNvSpPr/>
              <p:nvPr/>
            </p:nvSpPr>
            <p:spPr>
              <a:xfrm>
                <a:off x="1786890" y="2386965"/>
                <a:ext cx="106680" cy="152400"/>
              </a:xfrm>
              <a:prstGeom prst="roundRect">
                <a:avLst>
                  <a:gd name="adj" fmla="val 35714"/>
                </a:avLst>
              </a:prstGeom>
              <a:solidFill>
                <a:schemeClr val="accent3"/>
              </a:solidFill>
              <a:ln w="15240">
                <a:solidFill>
                  <a:schemeClr val="accent3"/>
                </a:solidFill>
              </a:ln>
            </p:spPr>
          </p:sp>
          <p:sp>
            <p:nvSpPr>
              <p:cNvPr id="15" name="Ellipse 15"/>
              <p:cNvSpPr/>
              <p:nvPr/>
            </p:nvSpPr>
            <p:spPr>
              <a:xfrm>
                <a:off x="2137410" y="2265045"/>
                <a:ext cx="91440" cy="91440"/>
              </a:xfrm>
              <a:prstGeom prst="ellipse">
                <a:avLst/>
              </a:prstGeom>
              <a:solidFill>
                <a:schemeClr val="accent3"/>
              </a:solidFill>
              <a:ln w="15240">
                <a:solidFill>
                  <a:schemeClr val="accent3"/>
                </a:solidFill>
              </a:ln>
            </p:spPr>
          </p:sp>
          <p:sp>
            <p:nvSpPr>
              <p:cNvPr id="16" name="Rectangle 16"/>
              <p:cNvSpPr/>
              <p:nvPr/>
            </p:nvSpPr>
            <p:spPr>
              <a:xfrm>
                <a:off x="2129790" y="2386965"/>
                <a:ext cx="106680" cy="152400"/>
              </a:xfrm>
              <a:prstGeom prst="roundRect">
                <a:avLst>
                  <a:gd name="adj" fmla="val 35714"/>
                </a:avLst>
              </a:prstGeom>
              <a:solidFill>
                <a:schemeClr val="accent3"/>
              </a:solidFill>
              <a:ln w="15240">
                <a:solidFill>
                  <a:schemeClr val="accent3"/>
                </a:solidFill>
              </a:ln>
            </p:spPr>
          </p:sp>
          <p:sp>
            <p:nvSpPr>
              <p:cNvPr id="17" name="Ellipse 17"/>
              <p:cNvSpPr/>
              <p:nvPr/>
            </p:nvSpPr>
            <p:spPr>
              <a:xfrm>
                <a:off x="2480310" y="2265045"/>
                <a:ext cx="91440" cy="91440"/>
              </a:xfrm>
              <a:prstGeom prst="ellipse">
                <a:avLst/>
              </a:prstGeom>
              <a:solidFill>
                <a:schemeClr val="accent3"/>
              </a:solidFill>
              <a:ln w="15240">
                <a:solidFill>
                  <a:schemeClr val="accent3"/>
                </a:solidFill>
              </a:ln>
            </p:spPr>
          </p:sp>
          <p:sp>
            <p:nvSpPr>
              <p:cNvPr id="18" name="Rectangle 18"/>
              <p:cNvSpPr/>
              <p:nvPr/>
            </p:nvSpPr>
            <p:spPr>
              <a:xfrm>
                <a:off x="2472690" y="2386965"/>
                <a:ext cx="106680" cy="152400"/>
              </a:xfrm>
              <a:prstGeom prst="roundRect">
                <a:avLst>
                  <a:gd name="adj" fmla="val 35714"/>
                </a:avLst>
              </a:prstGeom>
              <a:solidFill>
                <a:schemeClr val="accent3"/>
              </a:solidFill>
              <a:ln w="15240">
                <a:solidFill>
                  <a:schemeClr val="accent3"/>
                </a:solidFill>
              </a:ln>
            </p:spPr>
          </p:sp>
          <p:sp>
            <p:nvSpPr>
              <p:cNvPr id="19" name="Ellipse 19"/>
              <p:cNvSpPr/>
              <p:nvPr/>
            </p:nvSpPr>
            <p:spPr>
              <a:xfrm>
                <a:off x="2823210" y="2265045"/>
                <a:ext cx="91440" cy="91440"/>
              </a:xfrm>
              <a:prstGeom prst="ellipse">
                <a:avLst/>
              </a:prstGeom>
              <a:solidFill>
                <a:schemeClr val="accent3"/>
              </a:solidFill>
              <a:ln w="15240">
                <a:solidFill>
                  <a:schemeClr val="accent3"/>
                </a:solidFill>
              </a:ln>
            </p:spPr>
          </p:sp>
          <p:sp>
            <p:nvSpPr>
              <p:cNvPr id="20" name="Rectangle 20"/>
              <p:cNvSpPr/>
              <p:nvPr/>
            </p:nvSpPr>
            <p:spPr>
              <a:xfrm>
                <a:off x="2815590" y="2386965"/>
                <a:ext cx="106680" cy="152400"/>
              </a:xfrm>
              <a:prstGeom prst="roundRect">
                <a:avLst>
                  <a:gd name="adj" fmla="val 35714"/>
                </a:avLst>
              </a:prstGeom>
              <a:solidFill>
                <a:schemeClr val="accent3"/>
              </a:solidFill>
              <a:ln w="15240">
                <a:solidFill>
                  <a:schemeClr val="accent3"/>
                </a:solidFill>
              </a:ln>
            </p:spPr>
          </p:sp>
          <p:sp>
            <p:nvSpPr>
              <p:cNvPr id="21" name="Ellipse 21"/>
              <p:cNvSpPr/>
              <p:nvPr/>
            </p:nvSpPr>
            <p:spPr>
              <a:xfrm>
                <a:off x="3166110" y="2265045"/>
                <a:ext cx="91440" cy="91440"/>
              </a:xfrm>
              <a:prstGeom prst="ellipse">
                <a:avLst/>
              </a:prstGeom>
              <a:solidFill>
                <a:schemeClr val="accent3"/>
              </a:solidFill>
              <a:ln w="15240">
                <a:solidFill>
                  <a:schemeClr val="accent3"/>
                </a:solidFill>
              </a:ln>
            </p:spPr>
          </p:sp>
          <p:sp>
            <p:nvSpPr>
              <p:cNvPr id="22" name="Rectangle 22"/>
              <p:cNvSpPr/>
              <p:nvPr/>
            </p:nvSpPr>
            <p:spPr>
              <a:xfrm>
                <a:off x="3158490" y="2386965"/>
                <a:ext cx="106680" cy="152400"/>
              </a:xfrm>
              <a:prstGeom prst="roundRect">
                <a:avLst>
                  <a:gd name="adj" fmla="val 35714"/>
                </a:avLst>
              </a:prstGeom>
              <a:solidFill>
                <a:schemeClr val="accent3"/>
              </a:solidFill>
              <a:ln w="15240">
                <a:solidFill>
                  <a:schemeClr val="accent3"/>
                </a:solidFill>
              </a:ln>
            </p:spPr>
          </p:sp>
          <p:sp>
            <p:nvSpPr>
              <p:cNvPr id="23" name="Ellipse 23"/>
              <p:cNvSpPr/>
              <p:nvPr/>
            </p:nvSpPr>
            <p:spPr>
              <a:xfrm>
                <a:off x="765810" y="2607945"/>
                <a:ext cx="91440" cy="91440"/>
              </a:xfrm>
              <a:prstGeom prst="ellipse">
                <a:avLst/>
              </a:prstGeom>
              <a:solidFill>
                <a:schemeClr val="accent3"/>
              </a:solidFill>
              <a:ln w="15240">
                <a:solidFill>
                  <a:schemeClr val="accent3"/>
                </a:solidFill>
              </a:ln>
            </p:spPr>
          </p:sp>
          <p:sp>
            <p:nvSpPr>
              <p:cNvPr id="24" name="Rectangle 24"/>
              <p:cNvSpPr/>
              <p:nvPr/>
            </p:nvSpPr>
            <p:spPr>
              <a:xfrm>
                <a:off x="758190" y="2729865"/>
                <a:ext cx="106680" cy="152400"/>
              </a:xfrm>
              <a:prstGeom prst="roundRect">
                <a:avLst>
                  <a:gd name="adj" fmla="val 35714"/>
                </a:avLst>
              </a:prstGeom>
              <a:solidFill>
                <a:schemeClr val="accent3"/>
              </a:solidFill>
              <a:ln w="15240">
                <a:solidFill>
                  <a:schemeClr val="accent3"/>
                </a:solidFill>
              </a:ln>
            </p:spPr>
          </p:sp>
          <p:sp>
            <p:nvSpPr>
              <p:cNvPr id="25" name="Ellipse 25"/>
              <p:cNvSpPr/>
              <p:nvPr/>
            </p:nvSpPr>
            <p:spPr>
              <a:xfrm>
                <a:off x="1108710" y="2607945"/>
                <a:ext cx="91440" cy="91440"/>
              </a:xfrm>
              <a:prstGeom prst="ellipse">
                <a:avLst/>
              </a:prstGeom>
              <a:solidFill>
                <a:schemeClr val="accent3"/>
              </a:solidFill>
              <a:ln w="15240">
                <a:solidFill>
                  <a:schemeClr val="accent3"/>
                </a:solidFill>
              </a:ln>
            </p:spPr>
          </p:sp>
          <p:sp>
            <p:nvSpPr>
              <p:cNvPr id="26" name="Rectangle 26"/>
              <p:cNvSpPr/>
              <p:nvPr/>
            </p:nvSpPr>
            <p:spPr>
              <a:xfrm>
                <a:off x="1101090" y="2729865"/>
                <a:ext cx="106680" cy="152400"/>
              </a:xfrm>
              <a:prstGeom prst="roundRect">
                <a:avLst>
                  <a:gd name="adj" fmla="val 35714"/>
                </a:avLst>
              </a:prstGeom>
              <a:solidFill>
                <a:schemeClr val="accent3"/>
              </a:solidFill>
              <a:ln w="15240">
                <a:solidFill>
                  <a:schemeClr val="accent3"/>
                </a:solidFill>
              </a:ln>
            </p:spPr>
          </p:sp>
          <p:sp>
            <p:nvSpPr>
              <p:cNvPr id="27" name="Ellipse 27"/>
              <p:cNvSpPr/>
              <p:nvPr/>
            </p:nvSpPr>
            <p:spPr>
              <a:xfrm>
                <a:off x="1451610" y="2607945"/>
                <a:ext cx="91440" cy="91440"/>
              </a:xfrm>
              <a:prstGeom prst="ellipse">
                <a:avLst/>
              </a:prstGeom>
              <a:solidFill>
                <a:schemeClr val="accent3"/>
              </a:solidFill>
              <a:ln w="15240">
                <a:solidFill>
                  <a:schemeClr val="accent3"/>
                </a:solidFill>
              </a:ln>
            </p:spPr>
          </p:sp>
          <p:sp>
            <p:nvSpPr>
              <p:cNvPr id="28" name="Rectangle 28"/>
              <p:cNvSpPr/>
              <p:nvPr/>
            </p:nvSpPr>
            <p:spPr>
              <a:xfrm>
                <a:off x="1443990" y="2729865"/>
                <a:ext cx="106680" cy="152400"/>
              </a:xfrm>
              <a:prstGeom prst="roundRect">
                <a:avLst>
                  <a:gd name="adj" fmla="val 35714"/>
                </a:avLst>
              </a:prstGeom>
              <a:solidFill>
                <a:schemeClr val="accent3"/>
              </a:solidFill>
              <a:ln w="15240">
                <a:solidFill>
                  <a:schemeClr val="accent3"/>
                </a:solidFill>
              </a:ln>
            </p:spPr>
          </p:sp>
          <p:sp>
            <p:nvSpPr>
              <p:cNvPr id="29" name="Ellipse 29"/>
              <p:cNvSpPr/>
              <p:nvPr/>
            </p:nvSpPr>
            <p:spPr>
              <a:xfrm>
                <a:off x="1794510" y="2607945"/>
                <a:ext cx="91440" cy="91440"/>
              </a:xfrm>
              <a:prstGeom prst="ellipse">
                <a:avLst/>
              </a:prstGeom>
              <a:solidFill>
                <a:schemeClr val="accent3"/>
              </a:solidFill>
              <a:ln w="15240">
                <a:solidFill>
                  <a:schemeClr val="accent3"/>
                </a:solidFill>
              </a:ln>
            </p:spPr>
          </p:sp>
          <p:sp>
            <p:nvSpPr>
              <p:cNvPr id="30" name="Rectangle 30"/>
              <p:cNvSpPr/>
              <p:nvPr/>
            </p:nvSpPr>
            <p:spPr>
              <a:xfrm>
                <a:off x="1786890" y="2729865"/>
                <a:ext cx="106680" cy="152400"/>
              </a:xfrm>
              <a:prstGeom prst="roundRect">
                <a:avLst>
                  <a:gd name="adj" fmla="val 35714"/>
                </a:avLst>
              </a:prstGeom>
              <a:solidFill>
                <a:schemeClr val="accent3"/>
              </a:solidFill>
              <a:ln w="15240">
                <a:solidFill>
                  <a:schemeClr val="accent3"/>
                </a:solidFill>
              </a:ln>
            </p:spPr>
          </p:sp>
          <p:sp>
            <p:nvSpPr>
              <p:cNvPr id="31" name="Ellipse 31"/>
              <p:cNvSpPr/>
              <p:nvPr/>
            </p:nvSpPr>
            <p:spPr>
              <a:xfrm>
                <a:off x="2137410" y="2607945"/>
                <a:ext cx="91440" cy="91440"/>
              </a:xfrm>
              <a:prstGeom prst="ellipse">
                <a:avLst/>
              </a:prstGeom>
              <a:solidFill>
                <a:schemeClr val="accent3"/>
              </a:solidFill>
              <a:ln w="15240">
                <a:solidFill>
                  <a:schemeClr val="accent3"/>
                </a:solidFill>
              </a:ln>
            </p:spPr>
          </p:sp>
          <p:sp>
            <p:nvSpPr>
              <p:cNvPr id="32" name="Rectangle 32"/>
              <p:cNvSpPr/>
              <p:nvPr/>
            </p:nvSpPr>
            <p:spPr>
              <a:xfrm>
                <a:off x="2129790" y="2729865"/>
                <a:ext cx="106680" cy="152400"/>
              </a:xfrm>
              <a:prstGeom prst="roundRect">
                <a:avLst>
                  <a:gd name="adj" fmla="val 35714"/>
                </a:avLst>
              </a:prstGeom>
              <a:solidFill>
                <a:schemeClr val="accent3"/>
              </a:solidFill>
              <a:ln w="15240">
                <a:solidFill>
                  <a:schemeClr val="accent3"/>
                </a:solidFill>
              </a:ln>
            </p:spPr>
          </p:sp>
          <p:sp>
            <p:nvSpPr>
              <p:cNvPr id="33" name="Ellipse 33"/>
              <p:cNvSpPr/>
              <p:nvPr/>
            </p:nvSpPr>
            <p:spPr>
              <a:xfrm>
                <a:off x="2480310" y="2607945"/>
                <a:ext cx="91440" cy="91440"/>
              </a:xfrm>
              <a:prstGeom prst="ellipse">
                <a:avLst/>
              </a:prstGeom>
              <a:solidFill>
                <a:schemeClr val="accent3"/>
              </a:solidFill>
              <a:ln w="15240">
                <a:solidFill>
                  <a:schemeClr val="accent3"/>
                </a:solidFill>
              </a:ln>
            </p:spPr>
          </p:sp>
          <p:sp>
            <p:nvSpPr>
              <p:cNvPr id="34" name="Rectangle 34"/>
              <p:cNvSpPr/>
              <p:nvPr/>
            </p:nvSpPr>
            <p:spPr>
              <a:xfrm>
                <a:off x="2472690" y="2729865"/>
                <a:ext cx="106680" cy="152400"/>
              </a:xfrm>
              <a:prstGeom prst="roundRect">
                <a:avLst>
                  <a:gd name="adj" fmla="val 35714"/>
                </a:avLst>
              </a:prstGeom>
              <a:solidFill>
                <a:schemeClr val="accent3"/>
              </a:solidFill>
              <a:ln w="15240">
                <a:solidFill>
                  <a:schemeClr val="accent3"/>
                </a:solidFill>
              </a:ln>
            </p:spPr>
          </p:sp>
          <p:sp>
            <p:nvSpPr>
              <p:cNvPr id="35" name="Ellipse 35"/>
              <p:cNvSpPr/>
              <p:nvPr/>
            </p:nvSpPr>
            <p:spPr>
              <a:xfrm>
                <a:off x="2823210" y="2607945"/>
                <a:ext cx="91440" cy="91440"/>
              </a:xfrm>
              <a:prstGeom prst="ellipse">
                <a:avLst/>
              </a:prstGeom>
              <a:solidFill>
                <a:schemeClr val="accent3"/>
              </a:solidFill>
              <a:ln w="15240">
                <a:solidFill>
                  <a:schemeClr val="accent3"/>
                </a:solidFill>
              </a:ln>
            </p:spPr>
          </p:sp>
          <p:sp>
            <p:nvSpPr>
              <p:cNvPr id="36" name="Rectangle 36"/>
              <p:cNvSpPr/>
              <p:nvPr/>
            </p:nvSpPr>
            <p:spPr>
              <a:xfrm>
                <a:off x="2815590" y="2729865"/>
                <a:ext cx="106680" cy="152400"/>
              </a:xfrm>
              <a:prstGeom prst="roundRect">
                <a:avLst>
                  <a:gd name="adj" fmla="val 35714"/>
                </a:avLst>
              </a:prstGeom>
              <a:solidFill>
                <a:schemeClr val="accent3"/>
              </a:solidFill>
              <a:ln w="15240">
                <a:solidFill>
                  <a:schemeClr val="accent3"/>
                </a:solidFill>
              </a:ln>
            </p:spPr>
          </p:sp>
          <p:sp>
            <p:nvSpPr>
              <p:cNvPr id="37" name="Ellipse 37"/>
              <p:cNvSpPr/>
              <p:nvPr/>
            </p:nvSpPr>
            <p:spPr>
              <a:xfrm>
                <a:off x="3166110" y="2607945"/>
                <a:ext cx="91440" cy="91440"/>
              </a:xfrm>
              <a:prstGeom prst="ellipse">
                <a:avLst/>
              </a:prstGeom>
              <a:solidFill>
                <a:schemeClr val="accent3"/>
              </a:solidFill>
              <a:ln w="15240">
                <a:solidFill>
                  <a:schemeClr val="accent3"/>
                </a:solidFill>
              </a:ln>
            </p:spPr>
          </p:sp>
          <p:sp>
            <p:nvSpPr>
              <p:cNvPr id="38" name="Rectangle 38"/>
              <p:cNvSpPr/>
              <p:nvPr/>
            </p:nvSpPr>
            <p:spPr>
              <a:xfrm>
                <a:off x="3158490" y="2729865"/>
                <a:ext cx="106680" cy="152400"/>
              </a:xfrm>
              <a:prstGeom prst="roundRect">
                <a:avLst>
                  <a:gd name="adj" fmla="val 35714"/>
                </a:avLst>
              </a:prstGeom>
              <a:solidFill>
                <a:schemeClr val="accent3"/>
              </a:solidFill>
              <a:ln w="15240">
                <a:solidFill>
                  <a:schemeClr val="accent3"/>
                </a:solidFill>
              </a:ln>
            </p:spPr>
          </p:sp>
          <p:sp>
            <p:nvSpPr>
              <p:cNvPr id="39" name="Ellipse 39"/>
              <p:cNvSpPr/>
              <p:nvPr/>
            </p:nvSpPr>
            <p:spPr>
              <a:xfrm>
                <a:off x="765810" y="2950845"/>
                <a:ext cx="91440" cy="91440"/>
              </a:xfrm>
              <a:prstGeom prst="ellipse">
                <a:avLst/>
              </a:prstGeom>
              <a:solidFill>
                <a:schemeClr val="accent3"/>
              </a:solidFill>
              <a:ln w="15240">
                <a:solidFill>
                  <a:schemeClr val="accent3"/>
                </a:solidFill>
              </a:ln>
            </p:spPr>
          </p:sp>
          <p:sp>
            <p:nvSpPr>
              <p:cNvPr id="40" name="Rectangle 40"/>
              <p:cNvSpPr/>
              <p:nvPr/>
            </p:nvSpPr>
            <p:spPr>
              <a:xfrm>
                <a:off x="758190" y="3072765"/>
                <a:ext cx="106680" cy="152400"/>
              </a:xfrm>
              <a:prstGeom prst="roundRect">
                <a:avLst>
                  <a:gd name="adj" fmla="val 35714"/>
                </a:avLst>
              </a:prstGeom>
              <a:solidFill>
                <a:schemeClr val="accent3"/>
              </a:solidFill>
              <a:ln w="15240">
                <a:solidFill>
                  <a:schemeClr val="accent3"/>
                </a:solidFill>
              </a:ln>
            </p:spPr>
          </p:sp>
          <p:sp>
            <p:nvSpPr>
              <p:cNvPr id="41" name="Ellipse 41"/>
              <p:cNvSpPr/>
              <p:nvPr/>
            </p:nvSpPr>
            <p:spPr>
              <a:xfrm>
                <a:off x="1108710" y="2950845"/>
                <a:ext cx="91440" cy="91440"/>
              </a:xfrm>
              <a:prstGeom prst="ellipse">
                <a:avLst/>
              </a:prstGeom>
              <a:solidFill>
                <a:schemeClr val="accent3"/>
              </a:solidFill>
              <a:ln w="15240">
                <a:solidFill>
                  <a:schemeClr val="accent3"/>
                </a:solidFill>
              </a:ln>
            </p:spPr>
          </p:sp>
          <p:sp>
            <p:nvSpPr>
              <p:cNvPr id="42" name="Rectangle 42"/>
              <p:cNvSpPr/>
              <p:nvPr/>
            </p:nvSpPr>
            <p:spPr>
              <a:xfrm>
                <a:off x="1101090" y="3072765"/>
                <a:ext cx="106680" cy="152400"/>
              </a:xfrm>
              <a:prstGeom prst="roundRect">
                <a:avLst>
                  <a:gd name="adj" fmla="val 35714"/>
                </a:avLst>
              </a:prstGeom>
              <a:solidFill>
                <a:schemeClr val="accent3"/>
              </a:solidFill>
              <a:ln w="15240">
                <a:solidFill>
                  <a:schemeClr val="accent3"/>
                </a:solidFill>
              </a:ln>
            </p:spPr>
          </p:sp>
          <p:sp>
            <p:nvSpPr>
              <p:cNvPr id="43" name="Ellipse 43"/>
              <p:cNvSpPr/>
              <p:nvPr/>
            </p:nvSpPr>
            <p:spPr>
              <a:xfrm>
                <a:off x="1451610" y="2950845"/>
                <a:ext cx="91440" cy="91440"/>
              </a:xfrm>
              <a:prstGeom prst="ellipse">
                <a:avLst/>
              </a:prstGeom>
              <a:solidFill>
                <a:schemeClr val="accent3"/>
              </a:solidFill>
              <a:ln w="15240">
                <a:solidFill>
                  <a:schemeClr val="accent3"/>
                </a:solidFill>
              </a:ln>
            </p:spPr>
          </p:sp>
          <p:sp>
            <p:nvSpPr>
              <p:cNvPr id="44" name="Rectangle 44"/>
              <p:cNvSpPr/>
              <p:nvPr/>
            </p:nvSpPr>
            <p:spPr>
              <a:xfrm>
                <a:off x="1443990" y="3072765"/>
                <a:ext cx="106680" cy="152400"/>
              </a:xfrm>
              <a:prstGeom prst="roundRect">
                <a:avLst>
                  <a:gd name="adj" fmla="val 35714"/>
                </a:avLst>
              </a:prstGeom>
              <a:solidFill>
                <a:schemeClr val="accent3"/>
              </a:solidFill>
              <a:ln w="15240">
                <a:solidFill>
                  <a:schemeClr val="accent3"/>
                </a:solidFill>
              </a:ln>
            </p:spPr>
          </p:sp>
          <p:sp>
            <p:nvSpPr>
              <p:cNvPr id="45" name="Ellipse 45"/>
              <p:cNvSpPr/>
              <p:nvPr/>
            </p:nvSpPr>
            <p:spPr>
              <a:xfrm>
                <a:off x="1794510" y="2950845"/>
                <a:ext cx="91440" cy="91440"/>
              </a:xfrm>
              <a:prstGeom prst="ellipse">
                <a:avLst/>
              </a:prstGeom>
              <a:solidFill>
                <a:schemeClr val="accent3"/>
              </a:solidFill>
              <a:ln w="15240">
                <a:solidFill>
                  <a:schemeClr val="accent3"/>
                </a:solidFill>
              </a:ln>
            </p:spPr>
          </p:sp>
          <p:sp>
            <p:nvSpPr>
              <p:cNvPr id="46" name="Rectangle 46"/>
              <p:cNvSpPr/>
              <p:nvPr/>
            </p:nvSpPr>
            <p:spPr>
              <a:xfrm>
                <a:off x="1786890" y="3072765"/>
                <a:ext cx="106680" cy="152400"/>
              </a:xfrm>
              <a:prstGeom prst="roundRect">
                <a:avLst>
                  <a:gd name="adj" fmla="val 35714"/>
                </a:avLst>
              </a:prstGeom>
              <a:solidFill>
                <a:schemeClr val="accent3"/>
              </a:solidFill>
              <a:ln w="15240">
                <a:solidFill>
                  <a:schemeClr val="accent3"/>
                </a:solidFill>
              </a:ln>
            </p:spPr>
          </p:sp>
          <p:sp>
            <p:nvSpPr>
              <p:cNvPr id="47" name="Ellipse 47"/>
              <p:cNvSpPr/>
              <p:nvPr/>
            </p:nvSpPr>
            <p:spPr>
              <a:xfrm>
                <a:off x="2137410" y="2950845"/>
                <a:ext cx="91440" cy="91440"/>
              </a:xfrm>
              <a:prstGeom prst="ellipse">
                <a:avLst/>
              </a:prstGeom>
              <a:solidFill>
                <a:schemeClr val="accent3"/>
              </a:solidFill>
              <a:ln w="15240">
                <a:solidFill>
                  <a:schemeClr val="accent3"/>
                </a:solidFill>
              </a:ln>
            </p:spPr>
          </p:sp>
          <p:sp>
            <p:nvSpPr>
              <p:cNvPr id="48" name="Rectangle 48"/>
              <p:cNvSpPr/>
              <p:nvPr/>
            </p:nvSpPr>
            <p:spPr>
              <a:xfrm>
                <a:off x="2129790" y="3072765"/>
                <a:ext cx="106680" cy="152400"/>
              </a:xfrm>
              <a:prstGeom prst="roundRect">
                <a:avLst>
                  <a:gd name="adj" fmla="val 35714"/>
                </a:avLst>
              </a:prstGeom>
              <a:solidFill>
                <a:schemeClr val="accent3"/>
              </a:solidFill>
              <a:ln w="15240">
                <a:solidFill>
                  <a:schemeClr val="accent3"/>
                </a:solidFill>
              </a:ln>
            </p:spPr>
          </p:sp>
          <p:sp>
            <p:nvSpPr>
              <p:cNvPr id="49" name="Ellipse 49"/>
              <p:cNvSpPr/>
              <p:nvPr/>
            </p:nvSpPr>
            <p:spPr>
              <a:xfrm>
                <a:off x="2480310" y="2950845"/>
                <a:ext cx="91440" cy="91440"/>
              </a:xfrm>
              <a:prstGeom prst="ellipse">
                <a:avLst/>
              </a:prstGeom>
              <a:solidFill>
                <a:schemeClr val="accent3"/>
              </a:solidFill>
              <a:ln w="15240">
                <a:solidFill>
                  <a:schemeClr val="accent3"/>
                </a:solidFill>
              </a:ln>
            </p:spPr>
          </p:sp>
          <p:sp>
            <p:nvSpPr>
              <p:cNvPr id="50" name="Rectangle 50"/>
              <p:cNvSpPr/>
              <p:nvPr/>
            </p:nvSpPr>
            <p:spPr>
              <a:xfrm>
                <a:off x="2472690" y="3072765"/>
                <a:ext cx="106680" cy="152400"/>
              </a:xfrm>
              <a:prstGeom prst="roundRect">
                <a:avLst>
                  <a:gd name="adj" fmla="val 35714"/>
                </a:avLst>
              </a:prstGeom>
              <a:solidFill>
                <a:schemeClr val="accent3"/>
              </a:solidFill>
              <a:ln w="15240">
                <a:solidFill>
                  <a:schemeClr val="accent3"/>
                </a:solidFill>
              </a:ln>
            </p:spPr>
          </p:sp>
          <p:sp>
            <p:nvSpPr>
              <p:cNvPr id="51" name="Ellipse 51"/>
              <p:cNvSpPr/>
              <p:nvPr/>
            </p:nvSpPr>
            <p:spPr>
              <a:xfrm>
                <a:off x="2823210" y="2950845"/>
                <a:ext cx="91440" cy="91440"/>
              </a:xfrm>
              <a:prstGeom prst="ellipse">
                <a:avLst/>
              </a:prstGeom>
              <a:solidFill>
                <a:schemeClr val="accent3"/>
              </a:solidFill>
              <a:ln w="15240">
                <a:solidFill>
                  <a:schemeClr val="accent3"/>
                </a:solidFill>
              </a:ln>
            </p:spPr>
          </p:sp>
          <p:sp>
            <p:nvSpPr>
              <p:cNvPr id="52" name="Rectangle 52"/>
              <p:cNvSpPr/>
              <p:nvPr/>
            </p:nvSpPr>
            <p:spPr>
              <a:xfrm>
                <a:off x="2815590" y="3072765"/>
                <a:ext cx="106680" cy="152400"/>
              </a:xfrm>
              <a:prstGeom prst="roundRect">
                <a:avLst>
                  <a:gd name="adj" fmla="val 35714"/>
                </a:avLst>
              </a:prstGeom>
              <a:solidFill>
                <a:schemeClr val="accent3"/>
              </a:solidFill>
              <a:ln w="15240">
                <a:solidFill>
                  <a:schemeClr val="accent3"/>
                </a:solidFill>
              </a:ln>
            </p:spPr>
          </p:sp>
          <p:sp>
            <p:nvSpPr>
              <p:cNvPr id="53" name="Ellipse 53"/>
              <p:cNvSpPr/>
              <p:nvPr/>
            </p:nvSpPr>
            <p:spPr>
              <a:xfrm>
                <a:off x="3166110" y="2950845"/>
                <a:ext cx="91440" cy="91440"/>
              </a:xfrm>
              <a:prstGeom prst="ellipse">
                <a:avLst/>
              </a:prstGeom>
              <a:solidFill>
                <a:schemeClr val="accent3"/>
              </a:solidFill>
              <a:ln w="15240">
                <a:solidFill>
                  <a:schemeClr val="accent3"/>
                </a:solidFill>
              </a:ln>
            </p:spPr>
          </p:sp>
          <p:sp>
            <p:nvSpPr>
              <p:cNvPr id="54" name="Rectangle 54"/>
              <p:cNvSpPr/>
              <p:nvPr/>
            </p:nvSpPr>
            <p:spPr>
              <a:xfrm>
                <a:off x="3158490" y="3072765"/>
                <a:ext cx="106680" cy="152400"/>
              </a:xfrm>
              <a:prstGeom prst="roundRect">
                <a:avLst>
                  <a:gd name="adj" fmla="val 35714"/>
                </a:avLst>
              </a:prstGeom>
              <a:solidFill>
                <a:schemeClr val="accent3"/>
              </a:solidFill>
              <a:ln w="15240">
                <a:solidFill>
                  <a:schemeClr val="accent3"/>
                </a:solidFill>
              </a:ln>
            </p:spPr>
          </p:sp>
          <p:sp>
            <p:nvSpPr>
              <p:cNvPr id="55" name="Ellipse 55"/>
              <p:cNvSpPr/>
              <p:nvPr/>
            </p:nvSpPr>
            <p:spPr>
              <a:xfrm>
                <a:off x="765810" y="3293745"/>
                <a:ext cx="91440" cy="91440"/>
              </a:xfrm>
              <a:prstGeom prst="ellipse">
                <a:avLst/>
              </a:prstGeom>
              <a:solidFill>
                <a:schemeClr val="accent3"/>
              </a:solidFill>
              <a:ln w="15240">
                <a:solidFill>
                  <a:schemeClr val="accent3"/>
                </a:solidFill>
              </a:ln>
            </p:spPr>
          </p:sp>
          <p:sp>
            <p:nvSpPr>
              <p:cNvPr id="56" name="Rectangle 56"/>
              <p:cNvSpPr/>
              <p:nvPr/>
            </p:nvSpPr>
            <p:spPr>
              <a:xfrm>
                <a:off x="758190" y="3415665"/>
                <a:ext cx="106680" cy="152400"/>
              </a:xfrm>
              <a:prstGeom prst="roundRect">
                <a:avLst>
                  <a:gd name="adj" fmla="val 35714"/>
                </a:avLst>
              </a:prstGeom>
              <a:solidFill>
                <a:schemeClr val="accent3"/>
              </a:solidFill>
              <a:ln w="15240">
                <a:solidFill>
                  <a:schemeClr val="accent3"/>
                </a:solidFill>
              </a:ln>
            </p:spPr>
          </p:sp>
          <p:sp>
            <p:nvSpPr>
              <p:cNvPr id="57" name="Ellipse 57"/>
              <p:cNvSpPr/>
              <p:nvPr/>
            </p:nvSpPr>
            <p:spPr>
              <a:xfrm>
                <a:off x="1108710" y="3293745"/>
                <a:ext cx="91440" cy="91440"/>
              </a:xfrm>
              <a:prstGeom prst="ellipse">
                <a:avLst/>
              </a:prstGeom>
              <a:solidFill>
                <a:schemeClr val="accent3"/>
              </a:solidFill>
              <a:ln w="15240">
                <a:solidFill>
                  <a:schemeClr val="accent3"/>
                </a:solidFill>
              </a:ln>
            </p:spPr>
          </p:sp>
          <p:sp>
            <p:nvSpPr>
              <p:cNvPr id="58" name="Rectangle 58"/>
              <p:cNvSpPr/>
              <p:nvPr/>
            </p:nvSpPr>
            <p:spPr>
              <a:xfrm>
                <a:off x="1101090" y="3415665"/>
                <a:ext cx="106680" cy="152400"/>
              </a:xfrm>
              <a:prstGeom prst="roundRect">
                <a:avLst>
                  <a:gd name="adj" fmla="val 35714"/>
                </a:avLst>
              </a:prstGeom>
              <a:solidFill>
                <a:schemeClr val="accent3"/>
              </a:solidFill>
              <a:ln w="15240">
                <a:solidFill>
                  <a:schemeClr val="accent3"/>
                </a:solidFill>
              </a:ln>
            </p:spPr>
          </p:sp>
          <p:sp>
            <p:nvSpPr>
              <p:cNvPr id="59" name="Ellipse 59"/>
              <p:cNvSpPr/>
              <p:nvPr/>
            </p:nvSpPr>
            <p:spPr>
              <a:xfrm>
                <a:off x="1451610" y="3293745"/>
                <a:ext cx="91440" cy="91440"/>
              </a:xfrm>
              <a:prstGeom prst="ellipse">
                <a:avLst/>
              </a:prstGeom>
              <a:solidFill>
                <a:schemeClr val="accent3"/>
              </a:solidFill>
              <a:ln w="15240">
                <a:solidFill>
                  <a:schemeClr val="accent3"/>
                </a:solidFill>
              </a:ln>
            </p:spPr>
          </p:sp>
          <p:sp>
            <p:nvSpPr>
              <p:cNvPr id="60" name="Rectangle 60"/>
              <p:cNvSpPr/>
              <p:nvPr/>
            </p:nvSpPr>
            <p:spPr>
              <a:xfrm>
                <a:off x="1443990" y="3415665"/>
                <a:ext cx="106680" cy="152400"/>
              </a:xfrm>
              <a:prstGeom prst="roundRect">
                <a:avLst>
                  <a:gd name="adj" fmla="val 35714"/>
                </a:avLst>
              </a:prstGeom>
              <a:solidFill>
                <a:schemeClr val="accent3"/>
              </a:solidFill>
              <a:ln w="15240">
                <a:solidFill>
                  <a:schemeClr val="accent3"/>
                </a:solidFill>
              </a:ln>
            </p:spPr>
          </p:sp>
          <p:sp>
            <p:nvSpPr>
              <p:cNvPr id="61" name="Ellipse 61"/>
              <p:cNvSpPr/>
              <p:nvPr/>
            </p:nvSpPr>
            <p:spPr>
              <a:xfrm>
                <a:off x="1794510" y="3293745"/>
                <a:ext cx="91440" cy="91440"/>
              </a:xfrm>
              <a:prstGeom prst="ellipse">
                <a:avLst/>
              </a:prstGeom>
              <a:solidFill>
                <a:schemeClr val="accent3"/>
              </a:solidFill>
              <a:ln w="15240">
                <a:solidFill>
                  <a:schemeClr val="accent3"/>
                </a:solidFill>
              </a:ln>
            </p:spPr>
          </p:sp>
          <p:sp>
            <p:nvSpPr>
              <p:cNvPr id="62" name="Rectangle 62"/>
              <p:cNvSpPr/>
              <p:nvPr/>
            </p:nvSpPr>
            <p:spPr>
              <a:xfrm>
                <a:off x="1786890" y="3415665"/>
                <a:ext cx="106680" cy="152400"/>
              </a:xfrm>
              <a:prstGeom prst="roundRect">
                <a:avLst>
                  <a:gd name="adj" fmla="val 35714"/>
                </a:avLst>
              </a:prstGeom>
              <a:solidFill>
                <a:schemeClr val="accent3"/>
              </a:solidFill>
              <a:ln w="15240">
                <a:solidFill>
                  <a:schemeClr val="accent3"/>
                </a:solidFill>
              </a:ln>
            </p:spPr>
          </p:sp>
          <p:sp>
            <p:nvSpPr>
              <p:cNvPr id="63" name="Ellipse 63"/>
              <p:cNvSpPr/>
              <p:nvPr/>
            </p:nvSpPr>
            <p:spPr>
              <a:xfrm>
                <a:off x="2137410" y="3293745"/>
                <a:ext cx="91440" cy="91440"/>
              </a:xfrm>
              <a:prstGeom prst="ellipse">
                <a:avLst/>
              </a:prstGeom>
              <a:solidFill>
                <a:schemeClr val="accent3"/>
              </a:solidFill>
              <a:ln w="15240">
                <a:solidFill>
                  <a:schemeClr val="accent3"/>
                </a:solidFill>
              </a:ln>
            </p:spPr>
          </p:sp>
          <p:sp>
            <p:nvSpPr>
              <p:cNvPr id="64" name="Rectangle 64"/>
              <p:cNvSpPr/>
              <p:nvPr/>
            </p:nvSpPr>
            <p:spPr>
              <a:xfrm>
                <a:off x="2129790" y="3415665"/>
                <a:ext cx="106680" cy="152400"/>
              </a:xfrm>
              <a:prstGeom prst="roundRect">
                <a:avLst>
                  <a:gd name="adj" fmla="val 35714"/>
                </a:avLst>
              </a:prstGeom>
              <a:solidFill>
                <a:schemeClr val="accent3"/>
              </a:solidFill>
              <a:ln w="15240">
                <a:solidFill>
                  <a:schemeClr val="accent3"/>
                </a:solidFill>
              </a:ln>
            </p:spPr>
          </p:sp>
          <p:sp>
            <p:nvSpPr>
              <p:cNvPr id="65" name="Ellipse 65"/>
              <p:cNvSpPr/>
              <p:nvPr/>
            </p:nvSpPr>
            <p:spPr>
              <a:xfrm>
                <a:off x="2480310" y="3293745"/>
                <a:ext cx="91440" cy="91440"/>
              </a:xfrm>
              <a:prstGeom prst="ellipse">
                <a:avLst/>
              </a:prstGeom>
              <a:noFill/>
              <a:ln w="15240">
                <a:solidFill>
                  <a:schemeClr val="accent2"/>
                </a:solidFill>
              </a:ln>
            </p:spPr>
          </p:sp>
          <p:sp>
            <p:nvSpPr>
              <p:cNvPr id="66" name="Rectangle 66"/>
              <p:cNvSpPr/>
              <p:nvPr/>
            </p:nvSpPr>
            <p:spPr>
              <a:xfrm>
                <a:off x="2472690" y="3415665"/>
                <a:ext cx="106680" cy="152400"/>
              </a:xfrm>
              <a:prstGeom prst="roundRect">
                <a:avLst>
                  <a:gd name="adj" fmla="val 35714"/>
                </a:avLst>
              </a:prstGeom>
              <a:noFill/>
              <a:ln w="15240">
                <a:solidFill>
                  <a:schemeClr val="accent2"/>
                </a:solidFill>
              </a:ln>
            </p:spPr>
          </p:sp>
          <p:sp>
            <p:nvSpPr>
              <p:cNvPr id="67" name="Ellipse 67"/>
              <p:cNvSpPr/>
              <p:nvPr/>
            </p:nvSpPr>
            <p:spPr>
              <a:xfrm>
                <a:off x="2823210" y="3293745"/>
                <a:ext cx="91440" cy="91440"/>
              </a:xfrm>
              <a:prstGeom prst="ellipse">
                <a:avLst/>
              </a:prstGeom>
              <a:noFill/>
              <a:ln w="15240">
                <a:solidFill>
                  <a:schemeClr val="accent2"/>
                </a:solidFill>
              </a:ln>
            </p:spPr>
          </p:sp>
          <p:sp>
            <p:nvSpPr>
              <p:cNvPr id="68" name="Rectangle 68"/>
              <p:cNvSpPr/>
              <p:nvPr/>
            </p:nvSpPr>
            <p:spPr>
              <a:xfrm>
                <a:off x="2815590" y="3415665"/>
                <a:ext cx="106680" cy="152400"/>
              </a:xfrm>
              <a:prstGeom prst="roundRect">
                <a:avLst>
                  <a:gd name="adj" fmla="val 35714"/>
                </a:avLst>
              </a:prstGeom>
              <a:noFill/>
              <a:ln w="15240">
                <a:solidFill>
                  <a:schemeClr val="accent2"/>
                </a:solidFill>
              </a:ln>
            </p:spPr>
          </p:sp>
          <p:sp>
            <p:nvSpPr>
              <p:cNvPr id="69" name="Ellipse 69"/>
              <p:cNvSpPr/>
              <p:nvPr/>
            </p:nvSpPr>
            <p:spPr>
              <a:xfrm>
                <a:off x="3166110" y="3293745"/>
                <a:ext cx="91440" cy="91440"/>
              </a:xfrm>
              <a:prstGeom prst="ellipse">
                <a:avLst/>
              </a:prstGeom>
              <a:noFill/>
              <a:ln w="15240">
                <a:solidFill>
                  <a:schemeClr val="accent2"/>
                </a:solidFill>
              </a:ln>
            </p:spPr>
          </p:sp>
          <p:sp>
            <p:nvSpPr>
              <p:cNvPr id="70" name="Rectangle 70"/>
              <p:cNvSpPr/>
              <p:nvPr/>
            </p:nvSpPr>
            <p:spPr>
              <a:xfrm>
                <a:off x="3158490" y="3415665"/>
                <a:ext cx="106680" cy="152400"/>
              </a:xfrm>
              <a:prstGeom prst="roundRect">
                <a:avLst>
                  <a:gd name="adj" fmla="val 35714"/>
                </a:avLst>
              </a:prstGeom>
              <a:noFill/>
              <a:ln w="15240">
                <a:solidFill>
                  <a:schemeClr val="accent2"/>
                </a:solidFill>
              </a:ln>
            </p:spPr>
          </p:sp>
          <p:sp>
            <p:nvSpPr>
              <p:cNvPr id="71" name="Ellipse 71"/>
              <p:cNvSpPr/>
              <p:nvPr/>
            </p:nvSpPr>
            <p:spPr>
              <a:xfrm>
                <a:off x="765810" y="3636645"/>
                <a:ext cx="91440" cy="91440"/>
              </a:xfrm>
              <a:prstGeom prst="ellipse">
                <a:avLst/>
              </a:prstGeom>
              <a:noFill/>
              <a:ln w="15240">
                <a:solidFill>
                  <a:schemeClr val="accent2"/>
                </a:solidFill>
              </a:ln>
            </p:spPr>
          </p:sp>
          <p:sp>
            <p:nvSpPr>
              <p:cNvPr id="72" name="Rectangle 72"/>
              <p:cNvSpPr/>
              <p:nvPr/>
            </p:nvSpPr>
            <p:spPr>
              <a:xfrm>
                <a:off x="758190" y="3758565"/>
                <a:ext cx="106680" cy="152400"/>
              </a:xfrm>
              <a:prstGeom prst="roundRect">
                <a:avLst>
                  <a:gd name="adj" fmla="val 35714"/>
                </a:avLst>
              </a:prstGeom>
              <a:noFill/>
              <a:ln w="15240">
                <a:solidFill>
                  <a:schemeClr val="accent2"/>
                </a:solidFill>
              </a:ln>
            </p:spPr>
          </p:sp>
          <p:sp>
            <p:nvSpPr>
              <p:cNvPr id="73" name="Ellipse 73"/>
              <p:cNvSpPr/>
              <p:nvPr/>
            </p:nvSpPr>
            <p:spPr>
              <a:xfrm>
                <a:off x="1108710" y="3636645"/>
                <a:ext cx="91440" cy="91440"/>
              </a:xfrm>
              <a:prstGeom prst="ellipse">
                <a:avLst/>
              </a:prstGeom>
              <a:noFill/>
              <a:ln w="15240">
                <a:solidFill>
                  <a:schemeClr val="accent2"/>
                </a:solidFill>
              </a:ln>
            </p:spPr>
          </p:sp>
          <p:sp>
            <p:nvSpPr>
              <p:cNvPr id="74" name="Rectangle 74"/>
              <p:cNvSpPr/>
              <p:nvPr/>
            </p:nvSpPr>
            <p:spPr>
              <a:xfrm>
                <a:off x="1101090" y="3758565"/>
                <a:ext cx="106680" cy="152400"/>
              </a:xfrm>
              <a:prstGeom prst="roundRect">
                <a:avLst>
                  <a:gd name="adj" fmla="val 35714"/>
                </a:avLst>
              </a:prstGeom>
              <a:noFill/>
              <a:ln w="15240">
                <a:solidFill>
                  <a:schemeClr val="accent2"/>
                </a:solidFill>
              </a:ln>
            </p:spPr>
          </p:sp>
          <p:sp>
            <p:nvSpPr>
              <p:cNvPr id="75" name="Ellipse 75"/>
              <p:cNvSpPr/>
              <p:nvPr/>
            </p:nvSpPr>
            <p:spPr>
              <a:xfrm>
                <a:off x="1451610" y="3636645"/>
                <a:ext cx="91440" cy="91440"/>
              </a:xfrm>
              <a:prstGeom prst="ellipse">
                <a:avLst/>
              </a:prstGeom>
              <a:noFill/>
              <a:ln w="15240">
                <a:solidFill>
                  <a:schemeClr val="accent2"/>
                </a:solidFill>
              </a:ln>
            </p:spPr>
          </p:sp>
          <p:sp>
            <p:nvSpPr>
              <p:cNvPr id="76" name="Rectangle 76"/>
              <p:cNvSpPr/>
              <p:nvPr/>
            </p:nvSpPr>
            <p:spPr>
              <a:xfrm>
                <a:off x="1443990" y="3758565"/>
                <a:ext cx="106680" cy="152400"/>
              </a:xfrm>
              <a:prstGeom prst="roundRect">
                <a:avLst>
                  <a:gd name="adj" fmla="val 35714"/>
                </a:avLst>
              </a:prstGeom>
              <a:noFill/>
              <a:ln w="15240">
                <a:solidFill>
                  <a:schemeClr val="accent2"/>
                </a:solidFill>
              </a:ln>
            </p:spPr>
          </p:sp>
          <p:sp>
            <p:nvSpPr>
              <p:cNvPr id="77" name="Ellipse 77"/>
              <p:cNvSpPr/>
              <p:nvPr/>
            </p:nvSpPr>
            <p:spPr>
              <a:xfrm>
                <a:off x="1794510" y="3636645"/>
                <a:ext cx="91440" cy="91440"/>
              </a:xfrm>
              <a:prstGeom prst="ellipse">
                <a:avLst/>
              </a:prstGeom>
              <a:noFill/>
              <a:ln w="15240">
                <a:solidFill>
                  <a:schemeClr val="accent2"/>
                </a:solidFill>
              </a:ln>
            </p:spPr>
          </p:sp>
          <p:sp>
            <p:nvSpPr>
              <p:cNvPr id="78" name="Rectangle 78"/>
              <p:cNvSpPr/>
              <p:nvPr/>
            </p:nvSpPr>
            <p:spPr>
              <a:xfrm>
                <a:off x="1786890" y="3758565"/>
                <a:ext cx="106680" cy="152400"/>
              </a:xfrm>
              <a:prstGeom prst="roundRect">
                <a:avLst>
                  <a:gd name="adj" fmla="val 35714"/>
                </a:avLst>
              </a:prstGeom>
              <a:noFill/>
              <a:ln w="15240">
                <a:solidFill>
                  <a:schemeClr val="accent2"/>
                </a:solidFill>
              </a:ln>
            </p:spPr>
          </p:sp>
          <p:sp>
            <p:nvSpPr>
              <p:cNvPr id="79" name="Ellipse 79"/>
              <p:cNvSpPr/>
              <p:nvPr/>
            </p:nvSpPr>
            <p:spPr>
              <a:xfrm>
                <a:off x="2137410" y="3636645"/>
                <a:ext cx="91440" cy="91440"/>
              </a:xfrm>
              <a:prstGeom prst="ellipse">
                <a:avLst/>
              </a:prstGeom>
              <a:noFill/>
              <a:ln w="15240">
                <a:solidFill>
                  <a:schemeClr val="accent2"/>
                </a:solidFill>
              </a:ln>
            </p:spPr>
          </p:sp>
          <p:sp>
            <p:nvSpPr>
              <p:cNvPr id="80" name="Rectangle 80"/>
              <p:cNvSpPr/>
              <p:nvPr/>
            </p:nvSpPr>
            <p:spPr>
              <a:xfrm>
                <a:off x="2129790" y="3758565"/>
                <a:ext cx="106680" cy="152400"/>
              </a:xfrm>
              <a:prstGeom prst="roundRect">
                <a:avLst>
                  <a:gd name="adj" fmla="val 35714"/>
                </a:avLst>
              </a:prstGeom>
              <a:noFill/>
              <a:ln w="15240">
                <a:solidFill>
                  <a:schemeClr val="accent2"/>
                </a:solidFill>
              </a:ln>
            </p:spPr>
          </p:sp>
          <p:sp>
            <p:nvSpPr>
              <p:cNvPr id="81" name="Ellipse 81"/>
              <p:cNvSpPr/>
              <p:nvPr/>
            </p:nvSpPr>
            <p:spPr>
              <a:xfrm>
                <a:off x="2480310" y="3636645"/>
                <a:ext cx="91440" cy="91440"/>
              </a:xfrm>
              <a:prstGeom prst="ellipse">
                <a:avLst/>
              </a:prstGeom>
              <a:noFill/>
              <a:ln w="15240">
                <a:solidFill>
                  <a:schemeClr val="accent2"/>
                </a:solidFill>
              </a:ln>
            </p:spPr>
          </p:sp>
          <p:sp>
            <p:nvSpPr>
              <p:cNvPr id="82" name="Rectangle 82"/>
              <p:cNvSpPr/>
              <p:nvPr/>
            </p:nvSpPr>
            <p:spPr>
              <a:xfrm>
                <a:off x="2472690" y="3758565"/>
                <a:ext cx="106680" cy="152400"/>
              </a:xfrm>
              <a:prstGeom prst="roundRect">
                <a:avLst>
                  <a:gd name="adj" fmla="val 35714"/>
                </a:avLst>
              </a:prstGeom>
              <a:noFill/>
              <a:ln w="15240">
                <a:solidFill>
                  <a:schemeClr val="accent2"/>
                </a:solidFill>
              </a:ln>
            </p:spPr>
          </p:sp>
          <p:sp>
            <p:nvSpPr>
              <p:cNvPr id="83" name="Ellipse 83"/>
              <p:cNvSpPr/>
              <p:nvPr/>
            </p:nvSpPr>
            <p:spPr>
              <a:xfrm>
                <a:off x="2823210" y="3636645"/>
                <a:ext cx="91440" cy="91440"/>
              </a:xfrm>
              <a:prstGeom prst="ellipse">
                <a:avLst/>
              </a:prstGeom>
              <a:noFill/>
              <a:ln w="15240">
                <a:solidFill>
                  <a:schemeClr val="accent2"/>
                </a:solidFill>
              </a:ln>
            </p:spPr>
          </p:sp>
          <p:sp>
            <p:nvSpPr>
              <p:cNvPr id="84" name="Rectangle 84"/>
              <p:cNvSpPr/>
              <p:nvPr/>
            </p:nvSpPr>
            <p:spPr>
              <a:xfrm>
                <a:off x="2815590" y="3758565"/>
                <a:ext cx="106680" cy="152400"/>
              </a:xfrm>
              <a:prstGeom prst="roundRect">
                <a:avLst>
                  <a:gd name="adj" fmla="val 35714"/>
                </a:avLst>
              </a:prstGeom>
              <a:noFill/>
              <a:ln w="15240">
                <a:solidFill>
                  <a:schemeClr val="accent2"/>
                </a:solidFill>
              </a:ln>
            </p:spPr>
          </p:sp>
          <p:sp>
            <p:nvSpPr>
              <p:cNvPr id="85" name="Ellipse 85"/>
              <p:cNvSpPr/>
              <p:nvPr/>
            </p:nvSpPr>
            <p:spPr>
              <a:xfrm>
                <a:off x="3166110" y="3636645"/>
                <a:ext cx="91440" cy="91440"/>
              </a:xfrm>
              <a:prstGeom prst="ellipse">
                <a:avLst/>
              </a:prstGeom>
              <a:noFill/>
              <a:ln w="15240">
                <a:solidFill>
                  <a:schemeClr val="accent2"/>
                </a:solidFill>
              </a:ln>
            </p:spPr>
          </p:sp>
          <p:sp>
            <p:nvSpPr>
              <p:cNvPr id="86" name="Rectangle 86"/>
              <p:cNvSpPr/>
              <p:nvPr/>
            </p:nvSpPr>
            <p:spPr>
              <a:xfrm>
                <a:off x="3158490" y="3758565"/>
                <a:ext cx="106680" cy="152400"/>
              </a:xfrm>
              <a:prstGeom prst="roundRect">
                <a:avLst>
                  <a:gd name="adj" fmla="val 35714"/>
                </a:avLst>
              </a:prstGeom>
              <a:noFill/>
              <a:ln w="15240">
                <a:solidFill>
                  <a:schemeClr val="accent2"/>
                </a:solidFill>
              </a:ln>
            </p:spPr>
          </p:sp>
          <p:sp>
            <p:nvSpPr>
              <p:cNvPr id="87" name="Ellipse 87"/>
              <p:cNvSpPr/>
              <p:nvPr/>
            </p:nvSpPr>
            <p:spPr>
              <a:xfrm>
                <a:off x="765810" y="3979545"/>
                <a:ext cx="91440" cy="91440"/>
              </a:xfrm>
              <a:prstGeom prst="ellipse">
                <a:avLst/>
              </a:prstGeom>
              <a:noFill/>
              <a:ln w="15240">
                <a:solidFill>
                  <a:schemeClr val="accent2"/>
                </a:solidFill>
              </a:ln>
            </p:spPr>
          </p:sp>
          <p:sp>
            <p:nvSpPr>
              <p:cNvPr id="88" name="Rectangle 88"/>
              <p:cNvSpPr/>
              <p:nvPr/>
            </p:nvSpPr>
            <p:spPr>
              <a:xfrm>
                <a:off x="758190" y="4101465"/>
                <a:ext cx="106680" cy="152400"/>
              </a:xfrm>
              <a:prstGeom prst="roundRect">
                <a:avLst>
                  <a:gd name="adj" fmla="val 35714"/>
                </a:avLst>
              </a:prstGeom>
              <a:noFill/>
              <a:ln w="15240">
                <a:solidFill>
                  <a:schemeClr val="accent2"/>
                </a:solidFill>
              </a:ln>
            </p:spPr>
          </p:sp>
        </p:grpSp>
        <p:sp>
          <p:nvSpPr>
            <p:cNvPr id="90" name="TextBox 90"/>
            <p:cNvSpPr txBox="1"/>
            <p:nvPr/>
          </p:nvSpPr>
          <p:spPr>
            <a:xfrm>
              <a:off x="733806" y="4594225"/>
              <a:ext cx="1416177" cy="675894"/>
            </a:xfrm>
            <a:prstGeom prst="rect">
              <a:avLst/>
            </a:prstGeom>
            <a:noFill/>
            <a:ln>
              <a:noFill/>
            </a:ln>
          </p:spPr>
          <p:txBody>
            <a:bodyPr wrap="none" lIns="0" tIns="0" rIns="0" bIns="0" anchor="t" anchorCtr="0">
              <a:spAutoFit/>
            </a:bodyPr>
            <a:lstStyle/>
            <a:p>
              <a:pPr algn="l">
                <a:lnSpc>
                  <a:spcPts val="2550"/>
                </a:lnSpc>
              </a:pPr>
              <a:r>
                <a:rPr lang="en-GB" sz="1800" b="1" dirty="0">
                  <a:solidFill>
                    <a:schemeClr val="dk1"/>
                  </a:solidFill>
                  <a:latin typeface="+mn-lt"/>
                  <a:ea typeface="+mn-ea"/>
                  <a:cs typeface="+mn-cs"/>
                </a:rPr>
                <a:t>29 measured</a:t>
              </a:r>
              <a:br>
                <a:rPr lang="en-GB" sz="1800" b="1" dirty="0">
                  <a:solidFill>
                    <a:schemeClr val="dk1"/>
                  </a:solidFill>
                  <a:latin typeface="+mn-lt"/>
                  <a:ea typeface="+mn-ea"/>
                  <a:cs typeface="+mn-cs"/>
                </a:rPr>
              </a:br>
              <a:r>
                <a:rPr lang="en-GB" sz="1800" b="1" dirty="0">
                  <a:solidFill>
                    <a:schemeClr val="dk1"/>
                  </a:solidFill>
                  <a:latin typeface="+mn-lt"/>
                  <a:ea typeface="+mn-ea"/>
                  <a:cs typeface="+mn-cs"/>
                </a:rPr>
                <a:t>12 missing</a:t>
              </a:r>
            </a:p>
          </p:txBody>
        </p:sp>
      </p:grpSp>
      <p:grpSp>
        <p:nvGrpSpPr>
          <p:cNvPr id="96" name="selection-mechanism"/>
          <p:cNvGrpSpPr/>
          <p:nvPr/>
        </p:nvGrpSpPr>
        <p:grpSpPr>
          <a:xfrm>
            <a:off x="4634484" y="2133600"/>
            <a:ext cx="6168242" cy="3083941"/>
            <a:chOff x="4634484" y="2133600"/>
            <a:chExt cx="6168242" cy="3083941"/>
          </a:xfrm>
        </p:grpSpPr>
        <p:sp>
          <p:nvSpPr>
            <p:cNvPr id="92" name="TextBox 92"/>
            <p:cNvSpPr txBox="1"/>
            <p:nvPr/>
          </p:nvSpPr>
          <p:spPr>
            <a:xfrm>
              <a:off x="4639056" y="2133600"/>
              <a:ext cx="6163670" cy="352044"/>
            </a:xfrm>
            <a:prstGeom prst="rect">
              <a:avLst/>
            </a:prstGeom>
            <a:noFill/>
            <a:ln>
              <a:noFill/>
            </a:ln>
          </p:spPr>
          <p:txBody>
            <a:bodyPr wrap="none" lIns="0" tIns="0" rIns="0" bIns="0" anchor="t" anchorCtr="0">
              <a:spAutoFit/>
            </a:bodyPr>
            <a:lstStyle/>
            <a:p>
              <a:pPr algn="l"/>
              <a:r>
                <a:rPr lang="en-GB" sz="1800" b="1" dirty="0">
                  <a:solidFill>
                    <a:schemeClr val="accent2"/>
                  </a:solidFill>
                  <a:latin typeface="+mn-lt"/>
                  <a:ea typeface="+mn-ea"/>
                  <a:cs typeface="+mn-cs"/>
                </a:rPr>
                <a:t>IF POORER HKD RESPONDERS WERE MISSING…</a:t>
              </a:r>
            </a:p>
          </p:txBody>
        </p:sp>
        <p:sp>
          <p:nvSpPr>
            <p:cNvPr id="93" name="TextBox 93"/>
            <p:cNvSpPr txBox="1"/>
            <p:nvPr/>
          </p:nvSpPr>
          <p:spPr>
            <a:xfrm>
              <a:off x="4636770" y="2613025"/>
              <a:ext cx="3929005" cy="868680"/>
            </a:xfrm>
            <a:prstGeom prst="rect">
              <a:avLst/>
            </a:prstGeom>
            <a:noFill/>
            <a:ln>
              <a:noFill/>
            </a:ln>
          </p:spPr>
          <p:txBody>
            <a:bodyPr wrap="none" lIns="0" tIns="0" rIns="0" bIns="0" anchor="t" anchorCtr="0">
              <a:spAutoFit/>
            </a:bodyPr>
            <a:lstStyle/>
            <a:p>
              <a:pPr algn="l">
                <a:lnSpc>
                  <a:spcPts val="3375"/>
                </a:lnSpc>
              </a:pPr>
              <a:r>
                <a:rPr lang="en-GB" sz="2250" b="1" dirty="0">
                  <a:solidFill>
                    <a:schemeClr val="dk1"/>
                  </a:solidFill>
                  <a:latin typeface="+mn-lt"/>
                  <a:ea typeface="+mn-ea"/>
                  <a:cs typeface="+mn-cs"/>
                </a:rPr>
                <a:t>The measured HKD subset</a:t>
              </a:r>
              <a:br>
                <a:rPr lang="en-GB" sz="2250" b="1" dirty="0">
                  <a:solidFill>
                    <a:schemeClr val="dk1"/>
                  </a:solidFill>
                  <a:latin typeface="+mn-lt"/>
                  <a:ea typeface="+mn-ea"/>
                  <a:cs typeface="+mn-cs"/>
                </a:rPr>
              </a:br>
              <a:r>
                <a:rPr lang="en-GB" sz="2250" b="1" dirty="0">
                  <a:solidFill>
                    <a:schemeClr val="dk1"/>
                  </a:solidFill>
                  <a:latin typeface="+mn-lt"/>
                  <a:ea typeface="+mn-ea"/>
                  <a:cs typeface="+mn-cs"/>
                </a:rPr>
                <a:t>would look more successful.</a:t>
              </a:r>
            </a:p>
          </p:txBody>
        </p:sp>
        <p:sp>
          <p:nvSpPr>
            <p:cNvPr id="94" name="Line 94"/>
            <p:cNvSpPr/>
            <p:nvPr/>
          </p:nvSpPr>
          <p:spPr>
            <a:xfrm>
              <a:off x="4857750" y="3657600"/>
              <a:ext cx="1" cy="400050"/>
            </a:xfrm>
            <a:prstGeom prst="line">
              <a:avLst/>
            </a:prstGeom>
            <a:noFill/>
            <a:ln w="38100">
              <a:solidFill>
                <a:schemeClr val="accent3"/>
              </a:solidFill>
              <a:tailEnd type="triangle" w="lg" len="lg"/>
            </a:ln>
          </p:spPr>
        </p:sp>
        <p:sp>
          <p:nvSpPr>
            <p:cNvPr id="95" name="TextBox 95"/>
            <p:cNvSpPr txBox="1"/>
            <p:nvPr/>
          </p:nvSpPr>
          <p:spPr>
            <a:xfrm>
              <a:off x="4634484" y="4260850"/>
              <a:ext cx="4696118" cy="956691"/>
            </a:xfrm>
            <a:prstGeom prst="rect">
              <a:avLst/>
            </a:prstGeom>
            <a:noFill/>
            <a:ln>
              <a:noFill/>
            </a:ln>
          </p:spPr>
          <p:txBody>
            <a:bodyPr wrap="none" lIns="0" tIns="0" rIns="0" bIns="0" anchor="t" anchorCtr="0">
              <a:spAutoFit/>
            </a:bodyPr>
            <a:lstStyle/>
            <a:p>
              <a:pPr algn="l">
                <a:lnSpc>
                  <a:spcPts val="3375"/>
                </a:lnSpc>
              </a:pPr>
              <a:r>
                <a:rPr lang="en-GB" sz="2700" b="1" dirty="0">
                  <a:solidFill>
                    <a:schemeClr val="accent3"/>
                  </a:solidFill>
                  <a:latin typeface="+mj-lt"/>
                  <a:ea typeface="+mj-ea"/>
                  <a:cs typeface="+mj-cs"/>
                </a:rPr>
                <a:t>The apparent HKD advantage</a:t>
              </a:r>
              <a:br>
                <a:rPr lang="en-GB" sz="2700" b="1" dirty="0">
                  <a:solidFill>
                    <a:schemeClr val="accent3"/>
                  </a:solidFill>
                  <a:latin typeface="+mj-lt"/>
                  <a:ea typeface="+mj-ea"/>
                  <a:cs typeface="+mj-cs"/>
                </a:rPr>
              </a:br>
              <a:r>
                <a:rPr lang="en-GB" sz="2700" b="1" dirty="0">
                  <a:solidFill>
                    <a:schemeClr val="accent3"/>
                  </a:solidFill>
                  <a:latin typeface="+mj-lt"/>
                  <a:ea typeface="+mj-ea"/>
                  <a:cs typeface="+mj-cs"/>
                </a:rPr>
                <a:t>could be exaggerated.</a:t>
              </a:r>
            </a:p>
          </p:txBody>
        </p:sp>
      </p:grpSp>
      <p:grpSp>
        <p:nvGrpSpPr>
          <p:cNvPr id="99" name="selection-consequence"/>
          <p:cNvGrpSpPr/>
          <p:nvPr/>
        </p:nvGrpSpPr>
        <p:grpSpPr>
          <a:xfrm>
            <a:off x="1902543" y="5629275"/>
            <a:ext cx="8386914" cy="694944"/>
            <a:chOff x="1902543" y="5629275"/>
            <a:chExt cx="8386914" cy="694944"/>
          </a:xfrm>
        </p:grpSpPr>
        <p:sp>
          <p:nvSpPr>
            <p:cNvPr id="97" name="TextBox 97"/>
            <p:cNvSpPr txBox="1"/>
            <p:nvPr/>
          </p:nvSpPr>
          <p:spPr>
            <a:xfrm>
              <a:off x="1902543" y="5629275"/>
              <a:ext cx="8386914" cy="352044"/>
            </a:xfrm>
            <a:prstGeom prst="rect">
              <a:avLst/>
            </a:prstGeom>
            <a:noFill/>
            <a:ln>
              <a:noFill/>
            </a:ln>
          </p:spPr>
          <p:txBody>
            <a:bodyPr wrap="none" lIns="0" tIns="0" rIns="0" bIns="0" anchor="t" anchorCtr="0">
              <a:spAutoFit/>
            </a:bodyPr>
            <a:lstStyle/>
            <a:p>
              <a:pPr algn="ctr"/>
              <a:r>
                <a:rPr lang="en-GB" sz="1800" b="1" dirty="0">
                  <a:solidFill>
                    <a:schemeClr val="dk1"/>
                  </a:solidFill>
                  <a:latin typeface="+mn-lt"/>
                  <a:ea typeface="+mn-ea"/>
                  <a:cs typeface="+mn-cs"/>
                </a:rPr>
                <a:t>Potential attrition bias; other missingness patterns could shrink the gap.</a:t>
              </a:r>
            </a:p>
          </p:txBody>
        </p:sp>
        <p:sp>
          <p:nvSpPr>
            <p:cNvPr id="98" name="TextBox 98"/>
            <p:cNvSpPr txBox="1"/>
            <p:nvPr/>
          </p:nvSpPr>
          <p:spPr>
            <a:xfrm>
              <a:off x="3342242" y="5972175"/>
              <a:ext cx="5507516" cy="352044"/>
            </a:xfrm>
            <a:prstGeom prst="rect">
              <a:avLst/>
            </a:prstGeom>
            <a:noFill/>
            <a:ln>
              <a:noFill/>
            </a:ln>
          </p:spPr>
          <p:txBody>
            <a:bodyPr wrap="none" lIns="0" tIns="0" rIns="0" bIns="0" anchor="t" anchorCtr="0">
              <a:spAutoFit/>
            </a:bodyPr>
            <a:lstStyle/>
            <a:p>
              <a:pPr algn="ctr"/>
              <a:r>
                <a:rPr lang="en-GB" sz="1800" dirty="0">
                  <a:solidFill>
                    <a:schemeClr val="accent5"/>
                  </a:solidFill>
                  <a:latin typeface="+mn-lt"/>
                  <a:ea typeface="+mn-ea"/>
                  <a:cs typeface="+mn-cs"/>
                </a:rPr>
                <a:t>Missing-outcome handling is not clear in the report.</a:t>
              </a:r>
            </a:p>
          </p:txBody>
        </p:sp>
      </p:grpSp>
      <p:sp>
        <p:nvSpPr>
          <p:cNvPr id="100" name="TextBox 100"/>
          <p:cNvSpPr txBox="1"/>
          <p:nvPr/>
        </p:nvSpPr>
        <p:spPr>
          <a:xfrm>
            <a:off x="508254" y="6467475"/>
            <a:ext cx="7793290"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Figure 1 + Table 2 + Methods 2.9 · The actual direction of any missing-data bias cannot be established here.</a:t>
            </a:r>
          </a:p>
        </p:txBody>
      </p:sp>
    </p:spTree>
  </p:cSld>
  <p:clrMapOvr>
    <a:masterClrMapping/>
  </p:clrMapOvr>
  <mc:AlternateContent>
    <mc:Choice Requires="p159">
      <p:transition p14:dur="1000">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scene-chrome"/>
          <p:cNvGrpSpPr/>
          <p:nvPr/>
        </p:nvGrpSpPr>
        <p:grpSpPr>
          <a:xfrm>
            <a:off x="507492" y="244475"/>
            <a:ext cx="11177016" cy="264033"/>
            <a:chOff x="507492" y="244475"/>
            <a:chExt cx="11177016" cy="264033"/>
          </a:xfrm>
        </p:grpSpPr>
        <p:sp>
          <p:nvSpPr>
            <p:cNvPr id="2" name="TextBox 2"/>
            <p:cNvSpPr txBox="1"/>
            <p:nvPr/>
          </p:nvSpPr>
          <p:spPr>
            <a:xfrm>
              <a:off x="507492" y="244475"/>
              <a:ext cx="6649566" cy="264033"/>
            </a:xfrm>
            <a:prstGeom prst="rect">
              <a:avLst/>
            </a:prstGeom>
            <a:noFill/>
            <a:ln>
              <a:noFill/>
            </a:ln>
          </p:spPr>
          <p:txBody>
            <a:bodyPr wrap="none" lIns="0" tIns="0" rIns="0" bIns="0" anchor="t" anchorCtr="0">
              <a:spAutoFit/>
            </a:bodyPr>
            <a:lstStyle/>
            <a:p>
              <a:pPr algn="l"/>
              <a:r>
                <a:rPr lang="en-GB" sz="1350" b="1" dirty="0">
                  <a:solidFill>
                    <a:schemeClr val="accent2"/>
                  </a:solidFill>
                  <a:latin typeface="+mn-lt"/>
                  <a:ea typeface="+mn-ea"/>
                  <a:cs typeface="+mn-cs"/>
                </a:rPr>
                <a:t>STUDY DESIGN · APPRAISE THE RESULT, THEN LIMIT THE INFERENCE</a:t>
              </a:r>
            </a:p>
          </p:txBody>
        </p:sp>
        <p:sp>
          <p:nvSpPr>
            <p:cNvPr id="3" name="TextBox 3"/>
            <p:cNvSpPr txBox="1"/>
            <p:nvPr/>
          </p:nvSpPr>
          <p:spPr>
            <a:xfrm>
              <a:off x="11115004" y="244475"/>
              <a:ext cx="569504" cy="264033"/>
            </a:xfrm>
            <a:prstGeom prst="rect">
              <a:avLst/>
            </a:prstGeom>
            <a:noFill/>
            <a:ln>
              <a:noFill/>
            </a:ln>
          </p:spPr>
          <p:txBody>
            <a:bodyPr wrap="none" lIns="0" tIns="0" rIns="0" bIns="0" anchor="t" anchorCtr="0">
              <a:spAutoFit/>
            </a:bodyPr>
            <a:lstStyle/>
            <a:p>
              <a:pPr algn="r"/>
              <a:r>
                <a:rPr lang="en-GB" sz="1350" dirty="0">
                  <a:solidFill>
                    <a:schemeClr val="accent6"/>
                  </a:solidFill>
                  <a:latin typeface="+mn-lt"/>
                  <a:ea typeface="+mn-ea"/>
                  <a:cs typeface="+mn-cs"/>
                </a:rPr>
                <a:t>11 / 11</a:t>
              </a:r>
            </a:p>
          </p:txBody>
        </p:sp>
      </p:grpSp>
      <p:grpSp>
        <p:nvGrpSpPr>
          <p:cNvPr id="6" name="scene-title"/>
          <p:cNvGrpSpPr/>
          <p:nvPr/>
        </p:nvGrpSpPr>
        <p:grpSpPr>
          <a:xfrm>
            <a:off x="495300" y="609600"/>
            <a:ext cx="9485201" cy="847725"/>
            <a:chOff x="495300" y="609600"/>
            <a:chExt cx="9485201" cy="847725"/>
          </a:xfrm>
        </p:grpSpPr>
        <p:sp>
          <p:nvSpPr>
            <p:cNvPr id="5" name="TextBox 5"/>
            <p:cNvSpPr txBox="1"/>
            <p:nvPr/>
          </p:nvSpPr>
          <p:spPr>
            <a:xfrm>
              <a:off x="495300" y="609600"/>
              <a:ext cx="9485201" cy="847725"/>
            </a:xfrm>
            <a:prstGeom prst="rect">
              <a:avLst/>
            </a:prstGeom>
            <a:noFill/>
            <a:ln>
              <a:noFill/>
            </a:ln>
          </p:spPr>
          <p:txBody>
            <a:bodyPr wrap="none" lIns="0" tIns="0" rIns="0" bIns="0" anchor="t" anchorCtr="0">
              <a:spAutoFit/>
            </a:bodyPr>
            <a:lstStyle/>
            <a:p>
              <a:pPr algn="l"/>
              <a:r>
                <a:rPr lang="en-GB" sz="4350" b="1" dirty="0">
                  <a:solidFill>
                    <a:srgbClr val="F7F6F0"/>
                  </a:solidFill>
                  <a:latin typeface="+mj-lt"/>
                  <a:ea typeface="+mj-ea"/>
                  <a:cs typeface="+mj-cs"/>
                </a:rPr>
                <a:t>Useful evidence, with clear limits.</a:t>
              </a:r>
            </a:p>
          </p:txBody>
        </p:sp>
      </p:grpSp>
      <p:grpSp>
        <p:nvGrpSpPr>
          <p:cNvPr id="9" name="strengths-verdict"/>
          <p:cNvGrpSpPr/>
          <p:nvPr/>
        </p:nvGrpSpPr>
        <p:grpSpPr>
          <a:xfrm>
            <a:off x="710184" y="2168525"/>
            <a:ext cx="10222028" cy="867791"/>
            <a:chOff x="710184" y="2168525"/>
            <a:chExt cx="10222028" cy="867791"/>
          </a:xfrm>
        </p:grpSpPr>
        <p:sp>
          <p:nvSpPr>
            <p:cNvPr id="7" name="TextBox 7"/>
            <p:cNvSpPr txBox="1"/>
            <p:nvPr/>
          </p:nvSpPr>
          <p:spPr>
            <a:xfrm>
              <a:off x="717042" y="2168525"/>
              <a:ext cx="3438272" cy="264033"/>
            </a:xfrm>
            <a:prstGeom prst="rect">
              <a:avLst/>
            </a:prstGeom>
            <a:noFill/>
            <a:ln>
              <a:noFill/>
            </a:ln>
          </p:spPr>
          <p:txBody>
            <a:bodyPr wrap="none" lIns="0" tIns="0" rIns="0" bIns="0" anchor="t" anchorCtr="0">
              <a:spAutoFit/>
            </a:bodyPr>
            <a:lstStyle/>
            <a:p>
              <a:pPr algn="l"/>
              <a:r>
                <a:rPr lang="en-GB" sz="1350" b="1" dirty="0">
                  <a:solidFill>
                    <a:srgbClr val="7CD6CA"/>
                  </a:solidFill>
                  <a:latin typeface="+mn-lt"/>
                  <a:ea typeface="+mn-ea"/>
                  <a:cs typeface="+mn-cs"/>
                </a:rPr>
                <a:t>WHY THE COMPARISON HAS VALUE</a:t>
              </a:r>
            </a:p>
          </p:txBody>
        </p:sp>
        <p:sp>
          <p:nvSpPr>
            <p:cNvPr id="8" name="TextBox 8"/>
            <p:cNvSpPr txBox="1"/>
            <p:nvPr/>
          </p:nvSpPr>
          <p:spPr>
            <a:xfrm>
              <a:off x="710184" y="2508250"/>
              <a:ext cx="10222028" cy="528066"/>
            </a:xfrm>
            <a:prstGeom prst="rect">
              <a:avLst/>
            </a:prstGeom>
            <a:noFill/>
            <a:ln>
              <a:noFill/>
            </a:ln>
          </p:spPr>
          <p:txBody>
            <a:bodyPr wrap="none" lIns="0" tIns="0" rIns="0" bIns="0" anchor="t" anchorCtr="0">
              <a:spAutoFit/>
            </a:bodyPr>
            <a:lstStyle/>
            <a:p>
              <a:pPr algn="l"/>
              <a:r>
                <a:rPr lang="en-GB" sz="2700" b="1" dirty="0">
                  <a:solidFill>
                    <a:srgbClr val="F7F6F0"/>
                  </a:solidFill>
                  <a:latin typeface="+mj-lt"/>
                  <a:ea typeface="+mj-ea"/>
                  <a:cs typeface="+mj-cs"/>
                </a:rPr>
                <a:t>Better balance, fairer support, more objective weight data.</a:t>
              </a:r>
            </a:p>
          </p:txBody>
        </p:sp>
      </p:grpSp>
      <p:grpSp>
        <p:nvGrpSpPr>
          <p:cNvPr id="16" name="limits-verdict"/>
          <p:cNvGrpSpPr/>
          <p:nvPr/>
        </p:nvGrpSpPr>
        <p:grpSpPr>
          <a:xfrm>
            <a:off x="712470" y="3606800"/>
            <a:ext cx="10369158" cy="1697355"/>
            <a:chOff x="712470" y="3606800"/>
            <a:chExt cx="10369158" cy="1697355"/>
          </a:xfrm>
        </p:grpSpPr>
        <p:sp>
          <p:nvSpPr>
            <p:cNvPr id="10" name="TextBox 10"/>
            <p:cNvSpPr txBox="1"/>
            <p:nvPr/>
          </p:nvSpPr>
          <p:spPr>
            <a:xfrm>
              <a:off x="712470" y="3606800"/>
              <a:ext cx="1676507" cy="440055"/>
            </a:xfrm>
            <a:prstGeom prst="rect">
              <a:avLst/>
            </a:prstGeom>
            <a:noFill/>
            <a:ln>
              <a:noFill/>
            </a:ln>
          </p:spPr>
          <p:txBody>
            <a:bodyPr wrap="none" lIns="0" tIns="0" rIns="0" bIns="0" anchor="t" anchorCtr="0">
              <a:spAutoFit/>
            </a:bodyPr>
            <a:lstStyle/>
            <a:p>
              <a:pPr algn="l"/>
              <a:r>
                <a:rPr lang="en-GB" sz="2250" b="1" dirty="0">
                  <a:solidFill>
                    <a:srgbClr val="FFAB8E"/>
                  </a:solidFill>
                  <a:latin typeface="+mn-lt"/>
                  <a:ea typeface="+mn-ea"/>
                  <a:cs typeface="+mn-cs"/>
                </a:rPr>
                <a:t>CALORIES</a:t>
              </a:r>
            </a:p>
          </p:txBody>
        </p:sp>
        <p:sp>
          <p:nvSpPr>
            <p:cNvPr id="11" name="TextBox 11"/>
            <p:cNvSpPr txBox="1"/>
            <p:nvPr/>
          </p:nvSpPr>
          <p:spPr>
            <a:xfrm>
              <a:off x="3512820" y="3606800"/>
              <a:ext cx="6698510" cy="440055"/>
            </a:xfrm>
            <a:prstGeom prst="rect">
              <a:avLst/>
            </a:prstGeom>
            <a:noFill/>
            <a:ln>
              <a:noFill/>
            </a:ln>
          </p:spPr>
          <p:txBody>
            <a:bodyPr wrap="none" lIns="0" tIns="0" rIns="0" bIns="0" anchor="t" anchorCtr="0">
              <a:spAutoFit/>
            </a:bodyPr>
            <a:lstStyle/>
            <a:p>
              <a:pPr algn="l"/>
              <a:r>
                <a:rPr lang="en-GB" sz="2250" dirty="0">
                  <a:solidFill>
                    <a:srgbClr val="F7F6F0"/>
                  </a:solidFill>
                  <a:latin typeface="+mn-lt"/>
                  <a:ea typeface="+mn-ea"/>
                  <a:cs typeface="+mn-cs"/>
                </a:rPr>
                <a:t>A different reported intake complicates attribution.</a:t>
              </a:r>
            </a:p>
          </p:txBody>
        </p:sp>
        <p:sp>
          <p:nvSpPr>
            <p:cNvPr id="12" name="TextBox 12"/>
            <p:cNvSpPr txBox="1"/>
            <p:nvPr/>
          </p:nvSpPr>
          <p:spPr>
            <a:xfrm>
              <a:off x="712470" y="4235450"/>
              <a:ext cx="1427708" cy="440055"/>
            </a:xfrm>
            <a:prstGeom prst="rect">
              <a:avLst/>
            </a:prstGeom>
            <a:noFill/>
            <a:ln>
              <a:noFill/>
            </a:ln>
          </p:spPr>
          <p:txBody>
            <a:bodyPr wrap="none" lIns="0" tIns="0" rIns="0" bIns="0" anchor="t" anchorCtr="0">
              <a:spAutoFit/>
            </a:bodyPr>
            <a:lstStyle/>
            <a:p>
              <a:pPr algn="l"/>
              <a:r>
                <a:rPr lang="en-GB" sz="2250" b="1" dirty="0">
                  <a:solidFill>
                    <a:srgbClr val="FFAB8E"/>
                  </a:solidFill>
                  <a:latin typeface="+mn-lt"/>
                  <a:ea typeface="+mn-ea"/>
                  <a:cs typeface="+mn-cs"/>
                </a:rPr>
                <a:t>KETOSIS</a:t>
              </a:r>
            </a:p>
          </p:txBody>
        </p:sp>
        <p:sp>
          <p:nvSpPr>
            <p:cNvPr id="13" name="TextBox 13"/>
            <p:cNvSpPr txBox="1"/>
            <p:nvPr/>
          </p:nvSpPr>
          <p:spPr>
            <a:xfrm>
              <a:off x="3512820" y="4235450"/>
              <a:ext cx="6446033" cy="440055"/>
            </a:xfrm>
            <a:prstGeom prst="rect">
              <a:avLst/>
            </a:prstGeom>
            <a:noFill/>
            <a:ln>
              <a:noFill/>
            </a:ln>
          </p:spPr>
          <p:txBody>
            <a:bodyPr wrap="none" lIns="0" tIns="0" rIns="0" bIns="0" anchor="t" anchorCtr="0">
              <a:spAutoFit/>
            </a:bodyPr>
            <a:lstStyle/>
            <a:p>
              <a:pPr algn="l"/>
              <a:r>
                <a:rPr lang="en-GB" sz="2250" dirty="0">
                  <a:solidFill>
                    <a:srgbClr val="F7F6F0"/>
                  </a:solidFill>
                  <a:latin typeface="+mn-lt"/>
                  <a:ea typeface="+mn-ea"/>
                  <a:cs typeface="+mn-cs"/>
                </a:rPr>
                <a:t>The metabolic state was not objectively verified.</a:t>
              </a:r>
            </a:p>
          </p:txBody>
        </p:sp>
        <p:sp>
          <p:nvSpPr>
            <p:cNvPr id="14" name="TextBox 14"/>
            <p:cNvSpPr txBox="1"/>
            <p:nvPr/>
          </p:nvSpPr>
          <p:spPr>
            <a:xfrm>
              <a:off x="712470" y="4864100"/>
              <a:ext cx="2956603" cy="440055"/>
            </a:xfrm>
            <a:prstGeom prst="rect">
              <a:avLst/>
            </a:prstGeom>
            <a:noFill/>
            <a:ln>
              <a:noFill/>
            </a:ln>
          </p:spPr>
          <p:txBody>
            <a:bodyPr wrap="none" lIns="0" tIns="0" rIns="0" bIns="0" anchor="t" anchorCtr="0">
              <a:spAutoFit/>
            </a:bodyPr>
            <a:lstStyle/>
            <a:p>
              <a:pPr algn="l"/>
              <a:r>
                <a:rPr lang="en-GB" sz="2250" b="1" dirty="0">
                  <a:solidFill>
                    <a:srgbClr val="FFAB8E"/>
                  </a:solidFill>
                  <a:latin typeface="+mn-lt"/>
                  <a:ea typeface="+mn-ea"/>
                  <a:cs typeface="+mn-cs"/>
                </a:rPr>
                <a:t>MISSING WEIGHTS</a:t>
              </a:r>
            </a:p>
          </p:txBody>
        </p:sp>
        <p:sp>
          <p:nvSpPr>
            <p:cNvPr id="15" name="TextBox 15"/>
            <p:cNvSpPr txBox="1"/>
            <p:nvPr/>
          </p:nvSpPr>
          <p:spPr>
            <a:xfrm>
              <a:off x="4179570" y="4864100"/>
              <a:ext cx="6902058" cy="440055"/>
            </a:xfrm>
            <a:prstGeom prst="rect">
              <a:avLst/>
            </a:prstGeom>
            <a:noFill/>
            <a:ln>
              <a:noFill/>
            </a:ln>
          </p:spPr>
          <p:txBody>
            <a:bodyPr wrap="none" lIns="0" tIns="0" rIns="0" bIns="0" anchor="t" anchorCtr="0">
              <a:spAutoFit/>
            </a:bodyPr>
            <a:lstStyle/>
            <a:p>
              <a:pPr algn="l"/>
              <a:r>
                <a:rPr lang="en-GB" sz="2250" dirty="0">
                  <a:solidFill>
                    <a:srgbClr val="F7F6F0"/>
                  </a:solidFill>
                  <a:latin typeface="+mn-lt"/>
                  <a:ea typeface="+mn-ea"/>
                  <a:cs typeface="+mn-cs"/>
                </a:rPr>
                <a:t>The measured subset may not represent everyone.</a:t>
              </a:r>
            </a:p>
          </p:txBody>
        </p:sp>
      </p:grpSp>
      <p:sp>
        <p:nvSpPr>
          <p:cNvPr id="17" name="TextBox 17"/>
          <p:cNvSpPr txBox="1"/>
          <p:nvPr/>
        </p:nvSpPr>
        <p:spPr>
          <a:xfrm>
            <a:off x="508254" y="6467475"/>
            <a:ext cx="4764717" cy="234696"/>
          </a:xfrm>
          <a:prstGeom prst="rect">
            <a:avLst/>
          </a:prstGeom>
          <a:noFill/>
          <a:ln>
            <a:noFill/>
          </a:ln>
        </p:spPr>
        <p:txBody>
          <a:bodyPr wrap="none" lIns="0" tIns="0" rIns="0" bIns="0" anchor="t" anchorCtr="0">
            <a:spAutoFit/>
          </a:bodyPr>
          <a:lstStyle/>
          <a:p>
            <a:pPr algn="l"/>
            <a:r>
              <a:rPr lang="en-GB" sz="1200" dirty="0">
                <a:solidFill>
                  <a:schemeClr val="accent6"/>
                </a:solidFill>
                <a:latin typeface="+mn-lt"/>
                <a:ea typeface="+mn-ea"/>
                <a:cs typeface="+mn-cs"/>
              </a:rPr>
              <a:t>Lim SL et al. (2024), Nutrients 16:4380 · doi:10.3390/nu16244380</a:t>
            </a:r>
          </a:p>
        </p:txBody>
      </p:sp>
    </p:spTree>
  </p:cSld>
  <p:clrMapOvr>
    <a:masterClrMapping/>
  </p:clrMapOvr>
  <p:transition xmlns:p14="http://schemas.microsoft.com/office/powerpoint/2010/main" p14:dur="35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xmlns:p="http://schemas.openxmlformats.org/presentationml/2006/mai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eight_loss_design_critique">
  <a:themeElements>
    <a:clrScheme name="weight_loss_design_critique">
      <a:dk1>
        <a:srgbClr val="142D3A"/>
      </a:dk1>
      <a:lt1>
        <a:srgbClr val="F7F6F0"/>
      </a:lt1>
      <a:dk2>
        <a:srgbClr val="1F497D"/>
      </a:dk2>
      <a:lt2>
        <a:srgbClr val="E8F1EE"/>
      </a:lt2>
      <a:accent1>
        <a:srgbClr val="142D3A"/>
      </a:accent1>
      <a:accent2>
        <a:srgbClr val="E66D4C"/>
      </a:accent2>
      <a:accent3>
        <a:srgbClr val="087F8C"/>
      </a:accent3>
      <a:accent4>
        <a:srgbClr val="142D3A"/>
      </a:accent4>
      <a:accent5>
        <a:srgbClr val="52656B"/>
      </a:accent5>
      <a:accent6>
        <a:srgbClr val="B8CCC8"/>
      </a:accent6>
      <a:hlink>
        <a:srgbClr val="E66D4C"/>
      </a:hlink>
      <a:folHlink>
        <a:srgbClr val="087F8C"/>
      </a:folHlink>
    </a:clrScheme>
    <a:fontScheme name="weight_loss_design_critique">
      <a:majorFont>
        <a:latin typeface="Trebuchet MS"/>
        <a:ea typeface="Microsoft YaHei"/>
        <a:cs typeface="Trebuchet M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ight_loss_design_critiqu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weight_loss_design_critique">
  <a:themeElements>
    <a:clrScheme name="weight_loss_design_critique">
      <a:dk1>
        <a:srgbClr val="142D3A"/>
      </a:dk1>
      <a:lt1>
        <a:srgbClr val="F7F6F0"/>
      </a:lt1>
      <a:dk2>
        <a:srgbClr val="1F497D"/>
      </a:dk2>
      <a:lt2>
        <a:srgbClr val="E8F1EE"/>
      </a:lt2>
      <a:accent1>
        <a:srgbClr val="142D3A"/>
      </a:accent1>
      <a:accent2>
        <a:srgbClr val="E66D4C"/>
      </a:accent2>
      <a:accent3>
        <a:srgbClr val="087F8C"/>
      </a:accent3>
      <a:accent4>
        <a:srgbClr val="142D3A"/>
      </a:accent4>
      <a:accent5>
        <a:srgbClr val="52656B"/>
      </a:accent5>
      <a:accent6>
        <a:srgbClr val="B8CCC8"/>
      </a:accent6>
      <a:hlink>
        <a:srgbClr val="E66D4C"/>
      </a:hlink>
      <a:folHlink>
        <a:srgbClr val="087F8C"/>
      </a:folHlink>
    </a:clrScheme>
    <a:fontScheme name="weight_loss_design_critique">
      <a:majorFont>
        <a:latin typeface="Trebuchet MS"/>
        <a:ea typeface="Microsoft YaHei"/>
        <a:cs typeface="Trebuchet M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eight_loss_design_critiqu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en-GB</dc:language>
  <cp:lastModifiedBy/>
  <cp:revision>1</cp:revision>
  <dcterms:created xsi:type="dcterms:W3CDTF">2026-10-26T13:21:35Z</dcterms:created>
  <dcterms:modified xsi:type="dcterms:W3CDTF">2026-10-26T13:21:35Z</dcterms:modified>
  <cp:category/>
  <cp:contentStatus/>
</cp:coreProperties>
</file>