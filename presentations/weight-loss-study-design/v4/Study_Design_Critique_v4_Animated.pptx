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en-GB"/>
    </a:defPPr>
    <a:lvl1pPr marL="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GB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GB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Four features strengthen the comparison. Stratified randomisation helps balance sex and BMI. Concealed allocation reduces opportunities to select participants knowing their next group. Shared support makes unequal attention a less likely explanation. Calibrated weighing reduces reliance on participants’ own weight reports.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First, the weight-loss mechanism was not isolated. Both groups received calorie-restriction advice, yet reported intake fell more in HKD. These were not experimentally matched calorie intakes.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Low-carbohydrate advice was intended to induce ketosis, which might contribute to weight loss. But no objective ketone verification was reported, so this metabolic state was unconfirmed.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Lower calorie intake offers another explanation. These routes may overlap: ketosis, if present, might influence appetite and intake. The trial did not isolate their contributions.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Together, unverified ketosis and unmatched calories limit one mechanism claim. The result concerns the whole programme, not an established ketosis-specific benefit independent of calorie intake.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Second, consider follow-up: eighty participants entered.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Only fifty-nine completed six-month measurements; twenty-one weights were unavailable. Missing measurement does not establish dietary non-adherence.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Twelve HKD weights were missing. These participants could have lost less, the same, or more weight than those measured, changing the group estimate.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If poorer HKD responders were disproportionately missing, the observed advantage could look greater. Other patterns could shrink it. This is potential attrition bias; its direction and the handling of missing outcomes remain unclear.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Third, recruitment involved one hospital’s staff, about eighty-six percent women, with English and smartphone requirements. Random assignment does not make that sample representative of all adults with obesity.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The programme also included seven workshops and app-based dietitian coaching. Other people, or those receiving less support, may respond differently. Their benefit is untested, not proven absent.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GB" dirty="0"/>
              <a:t>These are three distinct questions: why it works, how reliable the estimate is, and whom it applies to.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eight_loss_design_critiqu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eight_loss_design_critiqu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GB" smtClean="0"/>
              <a:t>1/27/13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GB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350" kern="1200" lang="en-GB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457200" rtl="0" eaLnBrk="1" latinLnBrk="0" hangingPunct="1">
        <a:defRPr sz="2250" kern="1200" lang="en-GB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100" kern="1200" lang="en-GB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950" kern="1200" lang="en-GB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50" kern="1200" lang="en-GB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700" kern="1200" lang="en-GB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550" kern="1200" lang="en-GB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400" kern="1200" lang="en-GB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50" kern="1200" lang="en-GB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100" kern="1200" lang="en-GB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40676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STRENGTHS · WHY EACH FEATURE HELPS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8950441" cy="847725"/>
            <a:chOff x="495300" y="609600"/>
            <a:chExt cx="8950441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89504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Why this design deserves credit.</a:t>
              </a:r>
            </a:p>
          </p:txBody>
        </p:sp>
      </p:grpSp>
      <p:grpSp>
        <p:nvGrpSpPr>
          <p:cNvPr id="23" name="randomisation-strength"/>
          <p:cNvGrpSpPr/>
          <p:nvPr/>
        </p:nvGrpSpPr>
        <p:grpSpPr>
          <a:xfrm>
            <a:off x="514350" y="1885950"/>
            <a:ext cx="5334000" cy="1924050"/>
            <a:chOff x="514350" y="1885950"/>
            <a:chExt cx="5334000" cy="1924050"/>
          </a:xfrm>
        </p:grpSpPr>
        <p:sp>
          <p:nvSpPr>
            <p:cNvPr id="7" name="Rectangle 7"/>
            <p:cNvSpPr/>
            <p:nvPr/>
          </p:nvSpPr>
          <p:spPr>
            <a:xfrm>
              <a:off x="514350" y="1885950"/>
              <a:ext cx="5334000" cy="1924050"/>
            </a:xfrm>
            <a:prstGeom prst="roundRect">
              <a:avLst>
                <a:gd name="adj" fmla="val 108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775335" y="2350770"/>
              <a:ext cx="91440" cy="91440"/>
            </a:xfrm>
            <a:prstGeom prst="ellipse">
              <a:avLst/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7715" y="2472690"/>
              <a:ext cx="106680" cy="152400"/>
            </a:xfrm>
            <a:prstGeom prst="roundRect">
              <a:avLst>
                <a:gd name="adj" fmla="val 35714"/>
              </a:avLst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775335" y="2874645"/>
              <a:ext cx="91440" cy="91440"/>
            </a:xfrm>
            <a:prstGeom prst="ellipse">
              <a:avLst/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7715" y="2996565"/>
              <a:ext cx="106680" cy="15240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994410" y="2350770"/>
              <a:ext cx="91440" cy="91440"/>
            </a:xfrm>
            <a:prstGeom prst="ellipse">
              <a:avLst/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86790" y="2472690"/>
              <a:ext cx="106680" cy="152400"/>
            </a:xfrm>
            <a:prstGeom prst="roundRect">
              <a:avLst>
                <a:gd name="adj" fmla="val 35714"/>
              </a:avLst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994410" y="2874645"/>
              <a:ext cx="91440" cy="91440"/>
            </a:xfrm>
            <a:prstGeom prst="ellipse">
              <a:avLst/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86790" y="2996565"/>
              <a:ext cx="106680" cy="15240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1213485" y="2350770"/>
              <a:ext cx="91440" cy="91440"/>
            </a:xfrm>
            <a:prstGeom prst="ellipse">
              <a:avLst/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205865" y="2472690"/>
              <a:ext cx="106680" cy="152400"/>
            </a:xfrm>
            <a:prstGeom prst="roundRect">
              <a:avLst>
                <a:gd name="adj" fmla="val 35714"/>
              </a:avLst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213485" y="2874645"/>
              <a:ext cx="91440" cy="91440"/>
            </a:xfrm>
            <a:prstGeom prst="ellipse">
              <a:avLst/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205865" y="2996565"/>
              <a:ext cx="106680" cy="15240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" y="2771775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600075" h="9525">
                  <a:moveTo>
                    <a:pt x="0" y="0"/>
                  </a:moveTo>
                  <a:lnTo>
                    <a:pt x="600075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026920" y="2101850"/>
              <a:ext cx="35151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Stratified randomisation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29206" y="2619375"/>
              <a:ext cx="2801219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Helps balance sex and BMI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across assigned groups.</a:t>
              </a:r>
            </a:p>
          </p:txBody>
        </p:sp>
      </p:grpSp>
      <p:grpSp>
        <p:nvGrpSpPr>
          <p:cNvPr id="33" name="concealment-strength"/>
          <p:cNvGrpSpPr/>
          <p:nvPr/>
        </p:nvGrpSpPr>
        <p:grpSpPr>
          <a:xfrm>
            <a:off x="6343650" y="1885950"/>
            <a:ext cx="5334000" cy="1924050"/>
            <a:chOff x="6343650" y="1885950"/>
            <a:chExt cx="5334000" cy="1924050"/>
          </a:xfrm>
        </p:grpSpPr>
        <p:sp>
          <p:nvSpPr>
            <p:cNvPr id="24" name="Rectangle 24"/>
            <p:cNvSpPr/>
            <p:nvPr/>
          </p:nvSpPr>
          <p:spPr>
            <a:xfrm>
              <a:off x="6343650" y="1885950"/>
              <a:ext cx="5334000" cy="1924050"/>
            </a:xfrm>
            <a:prstGeom prst="roundRect">
              <a:avLst>
                <a:gd name="adj" fmla="val 108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572250" y="2524125"/>
              <a:ext cx="895350" cy="590550"/>
            </a:xfrm>
            <a:prstGeom prst="roundRect">
              <a:avLst>
                <a:gd name="adj" fmla="val 12903"/>
              </a:avLst>
            </a:prstGeom>
            <a:solidFill>
              <a:schemeClr val="lt1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6600825" y="2562225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0"/>
                  </a:moveTo>
                  <a:lnTo>
                    <a:pt x="419100" y="2857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019925" y="2562225"/>
              <a:ext cx="419100" cy="285750"/>
            </a:xfrm>
            <a:custGeom>
              <a:avLst/>
              <a:gdLst/>
              <a:ahLst/>
              <a:cxnLst/>
              <a:rect l="l" t="t" r="r" b="b"/>
              <a:pathLst>
                <a:path w="419100" h="285750">
                  <a:moveTo>
                    <a:pt x="0" y="285750"/>
                  </a:moveTo>
                  <a:lnTo>
                    <a:pt x="4191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15175" y="2333625"/>
              <a:ext cx="333375" cy="342900"/>
            </a:xfrm>
            <a:prstGeom prst="roundRect">
              <a:avLst>
                <a:gd name="adj" fmla="val 2285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7181850" y="2362200"/>
              <a:ext cx="190500" cy="19050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7248525" y="2447925"/>
              <a:ext cx="57150" cy="5715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56220" y="2101850"/>
              <a:ext cx="30615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Concealed allocation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58506" y="2619375"/>
              <a:ext cx="3131957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Reduces scope for selection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based on the next assignment.</a:t>
              </a:r>
            </a:p>
          </p:txBody>
        </p:sp>
      </p:grpSp>
      <p:grpSp>
        <p:nvGrpSpPr>
          <p:cNvPr id="44" name="support-strength"/>
          <p:cNvGrpSpPr/>
          <p:nvPr/>
        </p:nvGrpSpPr>
        <p:grpSpPr>
          <a:xfrm>
            <a:off x="514350" y="4095750"/>
            <a:ext cx="5334000" cy="1924050"/>
            <a:chOff x="514350" y="4095750"/>
            <a:chExt cx="5334000" cy="1924050"/>
          </a:xfrm>
        </p:grpSpPr>
        <p:sp>
          <p:nvSpPr>
            <p:cNvPr id="34" name="Rectangle 34"/>
            <p:cNvSpPr/>
            <p:nvPr/>
          </p:nvSpPr>
          <p:spPr>
            <a:xfrm>
              <a:off x="514350" y="4095750"/>
              <a:ext cx="5334000" cy="1924050"/>
            </a:xfrm>
            <a:prstGeom prst="roundRect">
              <a:avLst>
                <a:gd name="adj" fmla="val 108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4572000"/>
              <a:ext cx="284798" cy="445770"/>
            </a:xfrm>
            <a:prstGeom prst="roundRect">
              <a:avLst>
                <a:gd name="adj" fmla="val 17391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36295" y="4937284"/>
              <a:ext cx="136207" cy="9525"/>
            </a:xfrm>
            <a:custGeom>
              <a:avLst/>
              <a:gdLst/>
              <a:ahLst/>
              <a:cxnLst/>
              <a:rect l="l" t="t" r="r" b="b"/>
              <a:pathLst>
                <a:path w="136207" h="9525">
                  <a:moveTo>
                    <a:pt x="0" y="0"/>
                  </a:moveTo>
                  <a:lnTo>
                    <a:pt x="136207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854869" y="4683442"/>
              <a:ext cx="99060" cy="9906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333500" y="4572000"/>
              <a:ext cx="284798" cy="445770"/>
            </a:xfrm>
            <a:prstGeom prst="roundRect">
              <a:avLst>
                <a:gd name="adj" fmla="val 17391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1407795" y="4937284"/>
              <a:ext cx="136207" cy="9525"/>
            </a:xfrm>
            <a:custGeom>
              <a:avLst/>
              <a:gdLst/>
              <a:ahLst/>
              <a:cxnLst/>
              <a:rect l="l" t="t" r="r" b="b"/>
              <a:pathLst>
                <a:path w="136207" h="9525">
                  <a:moveTo>
                    <a:pt x="0" y="0"/>
                  </a:moveTo>
                  <a:lnTo>
                    <a:pt x="136207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426369" y="4683442"/>
              <a:ext cx="99060" cy="9906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10725" y="4648200"/>
              <a:ext cx="1598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026920" y="4311650"/>
              <a:ext cx="22708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Shared support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029206" y="4829175"/>
              <a:ext cx="2509342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Makes unequal attention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less likely explanation.</a:t>
              </a:r>
            </a:p>
          </p:txBody>
        </p:sp>
      </p:grpSp>
      <p:grpSp>
        <p:nvGrpSpPr>
          <p:cNvPr id="52" name="measurement-strength"/>
          <p:cNvGrpSpPr/>
          <p:nvPr/>
        </p:nvGrpSpPr>
        <p:grpSpPr>
          <a:xfrm>
            <a:off x="6343650" y="4095750"/>
            <a:ext cx="5334000" cy="1924050"/>
            <a:chOff x="6343650" y="4095750"/>
            <a:chExt cx="5334000" cy="1924050"/>
          </a:xfrm>
        </p:grpSpPr>
        <p:sp>
          <p:nvSpPr>
            <p:cNvPr id="45" name="Rectangle 45"/>
            <p:cNvSpPr/>
            <p:nvPr/>
          </p:nvSpPr>
          <p:spPr>
            <a:xfrm>
              <a:off x="6343650" y="4095750"/>
              <a:ext cx="5334000" cy="1924050"/>
            </a:xfrm>
            <a:prstGeom prst="roundRect">
              <a:avLst>
                <a:gd name="adj" fmla="val 108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534150" y="4467225"/>
              <a:ext cx="1143000" cy="952500"/>
            </a:xfrm>
            <a:prstGeom prst="roundRect">
              <a:avLst>
                <a:gd name="adj" fmla="val 22000"/>
              </a:avLst>
            </a:pr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6848475" y="4638675"/>
              <a:ext cx="514350" cy="285750"/>
            </a:xfrm>
            <a:prstGeom prst="roundRect">
              <a:avLst>
                <a:gd name="adj" fmla="val 20000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955115" y="4638675"/>
              <a:ext cx="3010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kg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6762750" y="513397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856220" y="4311650"/>
              <a:ext cx="29096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Calibrated weighing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58506" y="4829175"/>
              <a:ext cx="2966451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Less reliance on participants’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own reports of their weight.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508254" y="6467475"/>
            <a:ext cx="75557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2.4–2.7 · Graphics show the purpose of each feature, not additional study data.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55184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LIMITATION 1 · REPORTED INTAKE CHANGE AT 6 MONTHS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10450898" cy="847725"/>
            <a:chOff x="495300" y="609600"/>
            <a:chExt cx="10450898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1045089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A calorie gap accompanied the result.</a:t>
              </a:r>
            </a:p>
          </p:txBody>
        </p:sp>
      </p:grpSp>
      <p:grpSp>
        <p:nvGrpSpPr>
          <p:cNvPr id="11" name="hkd-energy"/>
          <p:cNvGrpSpPr/>
          <p:nvPr/>
        </p:nvGrpSpPr>
        <p:grpSpPr>
          <a:xfrm>
            <a:off x="666750" y="1898650"/>
            <a:ext cx="2309667" cy="2739644"/>
            <a:chOff x="666750" y="1898650"/>
            <a:chExt cx="2309667" cy="2739644"/>
          </a:xfrm>
        </p:grpSpPr>
        <p:sp>
          <p:nvSpPr>
            <p:cNvPr id="7" name="TextBox 7"/>
            <p:cNvSpPr txBox="1"/>
            <p:nvPr/>
          </p:nvSpPr>
          <p:spPr>
            <a:xfrm>
              <a:off x="710184" y="1898650"/>
              <a:ext cx="85951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7CD6CA"/>
                  </a:solidFill>
                  <a:latin typeface="+mn-lt"/>
                  <a:ea typeface="+mn-ea"/>
                  <a:cs typeface="+mn-cs"/>
                </a:rPr>
                <a:t>HKD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14756" y="2432050"/>
              <a:ext cx="201949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Energy restriction</a:t>
              </a:r>
              <a:b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+ carbohydrate limit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6750" y="3159125"/>
              <a:ext cx="2309667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−704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3806" y="4286250"/>
              <a:ext cx="907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16" name="erd-energy"/>
          <p:cNvGrpSpPr/>
          <p:nvPr/>
        </p:nvGrpSpPr>
        <p:grpSpPr>
          <a:xfrm>
            <a:off x="6629400" y="1898650"/>
            <a:ext cx="2309667" cy="2739644"/>
            <a:chOff x="6629400" y="1898650"/>
            <a:chExt cx="2309667" cy="2739644"/>
          </a:xfrm>
        </p:grpSpPr>
        <p:sp>
          <p:nvSpPr>
            <p:cNvPr id="12" name="TextBox 12"/>
            <p:cNvSpPr txBox="1"/>
            <p:nvPr/>
          </p:nvSpPr>
          <p:spPr>
            <a:xfrm>
              <a:off x="6672834" y="1898650"/>
              <a:ext cx="8383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ERD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77406" y="2457450"/>
              <a:ext cx="1910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Energy restriction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29400" y="3159125"/>
              <a:ext cx="2309667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−423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6456" y="4286250"/>
              <a:ext cx="9072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kcal/day</a:t>
              </a:r>
            </a:p>
          </p:txBody>
        </p:sp>
      </p:grpSp>
      <p:grpSp>
        <p:nvGrpSpPr>
          <p:cNvPr id="20" name="advice-intake"/>
          <p:cNvGrpSpPr/>
          <p:nvPr/>
        </p:nvGrpSpPr>
        <p:grpSpPr>
          <a:xfrm>
            <a:off x="514350" y="5105400"/>
            <a:ext cx="11163300" cy="1028700"/>
            <a:chOff x="514350" y="5105400"/>
            <a:chExt cx="11163300" cy="1028700"/>
          </a:xfrm>
        </p:grpSpPr>
        <p:sp>
          <p:nvSpPr>
            <p:cNvPr id="17" name="Rectangle 17"/>
            <p:cNvSpPr/>
            <p:nvPr/>
          </p:nvSpPr>
          <p:spPr>
            <a:xfrm>
              <a:off x="514350" y="5105400"/>
              <a:ext cx="11163300" cy="1028700"/>
            </a:xfrm>
            <a:prstGeom prst="roundRect">
              <a:avLst>
                <a:gd name="adj" fmla="val 20370"/>
              </a:avLst>
            </a:prstGeom>
            <a:solidFill>
              <a:srgbClr val="24455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7334" y="5203825"/>
              <a:ext cx="681406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Calorie advice ≠ matched actual intake.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1906" y="5715000"/>
              <a:ext cx="548124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No controlled feeding ensured equal calorie intake.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08254" y="6467475"/>
            <a:ext cx="74967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Lim et al. 2024 · Methods 2.3, 2.5, 2.7 + Table 5 · Values are self-reported changes, not absolute intake.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6456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1 · THE WEIGHT-LOSS MECHANISM WAS NOT ISOLATED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9370845" cy="847725"/>
            <a:chOff x="495300" y="609600"/>
            <a:chExt cx="9370845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937084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Did ketosis explain the extra loss?</a:t>
              </a:r>
            </a:p>
          </p:txBody>
        </p:sp>
      </p:grpSp>
      <p:grpSp>
        <p:nvGrpSpPr>
          <p:cNvPr id="10" name="!!programme-origin"/>
          <p:cNvGrpSpPr/>
          <p:nvPr/>
        </p:nvGrpSpPr>
        <p:grpSpPr>
          <a:xfrm>
            <a:off x="514350" y="2828925"/>
            <a:ext cx="2381250" cy="1390650"/>
            <a:chOff x="514350" y="2828925"/>
            <a:chExt cx="2381250" cy="1390650"/>
          </a:xfrm>
        </p:grpSpPr>
        <p:sp>
          <p:nvSpPr>
            <p:cNvPr id="7" name="Rectangle 7"/>
            <p:cNvSpPr/>
            <p:nvPr/>
          </p:nvSpPr>
          <p:spPr>
            <a:xfrm>
              <a:off x="514350" y="2828925"/>
              <a:ext cx="2381250" cy="1390650"/>
            </a:xfrm>
            <a:prstGeom prst="roundRect">
              <a:avLst>
                <a:gd name="adj" fmla="val 1506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2945" y="2978150"/>
              <a:ext cx="17380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HKD advice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5231" y="3422650"/>
              <a:ext cx="1403467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Carbohydrate</a:t>
              </a:r>
              <a:b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restriction</a:t>
              </a:r>
            </a:p>
          </p:txBody>
        </p:sp>
      </p:grpSp>
      <p:grpSp>
        <p:nvGrpSpPr>
          <p:cNvPr id="22" name="!!ketosis-route"/>
          <p:cNvGrpSpPr/>
          <p:nvPr/>
        </p:nvGrpSpPr>
        <p:grpSpPr>
          <a:xfrm>
            <a:off x="2895600" y="2028825"/>
            <a:ext cx="6391275" cy="1209675"/>
            <a:chOff x="2895600" y="2028825"/>
            <a:chExt cx="6391275" cy="1209675"/>
          </a:xfrm>
        </p:grpSpPr>
        <p:sp>
          <p:nvSpPr>
            <p:cNvPr id="11" name="Line 11"/>
            <p:cNvSpPr/>
            <p:nvPr/>
          </p:nvSpPr>
          <p:spPr>
            <a:xfrm>
              <a:off x="2895600" y="3228975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3524250" y="25717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3524250" y="2571750"/>
              <a:ext cx="6667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38625" y="2028825"/>
              <a:ext cx="3333750" cy="1104900"/>
            </a:xfrm>
            <a:prstGeom prst="roundRect">
              <a:avLst>
                <a:gd name="adj" fmla="val 18966"/>
              </a:avLst>
            </a:prstGeom>
            <a:solidFill>
              <a:srgbClr val="FBE6D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43984" y="2117725"/>
              <a:ext cx="14022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Ketosis?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48556" y="2657475"/>
              <a:ext cx="2448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 objectively verified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572375" y="257175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8" name="Line 18"/>
            <p:cNvSpPr/>
            <p:nvPr/>
          </p:nvSpPr>
          <p:spPr>
            <a:xfrm>
              <a:off x="8667750" y="25717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8667750" y="3228975"/>
              <a:ext cx="6191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0" name="Ellipse 20"/>
            <p:cNvSpPr/>
            <p:nvPr/>
          </p:nvSpPr>
          <p:spPr>
            <a:xfrm>
              <a:off x="7867650" y="2343150"/>
              <a:ext cx="457200" cy="457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02933" y="2374900"/>
              <a:ext cx="1866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?</a:t>
              </a:r>
            </a:p>
          </p:txBody>
        </p:sp>
      </p:grpSp>
      <p:grpSp>
        <p:nvGrpSpPr>
          <p:cNvPr id="25" name="!!weight-outcome"/>
          <p:cNvGrpSpPr/>
          <p:nvPr/>
        </p:nvGrpSpPr>
        <p:grpSpPr>
          <a:xfrm>
            <a:off x="9296400" y="2828925"/>
            <a:ext cx="2381250" cy="1390650"/>
            <a:chOff x="9296400" y="2828925"/>
            <a:chExt cx="2381250" cy="1390650"/>
          </a:xfrm>
        </p:grpSpPr>
        <p:sp>
          <p:nvSpPr>
            <p:cNvPr id="23" name="Rectangle 23"/>
            <p:cNvSpPr/>
            <p:nvPr/>
          </p:nvSpPr>
          <p:spPr>
            <a:xfrm>
              <a:off x="9296400" y="2828925"/>
              <a:ext cx="2381250" cy="1390650"/>
            </a:xfrm>
            <a:prstGeom prst="roundRect">
              <a:avLst>
                <a:gd name="adj" fmla="val 1506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94520" y="3000375"/>
              <a:ext cx="1944586" cy="8496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Extra weight</a:t>
              </a:r>
              <a:b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loss observed</a:t>
              </a:r>
            </a:p>
          </p:txBody>
        </p:sp>
      </p:grpSp>
      <p:grpSp>
        <p:nvGrpSpPr>
          <p:cNvPr id="27" name="!!pathway-legend"/>
          <p:cNvGrpSpPr/>
          <p:nvPr/>
        </p:nvGrpSpPr>
        <p:grpSpPr>
          <a:xfrm>
            <a:off x="3100494" y="5584825"/>
            <a:ext cx="5991012" cy="685419"/>
            <a:chOff x="3100494" y="5584825"/>
            <a:chExt cx="5991012" cy="685419"/>
          </a:xfrm>
        </p:grpSpPr>
        <p:sp>
          <p:nvSpPr>
            <p:cNvPr id="26" name="TextBox 26"/>
            <p:cNvSpPr txBox="1"/>
            <p:nvPr/>
          </p:nvSpPr>
          <p:spPr>
            <a:xfrm>
              <a:off x="3100494" y="5584825"/>
              <a:ext cx="5991012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Dashed arrows = possible paths · ? = not established here.</a:t>
              </a:r>
              <a:b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Paths may overlap; their contributions were not isolated.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08254" y="6467475"/>
            <a:ext cx="8000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2, Table 5 + Discussion · Arrows do not represent estimated or demonstrated mediation.</a:t>
            </a:r>
          </a:p>
        </p:txBody>
      </p:sp>
    </p:spTree>
  </p:cSld>
  <p:clrMapOvr>
    <a:masterClrMapping/>
  </p:clrMapOvr>
  <p:transition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6456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1 · THE WEIGHT-LOSS MECHANISM WAS NOT ISOLATED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9721496" cy="847725"/>
            <a:chOff x="495300" y="609600"/>
            <a:chExt cx="9721496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9721496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Calories offer another explanation.</a:t>
              </a:r>
            </a:p>
          </p:txBody>
        </p:sp>
      </p:grpSp>
      <p:grpSp>
        <p:nvGrpSpPr>
          <p:cNvPr id="10" name="!!programme-origin"/>
          <p:cNvGrpSpPr/>
          <p:nvPr/>
        </p:nvGrpSpPr>
        <p:grpSpPr>
          <a:xfrm>
            <a:off x="514350" y="2828925"/>
            <a:ext cx="2381250" cy="1390650"/>
            <a:chOff x="514350" y="2828925"/>
            <a:chExt cx="2381250" cy="1390650"/>
          </a:xfrm>
        </p:grpSpPr>
        <p:sp>
          <p:nvSpPr>
            <p:cNvPr id="7" name="Rectangle 7"/>
            <p:cNvSpPr/>
            <p:nvPr/>
          </p:nvSpPr>
          <p:spPr>
            <a:xfrm>
              <a:off x="514350" y="2828925"/>
              <a:ext cx="2381250" cy="1390650"/>
            </a:xfrm>
            <a:prstGeom prst="roundRect">
              <a:avLst>
                <a:gd name="adj" fmla="val 1506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02945" y="2978150"/>
              <a:ext cx="173805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HKD advice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5231" y="3422650"/>
              <a:ext cx="1403467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Carbohydrate</a:t>
              </a:r>
              <a:b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restriction</a:t>
              </a:r>
            </a:p>
          </p:txBody>
        </p:sp>
      </p:grpSp>
      <p:grpSp>
        <p:nvGrpSpPr>
          <p:cNvPr id="22" name="!!ketosis-route"/>
          <p:cNvGrpSpPr/>
          <p:nvPr/>
        </p:nvGrpSpPr>
        <p:grpSpPr>
          <a:xfrm>
            <a:off x="2895600" y="2028825"/>
            <a:ext cx="6391275" cy="1209675"/>
            <a:chOff x="2895600" y="2028825"/>
            <a:chExt cx="6391275" cy="1209675"/>
          </a:xfrm>
        </p:grpSpPr>
        <p:sp>
          <p:nvSpPr>
            <p:cNvPr id="11" name="Line 11"/>
            <p:cNvSpPr/>
            <p:nvPr/>
          </p:nvSpPr>
          <p:spPr>
            <a:xfrm>
              <a:off x="2895600" y="3228975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3524250" y="25717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6572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3524250" y="2571750"/>
              <a:ext cx="666750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238625" y="2028825"/>
              <a:ext cx="3333750" cy="1104900"/>
            </a:xfrm>
            <a:prstGeom prst="roundRect">
              <a:avLst>
                <a:gd name="adj" fmla="val 18966"/>
              </a:avLst>
            </a:prstGeom>
            <a:solidFill>
              <a:srgbClr val="FBE6D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43984" y="2117725"/>
              <a:ext cx="14022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Ketosis?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48556" y="2657475"/>
              <a:ext cx="24488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 objectively verified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572375" y="2571750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8" name="Line 18"/>
            <p:cNvSpPr/>
            <p:nvPr/>
          </p:nvSpPr>
          <p:spPr>
            <a:xfrm>
              <a:off x="8667750" y="2571750"/>
              <a:ext cx="9525" cy="657225"/>
            </a:xfrm>
            <a:custGeom>
              <a:avLst/>
              <a:gdLst/>
              <a:ahLst/>
              <a:cxnLst/>
              <a:rect l="l" t="t" r="r" b="b"/>
              <a:pathLst>
                <a:path w="9525" h="657225">
                  <a:moveTo>
                    <a:pt x="0" y="0"/>
                  </a:moveTo>
                  <a:lnTo>
                    <a:pt x="0" y="657225"/>
                  </a:lnTo>
                </a:path>
              </a:pathLst>
            </a:custGeom>
            <a:noFill/>
            <a:ln w="28575">
              <a:solidFill>
                <a:schemeClr val="accent2"/>
              </a:solidFill>
              <a:custDash>
                <a:ds d="233333" sp="166667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8667750" y="3228975"/>
              <a:ext cx="619125" cy="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0" name="Ellipse 20"/>
            <p:cNvSpPr/>
            <p:nvPr/>
          </p:nvSpPr>
          <p:spPr>
            <a:xfrm>
              <a:off x="7867650" y="2343150"/>
              <a:ext cx="457200" cy="457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002933" y="2374900"/>
              <a:ext cx="1866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?</a:t>
              </a:r>
            </a:p>
          </p:txBody>
        </p:sp>
      </p:grpSp>
      <p:grpSp>
        <p:nvGrpSpPr>
          <p:cNvPr id="33" name="calorie-path"/>
          <p:cNvGrpSpPr/>
          <p:nvPr/>
        </p:nvGrpSpPr>
        <p:grpSpPr>
          <a:xfrm>
            <a:off x="2895600" y="3829050"/>
            <a:ext cx="6391275" cy="1485900"/>
            <a:chOff x="2895600" y="3829050"/>
            <a:chExt cx="6391275" cy="1485900"/>
          </a:xfrm>
        </p:grpSpPr>
        <p:sp>
          <p:nvSpPr>
            <p:cNvPr id="23" name="Line 23"/>
            <p:cNvSpPr/>
            <p:nvPr/>
          </p:nvSpPr>
          <p:spPr>
            <a:xfrm>
              <a:off x="2895600" y="3829050"/>
              <a:ext cx="628650" cy="9525"/>
            </a:xfrm>
            <a:custGeom>
              <a:avLst/>
              <a:gdLst/>
              <a:ahLst/>
              <a:cxnLst/>
              <a:rect l="l" t="t" r="r" b="b"/>
              <a:pathLst>
                <a:path w="628650" h="9525">
                  <a:moveTo>
                    <a:pt x="0" y="0"/>
                  </a:moveTo>
                  <a:lnTo>
                    <a:pt x="6286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24" name="Line 24"/>
            <p:cNvSpPr/>
            <p:nvPr/>
          </p:nvSpPr>
          <p:spPr>
            <a:xfrm>
              <a:off x="3524250" y="3829050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0"/>
                  </a:moveTo>
                  <a:lnTo>
                    <a:pt x="0" y="923925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25" name="Line 25"/>
            <p:cNvSpPr/>
            <p:nvPr/>
          </p:nvSpPr>
          <p:spPr>
            <a:xfrm>
              <a:off x="3524250" y="4752975"/>
              <a:ext cx="666750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38625" y="4210050"/>
              <a:ext cx="3333750" cy="1104900"/>
            </a:xfrm>
            <a:prstGeom prst="roundRect">
              <a:avLst>
                <a:gd name="adj" fmla="val 18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46270" y="4324350"/>
              <a:ext cx="2102777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reported</a:t>
              </a:r>
              <a:b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energy intake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572375" y="4752975"/>
              <a:ext cx="1095375" cy="9525"/>
            </a:xfrm>
            <a:custGeom>
              <a:avLst/>
              <a:gdLst/>
              <a:ahLst/>
              <a:cxnLst/>
              <a:rect l="l" t="t" r="r" b="b"/>
              <a:pathLst>
                <a:path w="1095375" h="9525">
                  <a:moveTo>
                    <a:pt x="0" y="0"/>
                  </a:moveTo>
                  <a:lnTo>
                    <a:pt x="109537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29" name="Line 29"/>
            <p:cNvSpPr/>
            <p:nvPr/>
          </p:nvSpPr>
          <p:spPr>
            <a:xfrm>
              <a:off x="8667750" y="3829050"/>
              <a:ext cx="9525" cy="923925"/>
            </a:xfrm>
            <a:custGeom>
              <a:avLst/>
              <a:gdLst/>
              <a:ahLst/>
              <a:cxnLst/>
              <a:rect l="l" t="t" r="r" b="b"/>
              <a:pathLst>
                <a:path w="9525" h="923925">
                  <a:moveTo>
                    <a:pt x="0" y="9239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  <a:custDash>
                <a:ds d="233333" sp="166667"/>
              </a:custDash>
            </a:ln>
          </p:spPr>
        </p:sp>
        <p:sp>
          <p:nvSpPr>
            <p:cNvPr id="30" name="Line 30"/>
            <p:cNvSpPr/>
            <p:nvPr/>
          </p:nvSpPr>
          <p:spPr>
            <a:xfrm>
              <a:off x="8667750" y="3829050"/>
              <a:ext cx="619125" cy="1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custDash>
                <a:ds d="233333" sp="166667"/>
              </a:custDash>
              <a:tailEnd type="triangle" w="lg" len="lg"/>
            </a:ln>
          </p:spPr>
        </p:sp>
        <p:sp>
          <p:nvSpPr>
            <p:cNvPr id="31" name="Ellipse 31"/>
            <p:cNvSpPr/>
            <p:nvPr/>
          </p:nvSpPr>
          <p:spPr>
            <a:xfrm>
              <a:off x="7867650" y="4524375"/>
              <a:ext cx="457200" cy="4572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02933" y="4556125"/>
              <a:ext cx="1866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?</a:t>
              </a:r>
            </a:p>
          </p:txBody>
        </p:sp>
      </p:grpSp>
      <p:grpSp>
        <p:nvGrpSpPr>
          <p:cNvPr id="36" name="!!weight-outcome"/>
          <p:cNvGrpSpPr/>
          <p:nvPr/>
        </p:nvGrpSpPr>
        <p:grpSpPr>
          <a:xfrm>
            <a:off x="9296400" y="2828925"/>
            <a:ext cx="2381250" cy="1390650"/>
            <a:chOff x="9296400" y="2828925"/>
            <a:chExt cx="2381250" cy="1390650"/>
          </a:xfrm>
        </p:grpSpPr>
        <p:sp>
          <p:nvSpPr>
            <p:cNvPr id="34" name="Rectangle 34"/>
            <p:cNvSpPr/>
            <p:nvPr/>
          </p:nvSpPr>
          <p:spPr>
            <a:xfrm>
              <a:off x="9296400" y="2828925"/>
              <a:ext cx="2381250" cy="1390650"/>
            </a:xfrm>
            <a:prstGeom prst="roundRect">
              <a:avLst>
                <a:gd name="adj" fmla="val 1506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94520" y="3000375"/>
              <a:ext cx="1944586" cy="8496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Extra weight</a:t>
              </a:r>
              <a:b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loss observed</a:t>
              </a:r>
            </a:p>
          </p:txBody>
        </p:sp>
      </p:grpSp>
      <p:grpSp>
        <p:nvGrpSpPr>
          <p:cNvPr id="38" name="!!pathway-legend"/>
          <p:cNvGrpSpPr/>
          <p:nvPr/>
        </p:nvGrpSpPr>
        <p:grpSpPr>
          <a:xfrm>
            <a:off x="3100494" y="5584825"/>
            <a:ext cx="5991012" cy="685419"/>
            <a:chOff x="3100494" y="5584825"/>
            <a:chExt cx="5991012" cy="685419"/>
          </a:xfrm>
        </p:grpSpPr>
        <p:sp>
          <p:nvSpPr>
            <p:cNvPr id="37" name="TextBox 37"/>
            <p:cNvSpPr txBox="1"/>
            <p:nvPr/>
          </p:nvSpPr>
          <p:spPr>
            <a:xfrm>
              <a:off x="3100494" y="5584825"/>
              <a:ext cx="5991012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Dashed arrows = possible paths · ? = not established here.</a:t>
              </a:r>
              <a:b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Paths may overlap; their contributions were not isolated.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08254" y="6467475"/>
            <a:ext cx="8000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Table 2, Table 5 + Discussion · Arrows do not represent estimated or demonstrated mediation.</a:t>
            </a:r>
          </a:p>
        </p:txBody>
      </p: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6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6456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1 · THE WEIGHT-LOSS MECHANISM WAS NOT ISOLATED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10383724" cy="847725"/>
            <a:chOff x="495300" y="609600"/>
            <a:chExt cx="10383724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1038372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Two gaps. One mechanism limitation.</a:t>
              </a:r>
            </a:p>
          </p:txBody>
        </p:sp>
      </p:grpSp>
      <p:grpSp>
        <p:nvGrpSpPr>
          <p:cNvPr id="16" name="ketone-gap"/>
          <p:cNvGrpSpPr/>
          <p:nvPr/>
        </p:nvGrpSpPr>
        <p:grpSpPr>
          <a:xfrm>
            <a:off x="514350" y="2105025"/>
            <a:ext cx="5334000" cy="2571750"/>
            <a:chOff x="514350" y="2105025"/>
            <a:chExt cx="5334000" cy="2571750"/>
          </a:xfrm>
        </p:grpSpPr>
        <p:sp>
          <p:nvSpPr>
            <p:cNvPr id="7" name="Rectangle 7"/>
            <p:cNvSpPr/>
            <p:nvPr/>
          </p:nvSpPr>
          <p:spPr>
            <a:xfrm>
              <a:off x="514350" y="2105025"/>
              <a:ext cx="5334000" cy="2571750"/>
            </a:xfrm>
            <a:prstGeom prst="roundRect">
              <a:avLst>
                <a:gd name="adj" fmla="val 81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2543175"/>
              <a:ext cx="400050" cy="1047750"/>
            </a:xfrm>
            <a:prstGeom prst="roundRect">
              <a:avLst>
                <a:gd name="adj" fmla="val 38095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04875" y="2495550"/>
              <a:ext cx="495300" cy="142875"/>
            </a:xfrm>
            <a:prstGeom prst="roundRect">
              <a:avLst>
                <a:gd name="adj" fmla="val 2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19175" y="3152775"/>
              <a:ext cx="266700" cy="333375"/>
            </a:xfrm>
            <a:prstGeom prst="roundRect">
              <a:avLst>
                <a:gd name="adj" fmla="val 2857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038225" y="28575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1590675" y="2476500"/>
              <a:ext cx="514350" cy="5143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23129" y="2536825"/>
              <a:ext cx="2494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465070" y="2435225"/>
              <a:ext cx="26408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Unverified ketosis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467356" y="2990850"/>
              <a:ext cx="1822582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Who reached it?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Was it sustained?</a:t>
              </a:r>
            </a:p>
          </p:txBody>
        </p:sp>
      </p:grpSp>
      <p:grpSp>
        <p:nvGrpSpPr>
          <p:cNvPr id="24" name="calorie-gap"/>
          <p:cNvGrpSpPr/>
          <p:nvPr/>
        </p:nvGrpSpPr>
        <p:grpSpPr>
          <a:xfrm>
            <a:off x="6343650" y="2105025"/>
            <a:ext cx="5334000" cy="2571750"/>
            <a:chOff x="6343650" y="2105025"/>
            <a:chExt cx="5334000" cy="2571750"/>
          </a:xfrm>
        </p:grpSpPr>
        <p:sp>
          <p:nvSpPr>
            <p:cNvPr id="17" name="Rectangle 17"/>
            <p:cNvSpPr/>
            <p:nvPr/>
          </p:nvSpPr>
          <p:spPr>
            <a:xfrm>
              <a:off x="6343650" y="2105025"/>
              <a:ext cx="5334000" cy="2571750"/>
            </a:xfrm>
            <a:prstGeom prst="roundRect">
              <a:avLst>
                <a:gd name="adj" fmla="val 814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96075" y="2562225"/>
              <a:ext cx="485775" cy="809625"/>
            </a:xfrm>
            <a:prstGeom prst="roundRect">
              <a:avLst>
                <a:gd name="adj" fmla="val 17647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89234" y="2847975"/>
              <a:ext cx="4899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kcal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296150" y="2495550"/>
              <a:ext cx="476250" cy="47625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09554" y="2536825"/>
              <a:ext cx="24944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?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84820" y="2435225"/>
              <a:ext cx="311268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Calories not matched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87106" y="2990850"/>
              <a:ext cx="2444877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Would extra loss persist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at equal intake?</a:t>
              </a:r>
            </a:p>
          </p:txBody>
        </p:sp>
      </p:grpSp>
      <p:grpSp>
        <p:nvGrpSpPr>
          <p:cNvPr id="27" name="mechanism-conclusion"/>
          <p:cNvGrpSpPr/>
          <p:nvPr/>
        </p:nvGrpSpPr>
        <p:grpSpPr>
          <a:xfrm>
            <a:off x="2070327" y="5289550"/>
            <a:ext cx="8051346" cy="901319"/>
            <a:chOff x="2070327" y="5289550"/>
            <a:chExt cx="8051346" cy="901319"/>
          </a:xfrm>
        </p:grpSpPr>
        <p:sp>
          <p:nvSpPr>
            <p:cNvPr id="25" name="TextBox 25"/>
            <p:cNvSpPr txBox="1"/>
            <p:nvPr/>
          </p:nvSpPr>
          <p:spPr>
            <a:xfrm>
              <a:off x="2070327" y="5289550"/>
              <a:ext cx="80513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7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Two evidence gaps limit one mechanism claim.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133465" y="5838825"/>
              <a:ext cx="59250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Eating less can still be part of the programme’s benefit.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08254" y="6467475"/>
            <a:ext cx="71111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The programme comparison does not isolate a ketosis-specific effect independent of energy intake.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3416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2 · MISSING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6993775" cy="847725"/>
            <a:chOff x="495300" y="609600"/>
            <a:chExt cx="6993775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699377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stays in the picture?</a:t>
              </a:r>
            </a:p>
          </p:txBody>
        </p:sp>
      </p:grpSp>
      <p:grpSp>
        <p:nvGrpSpPr>
          <p:cNvPr id="168" name="!!cohort-grid"/>
          <p:cNvGrpSpPr/>
          <p:nvPr/>
        </p:nvGrpSpPr>
        <p:grpSpPr>
          <a:xfrm>
            <a:off x="819150" y="2057400"/>
            <a:ext cx="5448300" cy="3476625"/>
            <a:chOff x="819150" y="2057400"/>
            <a:chExt cx="5448300" cy="3476625"/>
          </a:xfrm>
        </p:grpSpPr>
        <p:grpSp>
          <p:nvGrpSpPr>
            <p:cNvPr id="167" name="participant-followup-chartArea"/>
            <p:cNvGrpSpPr/>
            <p:nvPr/>
          </p:nvGrpSpPr>
          <p:grpSpPr>
            <a:xfrm>
              <a:off x="819150" y="2057400"/>
              <a:ext cx="5448300" cy="3476625"/>
              <a:chOff x="819150" y="2057400"/>
              <a:chExt cx="5448300" cy="347662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286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191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4192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4097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20097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0002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6003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5908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1908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1813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7814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7719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3719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624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9625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9530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5530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5435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1436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1341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286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191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4192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4097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0097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0002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26003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25908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31908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1813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7814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7719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43719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43624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9625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9530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5530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5435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1436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1341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286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191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14192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14097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20097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20002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26003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25908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31908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31813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37814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37719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43719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43624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49625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49530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55530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55435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1436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61341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8286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191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14192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14097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20097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20002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26003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25908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31908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31813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37814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37719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43719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43624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49625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49530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55530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55435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61436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61341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286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8191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14192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0" name="Rectangle 90"/>
              <p:cNvSpPr/>
              <p:nvPr/>
            </p:nvSpPr>
            <p:spPr>
              <a:xfrm>
                <a:off x="14097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20097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20002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26003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25908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31908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6" name="Rectangle 96"/>
              <p:cNvSpPr/>
              <p:nvPr/>
            </p:nvSpPr>
            <p:spPr>
              <a:xfrm>
                <a:off x="31813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7" name="Ellipse 97"/>
              <p:cNvSpPr/>
              <p:nvPr/>
            </p:nvSpPr>
            <p:spPr>
              <a:xfrm>
                <a:off x="37814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8" name="Rectangle 98"/>
              <p:cNvSpPr/>
              <p:nvPr/>
            </p:nvSpPr>
            <p:spPr>
              <a:xfrm>
                <a:off x="37719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43719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0" name="Rectangle 100"/>
              <p:cNvSpPr/>
              <p:nvPr/>
            </p:nvSpPr>
            <p:spPr>
              <a:xfrm>
                <a:off x="43624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49625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2" name="Rectangle 102"/>
              <p:cNvSpPr/>
              <p:nvPr/>
            </p:nvSpPr>
            <p:spPr>
              <a:xfrm>
                <a:off x="49530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55530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4" name="Rectangle 104"/>
              <p:cNvSpPr/>
              <p:nvPr/>
            </p:nvSpPr>
            <p:spPr>
              <a:xfrm>
                <a:off x="55435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61436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6" name="Rectangle 106"/>
              <p:cNvSpPr/>
              <p:nvPr/>
            </p:nvSpPr>
            <p:spPr>
              <a:xfrm>
                <a:off x="61341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7" name="Ellipse 107"/>
              <p:cNvSpPr/>
              <p:nvPr/>
            </p:nvSpPr>
            <p:spPr>
              <a:xfrm>
                <a:off x="8286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8" name="Rectangle 108"/>
              <p:cNvSpPr/>
              <p:nvPr/>
            </p:nvSpPr>
            <p:spPr>
              <a:xfrm>
                <a:off x="8191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14192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0" name="Rectangle 110"/>
              <p:cNvSpPr/>
              <p:nvPr/>
            </p:nvSpPr>
            <p:spPr>
              <a:xfrm>
                <a:off x="14097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20097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2" name="Rectangle 112"/>
              <p:cNvSpPr/>
              <p:nvPr/>
            </p:nvSpPr>
            <p:spPr>
              <a:xfrm>
                <a:off x="20002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26003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4" name="Rectangle 114"/>
              <p:cNvSpPr/>
              <p:nvPr/>
            </p:nvSpPr>
            <p:spPr>
              <a:xfrm>
                <a:off x="25908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5" name="Ellipse 115"/>
              <p:cNvSpPr/>
              <p:nvPr/>
            </p:nvSpPr>
            <p:spPr>
              <a:xfrm>
                <a:off x="31908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6" name="Rectangle 116"/>
              <p:cNvSpPr/>
              <p:nvPr/>
            </p:nvSpPr>
            <p:spPr>
              <a:xfrm>
                <a:off x="31813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7" name="Ellipse 117"/>
              <p:cNvSpPr/>
              <p:nvPr/>
            </p:nvSpPr>
            <p:spPr>
              <a:xfrm>
                <a:off x="37814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8" name="Rectangle 118"/>
              <p:cNvSpPr/>
              <p:nvPr/>
            </p:nvSpPr>
            <p:spPr>
              <a:xfrm>
                <a:off x="37719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43719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0" name="Rectangle 120"/>
              <p:cNvSpPr/>
              <p:nvPr/>
            </p:nvSpPr>
            <p:spPr>
              <a:xfrm>
                <a:off x="43624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49625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2" name="Rectangle 122"/>
              <p:cNvSpPr/>
              <p:nvPr/>
            </p:nvSpPr>
            <p:spPr>
              <a:xfrm>
                <a:off x="49530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55530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4" name="Rectangle 124"/>
              <p:cNvSpPr/>
              <p:nvPr/>
            </p:nvSpPr>
            <p:spPr>
              <a:xfrm>
                <a:off x="55435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5" name="Ellipse 125"/>
              <p:cNvSpPr/>
              <p:nvPr/>
            </p:nvSpPr>
            <p:spPr>
              <a:xfrm>
                <a:off x="61436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6" name="Rectangle 126"/>
              <p:cNvSpPr/>
              <p:nvPr/>
            </p:nvSpPr>
            <p:spPr>
              <a:xfrm>
                <a:off x="61341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7" name="Ellipse 127"/>
              <p:cNvSpPr/>
              <p:nvPr/>
            </p:nvSpPr>
            <p:spPr>
              <a:xfrm>
                <a:off x="8286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8" name="Rectangle 128"/>
              <p:cNvSpPr/>
              <p:nvPr/>
            </p:nvSpPr>
            <p:spPr>
              <a:xfrm>
                <a:off x="8191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14192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0" name="Rectangle 130"/>
              <p:cNvSpPr/>
              <p:nvPr/>
            </p:nvSpPr>
            <p:spPr>
              <a:xfrm>
                <a:off x="14097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20097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20002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26003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4" name="Rectangle 134"/>
              <p:cNvSpPr/>
              <p:nvPr/>
            </p:nvSpPr>
            <p:spPr>
              <a:xfrm>
                <a:off x="25908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5" name="Ellipse 135"/>
              <p:cNvSpPr/>
              <p:nvPr/>
            </p:nvSpPr>
            <p:spPr>
              <a:xfrm>
                <a:off x="31908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6" name="Rectangle 136"/>
              <p:cNvSpPr/>
              <p:nvPr/>
            </p:nvSpPr>
            <p:spPr>
              <a:xfrm>
                <a:off x="31813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37814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8" name="Rectangle 138"/>
              <p:cNvSpPr/>
              <p:nvPr/>
            </p:nvSpPr>
            <p:spPr>
              <a:xfrm>
                <a:off x="37719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9" name="Ellipse 139"/>
              <p:cNvSpPr/>
              <p:nvPr/>
            </p:nvSpPr>
            <p:spPr>
              <a:xfrm>
                <a:off x="43719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0" name="Rectangle 140"/>
              <p:cNvSpPr/>
              <p:nvPr/>
            </p:nvSpPr>
            <p:spPr>
              <a:xfrm>
                <a:off x="43624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49625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2" name="Rectangle 142"/>
              <p:cNvSpPr/>
              <p:nvPr/>
            </p:nvSpPr>
            <p:spPr>
              <a:xfrm>
                <a:off x="49530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555307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4" name="Rectangle 144"/>
              <p:cNvSpPr/>
              <p:nvPr/>
            </p:nvSpPr>
            <p:spPr>
              <a:xfrm>
                <a:off x="55435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6143625" y="47434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6" name="Rectangle 146"/>
              <p:cNvSpPr/>
              <p:nvPr/>
            </p:nvSpPr>
            <p:spPr>
              <a:xfrm>
                <a:off x="61341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7" name="Ellipse 147"/>
              <p:cNvSpPr/>
              <p:nvPr/>
            </p:nvSpPr>
            <p:spPr>
              <a:xfrm>
                <a:off x="8286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8" name="Rectangle 148"/>
              <p:cNvSpPr/>
              <p:nvPr/>
            </p:nvSpPr>
            <p:spPr>
              <a:xfrm>
                <a:off x="8191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9" name="Ellipse 149"/>
              <p:cNvSpPr/>
              <p:nvPr/>
            </p:nvSpPr>
            <p:spPr>
              <a:xfrm>
                <a:off x="14192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0" name="Rectangle 150"/>
              <p:cNvSpPr/>
              <p:nvPr/>
            </p:nvSpPr>
            <p:spPr>
              <a:xfrm>
                <a:off x="14097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1" name="Ellipse 151"/>
              <p:cNvSpPr/>
              <p:nvPr/>
            </p:nvSpPr>
            <p:spPr>
              <a:xfrm>
                <a:off x="20097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2" name="Rectangle 152"/>
              <p:cNvSpPr/>
              <p:nvPr/>
            </p:nvSpPr>
            <p:spPr>
              <a:xfrm>
                <a:off x="20002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3" name="Ellipse 153"/>
              <p:cNvSpPr/>
              <p:nvPr/>
            </p:nvSpPr>
            <p:spPr>
              <a:xfrm>
                <a:off x="26003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4" name="Rectangle 154"/>
              <p:cNvSpPr/>
              <p:nvPr/>
            </p:nvSpPr>
            <p:spPr>
              <a:xfrm>
                <a:off x="25908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5" name="Ellipse 155"/>
              <p:cNvSpPr/>
              <p:nvPr/>
            </p:nvSpPr>
            <p:spPr>
              <a:xfrm>
                <a:off x="31908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6" name="Rectangle 156"/>
              <p:cNvSpPr/>
              <p:nvPr/>
            </p:nvSpPr>
            <p:spPr>
              <a:xfrm>
                <a:off x="31813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7" name="Ellipse 157"/>
              <p:cNvSpPr/>
              <p:nvPr/>
            </p:nvSpPr>
            <p:spPr>
              <a:xfrm>
                <a:off x="37814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8" name="Rectangle 158"/>
              <p:cNvSpPr/>
              <p:nvPr/>
            </p:nvSpPr>
            <p:spPr>
              <a:xfrm>
                <a:off x="37719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9" name="Ellipse 159"/>
              <p:cNvSpPr/>
              <p:nvPr/>
            </p:nvSpPr>
            <p:spPr>
              <a:xfrm>
                <a:off x="43719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0" name="Rectangle 160"/>
              <p:cNvSpPr/>
              <p:nvPr/>
            </p:nvSpPr>
            <p:spPr>
              <a:xfrm>
                <a:off x="43624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1" name="Ellipse 161"/>
              <p:cNvSpPr/>
              <p:nvPr/>
            </p:nvSpPr>
            <p:spPr>
              <a:xfrm>
                <a:off x="49625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2" name="Rectangle 162"/>
              <p:cNvSpPr/>
              <p:nvPr/>
            </p:nvSpPr>
            <p:spPr>
              <a:xfrm>
                <a:off x="49530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3" name="Ellipse 163"/>
              <p:cNvSpPr/>
              <p:nvPr/>
            </p:nvSpPr>
            <p:spPr>
              <a:xfrm>
                <a:off x="555307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4" name="Rectangle 164"/>
              <p:cNvSpPr/>
              <p:nvPr/>
            </p:nvSpPr>
            <p:spPr>
              <a:xfrm>
                <a:off x="55435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5" name="Ellipse 165"/>
              <p:cNvSpPr/>
              <p:nvPr/>
            </p:nvSpPr>
            <p:spPr>
              <a:xfrm>
                <a:off x="6143625" y="51911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6" name="Rectangle 166"/>
              <p:cNvSpPr/>
              <p:nvPr/>
            </p:nvSpPr>
            <p:spPr>
              <a:xfrm>
                <a:off x="61341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</p:grpSp>
      </p:grpSp>
      <p:grpSp>
        <p:nvGrpSpPr>
          <p:cNvPr id="172" name="!!cohort-count"/>
          <p:cNvGrpSpPr/>
          <p:nvPr/>
        </p:nvGrpSpPr>
        <p:grpSpPr>
          <a:xfrm>
            <a:off x="7715250" y="2254250"/>
            <a:ext cx="3191110" cy="1955419"/>
            <a:chOff x="7715250" y="2254250"/>
            <a:chExt cx="3191110" cy="1955419"/>
          </a:xfrm>
        </p:grpSpPr>
        <p:sp>
          <p:nvSpPr>
            <p:cNvPr id="169" name="TextBox 169"/>
            <p:cNvSpPr txBox="1"/>
            <p:nvPr/>
          </p:nvSpPr>
          <p:spPr>
            <a:xfrm>
              <a:off x="7715250" y="2254250"/>
              <a:ext cx="117388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80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7751445" y="3368675"/>
              <a:ext cx="3154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randomized at baseline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7753731" y="3857625"/>
              <a:ext cx="3128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100% in the starting cohort</a:t>
              </a:r>
            </a:p>
          </p:txBody>
        </p:sp>
      </p:grpSp>
      <p:grpSp>
        <p:nvGrpSpPr>
          <p:cNvPr id="176" name="followup-caveat"/>
          <p:cNvGrpSpPr/>
          <p:nvPr/>
        </p:nvGrpSpPr>
        <p:grpSpPr>
          <a:xfrm>
            <a:off x="7722870" y="4673600"/>
            <a:ext cx="3025303" cy="1250569"/>
            <a:chOff x="7722870" y="4673600"/>
            <a:chExt cx="3025303" cy="1250569"/>
          </a:xfrm>
        </p:grpSpPr>
        <p:sp>
          <p:nvSpPr>
            <p:cNvPr id="173" name="TextBox 173"/>
            <p:cNvSpPr txBox="1"/>
            <p:nvPr/>
          </p:nvSpPr>
          <p:spPr>
            <a:xfrm>
              <a:off x="7722870" y="4673600"/>
              <a:ext cx="29958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happens next?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7725156" y="5133975"/>
              <a:ext cx="25983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Follow the same cohort.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725156" y="5572125"/>
              <a:ext cx="30230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One figure = one participant</a:t>
              </a:r>
            </a:p>
          </p:txBody>
        </p:sp>
      </p:grpSp>
      <p:grpSp>
        <p:nvGrpSpPr>
          <p:cNvPr id="180" name="cohort-legend"/>
          <p:cNvGrpSpPr/>
          <p:nvPr/>
        </p:nvGrpSpPr>
        <p:grpSpPr>
          <a:xfrm>
            <a:off x="676275" y="5915025"/>
            <a:ext cx="4636425" cy="352044"/>
            <a:chOff x="676275" y="5915025"/>
            <a:chExt cx="4636425" cy="352044"/>
          </a:xfrm>
        </p:grpSpPr>
        <p:sp>
          <p:nvSpPr>
            <p:cNvPr id="177" name="Ellipse 177"/>
            <p:cNvSpPr/>
            <p:nvPr/>
          </p:nvSpPr>
          <p:spPr>
            <a:xfrm>
              <a:off x="676275" y="59912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905256" y="5915025"/>
              <a:ext cx="1076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Observed</a:t>
              </a:r>
            </a:p>
          </p:txBody>
        </p:sp>
        <p:sp>
          <p:nvSpPr>
            <p:cNvPr id="179" name="TextBox 179"/>
            <p:cNvSpPr txBox="1"/>
            <p:nvPr/>
          </p:nvSpPr>
          <p:spPr>
            <a:xfrm>
              <a:off x="2753106" y="5915025"/>
              <a:ext cx="2559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Same 80-person cohort</a:t>
              </a:r>
            </a:p>
          </p:txBody>
        </p:sp>
      </p:grpSp>
      <p:sp>
        <p:nvSpPr>
          <p:cNvPr id="181" name="TextBox 181"/>
          <p:cNvSpPr txBox="1"/>
          <p:nvPr/>
        </p:nvSpPr>
        <p:spPr>
          <a:xfrm>
            <a:off x="508254" y="6467475"/>
            <a:ext cx="56741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+ Table 2 · 6-month counts: HKD 29/41; ERD 30/39.</a:t>
            </a:r>
          </a:p>
        </p:txBody>
      </p:sp>
    </p:spTree>
  </p:cSld>
  <p:clrMapOvr>
    <a:masterClrMapping/>
  </p:clrMapOvr>
  <p:transition p14:dur="350">
    <p:fade/>
  </p:transition>
</p:sld>
</file>

<file path=ppt/slides/slide7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34167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2 · MISSING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6993775" cy="847725"/>
            <a:chOff x="495300" y="609600"/>
            <a:chExt cx="6993775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6993775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stays in the picture?</a:t>
              </a:r>
            </a:p>
          </p:txBody>
        </p:sp>
      </p:grpSp>
      <p:grpSp>
        <p:nvGrpSpPr>
          <p:cNvPr id="168" name="!!cohort-grid"/>
          <p:cNvGrpSpPr/>
          <p:nvPr/>
        </p:nvGrpSpPr>
        <p:grpSpPr>
          <a:xfrm>
            <a:off x="819150" y="2057400"/>
            <a:ext cx="5448300" cy="3476625"/>
            <a:chOff x="819150" y="2057400"/>
            <a:chExt cx="5448300" cy="3476625"/>
          </a:xfrm>
        </p:grpSpPr>
        <p:grpSp>
          <p:nvGrpSpPr>
            <p:cNvPr id="167" name="participant-followup-chartArea"/>
            <p:cNvGrpSpPr/>
            <p:nvPr/>
          </p:nvGrpSpPr>
          <p:grpSpPr>
            <a:xfrm>
              <a:off x="819150" y="2057400"/>
              <a:ext cx="5448300" cy="3476625"/>
              <a:chOff x="819150" y="2057400"/>
              <a:chExt cx="5448300" cy="3476625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8286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8191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4192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4097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20097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20002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6003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5908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31908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1813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7814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7719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43719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43624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9625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9530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55307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54355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6143625" y="20574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6134100" y="22098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8286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191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4192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4097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0097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0002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26003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25908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31908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1813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7814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7719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43719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43624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9625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49530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55307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554355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6143625" y="25050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6134100" y="26574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8286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191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14192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14097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20097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20002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26003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25908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31908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31813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37814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37719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43719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43624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49625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49530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555307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554355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6143625" y="29527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6134100" y="310515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8286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8191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14192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14097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20097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20002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26003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25908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31908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31813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37814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37719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43719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43624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49625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49530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555307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554355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6143625" y="34004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6134100" y="35528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8286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8191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9" name="Ellipse 89"/>
              <p:cNvSpPr/>
              <p:nvPr/>
            </p:nvSpPr>
            <p:spPr>
              <a:xfrm>
                <a:off x="14192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0" name="Rectangle 90"/>
              <p:cNvSpPr/>
              <p:nvPr/>
            </p:nvSpPr>
            <p:spPr>
              <a:xfrm>
                <a:off x="14097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1" name="Ellipse 91"/>
              <p:cNvSpPr/>
              <p:nvPr/>
            </p:nvSpPr>
            <p:spPr>
              <a:xfrm>
                <a:off x="20097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2" name="Rectangle 92"/>
              <p:cNvSpPr/>
              <p:nvPr/>
            </p:nvSpPr>
            <p:spPr>
              <a:xfrm>
                <a:off x="20002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3" name="Ellipse 93"/>
              <p:cNvSpPr/>
              <p:nvPr/>
            </p:nvSpPr>
            <p:spPr>
              <a:xfrm>
                <a:off x="26003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4" name="Rectangle 94"/>
              <p:cNvSpPr/>
              <p:nvPr/>
            </p:nvSpPr>
            <p:spPr>
              <a:xfrm>
                <a:off x="25908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5" name="Ellipse 95"/>
              <p:cNvSpPr/>
              <p:nvPr/>
            </p:nvSpPr>
            <p:spPr>
              <a:xfrm>
                <a:off x="31908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6" name="Rectangle 96"/>
              <p:cNvSpPr/>
              <p:nvPr/>
            </p:nvSpPr>
            <p:spPr>
              <a:xfrm>
                <a:off x="31813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7" name="Ellipse 97"/>
              <p:cNvSpPr/>
              <p:nvPr/>
            </p:nvSpPr>
            <p:spPr>
              <a:xfrm>
                <a:off x="37814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8" name="Rectangle 98"/>
              <p:cNvSpPr/>
              <p:nvPr/>
            </p:nvSpPr>
            <p:spPr>
              <a:xfrm>
                <a:off x="37719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9" name="Ellipse 99"/>
              <p:cNvSpPr/>
              <p:nvPr/>
            </p:nvSpPr>
            <p:spPr>
              <a:xfrm>
                <a:off x="43719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0" name="Rectangle 100"/>
              <p:cNvSpPr/>
              <p:nvPr/>
            </p:nvSpPr>
            <p:spPr>
              <a:xfrm>
                <a:off x="43624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1" name="Ellipse 101"/>
              <p:cNvSpPr/>
              <p:nvPr/>
            </p:nvSpPr>
            <p:spPr>
              <a:xfrm>
                <a:off x="49625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2" name="Rectangle 102"/>
              <p:cNvSpPr/>
              <p:nvPr/>
            </p:nvSpPr>
            <p:spPr>
              <a:xfrm>
                <a:off x="49530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3" name="Ellipse 103"/>
              <p:cNvSpPr/>
              <p:nvPr/>
            </p:nvSpPr>
            <p:spPr>
              <a:xfrm>
                <a:off x="555307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4" name="Rectangle 104"/>
              <p:cNvSpPr/>
              <p:nvPr/>
            </p:nvSpPr>
            <p:spPr>
              <a:xfrm>
                <a:off x="554355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5" name="Ellipse 105"/>
              <p:cNvSpPr/>
              <p:nvPr/>
            </p:nvSpPr>
            <p:spPr>
              <a:xfrm>
                <a:off x="6143625" y="384810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6" name="Rectangle 106"/>
              <p:cNvSpPr/>
              <p:nvPr/>
            </p:nvSpPr>
            <p:spPr>
              <a:xfrm>
                <a:off x="6134100" y="4000500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7" name="Ellipse 107"/>
              <p:cNvSpPr/>
              <p:nvPr/>
            </p:nvSpPr>
            <p:spPr>
              <a:xfrm>
                <a:off x="8286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8" name="Rectangle 108"/>
              <p:cNvSpPr/>
              <p:nvPr/>
            </p:nvSpPr>
            <p:spPr>
              <a:xfrm>
                <a:off x="8191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9" name="Ellipse 109"/>
              <p:cNvSpPr/>
              <p:nvPr/>
            </p:nvSpPr>
            <p:spPr>
              <a:xfrm>
                <a:off x="14192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0" name="Rectangle 110"/>
              <p:cNvSpPr/>
              <p:nvPr/>
            </p:nvSpPr>
            <p:spPr>
              <a:xfrm>
                <a:off x="14097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1" name="Ellipse 111"/>
              <p:cNvSpPr/>
              <p:nvPr/>
            </p:nvSpPr>
            <p:spPr>
              <a:xfrm>
                <a:off x="20097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2" name="Rectangle 112"/>
              <p:cNvSpPr/>
              <p:nvPr/>
            </p:nvSpPr>
            <p:spPr>
              <a:xfrm>
                <a:off x="20002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3" name="Ellipse 113"/>
              <p:cNvSpPr/>
              <p:nvPr/>
            </p:nvSpPr>
            <p:spPr>
              <a:xfrm>
                <a:off x="26003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4" name="Rectangle 114"/>
              <p:cNvSpPr/>
              <p:nvPr/>
            </p:nvSpPr>
            <p:spPr>
              <a:xfrm>
                <a:off x="25908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5" name="Ellipse 115"/>
              <p:cNvSpPr/>
              <p:nvPr/>
            </p:nvSpPr>
            <p:spPr>
              <a:xfrm>
                <a:off x="31908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6" name="Rectangle 116"/>
              <p:cNvSpPr/>
              <p:nvPr/>
            </p:nvSpPr>
            <p:spPr>
              <a:xfrm>
                <a:off x="31813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7" name="Ellipse 117"/>
              <p:cNvSpPr/>
              <p:nvPr/>
            </p:nvSpPr>
            <p:spPr>
              <a:xfrm>
                <a:off x="37814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8" name="Rectangle 118"/>
              <p:cNvSpPr/>
              <p:nvPr/>
            </p:nvSpPr>
            <p:spPr>
              <a:xfrm>
                <a:off x="37719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9" name="Ellipse 119"/>
              <p:cNvSpPr/>
              <p:nvPr/>
            </p:nvSpPr>
            <p:spPr>
              <a:xfrm>
                <a:off x="43719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0" name="Rectangle 120"/>
              <p:cNvSpPr/>
              <p:nvPr/>
            </p:nvSpPr>
            <p:spPr>
              <a:xfrm>
                <a:off x="43624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1" name="Ellipse 121"/>
              <p:cNvSpPr/>
              <p:nvPr/>
            </p:nvSpPr>
            <p:spPr>
              <a:xfrm>
                <a:off x="496252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2" name="Rectangle 122"/>
              <p:cNvSpPr/>
              <p:nvPr/>
            </p:nvSpPr>
            <p:spPr>
              <a:xfrm>
                <a:off x="49530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3" name="Ellipse 123"/>
              <p:cNvSpPr/>
              <p:nvPr/>
            </p:nvSpPr>
            <p:spPr>
              <a:xfrm>
                <a:off x="5553075" y="4295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4" name="Rectangle 124"/>
              <p:cNvSpPr/>
              <p:nvPr/>
            </p:nvSpPr>
            <p:spPr>
              <a:xfrm>
                <a:off x="554355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5" name="Ellipse 125"/>
              <p:cNvSpPr/>
              <p:nvPr/>
            </p:nvSpPr>
            <p:spPr>
              <a:xfrm>
                <a:off x="6143625" y="42957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6" name="Rectangle 126"/>
              <p:cNvSpPr/>
              <p:nvPr/>
            </p:nvSpPr>
            <p:spPr>
              <a:xfrm>
                <a:off x="6134100" y="44481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7" name="Ellipse 127"/>
              <p:cNvSpPr/>
              <p:nvPr/>
            </p:nvSpPr>
            <p:spPr>
              <a:xfrm>
                <a:off x="8286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8" name="Rectangle 128"/>
              <p:cNvSpPr/>
              <p:nvPr/>
            </p:nvSpPr>
            <p:spPr>
              <a:xfrm>
                <a:off x="8191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29" name="Ellipse 129"/>
              <p:cNvSpPr/>
              <p:nvPr/>
            </p:nvSpPr>
            <p:spPr>
              <a:xfrm>
                <a:off x="14192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0" name="Rectangle 130"/>
              <p:cNvSpPr/>
              <p:nvPr/>
            </p:nvSpPr>
            <p:spPr>
              <a:xfrm>
                <a:off x="14097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1" name="Ellipse 131"/>
              <p:cNvSpPr/>
              <p:nvPr/>
            </p:nvSpPr>
            <p:spPr>
              <a:xfrm>
                <a:off x="20097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2" name="Rectangle 132"/>
              <p:cNvSpPr/>
              <p:nvPr/>
            </p:nvSpPr>
            <p:spPr>
              <a:xfrm>
                <a:off x="20002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3" name="Ellipse 133"/>
              <p:cNvSpPr/>
              <p:nvPr/>
            </p:nvSpPr>
            <p:spPr>
              <a:xfrm>
                <a:off x="26003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4" name="Rectangle 134"/>
              <p:cNvSpPr/>
              <p:nvPr/>
            </p:nvSpPr>
            <p:spPr>
              <a:xfrm>
                <a:off x="25908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5" name="Ellipse 135"/>
              <p:cNvSpPr/>
              <p:nvPr/>
            </p:nvSpPr>
            <p:spPr>
              <a:xfrm>
                <a:off x="31908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6" name="Rectangle 136"/>
              <p:cNvSpPr/>
              <p:nvPr/>
            </p:nvSpPr>
            <p:spPr>
              <a:xfrm>
                <a:off x="31813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7" name="Ellipse 137"/>
              <p:cNvSpPr/>
              <p:nvPr/>
            </p:nvSpPr>
            <p:spPr>
              <a:xfrm>
                <a:off x="37814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8" name="Rectangle 138"/>
              <p:cNvSpPr/>
              <p:nvPr/>
            </p:nvSpPr>
            <p:spPr>
              <a:xfrm>
                <a:off x="37719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39" name="Ellipse 139"/>
              <p:cNvSpPr/>
              <p:nvPr/>
            </p:nvSpPr>
            <p:spPr>
              <a:xfrm>
                <a:off x="43719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0" name="Rectangle 140"/>
              <p:cNvSpPr/>
              <p:nvPr/>
            </p:nvSpPr>
            <p:spPr>
              <a:xfrm>
                <a:off x="43624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1" name="Ellipse 141"/>
              <p:cNvSpPr/>
              <p:nvPr/>
            </p:nvSpPr>
            <p:spPr>
              <a:xfrm>
                <a:off x="49625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2" name="Rectangle 142"/>
              <p:cNvSpPr/>
              <p:nvPr/>
            </p:nvSpPr>
            <p:spPr>
              <a:xfrm>
                <a:off x="49530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3" name="Ellipse 143"/>
              <p:cNvSpPr/>
              <p:nvPr/>
            </p:nvSpPr>
            <p:spPr>
              <a:xfrm>
                <a:off x="555307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4" name="Rectangle 144"/>
              <p:cNvSpPr/>
              <p:nvPr/>
            </p:nvSpPr>
            <p:spPr>
              <a:xfrm>
                <a:off x="554355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5" name="Ellipse 145"/>
              <p:cNvSpPr/>
              <p:nvPr/>
            </p:nvSpPr>
            <p:spPr>
              <a:xfrm>
                <a:off x="6143625" y="4743450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6" name="Rectangle 146"/>
              <p:cNvSpPr/>
              <p:nvPr/>
            </p:nvSpPr>
            <p:spPr>
              <a:xfrm>
                <a:off x="6134100" y="4895850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7" name="Ellipse 147"/>
              <p:cNvSpPr/>
              <p:nvPr/>
            </p:nvSpPr>
            <p:spPr>
              <a:xfrm>
                <a:off x="8286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8" name="Rectangle 148"/>
              <p:cNvSpPr/>
              <p:nvPr/>
            </p:nvSpPr>
            <p:spPr>
              <a:xfrm>
                <a:off x="8191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49" name="Ellipse 149"/>
              <p:cNvSpPr/>
              <p:nvPr/>
            </p:nvSpPr>
            <p:spPr>
              <a:xfrm>
                <a:off x="14192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0" name="Rectangle 150"/>
              <p:cNvSpPr/>
              <p:nvPr/>
            </p:nvSpPr>
            <p:spPr>
              <a:xfrm>
                <a:off x="14097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1" name="Ellipse 151"/>
              <p:cNvSpPr/>
              <p:nvPr/>
            </p:nvSpPr>
            <p:spPr>
              <a:xfrm>
                <a:off x="20097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2" name="Rectangle 152"/>
              <p:cNvSpPr/>
              <p:nvPr/>
            </p:nvSpPr>
            <p:spPr>
              <a:xfrm>
                <a:off x="20002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3" name="Ellipse 153"/>
              <p:cNvSpPr/>
              <p:nvPr/>
            </p:nvSpPr>
            <p:spPr>
              <a:xfrm>
                <a:off x="26003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4" name="Rectangle 154"/>
              <p:cNvSpPr/>
              <p:nvPr/>
            </p:nvSpPr>
            <p:spPr>
              <a:xfrm>
                <a:off x="25908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5" name="Ellipse 155"/>
              <p:cNvSpPr/>
              <p:nvPr/>
            </p:nvSpPr>
            <p:spPr>
              <a:xfrm>
                <a:off x="31908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6" name="Rectangle 156"/>
              <p:cNvSpPr/>
              <p:nvPr/>
            </p:nvSpPr>
            <p:spPr>
              <a:xfrm>
                <a:off x="31813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7" name="Ellipse 157"/>
              <p:cNvSpPr/>
              <p:nvPr/>
            </p:nvSpPr>
            <p:spPr>
              <a:xfrm>
                <a:off x="37814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8" name="Rectangle 158"/>
              <p:cNvSpPr/>
              <p:nvPr/>
            </p:nvSpPr>
            <p:spPr>
              <a:xfrm>
                <a:off x="37719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59" name="Ellipse 159"/>
              <p:cNvSpPr/>
              <p:nvPr/>
            </p:nvSpPr>
            <p:spPr>
              <a:xfrm>
                <a:off x="43719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0" name="Rectangle 160"/>
              <p:cNvSpPr/>
              <p:nvPr/>
            </p:nvSpPr>
            <p:spPr>
              <a:xfrm>
                <a:off x="43624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1" name="Ellipse 161"/>
              <p:cNvSpPr/>
              <p:nvPr/>
            </p:nvSpPr>
            <p:spPr>
              <a:xfrm>
                <a:off x="49625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2" name="Rectangle 162"/>
              <p:cNvSpPr/>
              <p:nvPr/>
            </p:nvSpPr>
            <p:spPr>
              <a:xfrm>
                <a:off x="49530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3" name="Ellipse 163"/>
              <p:cNvSpPr/>
              <p:nvPr/>
            </p:nvSpPr>
            <p:spPr>
              <a:xfrm>
                <a:off x="555307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4" name="Rectangle 164"/>
              <p:cNvSpPr/>
              <p:nvPr/>
            </p:nvSpPr>
            <p:spPr>
              <a:xfrm>
                <a:off x="554355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5" name="Ellipse 165"/>
              <p:cNvSpPr/>
              <p:nvPr/>
            </p:nvSpPr>
            <p:spPr>
              <a:xfrm>
                <a:off x="6143625" y="51911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166" name="Rectangle 166"/>
              <p:cNvSpPr/>
              <p:nvPr/>
            </p:nvSpPr>
            <p:spPr>
              <a:xfrm>
                <a:off x="6134100" y="53435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</p:grpSp>
      </p:grpSp>
      <p:grpSp>
        <p:nvGrpSpPr>
          <p:cNvPr id="172" name="!!cohort-count"/>
          <p:cNvGrpSpPr/>
          <p:nvPr/>
        </p:nvGrpSpPr>
        <p:grpSpPr>
          <a:xfrm>
            <a:off x="7715250" y="2254250"/>
            <a:ext cx="3072860" cy="1955419"/>
            <a:chOff x="7715250" y="2254250"/>
            <a:chExt cx="3072860" cy="1955419"/>
          </a:xfrm>
        </p:grpSpPr>
        <p:sp>
          <p:nvSpPr>
            <p:cNvPr id="169" name="TextBox 169"/>
            <p:cNvSpPr txBox="1"/>
            <p:nvPr/>
          </p:nvSpPr>
          <p:spPr>
            <a:xfrm>
              <a:off x="7715250" y="2254250"/>
              <a:ext cx="1173884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59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7751445" y="3368675"/>
              <a:ext cx="30366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measured at 6 months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7753731" y="3857625"/>
              <a:ext cx="15132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74% retained</a:t>
              </a:r>
            </a:p>
          </p:txBody>
        </p:sp>
      </p:grpSp>
      <p:grpSp>
        <p:nvGrpSpPr>
          <p:cNvPr id="176" name="followup-caveat"/>
          <p:cNvGrpSpPr/>
          <p:nvPr/>
        </p:nvGrpSpPr>
        <p:grpSpPr>
          <a:xfrm>
            <a:off x="7722870" y="4673600"/>
            <a:ext cx="3287826" cy="1250569"/>
            <a:chOff x="7722870" y="4673600"/>
            <a:chExt cx="3287826" cy="1250569"/>
          </a:xfrm>
        </p:grpSpPr>
        <p:sp>
          <p:nvSpPr>
            <p:cNvPr id="173" name="TextBox 173"/>
            <p:cNvSpPr txBox="1"/>
            <p:nvPr/>
          </p:nvSpPr>
          <p:spPr>
            <a:xfrm>
              <a:off x="7722870" y="4673600"/>
              <a:ext cx="32878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21 outcomes unknown</a:t>
              </a:r>
            </a:p>
          </p:txBody>
        </p:sp>
        <p:sp>
          <p:nvSpPr>
            <p:cNvPr id="174" name="TextBox 174"/>
            <p:cNvSpPr txBox="1"/>
            <p:nvPr/>
          </p:nvSpPr>
          <p:spPr>
            <a:xfrm>
              <a:off x="7725156" y="5133975"/>
              <a:ext cx="2987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 weight ≠ failed diet.</a:t>
              </a:r>
            </a:p>
          </p:txBody>
        </p:sp>
        <p:sp>
          <p:nvSpPr>
            <p:cNvPr id="175" name="TextBox 175"/>
            <p:cNvSpPr txBox="1"/>
            <p:nvPr/>
          </p:nvSpPr>
          <p:spPr>
            <a:xfrm>
              <a:off x="7725156" y="5572125"/>
              <a:ext cx="28923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HKD missing: 12 · ERD: 9</a:t>
              </a:r>
            </a:p>
          </p:txBody>
        </p:sp>
      </p:grpSp>
      <p:grpSp>
        <p:nvGrpSpPr>
          <p:cNvPr id="181" name="cohort-legend"/>
          <p:cNvGrpSpPr/>
          <p:nvPr/>
        </p:nvGrpSpPr>
        <p:grpSpPr>
          <a:xfrm>
            <a:off x="676275" y="5915025"/>
            <a:ext cx="4515293" cy="352044"/>
            <a:chOff x="676275" y="5915025"/>
            <a:chExt cx="4515293" cy="352044"/>
          </a:xfrm>
        </p:grpSpPr>
        <p:sp>
          <p:nvSpPr>
            <p:cNvPr id="177" name="Ellipse 177"/>
            <p:cNvSpPr/>
            <p:nvPr/>
          </p:nvSpPr>
          <p:spPr>
            <a:xfrm>
              <a:off x="676275" y="599122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8" name="TextBox 178"/>
            <p:cNvSpPr txBox="1"/>
            <p:nvPr/>
          </p:nvSpPr>
          <p:spPr>
            <a:xfrm>
              <a:off x="905256" y="5915025"/>
              <a:ext cx="1076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Observed</a:t>
              </a:r>
            </a:p>
          </p:txBody>
        </p:sp>
        <p:sp>
          <p:nvSpPr>
            <p:cNvPr id="179" name="Ellipse 179"/>
            <p:cNvSpPr/>
            <p:nvPr/>
          </p:nvSpPr>
          <p:spPr>
            <a:xfrm>
              <a:off x="2781300" y="5991225"/>
              <a:ext cx="133350" cy="13335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80" name="TextBox 180"/>
            <p:cNvSpPr txBox="1"/>
            <p:nvPr/>
          </p:nvSpPr>
          <p:spPr>
            <a:xfrm>
              <a:off x="3010281" y="5915025"/>
              <a:ext cx="21812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 at 6 months</a:t>
              </a:r>
            </a:p>
          </p:txBody>
        </p:sp>
      </p:grpSp>
      <p:sp>
        <p:nvSpPr>
          <p:cNvPr id="182" name="TextBox 182"/>
          <p:cNvSpPr txBox="1"/>
          <p:nvPr/>
        </p:nvSpPr>
        <p:spPr>
          <a:xfrm>
            <a:off x="508254" y="6467475"/>
            <a:ext cx="56741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+ Table 2 · 6-month counts: HKD 29/41; ERD 30/39.</a:t>
            </a:r>
          </a:p>
        </p:txBody>
      </p: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51346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2 · THE 12 UNOBSERVED HKD OUTCOMES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9468313" cy="847725"/>
            <a:chOff x="495300" y="609600"/>
            <a:chExt cx="9468313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9468313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The missing weights could matter.</a:t>
              </a:r>
            </a:p>
          </p:txBody>
        </p:sp>
      </p:grpSp>
      <p:grpSp>
        <p:nvGrpSpPr>
          <p:cNvPr id="91" name="!!hkd-focus"/>
          <p:cNvGrpSpPr/>
          <p:nvPr/>
        </p:nvGrpSpPr>
        <p:grpSpPr>
          <a:xfrm>
            <a:off x="752856" y="2105025"/>
            <a:ext cx="3736483" cy="3257169"/>
            <a:chOff x="752856" y="2105025"/>
            <a:chExt cx="3736483" cy="3257169"/>
          </a:xfrm>
        </p:grpSpPr>
        <p:grpSp>
          <p:nvGrpSpPr>
            <p:cNvPr id="89" name="hkd-subset-chartArea"/>
            <p:cNvGrpSpPr/>
            <p:nvPr/>
          </p:nvGrpSpPr>
          <p:grpSpPr>
            <a:xfrm>
              <a:off x="781050" y="2105025"/>
              <a:ext cx="3467100" cy="2724150"/>
              <a:chOff x="781050" y="2105025"/>
              <a:chExt cx="3467100" cy="272415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9057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8105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26682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25730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74307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73355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221932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220980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69557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68605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317182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16230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364807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363855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124325" y="21050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114800" y="22574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79057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78105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126682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25730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174307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73355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221932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220980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69557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68605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317182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316230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364807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363855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4124325" y="25812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4114800" y="27336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79057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8105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126682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125730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174307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173355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221932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220980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269557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268605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317182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316230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364807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363855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4124325" y="305752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4114800" y="320992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790575" y="3533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78105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1266825" y="3533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125730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1743075" y="3533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173355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2219325" y="3533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220980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2695575" y="3533775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268605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3171825" y="35337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316230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3648075" y="35337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363855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4124325" y="35337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4114800" y="36861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79057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78105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126682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125730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174307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173355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221932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220980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269557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268605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317182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316230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364807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363855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4124325" y="401002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4114800" y="416242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790575" y="4486275"/>
                <a:ext cx="114300" cy="11430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781050" y="4638675"/>
                <a:ext cx="133350" cy="1905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52856" y="5010150"/>
              <a:ext cx="3736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HKD: 29 measured + 12 missing</a:t>
              </a:r>
            </a:p>
          </p:txBody>
        </p:sp>
      </p:grpSp>
      <p:grpSp>
        <p:nvGrpSpPr>
          <p:cNvPr id="97" name="unknown-outcomes"/>
          <p:cNvGrpSpPr/>
          <p:nvPr/>
        </p:nvGrpSpPr>
        <p:grpSpPr>
          <a:xfrm>
            <a:off x="6484620" y="2235200"/>
            <a:ext cx="4500496" cy="3012694"/>
            <a:chOff x="6484620" y="2235200"/>
            <a:chExt cx="4500496" cy="3012694"/>
          </a:xfrm>
        </p:grpSpPr>
        <p:sp>
          <p:nvSpPr>
            <p:cNvPr id="92" name="TextBox 92"/>
            <p:cNvSpPr txBox="1"/>
            <p:nvPr/>
          </p:nvSpPr>
          <p:spPr>
            <a:xfrm>
              <a:off x="6489192" y="2235200"/>
              <a:ext cx="7603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KNOWN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484620" y="2549525"/>
              <a:ext cx="45004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 weights were not measured.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489192" y="3282950"/>
              <a:ext cx="10377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UNKNOWN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484620" y="3575050"/>
              <a:ext cx="2928995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Less, similar or greater</a:t>
              </a:r>
              <a:b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weight loss?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486906" y="4895850"/>
              <a:ext cx="4121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Their dietary adherence may be good.</a:t>
              </a:r>
            </a:p>
          </p:txBody>
        </p:sp>
      </p:grpSp>
      <p:grpSp>
        <p:nvGrpSpPr>
          <p:cNvPr id="99" name="missing-consequence"/>
          <p:cNvGrpSpPr/>
          <p:nvPr/>
        </p:nvGrpSpPr>
        <p:grpSpPr>
          <a:xfrm>
            <a:off x="1787985" y="5788025"/>
            <a:ext cx="8616029" cy="440055"/>
            <a:chOff x="1787985" y="5788025"/>
            <a:chExt cx="8616029" cy="440055"/>
          </a:xfrm>
        </p:grpSpPr>
        <p:sp>
          <p:nvSpPr>
            <p:cNvPr id="98" name="TextBox 98"/>
            <p:cNvSpPr txBox="1"/>
            <p:nvPr/>
          </p:nvSpPr>
          <p:spPr>
            <a:xfrm>
              <a:off x="1787985" y="5788025"/>
              <a:ext cx="86160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Their unknown outcomes could change the group estimate.</a:t>
              </a:r>
            </a:p>
          </p:txBody>
        </p:sp>
      </p:grpSp>
      <p:sp>
        <p:nvSpPr>
          <p:cNvPr id="100" name="TextBox 100"/>
          <p:cNvSpPr txBox="1"/>
          <p:nvPr/>
        </p:nvSpPr>
        <p:spPr>
          <a:xfrm>
            <a:off x="508254" y="6467475"/>
            <a:ext cx="79507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Figure 1 + Table 2 · Missing outcome measurements do not establish poor dietary adherence.</a:t>
            </a:r>
          </a:p>
        </p:txBody>
      </p:sp>
    </p:spTree>
  </p:cSld>
  <p:clrMapOvr>
    <a:masterClrMapping/>
  </p:clrMapOvr>
  <p:transition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5816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2 · CONDITIONAL BIAS EXAMPLE, NOT A FINDING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9892169" cy="847725"/>
            <a:chOff x="495300" y="609600"/>
            <a:chExt cx="9892169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989216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Missing weights may bias the result.</a:t>
              </a:r>
            </a:p>
          </p:txBody>
        </p:sp>
      </p:grpSp>
      <p:grpSp>
        <p:nvGrpSpPr>
          <p:cNvPr id="91" name="!!hkd-focus"/>
          <p:cNvGrpSpPr/>
          <p:nvPr/>
        </p:nvGrpSpPr>
        <p:grpSpPr>
          <a:xfrm>
            <a:off x="733806" y="2265045"/>
            <a:ext cx="2531364" cy="3005074"/>
            <a:chOff x="733806" y="2265045"/>
            <a:chExt cx="2531364" cy="3005074"/>
          </a:xfrm>
        </p:grpSpPr>
        <p:grpSp>
          <p:nvGrpSpPr>
            <p:cNvPr id="89" name="hkd-subset-chartArea"/>
            <p:cNvGrpSpPr/>
            <p:nvPr/>
          </p:nvGrpSpPr>
          <p:grpSpPr>
            <a:xfrm>
              <a:off x="758190" y="2265045"/>
              <a:ext cx="2506980" cy="1988820"/>
              <a:chOff x="758190" y="2265045"/>
              <a:chExt cx="2506980" cy="198882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7658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7581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087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1010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14516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14439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7945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17868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1374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21297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4803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24726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8232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8155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3166110" y="22650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3158490" y="23869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7658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7581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11087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11010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14516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14439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7945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7868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1374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2" name="Rectangle 32"/>
              <p:cNvSpPr/>
              <p:nvPr/>
            </p:nvSpPr>
            <p:spPr>
              <a:xfrm>
                <a:off x="21297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24803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24726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28232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28155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7" name="Ellipse 37"/>
              <p:cNvSpPr/>
              <p:nvPr/>
            </p:nvSpPr>
            <p:spPr>
              <a:xfrm>
                <a:off x="3166110" y="26079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3158490" y="27298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7658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7581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11087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11010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14516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14439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5" name="Ellipse 45"/>
              <p:cNvSpPr/>
              <p:nvPr/>
            </p:nvSpPr>
            <p:spPr>
              <a:xfrm>
                <a:off x="17945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17868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21374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21297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24803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24726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28232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2" name="Rectangle 52"/>
              <p:cNvSpPr/>
              <p:nvPr/>
            </p:nvSpPr>
            <p:spPr>
              <a:xfrm>
                <a:off x="28155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3166110" y="29508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3158490" y="30727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765810" y="32937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7581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1108710" y="32937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8" name="Rectangle 58"/>
              <p:cNvSpPr/>
              <p:nvPr/>
            </p:nvSpPr>
            <p:spPr>
              <a:xfrm>
                <a:off x="11010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59" name="Ellipse 59"/>
              <p:cNvSpPr/>
              <p:nvPr/>
            </p:nvSpPr>
            <p:spPr>
              <a:xfrm>
                <a:off x="1451610" y="32937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14439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1" name="Ellipse 61"/>
              <p:cNvSpPr/>
              <p:nvPr/>
            </p:nvSpPr>
            <p:spPr>
              <a:xfrm>
                <a:off x="1794510" y="32937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17868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3" name="Ellipse 63"/>
              <p:cNvSpPr/>
              <p:nvPr/>
            </p:nvSpPr>
            <p:spPr>
              <a:xfrm>
                <a:off x="2137410" y="3293745"/>
                <a:ext cx="91440" cy="91440"/>
              </a:xfrm>
              <a:prstGeom prst="ellipse">
                <a:avLst/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4" name="Rectangle 64"/>
              <p:cNvSpPr/>
              <p:nvPr/>
            </p:nvSpPr>
            <p:spPr>
              <a:xfrm>
                <a:off x="21297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solidFill>
                <a:schemeClr val="accent3"/>
              </a:solidFill>
              <a:ln w="15240">
                <a:solidFill>
                  <a:schemeClr val="accent3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2480310" y="32937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24726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7" name="Ellipse 67"/>
              <p:cNvSpPr/>
              <p:nvPr/>
            </p:nvSpPr>
            <p:spPr>
              <a:xfrm>
                <a:off x="2823210" y="32937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28155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69" name="Ellipse 69"/>
              <p:cNvSpPr/>
              <p:nvPr/>
            </p:nvSpPr>
            <p:spPr>
              <a:xfrm>
                <a:off x="3166110" y="32937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3158490" y="34156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1" name="Ellipse 71"/>
              <p:cNvSpPr/>
              <p:nvPr/>
            </p:nvSpPr>
            <p:spPr>
              <a:xfrm>
                <a:off x="7658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7581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3" name="Ellipse 73"/>
              <p:cNvSpPr/>
              <p:nvPr/>
            </p:nvSpPr>
            <p:spPr>
              <a:xfrm>
                <a:off x="11087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4" name="Rectangle 74"/>
              <p:cNvSpPr/>
              <p:nvPr/>
            </p:nvSpPr>
            <p:spPr>
              <a:xfrm>
                <a:off x="11010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5" name="Ellipse 75"/>
              <p:cNvSpPr/>
              <p:nvPr/>
            </p:nvSpPr>
            <p:spPr>
              <a:xfrm>
                <a:off x="14516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14439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7" name="Ellipse 77"/>
              <p:cNvSpPr/>
              <p:nvPr/>
            </p:nvSpPr>
            <p:spPr>
              <a:xfrm>
                <a:off x="17945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8" name="Rectangle 78"/>
              <p:cNvSpPr/>
              <p:nvPr/>
            </p:nvSpPr>
            <p:spPr>
              <a:xfrm>
                <a:off x="17868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79" name="Ellipse 79"/>
              <p:cNvSpPr/>
              <p:nvPr/>
            </p:nvSpPr>
            <p:spPr>
              <a:xfrm>
                <a:off x="21374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0" name="Rectangle 80"/>
              <p:cNvSpPr/>
              <p:nvPr/>
            </p:nvSpPr>
            <p:spPr>
              <a:xfrm>
                <a:off x="21297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1" name="Ellipse 81"/>
              <p:cNvSpPr/>
              <p:nvPr/>
            </p:nvSpPr>
            <p:spPr>
              <a:xfrm>
                <a:off x="24803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24726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3" name="Ellipse 83"/>
              <p:cNvSpPr/>
              <p:nvPr/>
            </p:nvSpPr>
            <p:spPr>
              <a:xfrm>
                <a:off x="28232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4" name="Rectangle 84"/>
              <p:cNvSpPr/>
              <p:nvPr/>
            </p:nvSpPr>
            <p:spPr>
              <a:xfrm>
                <a:off x="28155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5" name="Ellipse 85"/>
              <p:cNvSpPr/>
              <p:nvPr/>
            </p:nvSpPr>
            <p:spPr>
              <a:xfrm>
                <a:off x="3166110" y="36366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6" name="Rectangle 86"/>
              <p:cNvSpPr/>
              <p:nvPr/>
            </p:nvSpPr>
            <p:spPr>
              <a:xfrm>
                <a:off x="3158490" y="37585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7" name="Ellipse 87"/>
              <p:cNvSpPr/>
              <p:nvPr/>
            </p:nvSpPr>
            <p:spPr>
              <a:xfrm>
                <a:off x="765810" y="3979545"/>
                <a:ext cx="91440" cy="91440"/>
              </a:xfrm>
              <a:prstGeom prst="ellipse">
                <a:avLst/>
              </a:prstGeom>
              <a:noFill/>
              <a:ln w="15240">
                <a:solidFill>
                  <a:schemeClr val="accent2"/>
                </a:solidFill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758190" y="4101465"/>
                <a:ext cx="106680" cy="152400"/>
              </a:xfrm>
              <a:prstGeom prst="roundRect">
                <a:avLst>
                  <a:gd name="adj" fmla="val 35714"/>
                </a:avLst>
              </a:prstGeom>
              <a:noFill/>
              <a:ln w="15240">
                <a:solidFill>
                  <a:schemeClr val="accent2"/>
                </a:solidFill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733806" y="4594225"/>
              <a:ext cx="1416177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 measured</a:t>
              </a:r>
              <a:b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 missing</a:t>
              </a:r>
            </a:p>
          </p:txBody>
        </p:sp>
      </p:grpSp>
      <p:grpSp>
        <p:nvGrpSpPr>
          <p:cNvPr id="96" name="selection-mechanism"/>
          <p:cNvGrpSpPr/>
          <p:nvPr/>
        </p:nvGrpSpPr>
        <p:grpSpPr>
          <a:xfrm>
            <a:off x="4634484" y="2133600"/>
            <a:ext cx="6168242" cy="3083941"/>
            <a:chOff x="4634484" y="2133600"/>
            <a:chExt cx="6168242" cy="3083941"/>
          </a:xfrm>
        </p:grpSpPr>
        <p:sp>
          <p:nvSpPr>
            <p:cNvPr id="92" name="TextBox 92"/>
            <p:cNvSpPr txBox="1"/>
            <p:nvPr/>
          </p:nvSpPr>
          <p:spPr>
            <a:xfrm>
              <a:off x="4639056" y="2133600"/>
              <a:ext cx="61636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IF POORER HKD RESPONDERS WERE MISSING…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4636770" y="2613025"/>
              <a:ext cx="3929005" cy="868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measured HKD subset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would look more successful.</a:t>
              </a:r>
            </a:p>
          </p:txBody>
        </p:sp>
        <p:sp>
          <p:nvSpPr>
            <p:cNvPr id="94" name="Line 94"/>
            <p:cNvSpPr/>
            <p:nvPr/>
          </p:nvSpPr>
          <p:spPr>
            <a:xfrm>
              <a:off x="4857750" y="3657600"/>
              <a:ext cx="1" cy="40005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4634484" y="4260850"/>
              <a:ext cx="4696118" cy="9566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75"/>
                </a:lnSpc>
              </a:pPr>
              <a:r>
                <a:rPr lang="en-GB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The apparent HKD advantage</a:t>
              </a:r>
              <a:br>
                <a:rPr lang="en-GB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</a:br>
              <a:r>
                <a:rPr lang="en-GB" sz="27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could be exaggerated.</a:t>
              </a:r>
            </a:p>
          </p:txBody>
        </p:sp>
      </p:grpSp>
      <p:grpSp>
        <p:nvGrpSpPr>
          <p:cNvPr id="99" name="selection-consequence"/>
          <p:cNvGrpSpPr/>
          <p:nvPr/>
        </p:nvGrpSpPr>
        <p:grpSpPr>
          <a:xfrm>
            <a:off x="1902543" y="5629275"/>
            <a:ext cx="8386914" cy="694944"/>
            <a:chOff x="1902543" y="5629275"/>
            <a:chExt cx="8386914" cy="694944"/>
          </a:xfrm>
        </p:grpSpPr>
        <p:sp>
          <p:nvSpPr>
            <p:cNvPr id="97" name="TextBox 97"/>
            <p:cNvSpPr txBox="1"/>
            <p:nvPr/>
          </p:nvSpPr>
          <p:spPr>
            <a:xfrm>
              <a:off x="1902543" y="5629275"/>
              <a:ext cx="83869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Potential attrition bias; other missingness patterns could shrink the gap.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3342242" y="5972175"/>
              <a:ext cx="55075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Missing-outcome handling is not clear in the report.</a:t>
              </a:r>
            </a:p>
          </p:txBody>
        </p:sp>
      </p:grpSp>
      <p:sp>
        <p:nvSpPr>
          <p:cNvPr id="100" name="TextBox 100"/>
          <p:cNvSpPr txBox="1"/>
          <p:nvPr/>
        </p:nvSpPr>
        <p:spPr>
          <a:xfrm>
            <a:off x="508254" y="6467475"/>
            <a:ext cx="7793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Figure 1 + Table 2 + Methods 2.9 · The actual direction of any missing-data bias cannot be established here.</a:t>
            </a:r>
          </a:p>
        </p:txBody>
      </p: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4675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3 · SAMPLE AND STUDY CONDITIONS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9081502" cy="847725"/>
            <a:chOff x="495300" y="609600"/>
            <a:chExt cx="9081502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908150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Who does this sample represent?</a:t>
              </a:r>
            </a:p>
          </p:txBody>
        </p:sp>
      </p:grpSp>
      <p:grpSp>
        <p:nvGrpSpPr>
          <p:cNvPr id="21" name="!!selected-study-setting"/>
          <p:cNvGrpSpPr/>
          <p:nvPr/>
        </p:nvGrpSpPr>
        <p:grpSpPr>
          <a:xfrm>
            <a:off x="514350" y="2057400"/>
            <a:ext cx="3381375" cy="3095625"/>
            <a:chOff x="514350" y="2057400"/>
            <a:chExt cx="3381375" cy="3095625"/>
          </a:xfrm>
        </p:grpSpPr>
        <p:sp>
          <p:nvSpPr>
            <p:cNvPr id="7" name="Rectangle 7"/>
            <p:cNvSpPr/>
            <p:nvPr/>
          </p:nvSpPr>
          <p:spPr>
            <a:xfrm>
              <a:off x="514350" y="2057400"/>
              <a:ext cx="3381375" cy="3095625"/>
            </a:xfrm>
            <a:prstGeom prst="roundRect">
              <a:avLst>
                <a:gd name="adj" fmla="val 6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3900" y="2362200"/>
              <a:ext cx="1143000" cy="14859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28575">
              <a:solidFill>
                <a:schemeClr val="accent3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095375" y="2552700"/>
              <a:ext cx="40005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238250" y="2409825"/>
              <a:ext cx="1143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76300" y="2981325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76300" y="3343275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209675" y="2981325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209675" y="3343275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543050" y="2981325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543050" y="3343275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33981" y="2400300"/>
              <a:ext cx="17579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One Singapore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31695" y="2730500"/>
              <a:ext cx="118397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hospital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21995" y="4159250"/>
              <a:ext cx="230411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Healthcare staff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4281" y="4667250"/>
              <a:ext cx="27320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Single-centre recruitment</a:t>
              </a:r>
            </a:p>
          </p:txBody>
        </p:sp>
      </p:grpSp>
      <p:grpSp>
        <p:nvGrpSpPr>
          <p:cNvPr id="27" name="sample-sex"/>
          <p:cNvGrpSpPr/>
          <p:nvPr/>
        </p:nvGrpSpPr>
        <p:grpSpPr>
          <a:xfrm>
            <a:off x="4333875" y="2057400"/>
            <a:ext cx="3238500" cy="3095625"/>
            <a:chOff x="4333875" y="2057400"/>
            <a:chExt cx="3238500" cy="3095625"/>
          </a:xfrm>
        </p:grpSpPr>
        <p:sp>
          <p:nvSpPr>
            <p:cNvPr id="22" name="Rectangle 22"/>
            <p:cNvSpPr/>
            <p:nvPr/>
          </p:nvSpPr>
          <p:spPr>
            <a:xfrm>
              <a:off x="4333875" y="2057400"/>
              <a:ext cx="3238500" cy="3095625"/>
            </a:xfrm>
            <a:prstGeom prst="roundRect">
              <a:avLst>
                <a:gd name="adj" fmla="val 6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60570" y="2282825"/>
              <a:ext cx="11289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Women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4375" y="2730500"/>
              <a:ext cx="1836957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72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86%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62856" y="3933825"/>
              <a:ext cx="2200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69 of 80 participants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60570" y="4416425"/>
              <a:ext cx="183868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Only 11 men</a:t>
              </a:r>
            </a:p>
          </p:txBody>
        </p:sp>
      </p:grpSp>
      <p:grpSp>
        <p:nvGrpSpPr>
          <p:cNvPr id="36" name="sample-eligibility"/>
          <p:cNvGrpSpPr/>
          <p:nvPr/>
        </p:nvGrpSpPr>
        <p:grpSpPr>
          <a:xfrm>
            <a:off x="8001000" y="2057400"/>
            <a:ext cx="3676650" cy="3095625"/>
            <a:chOff x="8001000" y="2057400"/>
            <a:chExt cx="3676650" cy="3095625"/>
          </a:xfrm>
        </p:grpSpPr>
        <p:sp>
          <p:nvSpPr>
            <p:cNvPr id="28" name="Rectangle 28"/>
            <p:cNvSpPr/>
            <p:nvPr/>
          </p:nvSpPr>
          <p:spPr>
            <a:xfrm>
              <a:off x="8001000" y="2057400"/>
              <a:ext cx="3676650" cy="3095625"/>
            </a:xfrm>
            <a:prstGeom prst="roundRect">
              <a:avLst>
                <a:gd name="adj" fmla="val 6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286750" y="2324100"/>
              <a:ext cx="350520" cy="548640"/>
            </a:xfrm>
            <a:prstGeom prst="roundRect">
              <a:avLst>
                <a:gd name="adj" fmla="val 17391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8378190" y="2773680"/>
              <a:ext cx="167640" cy="9525"/>
            </a:xfrm>
            <a:custGeom>
              <a:avLst/>
              <a:gdLst/>
              <a:ahLst/>
              <a:cxnLst/>
              <a:rect l="l" t="t" r="r" b="b"/>
              <a:pathLst>
                <a:path w="167640" h="9525">
                  <a:moveTo>
                    <a:pt x="0" y="0"/>
                  </a:moveTo>
                  <a:lnTo>
                    <a:pt x="16764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401050" y="2461260"/>
              <a:ext cx="121920" cy="1219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894445" y="2320925"/>
              <a:ext cx="23895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Access required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96731" y="2781300"/>
              <a:ext cx="1555714" cy="70446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English literacy</a:t>
              </a:r>
              <a:b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 smartphone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18170" y="4206875"/>
              <a:ext cx="28937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Selected volunteers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20456" y="4676775"/>
              <a:ext cx="27200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Some diseases excluded</a:t>
              </a:r>
            </a:p>
          </p:txBody>
        </p:sp>
      </p:grpSp>
      <p:grpSp>
        <p:nvGrpSpPr>
          <p:cNvPr id="38" name="representativeness"/>
          <p:cNvGrpSpPr/>
          <p:nvPr/>
        </p:nvGrpSpPr>
        <p:grpSpPr>
          <a:xfrm>
            <a:off x="1838933" y="5740400"/>
            <a:ext cx="8514134" cy="440055"/>
            <a:chOff x="1838933" y="5740400"/>
            <a:chExt cx="8514134" cy="440055"/>
          </a:xfrm>
        </p:grpSpPr>
        <p:sp>
          <p:nvSpPr>
            <p:cNvPr id="37" name="TextBox 37"/>
            <p:cNvSpPr txBox="1"/>
            <p:nvPr/>
          </p:nvSpPr>
          <p:spPr>
            <a:xfrm>
              <a:off x="1838933" y="5740400"/>
              <a:ext cx="851413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Random assignment ≠ a representative population sample.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08254" y="6467475"/>
            <a:ext cx="83172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2.2 + Table 1 · A limitation of generalisability, not proof that the within-study result is false.</a:t>
            </a:r>
          </a:p>
        </p:txBody>
      </p:sp>
    </p:spTree>
  </p:cSld>
  <p:clrMapOvr>
    <a:masterClrMapping/>
  </p:clrMapOvr>
  <p:transition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6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48997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LIMITATION 3 · PEOPLE AND SUPPORT MAY DIFFER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9820350" cy="847725"/>
            <a:chOff x="495300" y="609600"/>
            <a:chExt cx="9820350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982035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Would it work the same elsewhere?</a:t>
              </a:r>
            </a:p>
          </p:txBody>
        </p:sp>
      </p:grpSp>
      <p:grpSp>
        <p:nvGrpSpPr>
          <p:cNvPr id="25" name="!!selected-study-setting"/>
          <p:cNvGrpSpPr/>
          <p:nvPr/>
        </p:nvGrpSpPr>
        <p:grpSpPr>
          <a:xfrm>
            <a:off x="514350" y="2057400"/>
            <a:ext cx="5334000" cy="3095625"/>
            <a:chOff x="514350" y="2057400"/>
            <a:chExt cx="5334000" cy="3095625"/>
          </a:xfrm>
        </p:grpSpPr>
        <p:sp>
          <p:nvSpPr>
            <p:cNvPr id="7" name="Rectangle 7"/>
            <p:cNvSpPr/>
            <p:nvPr/>
          </p:nvSpPr>
          <p:spPr>
            <a:xfrm>
              <a:off x="514350" y="2057400"/>
              <a:ext cx="5334000" cy="3095625"/>
            </a:xfrm>
            <a:prstGeom prst="roundRect">
              <a:avLst>
                <a:gd name="adj" fmla="val 67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36092" y="2235200"/>
              <a:ext cx="17420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STUDIED SETTING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81050" y="2771775"/>
              <a:ext cx="1143000" cy="14859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28575">
              <a:solidFill>
                <a:schemeClr val="accent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152525" y="2962275"/>
              <a:ext cx="40005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295400" y="2819400"/>
              <a:ext cx="114300" cy="4000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33450" y="3390900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933450" y="3752850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266825" y="3390900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266825" y="3752850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600200" y="3390900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00200" y="3752850"/>
              <a:ext cx="171450" cy="20955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331720" y="2511425"/>
              <a:ext cx="260878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Seven workshops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343150" y="3143250"/>
              <a:ext cx="306705" cy="480060"/>
            </a:xfrm>
            <a:prstGeom prst="roundRect">
              <a:avLst>
                <a:gd name="adj" fmla="val 17391"/>
              </a:avLst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2423160" y="3536632"/>
              <a:ext cx="146685" cy="9525"/>
            </a:xfrm>
            <a:custGeom>
              <a:avLst/>
              <a:gdLst/>
              <a:ahLst/>
              <a:cxnLst/>
              <a:rect l="l" t="t" r="r" b="b"/>
              <a:pathLst>
                <a:path w="146685" h="9525">
                  <a:moveTo>
                    <a:pt x="0" y="0"/>
                  </a:moveTo>
                  <a:lnTo>
                    <a:pt x="14668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2443162" y="3263265"/>
              <a:ext cx="106680" cy="10668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93695" y="3067050"/>
              <a:ext cx="1999336" cy="840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 + dietitian</a:t>
              </a:r>
              <a:b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coaching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34006" y="4229100"/>
              <a:ext cx="19921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Six-month support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3806" y="4667250"/>
              <a:ext cx="22742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Selected participants</a:t>
              </a:r>
            </a:p>
          </p:txBody>
        </p:sp>
      </p:grpSp>
      <p:grpSp>
        <p:nvGrpSpPr>
          <p:cNvPr id="38" name="other-setting"/>
          <p:cNvGrpSpPr/>
          <p:nvPr/>
        </p:nvGrpSpPr>
        <p:grpSpPr>
          <a:xfrm>
            <a:off x="6048375" y="2232025"/>
            <a:ext cx="4465551" cy="2787269"/>
            <a:chOff x="6048375" y="2232025"/>
            <a:chExt cx="4465551" cy="2787269"/>
          </a:xfrm>
        </p:grpSpPr>
        <p:sp>
          <p:nvSpPr>
            <p:cNvPr id="26" name="Line 26"/>
            <p:cNvSpPr/>
            <p:nvPr/>
          </p:nvSpPr>
          <p:spPr>
            <a:xfrm>
              <a:off x="6048375" y="3476625"/>
              <a:ext cx="828675" cy="1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27" name="Ellipse 27"/>
            <p:cNvSpPr/>
            <p:nvPr/>
          </p:nvSpPr>
          <p:spPr>
            <a:xfrm>
              <a:off x="6934200" y="3171825"/>
              <a:ext cx="609600" cy="6096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091704" y="3133725"/>
              <a:ext cx="29459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4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?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49159" y="2232025"/>
              <a:ext cx="231445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Other adults?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8187690" y="3088005"/>
              <a:ext cx="251460" cy="251460"/>
            </a:xfrm>
            <a:prstGeom prst="ellipse">
              <a:avLst/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8166735" y="3423285"/>
              <a:ext cx="293370" cy="41910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949690" y="3088005"/>
              <a:ext cx="251460" cy="251460"/>
            </a:xfrm>
            <a:prstGeom prst="ellipse">
              <a:avLst/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8928735" y="3423285"/>
              <a:ext cx="293370" cy="419100"/>
            </a:xfrm>
            <a:prstGeom prst="roundRect">
              <a:avLst>
                <a:gd name="adj" fmla="val 35714"/>
              </a:avLst>
            </a:prstGeom>
            <a:solidFill>
              <a:schemeClr val="accent3"/>
            </a:solidFill>
            <a:ln w="15240">
              <a:solidFill>
                <a:schemeClr val="accent3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9711690" y="3088005"/>
              <a:ext cx="251460" cy="251460"/>
            </a:xfrm>
            <a:prstGeom prst="ellipse">
              <a:avLst/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9690735" y="3423285"/>
              <a:ext cx="293370" cy="419100"/>
            </a:xfrm>
            <a:prstGeom prst="roundRect">
              <a:avLst>
                <a:gd name="adj" fmla="val 35714"/>
              </a:avLst>
            </a:prstGeom>
            <a:solidFill>
              <a:schemeClr val="accent1"/>
            </a:solidFill>
            <a:ln w="15240">
              <a:solidFill>
                <a:schemeClr val="accent1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751445" y="4168775"/>
              <a:ext cx="21204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Less support?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53731" y="4667250"/>
              <a:ext cx="2760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Same benefit is untested.</a:t>
              </a:r>
            </a:p>
          </p:txBody>
        </p:sp>
      </p:grpSp>
      <p:grpSp>
        <p:nvGrpSpPr>
          <p:cNvPr id="40" name="transfer-conclusion"/>
          <p:cNvGrpSpPr/>
          <p:nvPr/>
        </p:nvGrpSpPr>
        <p:grpSpPr>
          <a:xfrm>
            <a:off x="1813892" y="5740400"/>
            <a:ext cx="8564215" cy="440055"/>
            <a:chOff x="1813892" y="5740400"/>
            <a:chExt cx="8564215" cy="440055"/>
          </a:xfrm>
        </p:grpSpPr>
        <p:sp>
          <p:nvSpPr>
            <p:cNvPr id="39" name="TextBox 39"/>
            <p:cNvSpPr txBox="1"/>
            <p:nvPr/>
          </p:nvSpPr>
          <p:spPr>
            <a:xfrm>
              <a:off x="1813892" y="5740400"/>
              <a:ext cx="85642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Limited generalisability ≠ evidence of no benefit elsewhere.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08254" y="6467475"/>
            <a:ext cx="803806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Lim et al. 2024 · Methods 2.5 · The arrow asks about transfer to other settings; it is not a biological causal claim.</a:t>
            </a:r>
          </a:p>
        </p:txBody>
      </p: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6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scene-chrome"/>
          <p:cNvGrpSpPr/>
          <p:nvPr/>
        </p:nvGrpSpPr>
        <p:grpSpPr>
          <a:xfrm>
            <a:off x="507492" y="244475"/>
            <a:ext cx="11177016" cy="264033"/>
            <a:chOff x="507492" y="244475"/>
            <a:chExt cx="11177016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07492" y="244475"/>
              <a:ext cx="5326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STUDY DESIGN · KEEP THE THREE CRITIQUES DISTINCT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004" y="244475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 / 12</a:t>
              </a:r>
            </a:p>
          </p:txBody>
        </p:sp>
      </p:grpSp>
      <p:grpSp>
        <p:nvGrpSpPr>
          <p:cNvPr id="6" name="scene-title"/>
          <p:cNvGrpSpPr/>
          <p:nvPr/>
        </p:nvGrpSpPr>
        <p:grpSpPr>
          <a:xfrm>
            <a:off x="495300" y="609600"/>
            <a:ext cx="11039209" cy="847725"/>
            <a:chOff x="495300" y="609600"/>
            <a:chExt cx="11039209" cy="847725"/>
          </a:xfrm>
        </p:grpSpPr>
        <p:sp>
          <p:nvSpPr>
            <p:cNvPr id="5" name="TextBox 5"/>
            <p:cNvSpPr txBox="1"/>
            <p:nvPr/>
          </p:nvSpPr>
          <p:spPr>
            <a:xfrm>
              <a:off x="495300" y="609600"/>
              <a:ext cx="11039209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4350" b="1" dirty="0">
                  <a:solidFill>
                    <a:srgbClr val="F7F6F0"/>
                  </a:solidFill>
                  <a:latin typeface="+mj-lt"/>
                  <a:ea typeface="+mj-ea"/>
                  <a:cs typeface="+mj-cs"/>
                </a:rPr>
                <a:t>Three limits. Three different questions.</a:t>
              </a:r>
            </a:p>
          </p:txBody>
        </p:sp>
      </p:grpSp>
      <p:grpSp>
        <p:nvGrpSpPr>
          <p:cNvPr id="12" name="why-question"/>
          <p:cNvGrpSpPr/>
          <p:nvPr/>
        </p:nvGrpSpPr>
        <p:grpSpPr>
          <a:xfrm>
            <a:off x="619125" y="2098675"/>
            <a:ext cx="8910835" cy="892175"/>
            <a:chOff x="619125" y="2098675"/>
            <a:chExt cx="8910835" cy="892175"/>
          </a:xfrm>
        </p:grpSpPr>
        <p:sp>
          <p:nvSpPr>
            <p:cNvPr id="7" name="Ellipse 7"/>
            <p:cNvSpPr/>
            <p:nvPr/>
          </p:nvSpPr>
          <p:spPr>
            <a:xfrm>
              <a:off x="619125" y="2143125"/>
              <a:ext cx="685800" cy="685800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4729" y="2143125"/>
              <a:ext cx="29459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43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?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91284" y="2098675"/>
              <a:ext cx="10331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700" b="1" dirty="0">
                  <a:solidFill>
                    <a:srgbClr val="FFAB8E"/>
                  </a:solidFill>
                  <a:latin typeface="+mj-lt"/>
                  <a:ea typeface="+mj-ea"/>
                  <a:cs typeface="+mj-cs"/>
                </a:rPr>
                <a:t>WHY?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322570" y="2149475"/>
              <a:ext cx="420739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Mechanism was not isolated.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24856" y="2609850"/>
              <a:ext cx="33126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What produced the extra loss?</a:t>
              </a:r>
            </a:p>
          </p:txBody>
        </p:sp>
      </p:grpSp>
      <p:grpSp>
        <p:nvGrpSpPr>
          <p:cNvPr id="18" name="reliability-question"/>
          <p:cNvGrpSpPr/>
          <p:nvPr/>
        </p:nvGrpSpPr>
        <p:grpSpPr>
          <a:xfrm>
            <a:off x="828675" y="3397250"/>
            <a:ext cx="10687482" cy="812419"/>
            <a:chOff x="828675" y="3397250"/>
            <a:chExt cx="10687482" cy="812419"/>
          </a:xfrm>
        </p:grpSpPr>
        <p:sp>
          <p:nvSpPr>
            <p:cNvPr id="13" name="Ellipse 13"/>
            <p:cNvSpPr/>
            <p:nvPr/>
          </p:nvSpPr>
          <p:spPr>
            <a:xfrm>
              <a:off x="842962" y="3452812"/>
              <a:ext cx="171450" cy="171450"/>
            </a:xfrm>
            <a:prstGeom prst="ellipse">
              <a:avLst/>
            </a:prstGeom>
            <a:noFill/>
            <a:ln w="1524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28675" y="3681412"/>
              <a:ext cx="200025" cy="285750"/>
            </a:xfrm>
            <a:prstGeom prst="roundRect">
              <a:avLst>
                <a:gd name="adj" fmla="val 35714"/>
              </a:avLst>
            </a:prstGeom>
            <a:noFill/>
            <a:ln w="1524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93570" y="3397250"/>
              <a:ext cx="26895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FAB8E"/>
                  </a:solidFill>
                  <a:latin typeface="+mn-lt"/>
                  <a:ea typeface="+mn-ea"/>
                  <a:cs typeface="+mn-cs"/>
                </a:rPr>
                <a:t>HOW RELIABLE?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322570" y="3397250"/>
              <a:ext cx="619358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Missing outcomes may affect the estimate.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24856" y="3857625"/>
              <a:ext cx="316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Which outcomes are absent?</a:t>
              </a:r>
            </a:p>
          </p:txBody>
        </p:sp>
      </p:grpSp>
      <p:grpSp>
        <p:nvGrpSpPr>
          <p:cNvPr id="25" name="applicability-question"/>
          <p:cNvGrpSpPr/>
          <p:nvPr/>
        </p:nvGrpSpPr>
        <p:grpSpPr>
          <a:xfrm>
            <a:off x="628650" y="4645025"/>
            <a:ext cx="10666791" cy="812419"/>
            <a:chOff x="628650" y="4645025"/>
            <a:chExt cx="10666791" cy="812419"/>
          </a:xfrm>
        </p:grpSpPr>
        <p:sp>
          <p:nvSpPr>
            <p:cNvPr id="19" name="Ellipse 19"/>
            <p:cNvSpPr/>
            <p:nvPr/>
          </p:nvSpPr>
          <p:spPr>
            <a:xfrm>
              <a:off x="628650" y="4648200"/>
              <a:ext cx="666750" cy="666750"/>
            </a:xfrm>
            <a:prstGeom prst="ellipse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19150" y="4648200"/>
              <a:ext cx="285750" cy="66675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28650" y="498157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893570" y="4645025"/>
              <a:ext cx="20314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FAB8E"/>
                  </a:solidFill>
                  <a:latin typeface="+mn-lt"/>
                  <a:ea typeface="+mn-ea"/>
                  <a:cs typeface="+mn-cs"/>
                </a:rPr>
                <a:t>FOR WHOM?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22570" y="4645025"/>
              <a:ext cx="59728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F7F6F0"/>
                  </a:solidFill>
                  <a:latin typeface="+mn-lt"/>
                  <a:ea typeface="+mn-ea"/>
                  <a:cs typeface="+mn-cs"/>
                </a:rPr>
                <a:t>Sample and conditions limit applicability.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324856" y="5105400"/>
              <a:ext cx="38920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Beyond similar people and support?</a:t>
              </a:r>
            </a:p>
          </p:txBody>
        </p:sp>
      </p:grpSp>
      <p:grpSp>
        <p:nvGrpSpPr>
          <p:cNvPr id="27" name="bounded-conclusion"/>
          <p:cNvGrpSpPr/>
          <p:nvPr/>
        </p:nvGrpSpPr>
        <p:grpSpPr>
          <a:xfrm>
            <a:off x="1962835" y="5905500"/>
            <a:ext cx="8266330" cy="352044"/>
            <a:chOff x="1962835" y="5905500"/>
            <a:chExt cx="8266330" cy="352044"/>
          </a:xfrm>
        </p:grpSpPr>
        <p:sp>
          <p:nvSpPr>
            <p:cNvPr id="26" name="TextBox 26"/>
            <p:cNvSpPr txBox="1"/>
            <p:nvPr/>
          </p:nvSpPr>
          <p:spPr>
            <a:xfrm>
              <a:off x="1962835" y="5905500"/>
              <a:ext cx="82663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b="1" dirty="0">
                  <a:solidFill>
                    <a:srgbClr val="7CD6CA"/>
                  </a:solidFill>
                  <a:latin typeface="+mn-lt"/>
                  <a:ea typeface="+mn-ea"/>
                  <a:cs typeface="+mn-cs"/>
                </a:rPr>
                <a:t>A useful programme comparison—with boundaries on the conclusions.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08254" y="6467475"/>
            <a:ext cx="47647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GB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Lim SL et al. (2024), Nutrients 16:4380 · doi:10.3390/nu16244380</a:t>
            </a:r>
          </a:p>
        </p:txBody>
      </p: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eight_loss_design_critique">
  <a:themeElements>
    <a:clrScheme name="weight_loss_design_critique">
      <a:dk1>
        <a:srgbClr val="142D3A"/>
      </a:dk1>
      <a:lt1>
        <a:srgbClr val="F7F6F0"/>
      </a:lt1>
      <a:dk2>
        <a:srgbClr val="1F497D"/>
      </a:dk2>
      <a:lt2>
        <a:srgbClr val="E8F1EE"/>
      </a:lt2>
      <a:accent1>
        <a:srgbClr val="142D3A"/>
      </a:accent1>
      <a:accent2>
        <a:srgbClr val="E66D4C"/>
      </a:accent2>
      <a:accent3>
        <a:srgbClr val="087F8C"/>
      </a:accent3>
      <a:accent4>
        <a:srgbClr val="142D3A"/>
      </a:accent4>
      <a:accent5>
        <a:srgbClr val="52656B"/>
      </a:accent5>
      <a:accent6>
        <a:srgbClr val="B8CCC8"/>
      </a:accent6>
      <a:hlink>
        <a:srgbClr val="E66D4C"/>
      </a:hlink>
      <a:folHlink>
        <a:srgbClr val="087F8C"/>
      </a:folHlink>
    </a:clrScheme>
    <a:fontScheme name="weight_loss_design_critique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design_critiq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eight_loss_design_critique">
  <a:themeElements>
    <a:clrScheme name="weight_loss_design_critique">
      <a:dk1>
        <a:srgbClr val="142D3A"/>
      </a:dk1>
      <a:lt1>
        <a:srgbClr val="F7F6F0"/>
      </a:lt1>
      <a:dk2>
        <a:srgbClr val="1F497D"/>
      </a:dk2>
      <a:lt2>
        <a:srgbClr val="E8F1EE"/>
      </a:lt2>
      <a:accent1>
        <a:srgbClr val="142D3A"/>
      </a:accent1>
      <a:accent2>
        <a:srgbClr val="E66D4C"/>
      </a:accent2>
      <a:accent3>
        <a:srgbClr val="087F8C"/>
      </a:accent3>
      <a:accent4>
        <a:srgbClr val="142D3A"/>
      </a:accent4>
      <a:accent5>
        <a:srgbClr val="52656B"/>
      </a:accent5>
      <a:accent6>
        <a:srgbClr val="B8CCC8"/>
      </a:accent6>
      <a:hlink>
        <a:srgbClr val="E66D4C"/>
      </a:hlink>
      <a:folHlink>
        <a:srgbClr val="087F8C"/>
      </a:folHlink>
    </a:clrScheme>
    <a:fontScheme name="weight_loss_design_critique">
      <a:majorFont>
        <a:latin typeface="Trebuchet MS"/>
        <a:ea typeface="Microsoft YaHei"/>
        <a:cs typeface="Trebuchet M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ight_loss_design_critiqu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en-GB</dc:language>
  <cp:lastModifiedBy/>
  <cp:revision>1</cp:revision>
  <dcterms:created xsi:type="dcterms:W3CDTF">2026-10-26T14:01:02Z</dcterms:created>
  <dcterms:modified xsi:type="dcterms:W3CDTF">2026-10-26T14:01:02Z</dcterms:modified>
  <cp:category/>
  <cp:contentStatus/>
</cp:coreProperties>
</file>